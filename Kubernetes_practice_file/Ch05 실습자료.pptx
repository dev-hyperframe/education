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70" r:id="rId2"/>
    <p:sldId id="490" r:id="rId3"/>
    <p:sldId id="360" r:id="rId4"/>
    <p:sldId id="477" r:id="rId5"/>
    <p:sldId id="449" r:id="rId6"/>
    <p:sldId id="450" r:id="rId7"/>
    <p:sldId id="479" r:id="rId8"/>
    <p:sldId id="454" r:id="rId9"/>
    <p:sldId id="480" r:id="rId10"/>
    <p:sldId id="481" r:id="rId11"/>
    <p:sldId id="465" r:id="rId12"/>
    <p:sldId id="483" r:id="rId13"/>
    <p:sldId id="482" r:id="rId14"/>
    <p:sldId id="462" r:id="rId15"/>
    <p:sldId id="485" r:id="rId16"/>
    <p:sldId id="484" r:id="rId17"/>
    <p:sldId id="488" r:id="rId18"/>
    <p:sldId id="467" r:id="rId19"/>
    <p:sldId id="489" r:id="rId20"/>
    <p:sldId id="468" r:id="rId21"/>
    <p:sldId id="470" r:id="rId22"/>
    <p:sldId id="471" r:id="rId23"/>
    <p:sldId id="472" r:id="rId24"/>
    <p:sldId id="473" r:id="rId25"/>
    <p:sldId id="475" r:id="rId26"/>
    <p:sldId id="486" r:id="rId27"/>
    <p:sldId id="476" r:id="rId28"/>
    <p:sldId id="487" r:id="rId29"/>
    <p:sldId id="308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490"/>
            <p14:sldId id="360"/>
            <p14:sldId id="477"/>
            <p14:sldId id="449"/>
            <p14:sldId id="450"/>
            <p14:sldId id="479"/>
            <p14:sldId id="454"/>
            <p14:sldId id="480"/>
            <p14:sldId id="481"/>
            <p14:sldId id="465"/>
            <p14:sldId id="483"/>
            <p14:sldId id="482"/>
            <p14:sldId id="462"/>
            <p14:sldId id="485"/>
            <p14:sldId id="484"/>
            <p14:sldId id="488"/>
            <p14:sldId id="467"/>
            <p14:sldId id="489"/>
            <p14:sldId id="468"/>
            <p14:sldId id="470"/>
            <p14:sldId id="471"/>
            <p14:sldId id="472"/>
            <p14:sldId id="473"/>
            <p14:sldId id="475"/>
            <p14:sldId id="486"/>
            <p14:sldId id="476"/>
            <p14:sldId id="48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83" userDrawn="1">
          <p15:clr>
            <a:srgbClr val="A4A3A4"/>
          </p15:clr>
        </p15:guide>
        <p15:guide id="3" pos="7219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5" orient="horz" pos="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978" autoAdjust="0"/>
  </p:normalViewPr>
  <p:slideViewPr>
    <p:cSldViewPr snapToGrid="0">
      <p:cViewPr varScale="1">
        <p:scale>
          <a:sx n="90" d="100"/>
          <a:sy n="90" d="100"/>
        </p:scale>
        <p:origin x="1332" y="90"/>
      </p:cViewPr>
      <p:guideLst>
        <p:guide orient="horz" pos="3952"/>
        <p:guide pos="483"/>
        <p:guide pos="7219"/>
        <p:guide orient="horz" pos="300"/>
        <p:guide orient="horz" pos="4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52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653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307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387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사용자 환경에 </a:t>
            </a:r>
            <a:r>
              <a:rPr lang="en-US" altLang="ko-KR" sz="1200" baseline="0" dirty="0" err="1" smtClean="0"/>
              <a:t>Kubectl</a:t>
            </a:r>
            <a:r>
              <a:rPr lang="ko-KR" altLang="en-US" sz="1200" baseline="0" dirty="0" smtClean="0"/>
              <a:t>이 설치되어 있다는 가정하에 진행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auth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whoami</a:t>
            </a:r>
            <a:r>
              <a:rPr lang="en-US" altLang="ko-KR" sz="1200" baseline="0" dirty="0" smtClean="0"/>
              <a:t>  -&gt; </a:t>
            </a:r>
            <a:r>
              <a:rPr lang="ko-KR" altLang="en-US" sz="1200" baseline="0" dirty="0" smtClean="0"/>
              <a:t>현재 계정 확인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config</a:t>
            </a:r>
            <a:r>
              <a:rPr lang="en-US" altLang="ko-KR" sz="1200" baseline="0" dirty="0" smtClean="0"/>
              <a:t> get-users -&gt; </a:t>
            </a:r>
            <a:r>
              <a:rPr lang="ko-KR" altLang="en-US" sz="1200" baseline="0" dirty="0" smtClean="0"/>
              <a:t>계정 리스트 확인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>
                <a:solidFill>
                  <a:schemeClr val="bg1"/>
                </a:solidFill>
              </a:rPr>
              <a:t>${MASTER_SERVER_IP}</a:t>
            </a:r>
            <a:r>
              <a:rPr lang="ko-KR" altLang="en-US" sz="1200" dirty="0" smtClean="0">
                <a:solidFill>
                  <a:schemeClr val="bg1"/>
                </a:solidFill>
              </a:rPr>
              <a:t>에는 </a:t>
            </a:r>
            <a:r>
              <a:rPr lang="en-US" altLang="ko-KR" sz="1200" baseline="0" dirty="0" smtClean="0"/>
              <a:t>Localhost</a:t>
            </a:r>
            <a:r>
              <a:rPr lang="ko-KR" altLang="en-US" sz="1200" baseline="0" dirty="0" smtClean="0"/>
              <a:t>가 아닌 </a:t>
            </a:r>
            <a:r>
              <a:rPr lang="en-US" altLang="ko-KR" sz="1200" baseline="0" dirty="0" smtClean="0"/>
              <a:t>‘</a:t>
            </a:r>
            <a:r>
              <a:rPr lang="ko-KR" altLang="en-US" sz="1200" baseline="0" dirty="0" smtClean="0"/>
              <a:t>실제 </a:t>
            </a:r>
            <a:r>
              <a:rPr lang="en-US" altLang="ko-KR" sz="1200" baseline="0" dirty="0" smtClean="0"/>
              <a:t>IP’ </a:t>
            </a:r>
            <a:r>
              <a:rPr lang="ko-KR" altLang="en-US" sz="1200" baseline="0" dirty="0" smtClean="0"/>
              <a:t>입력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&lt;</a:t>
            </a:r>
            <a:r>
              <a:rPr lang="ko-KR" altLang="en-US" sz="1200" baseline="0" dirty="0" smtClean="0"/>
              <a:t>실습</a:t>
            </a:r>
            <a:r>
              <a:rPr lang="en-US" altLang="ko-KR" sz="1200" baseline="0" dirty="0" smtClean="0"/>
              <a:t>&gt;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Kubectl</a:t>
            </a:r>
            <a:r>
              <a:rPr lang="ko-KR" altLang="en-US" sz="1200" baseline="0" dirty="0" smtClean="0"/>
              <a:t>로 시스템 사용 가능 </a:t>
            </a:r>
            <a:r>
              <a:rPr lang="ko-KR" altLang="en-US" sz="1200" baseline="0" dirty="0" err="1" smtClean="0"/>
              <a:t>여부랑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Curl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api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조회 가능한지</a:t>
            </a: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260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01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Kube-apiserver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‘static pod’</a:t>
            </a:r>
            <a:r>
              <a:rPr lang="ko-KR" altLang="en-US" sz="1200" baseline="0" dirty="0" smtClean="0"/>
              <a:t>이기에 </a:t>
            </a:r>
            <a:r>
              <a:rPr lang="en-US" altLang="ko-KR" sz="1200" baseline="0" dirty="0" err="1" smtClean="0"/>
              <a:t>yaml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변경 시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자동으로 </a:t>
            </a:r>
            <a:r>
              <a:rPr lang="ko-KR" altLang="en-US" sz="1200" baseline="0" dirty="0" err="1" smtClean="0"/>
              <a:t>재배포된다</a:t>
            </a:r>
            <a:r>
              <a:rPr lang="en-US" altLang="ko-KR" sz="1200" baseline="0" dirty="0" smtClean="0"/>
              <a:t>.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kube-apiserver.yaml</a:t>
            </a:r>
            <a:r>
              <a:rPr lang="ko-KR" altLang="en-US" sz="1200" b="1" dirty="0" smtClean="0">
                <a:solidFill>
                  <a:sysClr val="windowText" lastClr="000000"/>
                </a:solidFill>
              </a:rPr>
              <a:t>에 대한 백업파일을 만들고자 하면</a:t>
            </a:r>
            <a:r>
              <a:rPr lang="en-US" altLang="ko-KR" sz="1200" b="1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1200" b="1" dirty="0" smtClean="0">
                <a:solidFill>
                  <a:sysClr val="windowText" lastClr="000000"/>
                </a:solidFill>
              </a:rPr>
              <a:t>원 경로 이외에 파일을 두어야한다</a:t>
            </a:r>
            <a:r>
              <a:rPr lang="en-US" altLang="ko-KR" sz="1200" b="1" dirty="0" smtClean="0">
                <a:solidFill>
                  <a:sysClr val="windowText" lastClr="000000"/>
                </a:solidFill>
              </a:rPr>
              <a:t>.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116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Kube-apiserver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‘static pod’</a:t>
            </a:r>
            <a:r>
              <a:rPr lang="ko-KR" altLang="en-US" sz="1200" baseline="0" dirty="0" smtClean="0"/>
              <a:t>이기에 </a:t>
            </a:r>
            <a:r>
              <a:rPr lang="en-US" altLang="ko-KR" sz="1200" baseline="0" dirty="0" err="1" smtClean="0"/>
              <a:t>yaml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변경 시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자동으로 </a:t>
            </a:r>
            <a:r>
              <a:rPr lang="ko-KR" altLang="en-US" sz="1200" baseline="0" dirty="0" err="1" smtClean="0"/>
              <a:t>재배포된다</a:t>
            </a:r>
            <a:r>
              <a:rPr lang="en-US" altLang="ko-KR" sz="1200" baseline="0" dirty="0" smtClean="0"/>
              <a:t>.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23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796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아래는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컨트롤할 수 있는 권한과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을 생성할 수 있는 권한을 준 예이다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Role</a:t>
            </a:r>
            <a:r>
              <a:rPr lang="ko-KR" altLang="en-US" sz="1200" baseline="0" dirty="0" smtClean="0"/>
              <a:t>을 만든 뒤 </a:t>
            </a:r>
            <a:r>
              <a:rPr lang="en-US" altLang="ko-KR" sz="1200" baseline="0" dirty="0" smtClean="0"/>
              <a:t>dev-user</a:t>
            </a:r>
            <a:r>
              <a:rPr lang="ko-KR" altLang="en-US" sz="1200" baseline="0" dirty="0" smtClean="0"/>
              <a:t>에게 해당 역할을 부여하기 위해서는 </a:t>
            </a:r>
            <a:r>
              <a:rPr lang="en-US" altLang="ko-KR" sz="1200" baseline="0" dirty="0" err="1" smtClean="0"/>
              <a:t>rolebinding</a:t>
            </a:r>
            <a:r>
              <a:rPr lang="ko-KR" altLang="en-US" sz="1200" baseline="0" dirty="0" smtClean="0"/>
              <a:t>을 작성하여 묶어줘야 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309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아래는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컨트롤할 수 있는 권한과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을 생성할 수 있는 권한을 준 예이다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Role</a:t>
            </a:r>
            <a:r>
              <a:rPr lang="ko-KR" altLang="en-US" sz="1200" baseline="0" dirty="0" smtClean="0"/>
              <a:t>을 만든 뒤 </a:t>
            </a:r>
            <a:r>
              <a:rPr lang="en-US" altLang="ko-KR" sz="1200" baseline="0" dirty="0" smtClean="0"/>
              <a:t>dev-user</a:t>
            </a:r>
            <a:r>
              <a:rPr lang="ko-KR" altLang="en-US" sz="1200" baseline="0" dirty="0" smtClean="0"/>
              <a:t>에게 해당 역할을 부여하기 위해서는 </a:t>
            </a:r>
            <a:r>
              <a:rPr lang="en-US" altLang="ko-KR" sz="1200" baseline="0" dirty="0" err="1" smtClean="0"/>
              <a:t>rolebinding</a:t>
            </a:r>
            <a:r>
              <a:rPr lang="ko-KR" altLang="en-US" sz="1200" baseline="0" dirty="0" smtClean="0"/>
              <a:t>을 작성하여 묶어줘야 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086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 smtClean="0"/>
              <a:t>Testuser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‘test’ namespace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생성 권한 유무 확인 방법</a:t>
            </a:r>
            <a:endParaRPr lang="en-US" altLang="ko-KR" sz="110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-&gt; </a:t>
            </a:r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auth</a:t>
            </a:r>
            <a:r>
              <a:rPr lang="en-US" altLang="ko-KR" sz="1200" dirty="0" smtClean="0">
                <a:solidFill>
                  <a:schemeClr val="bg1"/>
                </a:solidFill>
              </a:rPr>
              <a:t> can-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pods --as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 --namespace test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037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663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resourceNames</a:t>
            </a:r>
            <a:r>
              <a:rPr lang="ko-KR" altLang="en-US" sz="1200" baseline="0" dirty="0" smtClean="0"/>
              <a:t>를 설정하더라도</a:t>
            </a:r>
            <a:r>
              <a:rPr lang="en-US" altLang="ko-KR" sz="1200" baseline="0" dirty="0" smtClean="0"/>
              <a:t>, create </a:t>
            </a:r>
            <a:r>
              <a:rPr lang="ko-KR" altLang="en-US" sz="1200" baseline="0" dirty="0" smtClean="0"/>
              <a:t>및 </a:t>
            </a:r>
            <a:r>
              <a:rPr lang="en-US" altLang="ko-KR" sz="1200" baseline="0" dirty="0" err="1" smtClean="0"/>
              <a:t>deletecollection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작업은 불가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798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27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ClusterRole</a:t>
            </a:r>
            <a:r>
              <a:rPr lang="ko-KR" altLang="en-US" sz="1200" baseline="0" dirty="0" smtClean="0"/>
              <a:t>을 통해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접근 제어도 생성할 수 있다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146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275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460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특정 </a:t>
            </a:r>
            <a:r>
              <a:rPr lang="en-US" altLang="ko-KR" sz="1200" baseline="0" dirty="0" err="1" smtClean="0"/>
              <a:t>ServiceAccount</a:t>
            </a:r>
            <a:r>
              <a:rPr lang="ko-KR" altLang="en-US" sz="1200" baseline="0" dirty="0" smtClean="0"/>
              <a:t>를 사용하여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자동으로 </a:t>
            </a:r>
            <a:r>
              <a:rPr lang="en-US" altLang="ko-KR" sz="1200" baseline="0" dirty="0" smtClean="0"/>
              <a:t>Token</a:t>
            </a:r>
            <a:r>
              <a:rPr lang="ko-KR" altLang="en-US" sz="1200" baseline="0" dirty="0" smtClean="0"/>
              <a:t>이 마운트 되게 설정한다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49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19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Security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contex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레벨과 </a:t>
            </a:r>
            <a:r>
              <a:rPr lang="en-US" altLang="ko-KR" sz="1200" baseline="0" dirty="0" smtClean="0"/>
              <a:t>container </a:t>
            </a:r>
            <a:r>
              <a:rPr lang="ko-KR" altLang="en-US" sz="1200" baseline="0" dirty="0" smtClean="0"/>
              <a:t>레벨에서 설정할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만약 같은 설정이 들어가게 되면 </a:t>
            </a:r>
            <a:r>
              <a:rPr lang="en-US" altLang="ko-KR" sz="1200" baseline="0" dirty="0" err="1" smtClean="0"/>
              <a:t>containe</a:t>
            </a:r>
            <a:r>
              <a:rPr lang="ko-KR" altLang="en-US" sz="1200" baseline="0" dirty="0" smtClean="0"/>
              <a:t>에 설정한 </a:t>
            </a:r>
            <a:r>
              <a:rPr lang="en-US" altLang="ko-KR" sz="1200" baseline="0" dirty="0" smtClean="0"/>
              <a:t>security </a:t>
            </a:r>
            <a:r>
              <a:rPr lang="en-US" altLang="ko-KR" sz="1200" baseline="0" dirty="0" err="1" smtClean="0"/>
              <a:t>contex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설정한 </a:t>
            </a:r>
            <a:r>
              <a:rPr lang="en-US" altLang="ko-KR" sz="1200" baseline="0" dirty="0" smtClean="0"/>
              <a:t>security context</a:t>
            </a:r>
            <a:r>
              <a:rPr lang="ko-KR" altLang="en-US" sz="1200" baseline="0" dirty="0" smtClean="0"/>
              <a:t>보다 우선 적용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에서 사용한 </a:t>
            </a:r>
            <a:r>
              <a:rPr lang="en-US" altLang="ko-KR" sz="1200" baseline="0" dirty="0" smtClean="0"/>
              <a:t>security context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에서 </a:t>
            </a:r>
            <a:r>
              <a:rPr lang="ko-KR" altLang="en-US" sz="1200" baseline="0" dirty="0" err="1" smtClean="0"/>
              <a:t>기동중인</a:t>
            </a:r>
            <a:r>
              <a:rPr lang="ko-KR" altLang="en-US" sz="1200" baseline="0" dirty="0" smtClean="0"/>
              <a:t> 모든 컨테이너에 적용된다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&lt;</a:t>
            </a:r>
            <a:r>
              <a:rPr lang="ko-KR" altLang="en-US" sz="1200" baseline="0" dirty="0" smtClean="0"/>
              <a:t>시나리오</a:t>
            </a:r>
            <a:r>
              <a:rPr lang="en-US" altLang="ko-KR" sz="1200" baseline="0" dirty="0" smtClean="0"/>
              <a:t>&gt;</a:t>
            </a:r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UID or run as group dl</a:t>
            </a:r>
            <a:r>
              <a:rPr lang="ko-KR" altLang="en-US" sz="1200" baseline="0" dirty="0" smtClean="0"/>
              <a:t> 바뀌는지 확인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353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smtClean="0"/>
              <a:t>중요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2532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9759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158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7672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85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2025.01.15.</a:t>
            </a:r>
          </a:p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OSS</a:t>
            </a: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팀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실습자료</a:t>
            </a:r>
            <a:r>
              <a:rPr lang="ko-KR" alt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</a:t>
            </a:r>
            <a:r>
              <a:rPr lang="en-US" altLang="ko-KR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05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66735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Certificate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추가 사용자 승인 방법 </a:t>
            </a:r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- Certificate </a:t>
            </a:r>
            <a:r>
              <a:rPr lang="ko-KR" altLang="en-US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활용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 인증서 요청서를 생성</a:t>
            </a:r>
            <a:endParaRPr lang="en-US" altLang="ko-KR" sz="1400" dirty="0" smtClean="0"/>
          </a:p>
        </p:txBody>
      </p:sp>
      <p:sp>
        <p:nvSpPr>
          <p:cNvPr id="39" name="TextBox 5"/>
          <p:cNvSpPr txBox="1"/>
          <p:nvPr/>
        </p:nvSpPr>
        <p:spPr>
          <a:xfrm>
            <a:off x="766763" y="1023227"/>
            <a:ext cx="1070509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genrsa</a:t>
            </a:r>
            <a:r>
              <a:rPr lang="en-US" altLang="ko-KR" sz="1200" dirty="0">
                <a:solidFill>
                  <a:schemeClr val="bg1"/>
                </a:solidFill>
              </a:rPr>
              <a:t> -out </a:t>
            </a:r>
            <a:r>
              <a:rPr lang="en-US" altLang="ko-KR" sz="1200" dirty="0" err="1">
                <a:solidFill>
                  <a:schemeClr val="bg1"/>
                </a:solidFill>
              </a:rPr>
              <a:t>user.key</a:t>
            </a:r>
            <a:r>
              <a:rPr lang="en-US" altLang="ko-KR" sz="1200" dirty="0">
                <a:solidFill>
                  <a:schemeClr val="bg1"/>
                </a:solidFill>
              </a:rPr>
              <a:t> 2048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req</a:t>
            </a:r>
            <a:r>
              <a:rPr lang="en-US" altLang="ko-KR" sz="1200" dirty="0">
                <a:solidFill>
                  <a:schemeClr val="bg1"/>
                </a:solidFill>
              </a:rPr>
              <a:t> -new -key </a:t>
            </a:r>
            <a:r>
              <a:rPr lang="en-US" altLang="ko-KR" sz="1200" dirty="0" err="1">
                <a:solidFill>
                  <a:schemeClr val="bg1"/>
                </a:solidFill>
              </a:rPr>
              <a:t>user.key</a:t>
            </a:r>
            <a:r>
              <a:rPr lang="en-US" altLang="ko-KR" sz="1200" dirty="0">
                <a:solidFill>
                  <a:schemeClr val="bg1"/>
                </a:solidFill>
              </a:rPr>
              <a:t> -subj "/CN=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" -out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user.csr</a:t>
            </a:r>
            <a:r>
              <a:rPr lang="en-US" altLang="ko-KR" sz="1200" dirty="0" smtClean="0">
                <a:solidFill>
                  <a:schemeClr val="bg1"/>
                </a:solidFill>
              </a:rPr>
              <a:t>	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는 사용자 이름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1199" y="164738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</a:t>
            </a:r>
            <a:r>
              <a:rPr lang="ko-KR" altLang="en-US" sz="1400" dirty="0" smtClean="0"/>
              <a:t> 전달 받은 </a:t>
            </a:r>
            <a:r>
              <a:rPr lang="en-US" altLang="ko-KR" sz="1400" dirty="0" err="1" smtClean="0"/>
              <a:t>csr</a:t>
            </a:r>
            <a:r>
              <a:rPr lang="ko-KR" altLang="en-US" sz="1400" dirty="0" smtClean="0"/>
              <a:t>을 통해 </a:t>
            </a:r>
            <a:r>
              <a:rPr lang="en-US" altLang="ko-KR" sz="1400" dirty="0" smtClean="0"/>
              <a:t>‘1-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certificateSigningRequest.yaml’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을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 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생성</a:t>
            </a:r>
            <a:endParaRPr lang="en-US" altLang="ko-KR" sz="1400" dirty="0" smtClean="0"/>
          </a:p>
        </p:txBody>
      </p:sp>
      <p:sp>
        <p:nvSpPr>
          <p:cNvPr id="41" name="TextBox 5"/>
          <p:cNvSpPr txBox="1"/>
          <p:nvPr/>
        </p:nvSpPr>
        <p:spPr>
          <a:xfrm>
            <a:off x="794627" y="1955163"/>
            <a:ext cx="5359097" cy="415498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cat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user.csr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| base64 -w 0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LS0tLS1CRUdJTiBDRVJUSUZJQ0FURSBSRVFVRVNULS0tLS0KTUlJQ1V6Q0NBVHNDQVFBd0RqRU1NQW9HQTFVRUF3d0Rhbk5vTUlJQklqQU5CZ2txaGtpRzl3MEJBUUVGQUFPQwpBUThBTUlJQkNnS0NBUUVBbnBMSmtuOXRURnVLQ1J2OGsrZ200VjkvY1lpMlJpdVQ4bjlNVkE4UW5QcWtVNmovCnNWTGxVQ05FMVZNa0FyODN6VmVUdmpDR2swNSs1TXlUTjdzdEtwSEhBa1dnTUZhR1VidC9wU1VjNzBYVDZ3MSsKV3V6WHFQWWJPUTVCMXR5eFN3bGZwanIwS0dvS3lQbWtLVWR6QWxTaXVYemtwZkNPb00xZTJqRE9BVEN2ZkJ0VQorekpUSkN0N2d3cU5xR050N01mcm85L3lxbnQ0b29WWHlGOExNNzlEbE9DYUlNQmZKSEVyY2dNV2FGdkc1OGVFClgwS2xmMzRGQjk0YmJ2ZnNZUTVoMjVxNWVqK2RBcnBBdVNkbVBvVTJaZUtUc1RzZCtQeXlTY2dkb3krcUN5UXMKZERVM0kybzdONkR2cWE4Mys5TmtJaDIxWW1HblRzNzBJR3dla3dJREFRQUJvQUF3RFFZSktvWklodmNOQVFFTApCUUFEZ2dFQkFFWHppeXpyRFAvSUVsTXptb1c5NjRjamJ0YnB6TDFQUmN0V2lIS1ZVWTNoK2x0OHZnTlFSUlh2CllMSDB0SldySHM1MmRqeDR4L0FDb0d4a2o0YmNkT1pJUWpCQ1UxdWFuVkN0Tkd4MWtSTXhhcDRRbWkrT0JoZlAKdXFsMUVCMzMxa3MySk5kaGFSSEdqaXhCaUZUOGJkU1diMHc3VmRhQlJUaVNTTjhiYVNWT0ZPRzZieHlMTVpqYgpWUTBmdkZ6eU0yK1djSXVLT0hUSmhSWE9iUzljNTlETmFRRmdlTVJVak1pZDA4ZU14YkpqN1A3ZHRNS2o4dGJFCnhoaTB0VkZOMkp5UCtmVDNzcXU4ZERVMzlPM29sYi9wbER1NDNOZHBIblZOeHRxcjkvVWsxUXJ4VUFkWGdZSzYKSlMrOGlZMkZ2UVRPVzlIVTAya3Zlem1uV1VXODlqND0KLS0tLS1FTkQgQ0VSVElGSUNBVEUgUkVRVUVTVC0tLS0tCg==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7121256" y="1956677"/>
            <a:ext cx="4350600" cy="2400657"/>
            <a:chOff x="7600396" y="1003344"/>
            <a:chExt cx="4350600" cy="2400657"/>
          </a:xfrm>
        </p:grpSpPr>
        <p:sp>
          <p:nvSpPr>
            <p:cNvPr id="43" name="TextBox 3"/>
            <p:cNvSpPr txBox="1"/>
            <p:nvPr/>
          </p:nvSpPr>
          <p:spPr>
            <a:xfrm>
              <a:off x="7600397" y="1280343"/>
              <a:ext cx="4350599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certificates.k8s.io/v1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CertificateSigningRequest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testuser-csr</a:t>
              </a:r>
              <a:r>
                <a:rPr lang="en-US" altLang="ko-KR" sz="1200" dirty="0" smtClean="0"/>
                <a:t>	</a:t>
              </a:r>
              <a:r>
                <a:rPr lang="en-US" altLang="ko-KR" sz="1200" b="1" dirty="0" smtClean="0"/>
                <a:t># CSR </a:t>
              </a:r>
              <a:r>
                <a:rPr lang="ko-KR" altLang="en-US" sz="1200" b="1" dirty="0" smtClean="0"/>
                <a:t>리소스 이름</a:t>
              </a:r>
              <a:endParaRPr lang="en-US" altLang="ko-KR" sz="1200" b="1" dirty="0" smtClean="0"/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request: |</a:t>
              </a:r>
            </a:p>
            <a:p>
              <a:r>
                <a:rPr lang="en-US" altLang="ko-KR" sz="1200" dirty="0" smtClean="0"/>
                <a:t>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csr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base64 </a:t>
              </a:r>
              <a:r>
                <a:rPr lang="ko-KR" altLang="en-US" sz="1200" b="1" dirty="0" err="1" smtClean="0">
                  <a:solidFill>
                    <a:srgbClr val="FF0000"/>
                  </a:solidFill>
                </a:rPr>
                <a:t>인코딩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 값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signerName</a:t>
              </a:r>
              <a:r>
                <a:rPr lang="en-US" altLang="ko-KR" sz="1200" dirty="0"/>
                <a:t>: kubernetes.io/</a:t>
              </a:r>
              <a:r>
                <a:rPr lang="en-US" altLang="ko-KR" sz="1200" dirty="0" err="1"/>
                <a:t>kube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apiserver</a:t>
              </a:r>
              <a:r>
                <a:rPr lang="en-US" altLang="ko-KR" sz="1200" dirty="0"/>
                <a:t>-client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expirationSeconds</a:t>
              </a:r>
              <a:r>
                <a:rPr lang="en-US" altLang="ko-KR" sz="1200" dirty="0"/>
                <a:t>: 86400  </a:t>
              </a:r>
              <a:r>
                <a:rPr lang="en-US" altLang="ko-KR" sz="1200" b="1" dirty="0"/>
                <a:t># </a:t>
              </a:r>
              <a:r>
                <a:rPr lang="ko-KR" altLang="en-US" sz="1200" b="1" dirty="0"/>
                <a:t>인증서 유효기간</a:t>
              </a:r>
              <a:r>
                <a:rPr lang="en-US" altLang="ko-KR" sz="1200" b="1" dirty="0"/>
                <a:t>(1day)</a:t>
              </a:r>
            </a:p>
            <a:p>
              <a:r>
                <a:rPr lang="en-US" altLang="ko-KR" sz="1200" dirty="0"/>
                <a:t>  usages:</a:t>
              </a:r>
            </a:p>
            <a:p>
              <a:r>
                <a:rPr lang="en-US" altLang="ko-KR" sz="1200" dirty="0"/>
                <a:t>  - client </a:t>
              </a:r>
              <a:r>
                <a:rPr lang="en-US" altLang="ko-KR" sz="1200" dirty="0" err="1"/>
                <a:t>auth</a:t>
              </a:r>
              <a:endParaRPr lang="en-US" altLang="ko-KR" sz="1200" dirty="0"/>
            </a:p>
          </p:txBody>
        </p:sp>
        <p:sp>
          <p:nvSpPr>
            <p:cNvPr id="44" name="TextBox 3"/>
            <p:cNvSpPr txBox="1"/>
            <p:nvPr/>
          </p:nvSpPr>
          <p:spPr>
            <a:xfrm>
              <a:off x="7600396" y="1003344"/>
              <a:ext cx="2569282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1-certificateSigningRequest.yaml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838695" y="2200964"/>
            <a:ext cx="5281979" cy="38228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>
            <a:stCxn id="2" idx="3"/>
          </p:cNvCxnSpPr>
          <p:nvPr/>
        </p:nvCxnSpPr>
        <p:spPr>
          <a:xfrm flipV="1">
            <a:off x="6120674" y="3305175"/>
            <a:ext cx="1232626" cy="8072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029075" y="1238251"/>
            <a:ext cx="542925" cy="2466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9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9" y="4868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CSR</a:t>
            </a:r>
            <a:r>
              <a:rPr lang="ko-KR" altLang="en-US" sz="1400" dirty="0" smtClean="0"/>
              <a:t> 리소스 생성</a:t>
            </a:r>
            <a:endParaRPr lang="en-US" altLang="ko-KR" sz="1400" dirty="0" smtClean="0"/>
          </a:p>
        </p:txBody>
      </p:sp>
      <p:sp>
        <p:nvSpPr>
          <p:cNvPr id="39" name="TextBox 5"/>
          <p:cNvSpPr txBox="1"/>
          <p:nvPr/>
        </p:nvSpPr>
        <p:spPr>
          <a:xfrm>
            <a:off x="785102" y="794627"/>
            <a:ext cx="1067506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-</a:t>
            </a:r>
            <a:r>
              <a:rPr lang="en-US" altLang="ko-KR" sz="1200" dirty="0" smtClean="0">
                <a:solidFill>
                  <a:schemeClr val="bg1"/>
                </a:solidFill>
              </a:rPr>
              <a:t>f 1-certificateSigningRequest.yaml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certificatesigningrequest.certificates.k8s.io/</a:t>
            </a:r>
            <a:r>
              <a:rPr lang="en-US" altLang="ko-KR" sz="1200" dirty="0" err="1">
                <a:solidFill>
                  <a:schemeClr val="bg1"/>
                </a:solidFill>
              </a:rPr>
              <a:t>testuser-csr</a:t>
            </a:r>
            <a:r>
              <a:rPr lang="en-US" altLang="ko-KR" sz="1200" dirty="0">
                <a:solidFill>
                  <a:schemeClr val="bg1"/>
                </a:solidFill>
              </a:rPr>
              <a:t> created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1199" y="135084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– CSR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41" name="TextBox 5"/>
          <p:cNvSpPr txBox="1"/>
          <p:nvPr/>
        </p:nvSpPr>
        <p:spPr>
          <a:xfrm>
            <a:off x="785102" y="1648507"/>
            <a:ext cx="1067506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AGE        </a:t>
            </a:r>
            <a:r>
              <a:rPr lang="en-US" altLang="ko-KR" sz="1200" dirty="0">
                <a:solidFill>
                  <a:schemeClr val="bg1"/>
                </a:solidFill>
              </a:rPr>
              <a:t>SIGNERNAME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REQUESTOR             REQUESTEDDURATION     CONDITION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testuser-csr</a:t>
            </a:r>
            <a:r>
              <a:rPr lang="en-US" altLang="ko-KR" sz="1200" dirty="0" smtClean="0">
                <a:solidFill>
                  <a:schemeClr val="bg1"/>
                </a:solidFill>
              </a:rPr>
              <a:t>     2m46s      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apiserver</a:t>
            </a:r>
            <a:r>
              <a:rPr lang="en-US" altLang="ko-KR" sz="1200" dirty="0" smtClean="0">
                <a:solidFill>
                  <a:schemeClr val="bg1"/>
                </a:solidFill>
              </a:rPr>
              <a:t>-client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-admin     24h                              Pending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en-US" altLang="ko-KR" sz="1200" dirty="0" smtClean="0">
                <a:solidFill>
                  <a:schemeClr val="bg1"/>
                </a:solidFill>
              </a:rPr>
              <a:t>‘Pending’ </a:t>
            </a:r>
            <a:r>
              <a:rPr lang="ko-KR" altLang="en-US" sz="1200" dirty="0">
                <a:solidFill>
                  <a:schemeClr val="bg1"/>
                </a:solidFill>
              </a:rPr>
              <a:t>상태는 해당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CertificateSigningRequest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(CSR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ko-KR" altLang="en-US" sz="1200" dirty="0">
                <a:solidFill>
                  <a:schemeClr val="bg1"/>
                </a:solidFill>
              </a:rPr>
              <a:t>아직 </a:t>
            </a:r>
            <a:r>
              <a:rPr lang="ko-KR" altLang="en-US" sz="1200" dirty="0" smtClean="0">
                <a:solidFill>
                  <a:schemeClr val="bg1"/>
                </a:solidFill>
              </a:rPr>
              <a:t>승인되지 </a:t>
            </a:r>
            <a:r>
              <a:rPr lang="ko-KR" altLang="en-US" sz="1200" dirty="0">
                <a:solidFill>
                  <a:schemeClr val="bg1"/>
                </a:solidFill>
              </a:rPr>
              <a:t>않았다는 </a:t>
            </a:r>
            <a:r>
              <a:rPr lang="ko-KR" altLang="en-US" sz="1200" dirty="0" smtClean="0">
                <a:solidFill>
                  <a:schemeClr val="bg1"/>
                </a:solidFill>
              </a:rPr>
              <a:t>것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199" y="2570525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-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CSR</a:t>
            </a:r>
            <a:r>
              <a:rPr lang="ko-KR" altLang="en-US" sz="1400" dirty="0" smtClean="0"/>
              <a:t> 승인</a:t>
            </a:r>
            <a:endParaRPr lang="en-US" altLang="ko-KR" sz="1400" dirty="0" smtClean="0"/>
          </a:p>
        </p:txBody>
      </p:sp>
      <p:sp>
        <p:nvSpPr>
          <p:cNvPr id="14" name="TextBox 5"/>
          <p:cNvSpPr txBox="1"/>
          <p:nvPr/>
        </p:nvSpPr>
        <p:spPr>
          <a:xfrm>
            <a:off x="785103" y="2867285"/>
            <a:ext cx="1067506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certificate approve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testuser-csr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certificatesigningrequest.certificates.k8s.io/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testuser-csr</a:t>
            </a:r>
            <a:r>
              <a:rPr lang="en-US" altLang="ko-KR" sz="1200" dirty="0" smtClean="0">
                <a:solidFill>
                  <a:schemeClr val="bg1"/>
                </a:solidFill>
              </a:rPr>
              <a:t> approved	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1199" y="3422712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- 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CSR </a:t>
            </a:r>
            <a:r>
              <a:rPr lang="ko-KR" altLang="en-US" sz="1400" dirty="0" smtClean="0"/>
              <a:t>승인 상태 확인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785103" y="3719472"/>
            <a:ext cx="1067506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AGE       SIGNERNAME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REQUESTOR             REQUESTEDDURATION     CONDITION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testuser-csr</a:t>
            </a:r>
            <a:r>
              <a:rPr lang="en-US" altLang="ko-KR" sz="1200" dirty="0" smtClean="0">
                <a:solidFill>
                  <a:schemeClr val="bg1"/>
                </a:solidFill>
              </a:rPr>
              <a:t>   3m12s    </a:t>
            </a:r>
            <a:r>
              <a:rPr lang="en-US" altLang="ko-KR" sz="1200" dirty="0">
                <a:solidFill>
                  <a:schemeClr val="bg1"/>
                </a:solidFill>
              </a:rPr>
              <a:t>kubernetes.io/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apiserver</a:t>
            </a:r>
            <a:r>
              <a:rPr lang="en-US" altLang="ko-KR" sz="1200" dirty="0">
                <a:solidFill>
                  <a:schemeClr val="bg1"/>
                </a:solidFill>
              </a:rPr>
              <a:t>-client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-admin     24h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  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Approved,Issued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# CSR </a:t>
            </a:r>
            <a:r>
              <a:rPr lang="ko-KR" altLang="en-US" sz="1200" dirty="0" smtClean="0">
                <a:solidFill>
                  <a:schemeClr val="bg1"/>
                </a:solidFill>
              </a:rPr>
              <a:t>승인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199" y="445958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- User </a:t>
            </a:r>
            <a:r>
              <a:rPr lang="ko-KR" altLang="en-US" sz="1400" dirty="0" smtClean="0"/>
              <a:t>인증서 생성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766763" y="4756346"/>
            <a:ext cx="1069340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testuser-csr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='{.</a:t>
            </a:r>
            <a:r>
              <a:rPr lang="en-US" altLang="ko-KR" sz="1200" dirty="0" err="1">
                <a:solidFill>
                  <a:schemeClr val="bg1"/>
                </a:solidFill>
              </a:rPr>
              <a:t>status.certificate</a:t>
            </a:r>
            <a:r>
              <a:rPr lang="en-US" altLang="ko-KR" sz="1200" dirty="0">
                <a:solidFill>
                  <a:schemeClr val="bg1"/>
                </a:solidFill>
              </a:rPr>
              <a:t>}'| base64 -d &gt; </a:t>
            </a:r>
            <a:r>
              <a:rPr lang="en-US" altLang="ko-KR" sz="1200" dirty="0" smtClean="0">
                <a:solidFill>
                  <a:schemeClr val="bg1"/>
                </a:solidFill>
              </a:rPr>
              <a:t>user.crt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199" y="5133000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 </a:t>
            </a:r>
            <a:r>
              <a:rPr lang="ko-KR" altLang="en-US" sz="1400" dirty="0" smtClean="0"/>
              <a:t>인증서 생성</a:t>
            </a:r>
            <a:endParaRPr lang="en-US" altLang="ko-KR" sz="1400" dirty="0" smtClean="0"/>
          </a:p>
        </p:txBody>
      </p:sp>
      <p:sp>
        <p:nvSpPr>
          <p:cNvPr id="20" name="TextBox 5"/>
          <p:cNvSpPr txBox="1"/>
          <p:nvPr/>
        </p:nvSpPr>
        <p:spPr>
          <a:xfrm>
            <a:off x="766763" y="5437270"/>
            <a:ext cx="1069339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cat </a:t>
            </a:r>
            <a:r>
              <a:rPr lang="en-US" altLang="ko-KR" sz="1200" dirty="0">
                <a:solidFill>
                  <a:schemeClr val="bg1"/>
                </a:solidFill>
              </a:rPr>
              <a:t>/root/.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certificate-authority-data | </a:t>
            </a:r>
            <a:r>
              <a:rPr lang="en-US" altLang="ko-KR" sz="1200" dirty="0" err="1">
                <a:solidFill>
                  <a:schemeClr val="bg1"/>
                </a:solidFill>
              </a:rPr>
              <a:t>awk</a:t>
            </a:r>
            <a:r>
              <a:rPr lang="en-US" altLang="ko-KR" sz="1200" dirty="0">
                <a:solidFill>
                  <a:schemeClr val="bg1"/>
                </a:solidFill>
              </a:rPr>
              <a:t> '{print $2}' | base64 -d &gt;&gt; </a:t>
            </a:r>
            <a:r>
              <a:rPr lang="en-US" altLang="ko-KR" sz="1200" dirty="0" smtClean="0">
                <a:solidFill>
                  <a:schemeClr val="bg1"/>
                </a:solidFill>
              </a:rPr>
              <a:t>cluster.crt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991600" y="2044700"/>
            <a:ext cx="633414" cy="2498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11198" y="5838133"/>
            <a:ext cx="939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</a:t>
            </a:r>
            <a:r>
              <a:rPr lang="ko-KR" altLang="en-US" sz="1400" dirty="0"/>
              <a:t>생성된 </a:t>
            </a:r>
            <a:r>
              <a:rPr lang="en-US" altLang="ko-KR" sz="1400" dirty="0" smtClean="0"/>
              <a:t>‘user.crt</a:t>
            </a:r>
            <a:r>
              <a:rPr lang="en-US" altLang="ko-KR" sz="1400" dirty="0"/>
              <a:t>, </a:t>
            </a:r>
            <a:r>
              <a:rPr lang="en-US" altLang="ko-KR" sz="1400" dirty="0" smtClean="0"/>
              <a:t>cluster.crt’ </a:t>
            </a:r>
            <a:r>
              <a:rPr lang="ko-KR" altLang="en-US" sz="1400" dirty="0"/>
              <a:t>인증서를 추가 사용자에게 전달한다</a:t>
            </a:r>
            <a:r>
              <a:rPr lang="en-US" altLang="ko-KR" sz="1400" dirty="0"/>
              <a:t>.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endParaRPr lang="en-US" altLang="ko-KR" sz="1400" dirty="0" smtClean="0"/>
          </a:p>
        </p:txBody>
      </p:sp>
      <p:sp>
        <p:nvSpPr>
          <p:cNvPr id="24" name="직사각형 23"/>
          <p:cNvSpPr/>
          <p:nvPr/>
        </p:nvSpPr>
        <p:spPr>
          <a:xfrm>
            <a:off x="6071790" y="4782209"/>
            <a:ext cx="605235" cy="226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7090965" y="5458767"/>
            <a:ext cx="700485" cy="2459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41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9" y="4868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전달 받은 인증서</a:t>
            </a:r>
            <a:r>
              <a:rPr lang="en-US" altLang="ko-KR" sz="1400" dirty="0"/>
              <a:t>(user.crt, </a:t>
            </a:r>
            <a:r>
              <a:rPr lang="en-US" altLang="ko-KR" sz="1400" dirty="0" smtClean="0"/>
              <a:t>cluster.crt)</a:t>
            </a:r>
            <a:r>
              <a:rPr lang="ko-KR" altLang="en-US" sz="1400" dirty="0" smtClean="0"/>
              <a:t>를 통해 </a:t>
            </a:r>
            <a:r>
              <a:rPr lang="en-US" altLang="ko-KR" sz="1400" dirty="0" smtClean="0"/>
              <a:t>User</a:t>
            </a:r>
            <a:r>
              <a:rPr lang="ko-KR" altLang="en-US" sz="1400" dirty="0" smtClean="0"/>
              <a:t>를 생성</a:t>
            </a:r>
            <a:endParaRPr lang="en-US" altLang="ko-KR" sz="1400" dirty="0" smtClean="0"/>
          </a:p>
        </p:txBody>
      </p:sp>
      <p:sp>
        <p:nvSpPr>
          <p:cNvPr id="39" name="TextBox 5"/>
          <p:cNvSpPr txBox="1"/>
          <p:nvPr/>
        </p:nvSpPr>
        <p:spPr>
          <a:xfrm>
            <a:off x="766763" y="794627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set-credentials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client-key=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user.key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client-certificate=user.crt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embed-certs=true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User </a:t>
            </a:r>
            <a:r>
              <a:rPr lang="en-US" altLang="ko-KR" sz="1200" dirty="0" smtClean="0">
                <a:solidFill>
                  <a:schemeClr val="bg1"/>
                </a:solidFill>
              </a:rPr>
              <a:t>“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" </a:t>
            </a:r>
            <a:r>
              <a:rPr lang="en-US" altLang="ko-KR" sz="1200" dirty="0">
                <a:solidFill>
                  <a:schemeClr val="bg1"/>
                </a:solidFill>
              </a:rPr>
              <a:t>set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1199" y="1333701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-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Kubernetes Cluster </a:t>
            </a:r>
            <a:r>
              <a:rPr lang="ko-KR" altLang="en-US" sz="1400" dirty="0" smtClean="0"/>
              <a:t>정보를 </a:t>
            </a: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ubeconfig</a:t>
            </a:r>
            <a:r>
              <a:rPr lang="ko-KR" altLang="en-US" sz="1400" dirty="0" smtClean="0"/>
              <a:t>에 등록</a:t>
            </a:r>
            <a:endParaRPr lang="en-US" altLang="ko-KR" sz="1400" dirty="0" smtClean="0"/>
          </a:p>
        </p:txBody>
      </p:sp>
      <p:sp>
        <p:nvSpPr>
          <p:cNvPr id="41" name="TextBox 5"/>
          <p:cNvSpPr txBox="1"/>
          <p:nvPr/>
        </p:nvSpPr>
        <p:spPr>
          <a:xfrm>
            <a:off x="766763" y="1630461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set-cluster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 --server=https</a:t>
            </a:r>
            <a:r>
              <a:rPr lang="en-US" altLang="ko-KR" sz="1200" dirty="0" smtClean="0">
                <a:solidFill>
                  <a:schemeClr val="bg1"/>
                </a:solidFill>
              </a:rPr>
              <a:t>://${MASTER_SERVER_IP}:6443 --certificate-authority=cluster.crt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Cluster 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" set.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199" y="219702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- Context</a:t>
            </a:r>
            <a:r>
              <a:rPr lang="ko-KR" altLang="en-US" sz="1400" dirty="0" smtClean="0"/>
              <a:t>를 생성</a:t>
            </a:r>
            <a:endParaRPr lang="en-US" altLang="ko-KR" sz="1400" dirty="0" smtClean="0"/>
          </a:p>
        </p:txBody>
      </p:sp>
      <p:sp>
        <p:nvSpPr>
          <p:cNvPr id="14" name="TextBox 5"/>
          <p:cNvSpPr txBox="1"/>
          <p:nvPr/>
        </p:nvSpPr>
        <p:spPr>
          <a:xfrm>
            <a:off x="766763" y="2493786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set-context 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-context --cluster=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 --user=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Context 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-context" created.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199" y="3039581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생성한 </a:t>
            </a:r>
            <a:r>
              <a:rPr lang="en-US" altLang="ko-KR" sz="1400" dirty="0"/>
              <a:t>C</a:t>
            </a:r>
            <a:r>
              <a:rPr lang="en-US" altLang="ko-KR" sz="1400" dirty="0" smtClean="0"/>
              <a:t>ontext </a:t>
            </a:r>
            <a:r>
              <a:rPr lang="ko-KR" altLang="en-US" sz="1400" dirty="0" smtClean="0"/>
              <a:t>사용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766763" y="3336341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use-context 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-context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Switched </a:t>
            </a:r>
            <a:r>
              <a:rPr lang="en-US" altLang="ko-KR" sz="1200" dirty="0">
                <a:solidFill>
                  <a:schemeClr val="bg1"/>
                </a:solidFill>
              </a:rPr>
              <a:t>to context "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-context".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043" y="388975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전환</a:t>
            </a:r>
            <a:endParaRPr lang="en-US" altLang="ko-KR" sz="1400" dirty="0" smtClean="0"/>
          </a:p>
        </p:txBody>
      </p:sp>
      <p:sp>
        <p:nvSpPr>
          <p:cNvPr id="12" name="TextBox 5"/>
          <p:cNvSpPr txBox="1"/>
          <p:nvPr/>
        </p:nvSpPr>
        <p:spPr>
          <a:xfrm>
            <a:off x="776607" y="4186516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set-credentials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User “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" </a:t>
            </a:r>
            <a:r>
              <a:rPr lang="en-US" altLang="ko-KR" sz="1200" dirty="0">
                <a:solidFill>
                  <a:schemeClr val="bg1"/>
                </a:solidFill>
              </a:rPr>
              <a:t>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763" y="4753081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실행 중인 사용자의 인증 정보를 확인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784227" y="5049841"/>
            <a:ext cx="10693399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auth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whoami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ATTRIBUTE            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</a:t>
            </a:r>
            <a:r>
              <a:rPr lang="en-US" altLang="ko-KR" sz="1200" dirty="0">
                <a:solidFill>
                  <a:schemeClr val="bg1"/>
                </a:solidFill>
              </a:rPr>
              <a:t>VALUE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Username                                                    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Groups                         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[</a:t>
            </a:r>
            <a:r>
              <a:rPr lang="en-US" altLang="ko-KR" sz="1200" dirty="0" err="1">
                <a:solidFill>
                  <a:schemeClr val="bg1"/>
                </a:solidFill>
              </a:rPr>
              <a:t>system:authenticated</a:t>
            </a:r>
            <a:r>
              <a:rPr lang="en-US" altLang="ko-KR" sz="12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Extra</a:t>
            </a:r>
            <a:r>
              <a:rPr lang="en-US" altLang="ko-KR" sz="1200" dirty="0">
                <a:solidFill>
                  <a:schemeClr val="bg1"/>
                </a:solidFill>
              </a:rPr>
              <a:t>: authentication.kubernetes.io/credential-id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[X509SHA256=ebc93763704a169ceeb8f867830941f8abbfd4029aed92a90666214c21fd668a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29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9" y="4868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현재 사용자의 권한 조회</a:t>
            </a:r>
            <a:endParaRPr lang="en-US" altLang="ko-KR" sz="1400" dirty="0" smtClean="0"/>
          </a:p>
        </p:txBody>
      </p:sp>
      <p:sp>
        <p:nvSpPr>
          <p:cNvPr id="39" name="TextBox 5"/>
          <p:cNvSpPr txBox="1"/>
          <p:nvPr/>
        </p:nvSpPr>
        <p:spPr>
          <a:xfrm>
            <a:off x="766763" y="794627"/>
            <a:ext cx="10693399" cy="193899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auth</a:t>
            </a:r>
            <a:r>
              <a:rPr lang="en-US" altLang="ko-KR" sz="1200" dirty="0">
                <a:solidFill>
                  <a:schemeClr val="bg1"/>
                </a:solidFill>
              </a:rPr>
              <a:t> can-</a:t>
            </a:r>
            <a:r>
              <a:rPr lang="en-US" altLang="ko-KR" sz="1200" dirty="0" err="1">
                <a:solidFill>
                  <a:schemeClr val="bg1"/>
                </a:solidFill>
              </a:rPr>
              <a:t>i</a:t>
            </a:r>
            <a:r>
              <a:rPr lang="en-US" altLang="ko-KR" sz="1200" dirty="0">
                <a:solidFill>
                  <a:schemeClr val="bg1"/>
                </a:solidFill>
              </a:rPr>
              <a:t> --list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Resources                                                 Non-Resource </a:t>
            </a:r>
            <a:r>
              <a:rPr lang="en-US" altLang="ko-KR" sz="1200" dirty="0">
                <a:solidFill>
                  <a:schemeClr val="bg1"/>
                </a:solidFill>
              </a:rPr>
              <a:t>URLs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Resource </a:t>
            </a:r>
            <a:r>
              <a:rPr lang="en-US" altLang="ko-KR" sz="1200" dirty="0">
                <a:solidFill>
                  <a:schemeClr val="bg1"/>
                </a:solidFill>
              </a:rPr>
              <a:t>Names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Verbs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selfsubjectreviews.authentication.k8s.io            []                               []                           [</a:t>
            </a:r>
            <a:r>
              <a:rPr lang="en-US" altLang="ko-KR" sz="1200" dirty="0">
                <a:solidFill>
                  <a:schemeClr val="bg1"/>
                </a:solidFill>
              </a:rPr>
              <a:t>create]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selfsubjectaccessreviews.authorization.k8s.io      []                               []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[create]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selfsubjectrulesreviews.authorization.k8s.io        </a:t>
            </a:r>
            <a:r>
              <a:rPr lang="en-US" altLang="ko-KR" sz="1200" dirty="0">
                <a:solidFill>
                  <a:schemeClr val="bg1"/>
                </a:solidFill>
              </a:rPr>
              <a:t>[]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[]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[create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                                           [/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r>
              <a:rPr lang="en-US" altLang="ko-KR" sz="1200" dirty="0">
                <a:solidFill>
                  <a:schemeClr val="bg1"/>
                </a:solidFill>
              </a:rPr>
              <a:t>/*]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</a:t>
            </a:r>
            <a:r>
              <a:rPr lang="en-US" altLang="ko-KR" sz="1200" dirty="0">
                <a:solidFill>
                  <a:schemeClr val="bg1"/>
                </a:solidFill>
              </a:rPr>
              <a:t>[]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[</a:t>
            </a:r>
            <a:r>
              <a:rPr lang="en-US" altLang="ko-KR" sz="1200" dirty="0">
                <a:solidFill>
                  <a:schemeClr val="bg1"/>
                </a:solidFill>
              </a:rPr>
              <a:t>get]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         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[/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r>
              <a:rPr lang="en-US" altLang="ko-KR" sz="1200" dirty="0">
                <a:solidFill>
                  <a:schemeClr val="bg1"/>
                </a:solidFill>
              </a:rPr>
              <a:t>]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</a:t>
            </a:r>
            <a:r>
              <a:rPr lang="en-US" altLang="ko-KR" sz="1200" dirty="0">
                <a:solidFill>
                  <a:schemeClr val="bg1"/>
                </a:solidFill>
              </a:rPr>
              <a:t>[]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[get]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사용자가 특정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쿠버네티스</a:t>
            </a:r>
            <a:r>
              <a:rPr lang="ko-KR" altLang="en-US" sz="1200" dirty="0" smtClean="0">
                <a:solidFill>
                  <a:schemeClr val="bg1"/>
                </a:solidFill>
              </a:rPr>
              <a:t> 작업을 </a:t>
            </a:r>
            <a:r>
              <a:rPr lang="ko-KR" altLang="en-US" sz="1200" dirty="0">
                <a:solidFill>
                  <a:schemeClr val="bg1"/>
                </a:solidFill>
              </a:rPr>
              <a:t>정상적으로 </a:t>
            </a:r>
            <a:r>
              <a:rPr lang="ko-KR" altLang="en-US" sz="1200" dirty="0" smtClean="0">
                <a:solidFill>
                  <a:schemeClr val="bg1"/>
                </a:solidFill>
              </a:rPr>
              <a:t> 수행할 수 있다는 것을 알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66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2. Authorization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655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API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호출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62020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인증 받은 </a:t>
            </a:r>
            <a:r>
              <a:rPr lang="en-US" altLang="ko-KR" sz="1400" dirty="0" smtClean="0"/>
              <a:t>User</a:t>
            </a:r>
            <a:r>
              <a:rPr lang="ko-KR" altLang="en-US" sz="1400" dirty="0" smtClean="0"/>
              <a:t>여도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권한이 없으면 </a:t>
            </a:r>
            <a:r>
              <a:rPr lang="en-US" altLang="ko-KR" sz="1400" dirty="0" smtClean="0"/>
              <a:t>Kubernetes API Server</a:t>
            </a:r>
            <a:r>
              <a:rPr lang="ko-KR" altLang="en-US" sz="1400" dirty="0" smtClean="0"/>
              <a:t>에 접근이 불가하다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199" y="216939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ube-apiserver.yaml</a:t>
            </a:r>
            <a:r>
              <a:rPr lang="ko-KR" altLang="en-US" sz="1400" dirty="0" smtClean="0"/>
              <a:t>의 설정에서 모든 사용자에게 권한 허용 </a:t>
            </a:r>
            <a:r>
              <a:rPr lang="en-US" altLang="ko-KR" sz="1400" dirty="0" smtClean="0"/>
              <a:t>(</a:t>
            </a:r>
            <a:r>
              <a:rPr lang="en-US" altLang="ko-KR" sz="1400" dirty="0" err="1"/>
              <a:t>Y</a:t>
            </a:r>
            <a:r>
              <a:rPr lang="en-US" altLang="ko-KR" sz="1400" dirty="0" err="1" smtClean="0"/>
              <a:t>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경로</a:t>
            </a:r>
            <a:r>
              <a:rPr lang="en-US" altLang="ko-KR" sz="1400" dirty="0"/>
              <a:t>: /</a:t>
            </a:r>
            <a:r>
              <a:rPr lang="en-US" altLang="ko-KR" sz="1400" dirty="0" err="1" smtClean="0"/>
              <a:t>etc</a:t>
            </a:r>
            <a:r>
              <a:rPr lang="en-US" altLang="ko-KR" sz="1400" dirty="0" smtClean="0"/>
              <a:t>/</a:t>
            </a:r>
            <a:r>
              <a:rPr lang="en-US" altLang="ko-KR" sz="1400" dirty="0" err="1" smtClean="0"/>
              <a:t>kubernetes</a:t>
            </a:r>
            <a:r>
              <a:rPr lang="en-US" altLang="ko-KR" sz="1400" dirty="0" smtClean="0"/>
              <a:t>/manifests)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766763" y="927977"/>
            <a:ext cx="1069339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--</a:t>
            </a:r>
            <a:r>
              <a:rPr lang="en-US" altLang="ko-KR" sz="1200" dirty="0" err="1">
                <a:solidFill>
                  <a:schemeClr val="bg1"/>
                </a:solidFill>
              </a:rPr>
              <a:t>cacert</a:t>
            </a:r>
            <a:r>
              <a:rPr lang="en-US" altLang="ko-KR" sz="1200" dirty="0">
                <a:solidFill>
                  <a:schemeClr val="bg1"/>
                </a:solidFill>
              </a:rPr>
              <a:t> cluster.crt --cert user.crt --key </a:t>
            </a:r>
            <a:r>
              <a:rPr lang="en-US" altLang="ko-KR" sz="1200" dirty="0" err="1">
                <a:solidFill>
                  <a:schemeClr val="bg1"/>
                </a:solidFill>
              </a:rPr>
              <a:t>user.key</a:t>
            </a:r>
            <a:r>
              <a:rPr lang="en-US" altLang="ko-KR" sz="1200" dirty="0">
                <a:solidFill>
                  <a:schemeClr val="bg1"/>
                </a:solidFill>
              </a:rPr>
              <a:t> https://192.168.53.21:6443/ -</a:t>
            </a:r>
            <a:r>
              <a:rPr lang="en-US" altLang="ko-KR" sz="1200" dirty="0" smtClean="0">
                <a:solidFill>
                  <a:schemeClr val="bg1"/>
                </a:solidFill>
              </a:rPr>
              <a:t>k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  "</a:t>
            </a:r>
            <a:r>
              <a:rPr lang="en-US" altLang="ko-KR" sz="1200" dirty="0">
                <a:solidFill>
                  <a:schemeClr val="bg1"/>
                </a:solidFill>
              </a:rPr>
              <a:t>status": "Failure",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  "</a:t>
            </a:r>
            <a:r>
              <a:rPr lang="en-US" altLang="ko-KR" sz="1200" dirty="0">
                <a:solidFill>
                  <a:schemeClr val="bg1"/>
                </a:solidFill>
              </a:rPr>
              <a:t>message": "forbidden: User \"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\" cannot get path </a:t>
            </a:r>
            <a:r>
              <a:rPr lang="en-US" altLang="ko-KR" sz="1200" dirty="0" smtClean="0">
                <a:solidFill>
                  <a:schemeClr val="bg1"/>
                </a:solidFill>
              </a:rPr>
              <a:t>\"/\"", 	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에게 권한이 없어서</a:t>
            </a:r>
            <a:r>
              <a:rPr lang="en-US" altLang="ko-KR" sz="1200" dirty="0" smtClean="0">
                <a:solidFill>
                  <a:schemeClr val="bg1"/>
                </a:solidFill>
              </a:rPr>
              <a:t>, API Server</a:t>
            </a:r>
            <a:r>
              <a:rPr lang="ko-KR" altLang="en-US" sz="1200" dirty="0" smtClean="0">
                <a:solidFill>
                  <a:schemeClr val="bg1"/>
                </a:solidFill>
              </a:rPr>
              <a:t>에 접근 불가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  “reason</a:t>
            </a:r>
            <a:r>
              <a:rPr lang="en-US" altLang="ko-KR" sz="1200" dirty="0">
                <a:solidFill>
                  <a:schemeClr val="bg1"/>
                </a:solidFill>
              </a:rPr>
              <a:t>": "Forbidden</a:t>
            </a:r>
            <a:r>
              <a:rPr lang="en-US" altLang="ko-KR" sz="1200" dirty="0" smtClean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 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973182" y="1504279"/>
            <a:ext cx="698581" cy="226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287478" y="1506712"/>
            <a:ext cx="558241" cy="226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778510" y="2509599"/>
            <a:ext cx="5728970" cy="2031325"/>
            <a:chOff x="7600397" y="1003344"/>
            <a:chExt cx="5728970" cy="2031325"/>
          </a:xfrm>
        </p:grpSpPr>
        <p:sp>
          <p:nvSpPr>
            <p:cNvPr id="17" name="TextBox 3"/>
            <p:cNvSpPr txBox="1"/>
            <p:nvPr/>
          </p:nvSpPr>
          <p:spPr>
            <a:xfrm>
              <a:off x="7600397" y="1280343"/>
              <a:ext cx="5728970" cy="175432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/>
                <a:t>…</a:t>
              </a:r>
              <a:endParaRPr lang="en-US" altLang="ko-KR" sz="1200" b="1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command: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kube-apiserver</a:t>
              </a:r>
              <a:endParaRPr lang="en-US" altLang="ko-KR" sz="1200" dirty="0"/>
            </a:p>
            <a:p>
              <a:r>
                <a:rPr lang="en-US" altLang="ko-KR" sz="1200" dirty="0"/>
                <a:t>    - --advertise-address=192.168.53.21</a:t>
              </a:r>
            </a:p>
            <a:p>
              <a:r>
                <a:rPr lang="en-US" altLang="ko-KR" sz="1200" dirty="0"/>
                <a:t>    - --allow-privileged=true</a:t>
              </a:r>
            </a:p>
            <a:p>
              <a:r>
                <a:rPr lang="en-US" altLang="ko-KR" sz="1200" dirty="0" smtClean="0"/>
                <a:t>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--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authorization-mode=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AlwaysAllow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# Default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설정 값은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‘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Node,RBAC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’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/>
                <a:t>… 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8" name="TextBox 3"/>
            <p:cNvSpPr txBox="1"/>
            <p:nvPr/>
          </p:nvSpPr>
          <p:spPr>
            <a:xfrm>
              <a:off x="7600397" y="1003344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ube-apiserver.yaml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11199" y="46016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API Server </a:t>
            </a:r>
            <a:r>
              <a:rPr lang="ko-KR" altLang="en-US" sz="1400" dirty="0" smtClean="0"/>
              <a:t>접근 재시도</a:t>
            </a:r>
            <a:endParaRPr lang="en-US" altLang="ko-KR" sz="1400" dirty="0" smtClean="0"/>
          </a:p>
        </p:txBody>
      </p:sp>
      <p:sp>
        <p:nvSpPr>
          <p:cNvPr id="20" name="TextBox 5"/>
          <p:cNvSpPr txBox="1"/>
          <p:nvPr/>
        </p:nvSpPr>
        <p:spPr>
          <a:xfrm>
            <a:off x="766763" y="4909427"/>
            <a:ext cx="10693399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curl --</a:t>
            </a:r>
            <a:r>
              <a:rPr lang="en-US" altLang="ko-KR" sz="1200" dirty="0" err="1">
                <a:solidFill>
                  <a:schemeClr val="bg1"/>
                </a:solidFill>
              </a:rPr>
              <a:t>cacert</a:t>
            </a:r>
            <a:r>
              <a:rPr lang="en-US" altLang="ko-KR" sz="1200" dirty="0">
                <a:solidFill>
                  <a:schemeClr val="bg1"/>
                </a:solidFill>
              </a:rPr>
              <a:t> cluster.crt --cert user.crt --key </a:t>
            </a:r>
            <a:r>
              <a:rPr lang="en-US" altLang="ko-KR" sz="1200" dirty="0" err="1">
                <a:solidFill>
                  <a:schemeClr val="bg1"/>
                </a:solidFill>
              </a:rPr>
              <a:t>user.key</a:t>
            </a:r>
            <a:r>
              <a:rPr lang="en-US" altLang="ko-KR" sz="1200" dirty="0">
                <a:solidFill>
                  <a:schemeClr val="bg1"/>
                </a:solidFill>
              </a:rPr>
              <a:t> https://192.168.53.21:6443/ -</a:t>
            </a:r>
            <a:r>
              <a:rPr lang="en-US" altLang="ko-KR" sz="1200" dirty="0" smtClean="0">
                <a:solidFill>
                  <a:schemeClr val="bg1"/>
                </a:solidFill>
              </a:rPr>
              <a:t>k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  "paths": </a:t>
            </a:r>
            <a:r>
              <a:rPr lang="en-US" altLang="ko-KR" sz="1200" dirty="0" smtClean="0">
                <a:solidFill>
                  <a:schemeClr val="bg1"/>
                </a:solidFill>
              </a:rPr>
              <a:t>[			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호출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"/.</a:t>
            </a:r>
            <a:r>
              <a:rPr lang="en-US" altLang="ko-KR" sz="1200" dirty="0">
                <a:solidFill>
                  <a:schemeClr val="bg1"/>
                </a:solidFill>
              </a:rPr>
              <a:t>well-known/</a:t>
            </a:r>
            <a:r>
              <a:rPr lang="en-US" altLang="ko-KR" sz="1200" dirty="0" err="1">
                <a:solidFill>
                  <a:schemeClr val="bg1"/>
                </a:solidFill>
              </a:rPr>
              <a:t>openid</a:t>
            </a:r>
            <a:r>
              <a:rPr lang="en-US" altLang="ko-KR" sz="1200" dirty="0">
                <a:solidFill>
                  <a:schemeClr val="bg1"/>
                </a:solidFill>
              </a:rPr>
              <a:t>-configuration",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"/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"/</a:t>
            </a:r>
            <a:r>
              <a:rPr lang="en-US" altLang="ko-KR" sz="1200" dirty="0" err="1">
                <a:solidFill>
                  <a:schemeClr val="bg1"/>
                </a:solidFill>
              </a:rPr>
              <a:t>api</a:t>
            </a:r>
            <a:r>
              <a:rPr lang="en-US" altLang="ko-KR" sz="1200" dirty="0">
                <a:solidFill>
                  <a:schemeClr val="bg1"/>
                </a:solidFill>
              </a:rPr>
              <a:t>/v1",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 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21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9" y="62020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초기 </a:t>
            </a:r>
            <a:r>
              <a:rPr lang="en-US" altLang="ko-KR" sz="1400" dirty="0" err="1" smtClean="0"/>
              <a:t>kube-apiserver.yaml</a:t>
            </a:r>
            <a:r>
              <a:rPr lang="ko-KR" altLang="en-US" sz="1400" dirty="0"/>
              <a:t>로 원상복구</a:t>
            </a:r>
            <a:endParaRPr lang="en-US" altLang="ko-KR" sz="1400" dirty="0" smtClean="0"/>
          </a:p>
        </p:txBody>
      </p:sp>
      <p:grpSp>
        <p:nvGrpSpPr>
          <p:cNvPr id="14" name="그룹 13"/>
          <p:cNvGrpSpPr/>
          <p:nvPr/>
        </p:nvGrpSpPr>
        <p:grpSpPr>
          <a:xfrm>
            <a:off x="778510" y="1042749"/>
            <a:ext cx="5728970" cy="2031325"/>
            <a:chOff x="7600397" y="1003344"/>
            <a:chExt cx="5728970" cy="2031325"/>
          </a:xfrm>
        </p:grpSpPr>
        <p:sp>
          <p:nvSpPr>
            <p:cNvPr id="17" name="TextBox 3"/>
            <p:cNvSpPr txBox="1"/>
            <p:nvPr/>
          </p:nvSpPr>
          <p:spPr>
            <a:xfrm>
              <a:off x="7600397" y="1280343"/>
              <a:ext cx="5728970" cy="175432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/>
                <a:t>…</a:t>
              </a:r>
              <a:endParaRPr lang="en-US" altLang="ko-KR" sz="1200" b="1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command: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kube-apiserver</a:t>
              </a:r>
              <a:endParaRPr lang="en-US" altLang="ko-KR" sz="1200" dirty="0"/>
            </a:p>
            <a:p>
              <a:r>
                <a:rPr lang="en-US" altLang="ko-KR" sz="1200" dirty="0"/>
                <a:t>    - --advertise-address=192.168.53.21</a:t>
              </a:r>
            </a:p>
            <a:p>
              <a:r>
                <a:rPr lang="en-US" altLang="ko-KR" sz="1200" dirty="0"/>
                <a:t>    - --allow-privileged=true</a:t>
              </a:r>
            </a:p>
            <a:p>
              <a:r>
                <a:rPr lang="en-US" altLang="ko-KR" sz="1200" dirty="0" smtClean="0"/>
                <a:t>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--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authorization-mode=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Node,RBAC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원상복구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/>
                <a:t>… </a:t>
              </a:r>
              <a:r>
                <a:rPr lang="en-US" altLang="ko-KR" sz="1200" dirty="0" smtClean="0"/>
                <a:t>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8" name="TextBox 3"/>
            <p:cNvSpPr txBox="1"/>
            <p:nvPr/>
          </p:nvSpPr>
          <p:spPr>
            <a:xfrm>
              <a:off x="7600397" y="1003344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ube-apiserver.yaml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634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Role &amp;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RoleBinding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4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Role &amp;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RoleBinding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776607" y="1068550"/>
            <a:ext cx="3974779" cy="2401068"/>
            <a:chOff x="7119940" y="1061699"/>
            <a:chExt cx="3974779" cy="2401068"/>
          </a:xfrm>
        </p:grpSpPr>
        <p:sp>
          <p:nvSpPr>
            <p:cNvPr id="25" name="TextBox 11"/>
            <p:cNvSpPr txBox="1"/>
            <p:nvPr/>
          </p:nvSpPr>
          <p:spPr>
            <a:xfrm>
              <a:off x="7119940" y="1339109"/>
              <a:ext cx="3974779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role-test-pod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role-test-pod</a:t>
              </a:r>
            </a:p>
            <a:p>
              <a:r>
                <a:rPr lang="en-US" altLang="ko-KR" sz="1200" dirty="0"/>
                <a:t>    type: web-server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01441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1-pod.yaml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11198" y="651987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새로운 </a:t>
            </a:r>
            <a:r>
              <a:rPr lang="en-US" altLang="ko-KR" sz="1400" dirty="0" smtClean="0"/>
              <a:t>User(‘</a:t>
            </a:r>
            <a:r>
              <a:rPr lang="en-US" altLang="ko-KR" sz="1400" dirty="0" err="1" smtClean="0"/>
              <a:t>testuser</a:t>
            </a:r>
            <a:r>
              <a:rPr lang="en-US" altLang="ko-KR" sz="1400" dirty="0" smtClean="0"/>
              <a:t>’)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시도</a:t>
            </a:r>
            <a:endParaRPr lang="en-US" altLang="ko-KR" sz="1400" dirty="0" smtClean="0"/>
          </a:p>
        </p:txBody>
      </p:sp>
      <p:sp>
        <p:nvSpPr>
          <p:cNvPr id="17" name="TextBox 5"/>
          <p:cNvSpPr txBox="1"/>
          <p:nvPr/>
        </p:nvSpPr>
        <p:spPr>
          <a:xfrm>
            <a:off x="766764" y="3754614"/>
            <a:ext cx="10693399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smtClean="0">
                <a:solidFill>
                  <a:schemeClr val="bg1"/>
                </a:solidFill>
              </a:rPr>
              <a:t>1-pod.yaml</a:t>
            </a:r>
            <a:endParaRPr lang="en-US" altLang="ko-KR" sz="1200" b="1" dirty="0" smtClean="0">
              <a:solidFill>
                <a:schemeClr val="bg1"/>
              </a:solidFill>
            </a:endParaRPr>
          </a:p>
          <a:p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Error </a:t>
            </a:r>
            <a:r>
              <a:rPr lang="en-US" altLang="ko-KR" sz="1200" dirty="0">
                <a:solidFill>
                  <a:schemeClr val="bg1"/>
                </a:solidFill>
              </a:rPr>
              <a:t>from server (Forbidden): error when retrieving current configuration of: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Resource</a:t>
            </a:r>
            <a:r>
              <a:rPr lang="en-US" altLang="ko-KR" sz="1200" dirty="0">
                <a:solidFill>
                  <a:schemeClr val="bg1"/>
                </a:solidFill>
              </a:rPr>
              <a:t>: "/v1, Resource=pods", </a:t>
            </a:r>
            <a:r>
              <a:rPr lang="en-US" altLang="ko-KR" sz="1200" dirty="0" err="1">
                <a:solidFill>
                  <a:schemeClr val="bg1"/>
                </a:solidFill>
              </a:rPr>
              <a:t>GroupVersionKind</a:t>
            </a:r>
            <a:r>
              <a:rPr lang="en-US" altLang="ko-KR" sz="1200" dirty="0">
                <a:solidFill>
                  <a:schemeClr val="bg1"/>
                </a:solidFill>
              </a:rPr>
              <a:t>: "/v1, Kind=Pod"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</a:t>
            </a:r>
            <a:r>
              <a:rPr lang="en-US" altLang="ko-KR" sz="1200" dirty="0">
                <a:solidFill>
                  <a:schemeClr val="bg1"/>
                </a:solidFill>
              </a:rPr>
              <a:t>: "role-test-pod", Namespace: "default"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from </a:t>
            </a:r>
            <a:r>
              <a:rPr lang="en-US" altLang="ko-KR" sz="1200" dirty="0">
                <a:solidFill>
                  <a:schemeClr val="bg1"/>
                </a:solidFill>
              </a:rPr>
              <a:t>server for: "1-pod.yaml": pods "role-test-pod" is forbidden: User "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" cannot get resource "pods" in API group "" in the namespace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"default“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에게 권한이 없어서</a:t>
            </a:r>
            <a:r>
              <a:rPr lang="en-US" altLang="ko-KR" sz="1200" dirty="0" smtClean="0">
                <a:solidFill>
                  <a:schemeClr val="bg1"/>
                </a:solidFill>
              </a:rPr>
              <a:t>,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 실패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950317" y="4726268"/>
            <a:ext cx="558241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2302242" y="4167458"/>
            <a:ext cx="707658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41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8" y="693774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-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Pod</a:t>
            </a:r>
            <a:r>
              <a:rPr lang="ko-KR" altLang="en-US" sz="1400" dirty="0"/>
              <a:t>를 컨트롤할 수 있는 권한과 </a:t>
            </a:r>
            <a:r>
              <a:rPr lang="en-US" altLang="ko-KR" sz="1400" dirty="0" err="1" smtClean="0"/>
              <a:t>Configmap</a:t>
            </a:r>
            <a:r>
              <a:rPr lang="ko-KR" altLang="en-US" sz="1400" dirty="0"/>
              <a:t>을 생성할 수 있는 </a:t>
            </a:r>
            <a:r>
              <a:rPr lang="ko-KR" altLang="en-US" sz="1400" dirty="0" smtClean="0"/>
              <a:t>권한 생성</a:t>
            </a:r>
            <a:endParaRPr lang="en-US" altLang="ko-KR" sz="1200" dirty="0" smtClean="0"/>
          </a:p>
        </p:txBody>
      </p:sp>
      <p:grpSp>
        <p:nvGrpSpPr>
          <p:cNvPr id="9" name="그룹 8"/>
          <p:cNvGrpSpPr/>
          <p:nvPr/>
        </p:nvGrpSpPr>
        <p:grpSpPr>
          <a:xfrm>
            <a:off x="766763" y="1167416"/>
            <a:ext cx="5980879" cy="2585734"/>
            <a:chOff x="7119940" y="1061699"/>
            <a:chExt cx="5980879" cy="2585734"/>
          </a:xfrm>
        </p:grpSpPr>
        <p:sp>
          <p:nvSpPr>
            <p:cNvPr id="25" name="TextBox 11"/>
            <p:cNvSpPr txBox="1"/>
            <p:nvPr/>
          </p:nvSpPr>
          <p:spPr>
            <a:xfrm>
              <a:off x="7119941" y="1339109"/>
              <a:ext cx="5980878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</a:t>
              </a:r>
            </a:p>
            <a:p>
              <a:r>
                <a:rPr lang="en-US" altLang="ko-KR" sz="1200" dirty="0"/>
                <a:t>kind: Role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developer</a:t>
              </a:r>
            </a:p>
            <a:p>
              <a:r>
                <a:rPr lang="en-US" altLang="ko-KR" sz="1200" dirty="0"/>
                <a:t>rules: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apiGroups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[""]  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Pod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컨트롤 권한 부여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resources: ["pods"]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verbs: ["list", "get", "create", "update", "delete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"]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resourceNames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["role-test-pod"]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특정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Resource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에서만 작업 가능하도록 설정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apiGroups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[""]  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Configmap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생성 권한 부여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resources: ["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configmaps</a:t>
              </a:r>
              <a:r>
                <a:rPr lang="en-US" altLang="ko-KR" sz="1200" dirty="0">
                  <a:solidFill>
                    <a:srgbClr val="FF0000"/>
                  </a:solidFill>
                </a:rPr>
                <a:t>"]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verbs: ["create"]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01441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1-role.yaml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776607" y="3863649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</a:t>
            </a:r>
            <a:r>
              <a:rPr lang="en-US" altLang="ko-KR" sz="1200" dirty="0">
                <a:solidFill>
                  <a:schemeClr val="bg1"/>
                </a:solidFill>
              </a:rPr>
              <a:t>-f 1-role.yaml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role.rbac.authorization.k8s.io/developer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057" y="4568655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생성된 </a:t>
            </a:r>
            <a:r>
              <a:rPr lang="en-US" altLang="ko-KR" sz="1400" dirty="0" smtClean="0"/>
              <a:t>Role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14" name="TextBox 5"/>
          <p:cNvSpPr txBox="1"/>
          <p:nvPr/>
        </p:nvSpPr>
        <p:spPr>
          <a:xfrm>
            <a:off x="779621" y="4865415"/>
            <a:ext cx="1069339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role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NAME           CREATED AT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developer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2025-02-26T05:06:09Z	# ‘developer’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Role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91601" y="5294123"/>
            <a:ext cx="766711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67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66763" y="1160347"/>
            <a:ext cx="3974779" cy="2526808"/>
            <a:chOff x="7119939" y="3686316"/>
            <a:chExt cx="3974779" cy="2585323"/>
          </a:xfrm>
        </p:grpSpPr>
        <p:sp>
          <p:nvSpPr>
            <p:cNvPr id="29" name="TextBox 11"/>
            <p:cNvSpPr txBox="1"/>
            <p:nvPr/>
          </p:nvSpPr>
          <p:spPr>
            <a:xfrm>
              <a:off x="7119939" y="3963315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160" dirty="0" err="1"/>
                <a:t>apiVersion</a:t>
              </a:r>
              <a:r>
                <a:rPr lang="en-US" altLang="ko-KR" sz="1160" dirty="0"/>
                <a:t>: rbac.authorization.k8s.io/v1</a:t>
              </a:r>
            </a:p>
            <a:p>
              <a:r>
                <a:rPr lang="en-US" altLang="ko-KR" sz="1160" dirty="0"/>
                <a:t>kind: </a:t>
              </a:r>
              <a:r>
                <a:rPr lang="en-US" altLang="ko-KR" sz="1160" dirty="0" err="1"/>
                <a:t>RoleBinding</a:t>
              </a:r>
              <a:endParaRPr lang="en-US" altLang="ko-KR" sz="1160" dirty="0"/>
            </a:p>
            <a:p>
              <a:r>
                <a:rPr lang="en-US" altLang="ko-KR" sz="1160" dirty="0"/>
                <a:t>metadata:</a:t>
              </a:r>
            </a:p>
            <a:p>
              <a:r>
                <a:rPr lang="en-US" altLang="ko-KR" sz="1160" dirty="0"/>
                <a:t>  name: </a:t>
              </a:r>
              <a:r>
                <a:rPr lang="en-US" altLang="ko-KR" sz="1160" dirty="0" err="1" smtClean="0"/>
                <a:t>testuser</a:t>
              </a:r>
              <a:r>
                <a:rPr lang="en-US" altLang="ko-KR" sz="1160" dirty="0" smtClean="0"/>
                <a:t>-developer-binding</a:t>
              </a:r>
              <a:endParaRPr lang="en-US" altLang="ko-KR" sz="1160" dirty="0"/>
            </a:p>
            <a:p>
              <a:r>
                <a:rPr lang="en-US" altLang="ko-KR" sz="1160" dirty="0"/>
                <a:t>subjects:</a:t>
              </a:r>
            </a:p>
            <a:p>
              <a:r>
                <a:rPr lang="en-US" altLang="ko-KR" sz="1160" dirty="0"/>
                <a:t>- kind: User</a:t>
              </a:r>
            </a:p>
            <a:p>
              <a:r>
                <a:rPr lang="en-US" altLang="ko-KR" sz="1160" dirty="0"/>
                <a:t>  name: </a:t>
              </a:r>
              <a:r>
                <a:rPr lang="en-US" altLang="ko-KR" sz="1160" dirty="0" err="1" smtClean="0"/>
                <a:t>testuser</a:t>
              </a:r>
              <a:endParaRPr lang="en-US" altLang="ko-KR" sz="1160" dirty="0"/>
            </a:p>
            <a:p>
              <a:r>
                <a:rPr lang="en-US" altLang="ko-KR" sz="1160" dirty="0"/>
                <a:t>  </a:t>
              </a:r>
              <a:r>
                <a:rPr lang="en-US" altLang="ko-KR" sz="1160" dirty="0" err="1"/>
                <a:t>apiGroup</a:t>
              </a:r>
              <a:r>
                <a:rPr lang="en-US" altLang="ko-KR" sz="1160" dirty="0"/>
                <a:t>: rbac.authorization.k8s.io</a:t>
              </a:r>
            </a:p>
            <a:p>
              <a:r>
                <a:rPr lang="en-US" altLang="ko-KR" sz="1160" dirty="0" err="1"/>
                <a:t>roleRef</a:t>
              </a:r>
              <a:r>
                <a:rPr lang="en-US" altLang="ko-KR" sz="1160" dirty="0"/>
                <a:t>:</a:t>
              </a:r>
            </a:p>
            <a:p>
              <a:r>
                <a:rPr lang="en-US" altLang="ko-KR" sz="1160" dirty="0"/>
                <a:t>  kind: Role</a:t>
              </a:r>
            </a:p>
            <a:p>
              <a:r>
                <a:rPr lang="en-US" altLang="ko-KR" sz="1160" dirty="0"/>
                <a:t>  name: developer</a:t>
              </a:r>
            </a:p>
            <a:p>
              <a:r>
                <a:rPr lang="en-US" altLang="ko-KR" sz="1160" dirty="0"/>
                <a:t>  </a:t>
              </a:r>
              <a:r>
                <a:rPr lang="en-US" altLang="ko-KR" sz="1160" dirty="0" err="1"/>
                <a:t>apiGroup</a:t>
              </a:r>
              <a:r>
                <a:rPr lang="en-US" altLang="ko-KR" sz="1160" dirty="0"/>
                <a:t>: rbac.authorization.k8s.io</a:t>
              </a: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7119940" y="3686316"/>
              <a:ext cx="155733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2-rolebinding.yaml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11198" y="702045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‘</a:t>
            </a:r>
            <a:r>
              <a:rPr lang="en-US" altLang="ko-KR" sz="1400" dirty="0" err="1" smtClean="0"/>
              <a:t>testuser</a:t>
            </a:r>
            <a:r>
              <a:rPr lang="en-US" altLang="ko-KR" sz="1400" dirty="0" smtClean="0"/>
              <a:t>’</a:t>
            </a:r>
            <a:r>
              <a:rPr lang="ko-KR" altLang="en-US" sz="1400" dirty="0" smtClean="0"/>
              <a:t>라는 </a:t>
            </a:r>
            <a:r>
              <a:rPr lang="en-US" altLang="ko-KR" sz="1400" dirty="0" smtClean="0"/>
              <a:t>User</a:t>
            </a:r>
            <a:r>
              <a:rPr lang="ko-KR" altLang="en-US" sz="1400" dirty="0" smtClean="0"/>
              <a:t>에게 </a:t>
            </a:r>
            <a:r>
              <a:rPr lang="en-US" altLang="ko-KR" sz="1400" dirty="0" smtClean="0"/>
              <a:t>‘developer’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Role</a:t>
            </a:r>
            <a:r>
              <a:rPr lang="ko-KR" altLang="en-US" sz="1400" dirty="0" smtClean="0"/>
              <a:t> 부여</a:t>
            </a:r>
            <a:endParaRPr lang="en-US" altLang="ko-KR" sz="1200" dirty="0" smtClean="0"/>
          </a:p>
        </p:txBody>
      </p:sp>
      <p:sp>
        <p:nvSpPr>
          <p:cNvPr id="21" name="TextBox 5"/>
          <p:cNvSpPr txBox="1"/>
          <p:nvPr/>
        </p:nvSpPr>
        <p:spPr>
          <a:xfrm>
            <a:off x="776607" y="3960544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2-rolebinding.yaml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rolebinding.rbac.authorization.k8s.io/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-developer-binding </a:t>
            </a:r>
            <a:r>
              <a:rPr lang="en-US" altLang="ko-KR" sz="1200" dirty="0">
                <a:solidFill>
                  <a:schemeClr val="bg1"/>
                </a:solidFill>
              </a:rPr>
              <a:t>created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057" y="4649460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</a:t>
            </a:r>
            <a:r>
              <a:rPr lang="en-US" altLang="ko-KR" sz="1400" dirty="0" err="1" smtClean="0"/>
              <a:t>Rolebinding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24" name="TextBox 5"/>
          <p:cNvSpPr txBox="1"/>
          <p:nvPr/>
        </p:nvSpPr>
        <p:spPr>
          <a:xfrm>
            <a:off x="779621" y="4946220"/>
            <a:ext cx="1069339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rolebinding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ROLE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-developer-binding     Role/developer     96s	# ‘developer’ Role</a:t>
            </a:r>
            <a:r>
              <a:rPr lang="ko-KR" altLang="en-US" sz="1200" dirty="0" smtClean="0">
                <a:solidFill>
                  <a:schemeClr val="bg1"/>
                </a:solidFill>
              </a:rPr>
              <a:t>이 </a:t>
            </a:r>
            <a:r>
              <a:rPr lang="en-US" altLang="ko-KR" sz="1200" dirty="0" smtClean="0">
                <a:solidFill>
                  <a:schemeClr val="bg1"/>
                </a:solidFill>
              </a:rPr>
              <a:t>binding </a:t>
            </a:r>
            <a:r>
              <a:rPr lang="ko-KR" altLang="en-US" sz="1200" dirty="0" smtClean="0">
                <a:solidFill>
                  <a:schemeClr val="bg1"/>
                </a:solidFill>
              </a:rPr>
              <a:t>됨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132822" y="5370891"/>
            <a:ext cx="1096278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45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724057" y="1717934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새로운 </a:t>
            </a:r>
            <a:r>
              <a:rPr lang="en-US" altLang="ko-KR" sz="1400" dirty="0" smtClean="0"/>
              <a:t>User(‘</a:t>
            </a:r>
            <a:r>
              <a:rPr lang="en-US" altLang="ko-KR" sz="1400" dirty="0" err="1" smtClean="0"/>
              <a:t>testuser</a:t>
            </a:r>
            <a:r>
              <a:rPr lang="en-US" altLang="ko-KR" sz="1400" dirty="0" smtClean="0"/>
              <a:t>’)</a:t>
            </a:r>
            <a:r>
              <a:rPr lang="ko-KR" altLang="en-US" sz="1400" dirty="0"/>
              <a:t>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재시도</a:t>
            </a:r>
            <a:endParaRPr lang="en-US" altLang="ko-KR" sz="1400" dirty="0" smtClean="0"/>
          </a:p>
        </p:txBody>
      </p:sp>
      <p:sp>
        <p:nvSpPr>
          <p:cNvPr id="30" name="TextBox 5"/>
          <p:cNvSpPr txBox="1"/>
          <p:nvPr/>
        </p:nvSpPr>
        <p:spPr>
          <a:xfrm>
            <a:off x="776607" y="2063694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1-pod.yaml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pod/role-test-pod created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생성</a:t>
            </a:r>
            <a:endParaRPr lang="en-US" altLang="ko-KR" sz="1200" dirty="0" err="1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1198" y="691543"/>
            <a:ext cx="5711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 </a:t>
            </a:r>
            <a:r>
              <a:rPr lang="en-US" altLang="ko-KR" sz="1400" dirty="0" smtClean="0"/>
              <a:t>- </a:t>
            </a:r>
            <a:r>
              <a:rPr lang="en-US" altLang="ko-KR" sz="1400" dirty="0" err="1" smtClean="0"/>
              <a:t>testuser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Pod </a:t>
            </a:r>
            <a:r>
              <a:rPr lang="ko-KR" altLang="en-US" sz="1400" dirty="0"/>
              <a:t>생성 </a:t>
            </a:r>
            <a:r>
              <a:rPr lang="ko-KR" altLang="en-US" sz="1400" dirty="0" smtClean="0"/>
              <a:t>권한 유무 </a:t>
            </a:r>
            <a:r>
              <a:rPr lang="ko-KR" altLang="en-US" sz="1400" dirty="0"/>
              <a:t>확인</a:t>
            </a:r>
            <a:endParaRPr lang="en-US" altLang="ko-KR" sz="1200" dirty="0"/>
          </a:p>
          <a:p>
            <a:pPr marL="180000" indent="-180000">
              <a:buFont typeface="Wingdings" panose="05000000000000000000" pitchFamily="2" charset="2"/>
              <a:buChar char="§"/>
            </a:pPr>
            <a:endParaRPr lang="en-US" altLang="ko-KR" sz="1400" dirty="0" smtClean="0"/>
          </a:p>
        </p:txBody>
      </p:sp>
      <p:sp>
        <p:nvSpPr>
          <p:cNvPr id="32" name="TextBox 5"/>
          <p:cNvSpPr txBox="1"/>
          <p:nvPr/>
        </p:nvSpPr>
        <p:spPr>
          <a:xfrm>
            <a:off x="763748" y="1037303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auth</a:t>
            </a:r>
            <a:r>
              <a:rPr lang="en-US" altLang="ko-KR" sz="1200" dirty="0">
                <a:solidFill>
                  <a:schemeClr val="bg1"/>
                </a:solidFill>
              </a:rPr>
              <a:t> can-</a:t>
            </a:r>
            <a:r>
              <a:rPr lang="en-US" altLang="ko-KR" sz="1200" dirty="0" err="1">
                <a:solidFill>
                  <a:schemeClr val="bg1"/>
                </a:solidFill>
              </a:rPr>
              <a:t>i</a:t>
            </a:r>
            <a:r>
              <a:rPr lang="en-US" altLang="ko-KR" sz="1200" dirty="0">
                <a:solidFill>
                  <a:schemeClr val="bg1"/>
                </a:solidFill>
              </a:rPr>
              <a:t> create pods --as 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rgbClr val="00B050"/>
                </a:solidFill>
              </a:rPr>
              <a:t>yes</a:t>
            </a:r>
            <a:endParaRPr lang="en-US" altLang="ko-KR" sz="1200" dirty="0">
              <a:solidFill>
                <a:srgbClr val="00B050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766763" y="3164376"/>
            <a:ext cx="5980879" cy="2401068"/>
            <a:chOff x="7119940" y="1061699"/>
            <a:chExt cx="5980879" cy="2401068"/>
          </a:xfrm>
        </p:grpSpPr>
        <p:sp>
          <p:nvSpPr>
            <p:cNvPr id="23" name="TextBox 11"/>
            <p:cNvSpPr txBox="1"/>
            <p:nvPr/>
          </p:nvSpPr>
          <p:spPr>
            <a:xfrm>
              <a:off x="7119941" y="1339109"/>
              <a:ext cx="5980878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role-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testfault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-pod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Pod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명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smtClean="0"/>
                <a:t>role-</a:t>
              </a:r>
              <a:r>
                <a:rPr lang="en-US" altLang="ko-KR" sz="1200" dirty="0" err="1" smtClean="0"/>
                <a:t>testfault</a:t>
              </a:r>
              <a:r>
                <a:rPr lang="en-US" altLang="ko-KR" sz="1200" dirty="0" smtClean="0"/>
                <a:t>-pod	  </a:t>
              </a:r>
              <a:endParaRPr lang="en-US" altLang="ko-KR" sz="1200" dirty="0"/>
            </a:p>
            <a:p>
              <a:r>
                <a:rPr lang="en-US" altLang="ko-KR" sz="1200" dirty="0"/>
                <a:t>    type: web-server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25" name="TextBox 3"/>
            <p:cNvSpPr txBox="1"/>
            <p:nvPr/>
          </p:nvSpPr>
          <p:spPr>
            <a:xfrm>
              <a:off x="7119940" y="1061699"/>
              <a:ext cx="101441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763748" y="2763928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resourceNames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테스트를 위한</a:t>
            </a:r>
            <a:r>
              <a:rPr lang="en-US" altLang="ko-KR" sz="1400" dirty="0" smtClean="0"/>
              <a:t>, pod 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80452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11198" y="325923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 –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resourceNames</a:t>
            </a:r>
            <a:r>
              <a:rPr lang="ko-KR" altLang="en-US" sz="1400" dirty="0" smtClean="0"/>
              <a:t>를 추가한 권한 생성</a:t>
            </a:r>
            <a:endParaRPr lang="en-US" altLang="ko-KR" sz="1200" dirty="0" smtClean="0"/>
          </a:p>
        </p:txBody>
      </p:sp>
      <p:grpSp>
        <p:nvGrpSpPr>
          <p:cNvPr id="20" name="그룹 19"/>
          <p:cNvGrpSpPr/>
          <p:nvPr/>
        </p:nvGrpSpPr>
        <p:grpSpPr>
          <a:xfrm>
            <a:off x="766763" y="662934"/>
            <a:ext cx="5980879" cy="2770400"/>
            <a:chOff x="7119940" y="1061699"/>
            <a:chExt cx="5980879" cy="2770400"/>
          </a:xfrm>
        </p:grpSpPr>
        <p:sp>
          <p:nvSpPr>
            <p:cNvPr id="23" name="TextBox 11"/>
            <p:cNvSpPr txBox="1"/>
            <p:nvPr/>
          </p:nvSpPr>
          <p:spPr>
            <a:xfrm>
              <a:off x="7119941" y="1339109"/>
              <a:ext cx="5980878" cy="249299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</a:t>
              </a:r>
            </a:p>
            <a:p>
              <a:r>
                <a:rPr lang="en-US" altLang="ko-KR" sz="1200" dirty="0"/>
                <a:t>kind: Role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developer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rules:</a:t>
              </a:r>
            </a:p>
            <a:p>
              <a:r>
                <a:rPr lang="en-US" altLang="ko-KR" sz="1200" dirty="0" smtClean="0"/>
                <a:t>- </a:t>
              </a:r>
              <a:r>
                <a:rPr lang="en-US" altLang="ko-KR" sz="1200" dirty="0" err="1" smtClean="0"/>
                <a:t>apiGroups</a:t>
              </a:r>
              <a:r>
                <a:rPr lang="en-US" altLang="ko-KR" sz="1200" dirty="0"/>
                <a:t>: [""] </a:t>
              </a:r>
              <a:r>
                <a:rPr lang="en-US" altLang="ko-KR" sz="1200" dirty="0" smtClean="0"/>
                <a:t>     </a:t>
              </a:r>
              <a:endParaRPr lang="ko-KR" altLang="en-US" sz="1200" dirty="0" smtClean="0"/>
            </a:p>
            <a:p>
              <a:r>
                <a:rPr lang="ko-KR" altLang="en-US" sz="1200" dirty="0" smtClean="0"/>
                <a:t>  </a:t>
              </a:r>
              <a:r>
                <a:rPr lang="en-US" altLang="ko-KR" sz="1200" dirty="0" smtClean="0"/>
                <a:t>resources: ["pods"]</a:t>
              </a: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/>
                <a:t>verbs: ["list", "get</a:t>
              </a:r>
              <a:r>
                <a:rPr lang="en-US" altLang="ko-KR" sz="1200" dirty="0" smtClean="0"/>
                <a:t>", </a:t>
              </a:r>
              <a:r>
                <a:rPr lang="en-US" altLang="ko-KR" sz="1200" dirty="0"/>
                <a:t>"</a:t>
              </a:r>
              <a:r>
                <a:rPr lang="en-US" altLang="ko-KR" sz="1200" dirty="0" smtClean="0"/>
                <a:t>update”]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resourceNames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["role-test-pod"]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특정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Resource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에서만 작업 가능하도록 설정</a:t>
              </a:r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     </a:t>
              </a:r>
              <a:endParaRPr lang="ko-KR" altLang="en-US" sz="1200" dirty="0"/>
            </a:p>
            <a:p>
              <a:r>
                <a:rPr lang="ko-KR" altLang="en-US" sz="1200" dirty="0"/>
                <a:t>  </a:t>
              </a:r>
              <a:r>
                <a:rPr lang="en-US" altLang="ko-KR" sz="1200" dirty="0"/>
                <a:t>resources: ["</a:t>
              </a:r>
              <a:r>
                <a:rPr lang="en-US" altLang="ko-KR" sz="1200" dirty="0" err="1"/>
                <a:t>configmaps</a:t>
              </a:r>
              <a:r>
                <a:rPr lang="en-US" altLang="ko-KR" sz="1200" dirty="0"/>
                <a:t>"]</a:t>
              </a:r>
            </a:p>
            <a:p>
              <a:r>
                <a:rPr lang="en-US" altLang="ko-KR" sz="1200" dirty="0"/>
                <a:t>  verbs: ["create"]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3"/>
            <p:cNvSpPr txBox="1"/>
            <p:nvPr/>
          </p:nvSpPr>
          <p:spPr>
            <a:xfrm>
              <a:off x="7119940" y="1061699"/>
              <a:ext cx="101441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>
                  <a:solidFill>
                    <a:sysClr val="windowText" lastClr="000000"/>
                  </a:solidFill>
                </a:rPr>
                <a:t>4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-role.yaml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" name="TextBox 5"/>
          <p:cNvSpPr txBox="1"/>
          <p:nvPr/>
        </p:nvSpPr>
        <p:spPr>
          <a:xfrm>
            <a:off x="776607" y="3590388"/>
            <a:ext cx="1069339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smtClean="0">
                <a:solidFill>
                  <a:schemeClr val="bg1"/>
                </a:solidFill>
              </a:rPr>
              <a:t>4-role.yaml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role.rbac.authorization.k8s.io/developer configured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056" y="4156320"/>
            <a:ext cx="10736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새로운 </a:t>
            </a:r>
            <a:r>
              <a:rPr lang="en-US" altLang="ko-KR" sz="1400" dirty="0" smtClean="0"/>
              <a:t>User(‘</a:t>
            </a:r>
            <a:r>
              <a:rPr lang="en-US" altLang="ko-KR" sz="1400" dirty="0" err="1" smtClean="0"/>
              <a:t>testuser</a:t>
            </a:r>
            <a:r>
              <a:rPr lang="en-US" altLang="ko-KR" sz="1400" dirty="0" smtClean="0"/>
              <a:t>’)</a:t>
            </a:r>
            <a:r>
              <a:rPr lang="ko-KR" altLang="en-US" sz="1400" dirty="0"/>
              <a:t>로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resourceNames</a:t>
            </a:r>
            <a:r>
              <a:rPr lang="ko-KR" altLang="en-US" sz="1400" dirty="0" smtClean="0"/>
              <a:t>에 지정된 </a:t>
            </a:r>
            <a:r>
              <a:rPr lang="en-US" altLang="ko-KR" sz="1400" dirty="0" smtClean="0"/>
              <a:t>Pod(‘role-test-pod’)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37" name="TextBox 5"/>
          <p:cNvSpPr txBox="1"/>
          <p:nvPr/>
        </p:nvSpPr>
        <p:spPr>
          <a:xfrm>
            <a:off x="776607" y="4491570"/>
            <a:ext cx="1069339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po</a:t>
            </a:r>
            <a:r>
              <a:rPr lang="en-US" altLang="ko-KR" sz="1200" dirty="0">
                <a:solidFill>
                  <a:schemeClr val="bg1"/>
                </a:solidFill>
              </a:rPr>
              <a:t> role-test-pod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STATUS        RESTARTS       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role-test-pod       </a:t>
            </a:r>
            <a:r>
              <a:rPr lang="en-US" altLang="ko-KR" sz="1200" dirty="0">
                <a:solidFill>
                  <a:schemeClr val="bg1"/>
                </a:solidFill>
              </a:rPr>
              <a:t>1/1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0                  68m	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정상적으로 상태 확인 가능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4214" y="5255450"/>
            <a:ext cx="10745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새로운 </a:t>
            </a:r>
            <a:r>
              <a:rPr lang="en-US" altLang="ko-KR" sz="1400" dirty="0" smtClean="0"/>
              <a:t>User(‘</a:t>
            </a:r>
            <a:r>
              <a:rPr lang="en-US" altLang="ko-KR" sz="1400" dirty="0" err="1" smtClean="0"/>
              <a:t>testuser</a:t>
            </a:r>
            <a:r>
              <a:rPr lang="en-US" altLang="ko-KR" sz="1400" dirty="0" smtClean="0"/>
              <a:t>’)</a:t>
            </a:r>
            <a:r>
              <a:rPr lang="ko-KR" altLang="en-US" sz="1400" dirty="0"/>
              <a:t>로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resourceNames</a:t>
            </a:r>
            <a:r>
              <a:rPr lang="ko-KR" altLang="en-US" sz="1400" dirty="0" smtClean="0"/>
              <a:t>에 지정되지 않은 </a:t>
            </a:r>
            <a:r>
              <a:rPr lang="en-US" altLang="ko-KR" sz="1400" dirty="0" smtClean="0"/>
              <a:t>Pod(‘role-</a:t>
            </a:r>
            <a:r>
              <a:rPr lang="en-US" altLang="ko-KR" sz="1400" dirty="0" err="1" smtClean="0"/>
              <a:t>testfault</a:t>
            </a:r>
            <a:r>
              <a:rPr lang="en-US" altLang="ko-KR" sz="1400" dirty="0" smtClean="0"/>
              <a:t>-pod’)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41" name="TextBox 5"/>
          <p:cNvSpPr txBox="1"/>
          <p:nvPr/>
        </p:nvSpPr>
        <p:spPr>
          <a:xfrm>
            <a:off x="766764" y="5590700"/>
            <a:ext cx="1069339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po</a:t>
            </a:r>
            <a:r>
              <a:rPr lang="en-US" altLang="ko-KR" sz="1200" dirty="0">
                <a:solidFill>
                  <a:schemeClr val="bg1"/>
                </a:solidFill>
              </a:rPr>
              <a:t> role-</a:t>
            </a:r>
            <a:r>
              <a:rPr lang="en-US" altLang="ko-KR" sz="1200" dirty="0" err="1">
                <a:solidFill>
                  <a:schemeClr val="bg1"/>
                </a:solidFill>
              </a:rPr>
              <a:t>testfault</a:t>
            </a:r>
            <a:r>
              <a:rPr lang="en-US" altLang="ko-KR" sz="1200" dirty="0">
                <a:solidFill>
                  <a:schemeClr val="bg1"/>
                </a:solidFill>
              </a:rPr>
              <a:t>-pod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Error </a:t>
            </a:r>
            <a:r>
              <a:rPr lang="en-US" altLang="ko-KR" sz="1200" dirty="0">
                <a:solidFill>
                  <a:schemeClr val="bg1"/>
                </a:solidFill>
              </a:rPr>
              <a:t>from server (Forbidden): pods "role-</a:t>
            </a:r>
            <a:r>
              <a:rPr lang="en-US" altLang="ko-KR" sz="1200" dirty="0" err="1">
                <a:solidFill>
                  <a:schemeClr val="bg1"/>
                </a:solidFill>
              </a:rPr>
              <a:t>testfault</a:t>
            </a:r>
            <a:r>
              <a:rPr lang="en-US" altLang="ko-KR" sz="1200" dirty="0">
                <a:solidFill>
                  <a:schemeClr val="bg1"/>
                </a:solidFill>
              </a:rPr>
              <a:t>-pod" is forbidden: User "</a:t>
            </a:r>
            <a:r>
              <a:rPr lang="en-US" altLang="ko-KR" sz="1200" dirty="0" err="1">
                <a:solidFill>
                  <a:schemeClr val="bg1"/>
                </a:solidFill>
              </a:rPr>
              <a:t>testuser</a:t>
            </a:r>
            <a:r>
              <a:rPr lang="en-US" altLang="ko-KR" sz="1200" dirty="0">
                <a:solidFill>
                  <a:schemeClr val="bg1"/>
                </a:solidFill>
              </a:rPr>
              <a:t>" cannot get resource "pods" in API group "" in the namespace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"default“		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testuser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에게 권한이 없어서 상태 확인 불가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291997" y="5822834"/>
            <a:ext cx="724253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6251523" y="5826009"/>
            <a:ext cx="568378" cy="188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07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4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ClusterRole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&amp; </a:t>
            </a:r>
          </a:p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 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ClusterRoleBinding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25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ClusterRole</a:t>
            </a:r>
            <a:r>
              <a:rPr lang="en-US" altLang="ko-KR" sz="1600" b="1" dirty="0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&amp; </a:t>
            </a:r>
            <a:r>
              <a:rPr lang="en-US" altLang="ko-KR" sz="1600" b="1" dirty="0" err="1">
                <a:solidFill>
                  <a:srgbClr val="333333"/>
                </a:solidFill>
                <a:cs typeface="Pretendard SemiBold" panose="02000703000000020004" pitchFamily="50" charset="-127"/>
              </a:rPr>
              <a:t>ClusterRoleBinding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796425" y="1600966"/>
            <a:ext cx="3974779" cy="1847070"/>
            <a:chOff x="7119940" y="1061699"/>
            <a:chExt cx="3974779" cy="1847070"/>
          </a:xfrm>
        </p:grpSpPr>
        <p:sp>
          <p:nvSpPr>
            <p:cNvPr id="25" name="TextBox 11"/>
            <p:cNvSpPr txBox="1"/>
            <p:nvPr/>
          </p:nvSpPr>
          <p:spPr>
            <a:xfrm>
              <a:off x="7119940" y="1339109"/>
              <a:ext cx="3974779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ClusterRole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cluster-admin</a:t>
              </a:r>
            </a:p>
            <a:p>
              <a:r>
                <a:rPr lang="en-US" altLang="ko-KR" sz="1200" dirty="0"/>
                <a:t>rules:</a:t>
              </a:r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</a:t>
              </a:r>
            </a:p>
            <a:p>
              <a:r>
                <a:rPr lang="en-US" altLang="ko-KR" sz="1200" dirty="0"/>
                <a:t>  resources: ["nodes"]</a:t>
              </a:r>
            </a:p>
            <a:p>
              <a:r>
                <a:rPr lang="en-US" altLang="ko-KR" sz="1200" dirty="0"/>
                <a:t>  verbs: ["list", "get", "create", "delete"]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551094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1-clusterrole.yaml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016353" y="1600966"/>
            <a:ext cx="3974779" cy="2585323"/>
            <a:chOff x="7119939" y="3686316"/>
            <a:chExt cx="3974779" cy="2585323"/>
          </a:xfrm>
        </p:grpSpPr>
        <p:sp>
          <p:nvSpPr>
            <p:cNvPr id="29" name="TextBox 11"/>
            <p:cNvSpPr txBox="1"/>
            <p:nvPr/>
          </p:nvSpPr>
          <p:spPr>
            <a:xfrm>
              <a:off x="7119939" y="3963315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 smtClean="0"/>
                <a:t>ClusterRoleBinding</a:t>
              </a:r>
              <a:r>
                <a:rPr lang="en-US" altLang="ko-KR" sz="1200" dirty="0" smtClean="0"/>
                <a:t> </a:t>
              </a:r>
              <a:endParaRPr lang="en-US" altLang="ko-KR" sz="1200" dirty="0"/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devuser</a:t>
              </a:r>
              <a:r>
                <a:rPr lang="en-US" altLang="ko-KR" sz="1200" dirty="0"/>
                <a:t>-developer-binding </a:t>
              </a:r>
            </a:p>
            <a:p>
              <a:r>
                <a:rPr lang="en-US" altLang="ko-KR" sz="1200" dirty="0"/>
                <a:t>subjects: </a:t>
              </a:r>
            </a:p>
            <a:p>
              <a:r>
                <a:rPr lang="en-US" altLang="ko-KR" sz="1200" dirty="0"/>
                <a:t>- kind: user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testuser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  <a:p>
              <a:r>
                <a:rPr lang="en-US" altLang="ko-KR" sz="1200" b="1" dirty="0" err="1">
                  <a:solidFill>
                    <a:srgbClr val="FF0000"/>
                  </a:solidFill>
                </a:rPr>
                <a:t>roleRef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kind: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ClusterRole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name: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cluster-admin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7119939" y="3686316"/>
              <a:ext cx="2045081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2-clusterrolebinding.yaml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11198" y="702045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Clusterrole</a:t>
            </a:r>
            <a:r>
              <a:rPr lang="ko-KR" altLang="en-US" sz="1400" dirty="0"/>
              <a:t>과 </a:t>
            </a:r>
            <a:r>
              <a:rPr lang="en-US" altLang="ko-KR" sz="1400" dirty="0" err="1" smtClean="0"/>
              <a:t>ClusterRoleBinding</a:t>
            </a:r>
            <a:r>
              <a:rPr lang="ko-KR" altLang="en-US" sz="1400" dirty="0"/>
              <a:t>은 네임스페이스에 </a:t>
            </a:r>
            <a:r>
              <a:rPr lang="ko-KR" altLang="en-US" sz="1400" dirty="0" smtClean="0"/>
              <a:t>국한되지 </a:t>
            </a:r>
            <a:r>
              <a:rPr lang="ko-KR" altLang="en-US" sz="1400" dirty="0"/>
              <a:t>않고 </a:t>
            </a:r>
            <a:r>
              <a:rPr lang="en-US" altLang="ko-KR" sz="1400" dirty="0"/>
              <a:t>Cluster </a:t>
            </a:r>
            <a:r>
              <a:rPr lang="ko-KR" altLang="en-US" sz="1400" dirty="0"/>
              <a:t>범위에서 적용된다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711198" y="1132932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예시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6223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5. </a:t>
            </a:r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ServiceAccount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7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5.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ServiceAccount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 smtClean="0"/>
          </a:p>
        </p:txBody>
      </p:sp>
      <p:sp>
        <p:nvSpPr>
          <p:cNvPr id="15" name="TextBox 5"/>
          <p:cNvSpPr txBox="1"/>
          <p:nvPr/>
        </p:nvSpPr>
        <p:spPr>
          <a:xfrm>
            <a:off x="766763" y="1023227"/>
            <a:ext cx="1069340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</a:t>
            </a:r>
            <a:r>
              <a:rPr lang="en-US" altLang="ko-KR" sz="1200" dirty="0" smtClean="0">
                <a:solidFill>
                  <a:schemeClr val="bg1"/>
                </a:solidFill>
              </a:rPr>
              <a:t>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serviceaccount</a:t>
            </a:r>
            <a:r>
              <a:rPr lang="en-US" altLang="ko-KR" sz="1200" dirty="0">
                <a:solidFill>
                  <a:schemeClr val="bg1"/>
                </a:solidFill>
              </a:rPr>
              <a:t>/test-</a:t>
            </a:r>
            <a:r>
              <a:rPr lang="en-US" altLang="ko-KR" sz="1200" dirty="0" err="1">
                <a:solidFill>
                  <a:schemeClr val="bg1"/>
                </a:solidFill>
              </a:rPr>
              <a:t>serviceaccount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198" y="1540508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200" dirty="0" smtClean="0"/>
          </a:p>
        </p:txBody>
      </p:sp>
      <p:sp>
        <p:nvSpPr>
          <p:cNvPr id="17" name="TextBox 5"/>
          <p:cNvSpPr txBox="1"/>
          <p:nvPr/>
        </p:nvSpPr>
        <p:spPr>
          <a:xfrm>
            <a:off x="766763" y="1848285"/>
            <a:ext cx="106934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</a:t>
            </a:r>
            <a:r>
              <a:rPr lang="en-US" altLang="ko-KR" sz="1200" dirty="0" smtClean="0">
                <a:solidFill>
                  <a:schemeClr val="bg1"/>
                </a:solidFill>
              </a:rPr>
              <a:t>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SECRETS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0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42s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198" y="2555806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생성 및 확인 </a:t>
            </a:r>
            <a:r>
              <a:rPr lang="en-US" altLang="ko-KR" sz="1400" dirty="0" smtClean="0"/>
              <a:t>- 2</a:t>
            </a:r>
            <a:r>
              <a:rPr lang="ko-KR" altLang="en-US" sz="1400" dirty="0" smtClean="0"/>
              <a:t>가지 방법 </a:t>
            </a:r>
            <a:endParaRPr lang="en-US" altLang="ko-KR" sz="1200" dirty="0" smtClean="0"/>
          </a:p>
        </p:txBody>
      </p:sp>
      <p:sp>
        <p:nvSpPr>
          <p:cNvPr id="19" name="TextBox 5"/>
          <p:cNvSpPr txBox="1"/>
          <p:nvPr/>
        </p:nvSpPr>
        <p:spPr>
          <a:xfrm>
            <a:off x="766763" y="3195429"/>
            <a:ext cx="10693399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token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	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명 기입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yJhbGciOiJSUzI1NiIsImtpZCI6IjBHSFcwVDZnMlJ6YkYyX3l3UHBwb2hsc3FGYjcyUTlFa2RGOTl6UG9lU3MifQ.eyJhd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				# Token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766763" y="4428907"/>
            <a:ext cx="3974779" cy="1846659"/>
            <a:chOff x="7119939" y="3686316"/>
            <a:chExt cx="3974779" cy="1846659"/>
          </a:xfrm>
        </p:grpSpPr>
        <p:sp>
          <p:nvSpPr>
            <p:cNvPr id="21" name="TextBox 11"/>
            <p:cNvSpPr txBox="1"/>
            <p:nvPr/>
          </p:nvSpPr>
          <p:spPr>
            <a:xfrm>
              <a:off x="7119939" y="3963315"/>
              <a:ext cx="3974779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test-</a:t>
              </a:r>
              <a:r>
                <a:rPr lang="en-US" altLang="ko-KR" sz="1200" dirty="0" err="1"/>
                <a:t>sa</a:t>
              </a:r>
              <a:r>
                <a:rPr lang="en-US" altLang="ko-KR" sz="1200" dirty="0"/>
                <a:t>-token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  annotations:</a:t>
              </a:r>
            </a:p>
            <a:p>
              <a:r>
                <a:rPr lang="en-US" altLang="ko-KR" sz="1200" dirty="0"/>
                <a:t>    kubernetes.io/service-account.name: "test-</a:t>
              </a:r>
              <a:r>
                <a:rPr lang="en-US" altLang="ko-KR" sz="1200" dirty="0" err="1"/>
                <a:t>sa</a:t>
              </a:r>
              <a:r>
                <a:rPr lang="en-US" altLang="ko-KR" sz="1200" dirty="0"/>
                <a:t>"</a:t>
              </a:r>
            </a:p>
            <a:p>
              <a:r>
                <a:rPr lang="en-US" altLang="ko-KR" sz="1200" dirty="0"/>
                <a:t>type: kubernetes.io/service-account-token</a:t>
              </a:r>
            </a:p>
          </p:txBody>
        </p:sp>
        <p:sp>
          <p:nvSpPr>
            <p:cNvPr id="22" name="TextBox 3"/>
            <p:cNvSpPr txBox="1"/>
            <p:nvPr/>
          </p:nvSpPr>
          <p:spPr>
            <a:xfrm>
              <a:off x="7119940" y="3686316"/>
              <a:ext cx="171396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1-test-sa-secret.yaml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3" name="TextBox 5"/>
          <p:cNvSpPr txBox="1"/>
          <p:nvPr/>
        </p:nvSpPr>
        <p:spPr>
          <a:xfrm>
            <a:off x="4916927" y="4558135"/>
            <a:ext cx="6543235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secret.yaml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secret/test-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-token created	# Token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33866" y="7191079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확인</a:t>
            </a:r>
            <a:endParaRPr lang="en-US" altLang="ko-KR" sz="1200" dirty="0" smtClean="0"/>
          </a:p>
        </p:txBody>
      </p:sp>
      <p:sp>
        <p:nvSpPr>
          <p:cNvPr id="26" name="TextBox 5"/>
          <p:cNvSpPr txBox="1"/>
          <p:nvPr/>
        </p:nvSpPr>
        <p:spPr>
          <a:xfrm>
            <a:off x="8066528" y="7497422"/>
            <a:ext cx="605638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secret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-token –o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jsonpath</a:t>
            </a:r>
            <a:r>
              <a:rPr lang="en-US" altLang="ko-KR" sz="1200" dirty="0" smtClean="0">
                <a:solidFill>
                  <a:schemeClr val="bg1"/>
                </a:solidFill>
              </a:rPr>
              <a:t>=“{.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data.token</a:t>
            </a:r>
            <a:r>
              <a:rPr lang="en-US" altLang="ko-KR" sz="1200" dirty="0" smtClean="0">
                <a:solidFill>
                  <a:schemeClr val="bg1"/>
                </a:solidFill>
              </a:rPr>
              <a:t>}”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6763" y="2883844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[</a:t>
            </a:r>
            <a:r>
              <a:rPr lang="ko-KR" altLang="en-US" sz="1400" dirty="0" smtClean="0"/>
              <a:t>방법 </a:t>
            </a:r>
            <a:r>
              <a:rPr lang="en-US" altLang="ko-KR" sz="1400" dirty="0" smtClean="0"/>
              <a:t>1. </a:t>
            </a:r>
            <a:r>
              <a:rPr lang="ko-KR" altLang="en-US" sz="1400" dirty="0" smtClean="0"/>
              <a:t>휘발성 </a:t>
            </a:r>
            <a:r>
              <a:rPr lang="en-US" altLang="ko-KR" sz="1400" dirty="0" smtClean="0"/>
              <a:t>Token]</a:t>
            </a:r>
            <a:endParaRPr lang="en-US" altLang="ko-KR" sz="1200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766763" y="4106436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[</a:t>
            </a:r>
            <a:r>
              <a:rPr lang="ko-KR" altLang="en-US" sz="1400" dirty="0" smtClean="0"/>
              <a:t>방법 </a:t>
            </a:r>
            <a:r>
              <a:rPr lang="en-US" altLang="ko-KR" sz="1400" dirty="0"/>
              <a:t>2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영구적 </a:t>
            </a:r>
            <a:r>
              <a:rPr lang="en-US" altLang="ko-KR" sz="1400" dirty="0" smtClean="0"/>
              <a:t>Token]</a:t>
            </a:r>
            <a:endParaRPr lang="en-US" altLang="ko-KR" sz="1200" dirty="0" smtClean="0"/>
          </a:p>
        </p:txBody>
      </p:sp>
      <p:sp>
        <p:nvSpPr>
          <p:cNvPr id="31" name="TextBox 5"/>
          <p:cNvSpPr txBox="1"/>
          <p:nvPr/>
        </p:nvSpPr>
        <p:spPr>
          <a:xfrm>
            <a:off x="4916927" y="5430747"/>
            <a:ext cx="6543235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secret test-</a:t>
            </a:r>
            <a:r>
              <a:rPr lang="en-US" altLang="ko-KR" sz="1200" dirty="0" err="1">
                <a:solidFill>
                  <a:schemeClr val="bg1"/>
                </a:solidFill>
              </a:rPr>
              <a:t>sa</a:t>
            </a:r>
            <a:r>
              <a:rPr lang="en-US" altLang="ko-KR" sz="1200" dirty="0">
                <a:solidFill>
                  <a:schemeClr val="bg1"/>
                </a:solidFill>
              </a:rPr>
              <a:t>-token 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="{.</a:t>
            </a:r>
            <a:r>
              <a:rPr lang="en-US" altLang="ko-KR" sz="1200" dirty="0" err="1">
                <a:solidFill>
                  <a:schemeClr val="bg1"/>
                </a:solidFill>
              </a:rPr>
              <a:t>data.token</a:t>
            </a:r>
            <a:r>
              <a:rPr lang="en-US" altLang="ko-KR" sz="1200" dirty="0">
                <a:solidFill>
                  <a:schemeClr val="bg1"/>
                </a:solidFill>
              </a:rPr>
              <a:t>}" | base64 -</a:t>
            </a:r>
            <a:r>
              <a:rPr lang="en-US" altLang="ko-KR" sz="1200" dirty="0" smtClean="0">
                <a:solidFill>
                  <a:schemeClr val="bg1"/>
                </a:solidFill>
              </a:rPr>
              <a:t>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eyJhbGciOiJSUzI1NiIsImtpZCI6IjBHSFcwVDZnMlJ6YkYyX3l3UHBwb2hsc3FGYjcyUTlF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…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		</a:t>
            </a:r>
            <a:r>
              <a:rPr lang="en-US" altLang="ko-KR" sz="1200" dirty="0" smtClean="0">
                <a:solidFill>
                  <a:schemeClr val="bg1"/>
                </a:solidFill>
              </a:rPr>
              <a:t>	# </a:t>
            </a:r>
            <a:r>
              <a:rPr lang="en-US" altLang="ko-KR" sz="1200" dirty="0">
                <a:solidFill>
                  <a:schemeClr val="bg1"/>
                </a:solidFill>
              </a:rPr>
              <a:t>Token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16928" y="4286189"/>
            <a:ext cx="6543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Token </a:t>
            </a:r>
            <a:r>
              <a:rPr lang="ko-KR" altLang="en-US" sz="1200" dirty="0" smtClean="0"/>
              <a:t>생성 방법</a:t>
            </a:r>
            <a:endParaRPr lang="en-US" altLang="ko-KR" sz="12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4916927" y="5139754"/>
            <a:ext cx="6543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Token </a:t>
            </a:r>
            <a:r>
              <a:rPr lang="ko-KR" altLang="en-US" sz="1200" dirty="0" smtClean="0"/>
              <a:t>확인 방법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64075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연동</a:t>
            </a:r>
            <a:endParaRPr lang="en-US" altLang="ko-KR" sz="1200" dirty="0" smtClean="0"/>
          </a:p>
        </p:txBody>
      </p:sp>
      <p:grpSp>
        <p:nvGrpSpPr>
          <p:cNvPr id="19" name="그룹 18"/>
          <p:cNvGrpSpPr/>
          <p:nvPr/>
        </p:nvGrpSpPr>
        <p:grpSpPr>
          <a:xfrm>
            <a:off x="766763" y="1061699"/>
            <a:ext cx="3974779" cy="2585276"/>
            <a:chOff x="7119939" y="3686316"/>
            <a:chExt cx="3974779" cy="2585276"/>
          </a:xfrm>
        </p:grpSpPr>
        <p:sp>
          <p:nvSpPr>
            <p:cNvPr id="20" name="TextBox 11"/>
            <p:cNvSpPr txBox="1"/>
            <p:nvPr/>
          </p:nvSpPr>
          <p:spPr>
            <a:xfrm>
              <a:off x="7119939" y="3963268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sa</a:t>
              </a:r>
              <a:r>
                <a:rPr lang="en-US" altLang="ko-KR" sz="1200" dirty="0"/>
                <a:t>-test-pod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sa</a:t>
              </a:r>
              <a:r>
                <a:rPr lang="en-US" altLang="ko-KR" sz="1200" dirty="0"/>
                <a:t>-test-pod</a:t>
              </a:r>
            </a:p>
            <a:p>
              <a:r>
                <a:rPr lang="en-US" altLang="ko-KR" sz="1200" dirty="0"/>
                <a:t>    type: web-server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serviceAccountName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test-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sa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연동 부분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7119940" y="3686316"/>
              <a:ext cx="101970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896355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Token</a:t>
            </a:r>
            <a:r>
              <a:rPr lang="ko-KR" altLang="en-US" sz="1400" dirty="0" smtClean="0"/>
              <a:t>이 정상적으로 </a:t>
            </a:r>
            <a:r>
              <a:rPr lang="en-US" altLang="ko-KR" sz="1400" dirty="0" smtClean="0"/>
              <a:t>Mount</a:t>
            </a:r>
            <a:r>
              <a:rPr lang="ko-KR" altLang="en-US" sz="1400" dirty="0" smtClean="0"/>
              <a:t>되었는지 확인</a:t>
            </a:r>
            <a:endParaRPr lang="en-US" altLang="ko-KR" sz="1200" dirty="0" smtClean="0"/>
          </a:p>
        </p:txBody>
      </p:sp>
      <p:sp>
        <p:nvSpPr>
          <p:cNvPr id="11" name="TextBox 5"/>
          <p:cNvSpPr txBox="1"/>
          <p:nvPr/>
        </p:nvSpPr>
        <p:spPr>
          <a:xfrm>
            <a:off x="4896356" y="1061699"/>
            <a:ext cx="6563808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describe pod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-test-pod	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355" y="1500376"/>
            <a:ext cx="6563808" cy="2241891"/>
          </a:xfrm>
          <a:prstGeom prst="rect">
            <a:avLst/>
          </a:prstGeom>
        </p:spPr>
      </p:pic>
      <p:sp>
        <p:nvSpPr>
          <p:cNvPr id="14" name="TextBox 5"/>
          <p:cNvSpPr txBox="1"/>
          <p:nvPr/>
        </p:nvSpPr>
        <p:spPr>
          <a:xfrm>
            <a:off x="4896355" y="3740817"/>
            <a:ext cx="656380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  <a:r>
              <a:rPr lang="en-US" altLang="ko-KR" sz="1200" dirty="0" smtClean="0">
                <a:solidFill>
                  <a:schemeClr val="bg1"/>
                </a:solidFill>
              </a:rPr>
              <a:t> 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113867" y="3396771"/>
            <a:ext cx="4546600" cy="3370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15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6. Security Context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160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 Context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66763" y="1061699"/>
            <a:ext cx="4852987" cy="3877985"/>
            <a:chOff x="922340" y="1023227"/>
            <a:chExt cx="5447980" cy="3877985"/>
          </a:xfrm>
        </p:grpSpPr>
        <p:sp>
          <p:nvSpPr>
            <p:cNvPr id="6" name="TextBox 11"/>
            <p:cNvSpPr txBox="1"/>
            <p:nvPr/>
          </p:nvSpPr>
          <p:spPr>
            <a:xfrm>
              <a:off x="922340" y="1300226"/>
              <a:ext cx="5447980" cy="360098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security-pod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spec: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securityContext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Pod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전체에 적용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runAsUser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1000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UID 1000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사용자로 실행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runAsGroup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3000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GID 3000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그룹으로 실행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fsGroup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2000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        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볼륨 파일 소유자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GID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설정</a:t>
              </a:r>
            </a:p>
            <a:p>
              <a:r>
                <a:rPr lang="ko-KR" altLang="en-US" sz="1200" dirty="0"/>
                <a:t>  </a:t>
              </a:r>
              <a:r>
                <a:rPr lang="en-US" altLang="ko-KR" sz="1200" dirty="0"/>
                <a:t>containers:</a:t>
              </a:r>
            </a:p>
            <a:p>
              <a:r>
                <a:rPr lang="en-US" altLang="ko-KR" sz="1200" dirty="0"/>
                <a:t>  - name: security-container</a:t>
              </a:r>
            </a:p>
            <a:p>
              <a:r>
                <a:rPr lang="en-US" altLang="ko-KR" sz="1200" dirty="0"/>
                <a:t>    image: busybox:1.28</a:t>
              </a:r>
            </a:p>
            <a:p>
              <a:r>
                <a:rPr lang="en-US" altLang="ko-KR" sz="1200" dirty="0"/>
                <a:t>    command: [ "</a:t>
              </a:r>
              <a:r>
                <a:rPr lang="en-US" altLang="ko-KR" sz="1200" dirty="0" err="1"/>
                <a:t>sh</a:t>
              </a:r>
              <a:r>
                <a:rPr lang="en-US" altLang="ko-KR" sz="1200" dirty="0"/>
                <a:t>", "-c", "sleep 1h" ]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securityContext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   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특정 컨테이너에 적용</a:t>
              </a:r>
            </a:p>
            <a:p>
              <a:r>
                <a:rPr lang="ko-KR" altLang="en-US" sz="1200" dirty="0"/>
                <a:t>     </a:t>
              </a:r>
              <a:r>
                <a:rPr lang="ko-KR" altLang="en-US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allowPrivilegeEscalation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false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권한 상승 방지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readOnlyRootFilesystem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true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루트 파일 시스템 읽기 전용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capabilities: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drop: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- ALL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모든 추가 권한 제거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3"/>
            <p:cNvSpPr txBox="1"/>
            <p:nvPr/>
          </p:nvSpPr>
          <p:spPr>
            <a:xfrm>
              <a:off x="922341" y="1023227"/>
              <a:ext cx="185519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1-security-pod.yaml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컨테이너를 </a:t>
            </a:r>
            <a:r>
              <a:rPr lang="en-US" altLang="ko-KR" sz="1400" dirty="0" smtClean="0"/>
              <a:t>UID 1000, GID 3000 </a:t>
            </a:r>
            <a:r>
              <a:rPr lang="ko-KR" altLang="en-US" sz="1400" dirty="0" smtClean="0"/>
              <a:t>사용자로 실행한 예시이다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13" name="TextBox 5"/>
          <p:cNvSpPr txBox="1"/>
          <p:nvPr/>
        </p:nvSpPr>
        <p:spPr>
          <a:xfrm>
            <a:off x="5764652" y="1610644"/>
            <a:ext cx="569551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exec security-pod -- id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uid</a:t>
            </a:r>
            <a:r>
              <a:rPr lang="en-US" altLang="ko-KR" sz="1200" dirty="0" smtClean="0">
                <a:solidFill>
                  <a:schemeClr val="bg1"/>
                </a:solidFill>
              </a:rPr>
              <a:t>=1000(1000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en-US" altLang="ko-KR" sz="1200" dirty="0" err="1">
                <a:solidFill>
                  <a:schemeClr val="bg1"/>
                </a:solidFill>
              </a:rPr>
              <a:t>gid</a:t>
            </a:r>
            <a:r>
              <a:rPr lang="en-US" altLang="ko-KR" sz="1200" dirty="0">
                <a:solidFill>
                  <a:schemeClr val="bg1"/>
                </a:solidFill>
              </a:rPr>
              <a:t>=3000 </a:t>
            </a:r>
            <a:r>
              <a:rPr lang="en-US" altLang="ko-KR" sz="1200" dirty="0" smtClean="0">
                <a:solidFill>
                  <a:schemeClr val="bg1"/>
                </a:solidFill>
              </a:rPr>
              <a:t>groups=2000	# Security Context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설정값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64653" y="1338698"/>
            <a:ext cx="6543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Pod</a:t>
            </a:r>
            <a:r>
              <a:rPr lang="ko-KR" altLang="en-US" sz="1200" dirty="0" smtClean="0"/>
              <a:t>의 현재 사용자 정보 확인</a:t>
            </a:r>
            <a:endParaRPr lang="en-US" altLang="ko-KR" sz="12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5764652" y="2616201"/>
            <a:ext cx="569551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exec security-pod -c security-container </a:t>
            </a:r>
            <a:r>
              <a:rPr lang="en-US" altLang="ko-KR" sz="1200" dirty="0" smtClean="0">
                <a:solidFill>
                  <a:schemeClr val="bg1"/>
                </a:solidFill>
              </a:rPr>
              <a:t>-- id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uid</a:t>
            </a:r>
            <a:r>
              <a:rPr lang="en-US" altLang="ko-KR" sz="1200" dirty="0" smtClean="0">
                <a:solidFill>
                  <a:schemeClr val="bg1"/>
                </a:solidFill>
              </a:rPr>
              <a:t>=1000(1000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en-US" altLang="ko-KR" sz="1200" dirty="0" err="1">
                <a:solidFill>
                  <a:schemeClr val="bg1"/>
                </a:solidFill>
              </a:rPr>
              <a:t>gid</a:t>
            </a:r>
            <a:r>
              <a:rPr lang="en-US" altLang="ko-KR" sz="1200" dirty="0">
                <a:solidFill>
                  <a:schemeClr val="bg1"/>
                </a:solidFill>
              </a:rPr>
              <a:t>=3000 </a:t>
            </a:r>
            <a:r>
              <a:rPr lang="en-US" altLang="ko-KR" sz="1200" dirty="0" smtClean="0">
                <a:solidFill>
                  <a:schemeClr val="bg1"/>
                </a:solidFill>
              </a:rPr>
              <a:t>groups=2000	# Security Context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설정값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4653" y="2344255"/>
            <a:ext cx="6543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Container</a:t>
            </a:r>
            <a:r>
              <a:rPr lang="ko-KR" altLang="en-US" sz="1200" dirty="0" smtClean="0"/>
              <a:t>의 현재 사용자 정보 확인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113536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7. Network Policy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924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Network Policy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시나리오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2367203" y="1158098"/>
            <a:ext cx="6543752" cy="4359234"/>
            <a:chOff x="2967278" y="1272398"/>
            <a:chExt cx="6543752" cy="4359234"/>
          </a:xfrm>
        </p:grpSpPr>
        <p:sp>
          <p:nvSpPr>
            <p:cNvPr id="5" name="직사각형 4"/>
            <p:cNvSpPr/>
            <p:nvPr/>
          </p:nvSpPr>
          <p:spPr>
            <a:xfrm>
              <a:off x="2967278" y="2397769"/>
              <a:ext cx="1706880" cy="767966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5">
                      <a:lumMod val="75000"/>
                    </a:schemeClr>
                  </a:solidFill>
                </a:rPr>
                <a:t>Pod01</a:t>
              </a:r>
            </a:p>
            <a:p>
              <a:pPr algn="ctr"/>
              <a:r>
                <a:rPr lang="en-US" altLang="ko-KR" sz="1400" dirty="0" smtClean="0">
                  <a:solidFill>
                    <a:schemeClr val="accent5">
                      <a:lumMod val="75000"/>
                    </a:schemeClr>
                  </a:solidFill>
                </a:rPr>
                <a:t>80</a:t>
              </a:r>
              <a:endParaRPr lang="ko-KR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3185475" y="1272398"/>
              <a:ext cx="1270485" cy="831602"/>
              <a:chOff x="837840" y="2038610"/>
              <a:chExt cx="1270485" cy="831602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203083" y="2038610"/>
                <a:ext cx="540000" cy="540000"/>
              </a:xfrm>
              <a:prstGeom prst="rect">
                <a:avLst/>
              </a:prstGeom>
            </p:spPr>
          </p:pic>
          <p:sp>
            <p:nvSpPr>
              <p:cNvPr id="9" name="TextBox 21"/>
              <p:cNvSpPr txBox="1"/>
              <p:nvPr/>
            </p:nvSpPr>
            <p:spPr>
              <a:xfrm>
                <a:off x="837840" y="2593213"/>
                <a:ext cx="12704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 smtClean="0"/>
                  <a:t>Client</a:t>
                </a:r>
                <a:endParaRPr lang="ko-KR" altLang="en-US" dirty="0"/>
              </a:p>
            </p:txBody>
          </p:sp>
        </p:grpSp>
        <p:sp>
          <p:nvSpPr>
            <p:cNvPr id="10" name="직사각형 9"/>
            <p:cNvSpPr/>
            <p:nvPr/>
          </p:nvSpPr>
          <p:spPr>
            <a:xfrm>
              <a:off x="7804150" y="2397769"/>
              <a:ext cx="1706880" cy="767966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2">
                      <a:lumMod val="75000"/>
                    </a:schemeClr>
                  </a:solidFill>
                </a:rPr>
                <a:t>Pod02 </a:t>
              </a:r>
            </a:p>
            <a:p>
              <a:pPr algn="ctr"/>
              <a:r>
                <a:rPr lang="en-US" altLang="ko-KR" sz="1400" dirty="0" smtClean="0">
                  <a:solidFill>
                    <a:schemeClr val="accent2">
                      <a:lumMod val="75000"/>
                    </a:schemeClr>
                  </a:solidFill>
                </a:rPr>
                <a:t>8081</a:t>
              </a:r>
              <a:endParaRPr lang="ko-KR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396230" y="4206249"/>
              <a:ext cx="1706880" cy="76796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6">
                      <a:lumMod val="75000"/>
                    </a:schemeClr>
                  </a:solidFill>
                </a:rPr>
                <a:t>Pod03 </a:t>
              </a:r>
            </a:p>
            <a:p>
              <a:pPr algn="ctr"/>
              <a:r>
                <a:rPr lang="en-US" altLang="ko-KR" sz="1400" dirty="0" smtClean="0">
                  <a:solidFill>
                    <a:schemeClr val="accent6">
                      <a:lumMod val="75000"/>
                    </a:schemeClr>
                  </a:solidFill>
                </a:rPr>
                <a:t>8082</a:t>
              </a:r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4" name="직선 연결선 3"/>
            <p:cNvCxnSpPr>
              <a:stCxn id="5" idx="3"/>
              <a:endCxn id="10" idx="1"/>
            </p:cNvCxnSpPr>
            <p:nvPr/>
          </p:nvCxnSpPr>
          <p:spPr>
            <a:xfrm>
              <a:off x="4674158" y="2781752"/>
              <a:ext cx="312999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>
              <a:stCxn id="11" idx="3"/>
              <a:endCxn id="10" idx="2"/>
            </p:cNvCxnSpPr>
            <p:nvPr/>
          </p:nvCxnSpPr>
          <p:spPr>
            <a:xfrm flipV="1">
              <a:off x="7103110" y="3165735"/>
              <a:ext cx="1554480" cy="142449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>
              <a:stCxn id="11" idx="1"/>
              <a:endCxn id="5" idx="2"/>
            </p:cNvCxnSpPr>
            <p:nvPr/>
          </p:nvCxnSpPr>
          <p:spPr>
            <a:xfrm flipH="1" flipV="1">
              <a:off x="3820718" y="3165735"/>
              <a:ext cx="1575512" cy="142449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곱셈 기호 16"/>
            <p:cNvSpPr/>
            <p:nvPr/>
          </p:nvSpPr>
          <p:spPr>
            <a:xfrm>
              <a:off x="4303674" y="3549755"/>
              <a:ext cx="609600" cy="551824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정오각형 17"/>
            <p:cNvSpPr/>
            <p:nvPr/>
          </p:nvSpPr>
          <p:spPr>
            <a:xfrm>
              <a:off x="5173624" y="3548832"/>
              <a:ext cx="2164080" cy="2082800"/>
            </a:xfrm>
            <a:prstGeom prst="pentagon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dirty="0" smtClean="0"/>
                <a:t> </a:t>
              </a:r>
              <a:r>
                <a:rPr lang="en-US" altLang="ko-KR" sz="1400" dirty="0" smtClean="0">
                  <a:solidFill>
                    <a:srgbClr val="FF0000"/>
                  </a:solidFill>
                </a:rPr>
                <a:t>Network</a:t>
              </a:r>
            </a:p>
            <a:p>
              <a:pPr algn="ctr"/>
              <a:r>
                <a:rPr lang="en-US" altLang="ko-KR" sz="1400" dirty="0" smtClean="0">
                  <a:solidFill>
                    <a:srgbClr val="FF0000"/>
                  </a:solidFill>
                </a:rPr>
                <a:t>Policy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945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711199" y="334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테스트를 위한 </a:t>
            </a:r>
            <a:r>
              <a:rPr lang="en-US" altLang="ko-KR" sz="1400" dirty="0" smtClean="0"/>
              <a:t>Pod </a:t>
            </a:r>
            <a:r>
              <a:rPr lang="en-US" altLang="ko-KR" sz="1400" dirty="0" err="1" smtClean="0"/>
              <a:t>Yaml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66763" y="686677"/>
            <a:ext cx="3678235" cy="2585323"/>
            <a:chOff x="922340" y="1673467"/>
            <a:chExt cx="3678235" cy="2585323"/>
          </a:xfrm>
        </p:grpSpPr>
        <p:sp>
          <p:nvSpPr>
            <p:cNvPr id="16" name="TextBox 11"/>
            <p:cNvSpPr txBox="1"/>
            <p:nvPr/>
          </p:nvSpPr>
          <p:spPr>
            <a:xfrm>
              <a:off x="922340" y="1950466"/>
              <a:ext cx="3678235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network-policy-pod01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network-policy-pod01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binding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port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80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인 이미지</a:t>
              </a: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ports: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containerPort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80</a:t>
              </a:r>
            </a:p>
          </p:txBody>
        </p:sp>
        <p:sp>
          <p:nvSpPr>
            <p:cNvPr id="19" name="TextBox 3"/>
            <p:cNvSpPr txBox="1"/>
            <p:nvPr/>
          </p:nvSpPr>
          <p:spPr>
            <a:xfrm>
              <a:off x="922341" y="1673467"/>
              <a:ext cx="1223962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1-pod01.yaml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66763" y="3593449"/>
            <a:ext cx="4964110" cy="2585323"/>
            <a:chOff x="922340" y="1673467"/>
            <a:chExt cx="4964110" cy="2585323"/>
          </a:xfrm>
        </p:grpSpPr>
        <p:sp>
          <p:nvSpPr>
            <p:cNvPr id="14" name="TextBox 11"/>
            <p:cNvSpPr txBox="1"/>
            <p:nvPr/>
          </p:nvSpPr>
          <p:spPr>
            <a:xfrm>
              <a:off x="922340" y="1950466"/>
              <a:ext cx="4964110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network-policy-pod02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network-policy-pod02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/nginx:v1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binding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port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8081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인 이미지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ports: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containerPort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8081</a:t>
              </a:r>
            </a:p>
          </p:txBody>
        </p:sp>
        <p:sp>
          <p:nvSpPr>
            <p:cNvPr id="15" name="TextBox 3"/>
            <p:cNvSpPr txBox="1"/>
            <p:nvPr/>
          </p:nvSpPr>
          <p:spPr>
            <a:xfrm>
              <a:off x="922340" y="1673467"/>
              <a:ext cx="122396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2-pod02.yaml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5940425" y="3593449"/>
            <a:ext cx="5519738" cy="2585323"/>
            <a:chOff x="922339" y="1673467"/>
            <a:chExt cx="5519738" cy="2585323"/>
          </a:xfrm>
        </p:grpSpPr>
        <p:sp>
          <p:nvSpPr>
            <p:cNvPr id="18" name="TextBox 11"/>
            <p:cNvSpPr txBox="1"/>
            <p:nvPr/>
          </p:nvSpPr>
          <p:spPr>
            <a:xfrm>
              <a:off x="922339" y="1950466"/>
              <a:ext cx="5519738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network-policy-pod03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network-policy-pod03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/nginx_8082:v01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binding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port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가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8082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인 이미지</a:t>
              </a: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ports: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containerPort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8082</a:t>
              </a:r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922341" y="1673467"/>
              <a:ext cx="1184274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3-pod03.yaml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2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711199" y="334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Network Policy </a:t>
            </a:r>
            <a:r>
              <a:rPr lang="ko-KR" altLang="en-US" sz="1400" dirty="0" smtClean="0"/>
              <a:t>설정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66763" y="686677"/>
            <a:ext cx="5129212" cy="3877985"/>
            <a:chOff x="922340" y="1673467"/>
            <a:chExt cx="5129212" cy="3877985"/>
          </a:xfrm>
        </p:grpSpPr>
        <p:sp>
          <p:nvSpPr>
            <p:cNvPr id="16" name="TextBox 11"/>
            <p:cNvSpPr txBox="1"/>
            <p:nvPr/>
          </p:nvSpPr>
          <p:spPr>
            <a:xfrm>
              <a:off x="922340" y="1950466"/>
              <a:ext cx="5129212" cy="3600986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networking.k8s.io/v1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NetworkPolicy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pod03-network-policy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podSelector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network-policy-pod03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policyTypes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Ingress</a:t>
              </a:r>
            </a:p>
            <a:p>
              <a:r>
                <a:rPr lang="en-US" altLang="ko-KR" sz="1200" dirty="0"/>
                <a:t>  ingress:</a:t>
              </a:r>
            </a:p>
            <a:p>
              <a:r>
                <a:rPr lang="en-US" altLang="ko-KR" sz="1200" dirty="0"/>
                <a:t>    - from: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podSelector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app: network-policy-pod02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해당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Pod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요청만 받는 설정</a:t>
              </a:r>
            </a:p>
            <a:p>
              <a:r>
                <a:rPr lang="ko-KR" altLang="en-US" sz="1200" dirty="0"/>
                <a:t>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ports: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- protocol: TCP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port: 8082</a:t>
              </a:r>
            </a:p>
          </p:txBody>
        </p:sp>
        <p:sp>
          <p:nvSpPr>
            <p:cNvPr id="19" name="TextBox 3"/>
            <p:cNvSpPr txBox="1"/>
            <p:nvPr/>
          </p:nvSpPr>
          <p:spPr>
            <a:xfrm>
              <a:off x="922340" y="1673467"/>
              <a:ext cx="231933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4-networkpolicy_pod03.yaml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66763" y="4687772"/>
            <a:ext cx="9857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Kubernetes </a:t>
            </a:r>
            <a:r>
              <a:rPr lang="ko-KR" altLang="en-US" sz="1200" dirty="0" smtClean="0"/>
              <a:t>클러스터에서 통신을 위한 </a:t>
            </a:r>
            <a:r>
              <a:rPr lang="en-US" altLang="ko-KR" sz="1200" dirty="0" smtClean="0"/>
              <a:t>‘Pod</a:t>
            </a:r>
            <a:r>
              <a:rPr lang="ko-KR" altLang="en-US" sz="1200" dirty="0" smtClean="0"/>
              <a:t>의 내부 </a:t>
            </a:r>
            <a:r>
              <a:rPr lang="en-US" altLang="ko-KR" sz="1200" dirty="0" smtClean="0"/>
              <a:t>IP’ </a:t>
            </a:r>
            <a:r>
              <a:rPr lang="ko-KR" altLang="en-US" sz="1200" dirty="0" smtClean="0"/>
              <a:t>확인</a:t>
            </a:r>
            <a:endParaRPr lang="en-US" altLang="ko-KR" sz="1200" dirty="0"/>
          </a:p>
        </p:txBody>
      </p:sp>
      <p:sp>
        <p:nvSpPr>
          <p:cNvPr id="23" name="TextBox 5"/>
          <p:cNvSpPr txBox="1"/>
          <p:nvPr/>
        </p:nvSpPr>
        <p:spPr>
          <a:xfrm>
            <a:off x="766763" y="4991535"/>
            <a:ext cx="10693400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 -o wide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network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network-policy-pod01        1/1        Running         0        163m        10.244.0.105        k8sedu-node01        &lt;</a:t>
            </a:r>
            <a:r>
              <a:rPr lang="en-US" altLang="ko-KR" sz="1200" dirty="0">
                <a:solidFill>
                  <a:schemeClr val="bg1"/>
                </a:solidFill>
              </a:rPr>
              <a:t>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        &lt;</a:t>
            </a:r>
            <a:r>
              <a:rPr lang="en-US" altLang="ko-KR" sz="1200" dirty="0">
                <a:solidFill>
                  <a:schemeClr val="bg1"/>
                </a:solidFill>
              </a:rPr>
              <a:t>none&gt;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network-policy-pod02        1/1        Running         0        163m        10.244.0.106        k8sedu-node01       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&lt;none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network-policy-pod03        1/1 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0        163m        10.244.107.16       k8sedu-node02        </a:t>
            </a:r>
            <a:r>
              <a:rPr lang="en-US" altLang="ko-KR" sz="1200" dirty="0">
                <a:solidFill>
                  <a:schemeClr val="bg1"/>
                </a:solidFill>
              </a:rPr>
              <a:t>&lt;none&gt;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&lt;none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					            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내부 </a:t>
            </a:r>
            <a:r>
              <a:rPr lang="en-US" altLang="ko-KR" sz="1200" dirty="0" smtClean="0">
                <a:solidFill>
                  <a:schemeClr val="bg1"/>
                </a:solidFill>
              </a:rPr>
              <a:t>IP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022163" y="5200418"/>
            <a:ext cx="988237" cy="584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711199" y="334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‘Pod01 -&gt; Pod02’ </a:t>
            </a:r>
            <a:r>
              <a:rPr lang="ko-KR" altLang="en-US" sz="1400" dirty="0" smtClean="0"/>
              <a:t>통신 확인</a:t>
            </a:r>
            <a:endParaRPr lang="en-US" altLang="ko-KR" sz="1200" dirty="0"/>
          </a:p>
        </p:txBody>
      </p:sp>
      <p:sp>
        <p:nvSpPr>
          <p:cNvPr id="9" name="TextBox 5"/>
          <p:cNvSpPr txBox="1"/>
          <p:nvPr/>
        </p:nvSpPr>
        <p:spPr>
          <a:xfrm>
            <a:off x="766763" y="670802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network-policy-pod01 --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10.244.0.106:8081		# {POD02_IP}:{POD02_PORT}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	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&lt;</a:t>
            </a:r>
            <a:r>
              <a:rPr lang="en-US" altLang="ko-KR" sz="1200" dirty="0">
                <a:solidFill>
                  <a:schemeClr val="bg1"/>
                </a:solidFill>
              </a:rPr>
              <a:t>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호출 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21913" y="692150"/>
            <a:ext cx="1264462" cy="2222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11199" y="165419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‘Pod02 -&gt; Pod03’ </a:t>
            </a:r>
            <a:r>
              <a:rPr lang="ko-KR" altLang="en-US" sz="1400" dirty="0" smtClean="0"/>
              <a:t>통신 확인</a:t>
            </a:r>
            <a:endParaRPr lang="en-US" altLang="ko-KR" sz="1200" dirty="0"/>
          </a:p>
        </p:txBody>
      </p:sp>
      <p:sp>
        <p:nvSpPr>
          <p:cNvPr id="12" name="TextBox 5"/>
          <p:cNvSpPr txBox="1"/>
          <p:nvPr/>
        </p:nvSpPr>
        <p:spPr>
          <a:xfrm>
            <a:off x="766763" y="1990551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</a:t>
            </a:r>
            <a:r>
              <a:rPr lang="en-US" altLang="ko-KR" sz="1200" dirty="0" smtClean="0">
                <a:solidFill>
                  <a:schemeClr val="bg1"/>
                </a:solidFill>
              </a:rPr>
              <a:t>network-policy-pod02 </a:t>
            </a:r>
            <a:r>
              <a:rPr lang="en-US" altLang="ko-KR" sz="1200" dirty="0">
                <a:solidFill>
                  <a:schemeClr val="bg1"/>
                </a:solidFill>
              </a:rPr>
              <a:t>--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10.244.107.16:8082		# {POD03_IP}:{POD03_PORT}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	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&lt;</a:t>
            </a:r>
            <a:r>
              <a:rPr lang="en-US" altLang="ko-KR" sz="1200" dirty="0">
                <a:solidFill>
                  <a:schemeClr val="bg1"/>
                </a:solidFill>
              </a:rPr>
              <a:t>title&gt;Welcome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!&lt;/title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호출 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21913" y="2011899"/>
            <a:ext cx="1359712" cy="2264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1199" y="297327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‘Pod01 -&gt; Pod03’ </a:t>
            </a:r>
            <a:r>
              <a:rPr lang="ko-KR" altLang="en-US" sz="1400" dirty="0" smtClean="0"/>
              <a:t>통신 확인</a:t>
            </a:r>
            <a:endParaRPr lang="en-US" altLang="ko-KR" sz="1200" dirty="0"/>
          </a:p>
        </p:txBody>
      </p:sp>
      <p:sp>
        <p:nvSpPr>
          <p:cNvPr id="15" name="TextBox 5"/>
          <p:cNvSpPr txBox="1"/>
          <p:nvPr/>
        </p:nvSpPr>
        <p:spPr>
          <a:xfrm>
            <a:off x="766763" y="3309624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</a:t>
            </a:r>
            <a:r>
              <a:rPr lang="en-US" altLang="ko-KR" sz="1200" dirty="0" smtClean="0">
                <a:solidFill>
                  <a:schemeClr val="bg1"/>
                </a:solidFill>
              </a:rPr>
              <a:t>network-policy-pod01 </a:t>
            </a:r>
            <a:r>
              <a:rPr lang="en-US" altLang="ko-KR" sz="1200" dirty="0">
                <a:solidFill>
                  <a:schemeClr val="bg1"/>
                </a:solidFill>
              </a:rPr>
              <a:t>-- curl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10.244.107.16:8082		# {POD03_IP}:{POD03_PORT}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	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curl</a:t>
            </a:r>
            <a:r>
              <a:rPr lang="en-US" altLang="ko-KR" sz="1200" dirty="0">
                <a:solidFill>
                  <a:schemeClr val="bg1"/>
                </a:solidFill>
              </a:rPr>
              <a:t>: (28) Failed to connect to 10.244.107.16 port 8082 after 130861 </a:t>
            </a:r>
            <a:r>
              <a:rPr lang="en-US" altLang="ko-KR" sz="1200" dirty="0" err="1">
                <a:solidFill>
                  <a:schemeClr val="bg1"/>
                </a:solidFill>
              </a:rPr>
              <a:t>ms</a:t>
            </a:r>
            <a:r>
              <a:rPr lang="en-US" altLang="ko-KR" sz="1200" dirty="0">
                <a:solidFill>
                  <a:schemeClr val="bg1"/>
                </a:solidFill>
              </a:rPr>
              <a:t>: Couldn't connect to server </a:t>
            </a:r>
            <a:r>
              <a:rPr lang="en-US" altLang="ko-KR" sz="1200" dirty="0" smtClean="0">
                <a:solidFill>
                  <a:schemeClr val="bg1"/>
                </a:solidFill>
              </a:rPr>
              <a:t>	 # </a:t>
            </a:r>
            <a:r>
              <a:rPr lang="ko-KR" altLang="en-US" sz="1200" dirty="0" smtClean="0">
                <a:solidFill>
                  <a:schemeClr val="bg1"/>
                </a:solidFill>
              </a:rPr>
              <a:t>호출 실패 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021913" y="3330972"/>
            <a:ext cx="1359712" cy="2264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716863" y="3683400"/>
            <a:ext cx="1226362" cy="2599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60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33415</TotalTime>
  <Words>2448</Words>
  <Application>Microsoft Office PowerPoint</Application>
  <PresentationFormat>와이드스크린</PresentationFormat>
  <Paragraphs>508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600</cp:revision>
  <dcterms:created xsi:type="dcterms:W3CDTF">2022-09-15T01:21:24Z</dcterms:created>
  <dcterms:modified xsi:type="dcterms:W3CDTF">2025-03-05T01:28:02Z</dcterms:modified>
</cp:coreProperties>
</file>