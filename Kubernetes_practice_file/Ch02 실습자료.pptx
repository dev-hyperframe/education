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411" r:id="rId2"/>
    <p:sldId id="422" r:id="rId3"/>
    <p:sldId id="362" r:id="rId4"/>
    <p:sldId id="366" r:id="rId5"/>
    <p:sldId id="395" r:id="rId6"/>
    <p:sldId id="414" r:id="rId7"/>
    <p:sldId id="397" r:id="rId8"/>
    <p:sldId id="418" r:id="rId9"/>
    <p:sldId id="399" r:id="rId10"/>
    <p:sldId id="419" r:id="rId11"/>
    <p:sldId id="421" r:id="rId12"/>
    <p:sldId id="420" r:id="rId13"/>
    <p:sldId id="406" r:id="rId14"/>
    <p:sldId id="407" r:id="rId15"/>
    <p:sldId id="410" r:id="rId16"/>
    <p:sldId id="308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771AA387-4111-4890-AC9B-FCE55A5E05BE}">
          <p14:sldIdLst>
            <p14:sldId id="411"/>
            <p14:sldId id="422"/>
            <p14:sldId id="362"/>
            <p14:sldId id="366"/>
            <p14:sldId id="395"/>
            <p14:sldId id="414"/>
            <p14:sldId id="397"/>
            <p14:sldId id="418"/>
            <p14:sldId id="399"/>
            <p14:sldId id="419"/>
            <p14:sldId id="421"/>
            <p14:sldId id="420"/>
            <p14:sldId id="406"/>
            <p14:sldId id="407"/>
            <p14:sldId id="410"/>
            <p14:sldId id="30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595" userDrawn="1">
          <p15:clr>
            <a:srgbClr val="A4A3A4"/>
          </p15:clr>
        </p15:guide>
        <p15:guide id="2" pos="345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9BD5"/>
    <a:srgbClr val="85C8CD"/>
    <a:srgbClr val="BBE0E3"/>
    <a:srgbClr val="2366EF"/>
    <a:srgbClr val="7D9EBB"/>
    <a:srgbClr val="171C2C"/>
    <a:srgbClr val="0232AE"/>
    <a:srgbClr val="BACDFE"/>
    <a:srgbClr val="333333"/>
    <a:srgbClr val="95BC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76771" autoAdjust="0"/>
  </p:normalViewPr>
  <p:slideViewPr>
    <p:cSldViewPr snapToGrid="0">
      <p:cViewPr varScale="1">
        <p:scale>
          <a:sx n="88" d="100"/>
          <a:sy n="88" d="100"/>
        </p:scale>
        <p:origin x="1416" y="78"/>
      </p:cViewPr>
      <p:guideLst>
        <p:guide orient="horz" pos="595"/>
        <p:guide pos="345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1" d="100"/>
          <a:sy n="91" d="100"/>
        </p:scale>
        <p:origin x="37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FE36D4-B224-4D49-A73E-0BF1A210728E}" type="datetimeFigureOut">
              <a:rPr lang="ko-KR" altLang="en-US" smtClean="0"/>
              <a:t>2025-03-05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A661C5-6DF4-4E77-80CD-DCF64012DB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4041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F7304B-F283-4E41-A8FA-EB923FFBA2A0}" type="datetimeFigureOut">
              <a:rPr lang="ko-KR" altLang="en-US" smtClean="0"/>
              <a:t>2025-03-05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B92502-E94D-4E8D-8986-81BE15697A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63319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 smtClean="0"/>
              <a:t>Yaml</a:t>
            </a:r>
            <a:r>
              <a:rPr lang="ko-KR" altLang="en-US" dirty="0" smtClean="0"/>
              <a:t>은 주어진 형식에 맞게 작성해야 한다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72288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altLang="ko-KR" sz="1200" baseline="0" dirty="0" smtClean="0"/>
          </a:p>
          <a:p>
            <a:pPr marL="0" indent="0">
              <a:buFontTx/>
              <a:buNone/>
            </a:pPr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02991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90763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dirty="0" err="1" smtClean="0"/>
              <a:t>Conteroller</a:t>
            </a:r>
            <a:r>
              <a:rPr lang="ko-KR" altLang="en-US" sz="1200" dirty="0" smtClean="0"/>
              <a:t>에서 라벨과 </a:t>
            </a:r>
            <a:r>
              <a:rPr lang="ko-KR" altLang="en-US" sz="1200" dirty="0" err="1" smtClean="0"/>
              <a:t>셀렉터를</a:t>
            </a:r>
            <a:r>
              <a:rPr lang="ko-KR" altLang="en-US" sz="1200" dirty="0" smtClean="0"/>
              <a:t> 이용하여 관리하는 </a:t>
            </a:r>
            <a:r>
              <a:rPr lang="en-US" altLang="ko-KR" sz="1200" dirty="0" smtClean="0"/>
              <a:t>Pod</a:t>
            </a:r>
            <a:r>
              <a:rPr lang="ko-KR" altLang="en-US" sz="1200" dirty="0" smtClean="0"/>
              <a:t>를 지정할 수 있다</a:t>
            </a:r>
            <a:r>
              <a:rPr lang="en-US" altLang="ko-KR" sz="1200" dirty="0" smtClean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93813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200" dirty="0" smtClean="0"/>
              <a:t>Taints</a:t>
            </a:r>
            <a:r>
              <a:rPr lang="ko-KR" altLang="en-US" sz="1200" dirty="0" smtClean="0"/>
              <a:t>는 </a:t>
            </a:r>
            <a:r>
              <a:rPr lang="en-US" altLang="ko-KR" sz="1200" dirty="0" smtClean="0"/>
              <a:t>Node</a:t>
            </a:r>
            <a:r>
              <a:rPr lang="ko-KR" altLang="en-US" sz="1200" dirty="0" smtClean="0"/>
              <a:t>가 </a:t>
            </a:r>
            <a:r>
              <a:rPr lang="en-US" altLang="ko-KR" sz="1200" dirty="0" smtClean="0"/>
              <a:t>Pod</a:t>
            </a:r>
            <a:r>
              <a:rPr lang="ko-KR" altLang="en-US" sz="1200" dirty="0" smtClean="0"/>
              <a:t>를 배치 안되게 제외 시킬 수 있는 기능이다</a:t>
            </a:r>
            <a:r>
              <a:rPr lang="en-US" altLang="ko-KR" sz="1200" dirty="0" smtClean="0"/>
              <a:t>.</a:t>
            </a:r>
          </a:p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200" dirty="0" smtClean="0"/>
              <a:t>Tolerations </a:t>
            </a:r>
            <a:r>
              <a:rPr lang="ko-KR" altLang="en-US" sz="1200" dirty="0" smtClean="0"/>
              <a:t>설정이 있는 </a:t>
            </a:r>
            <a:r>
              <a:rPr lang="en-US" altLang="ko-KR" sz="1200" dirty="0" smtClean="0"/>
              <a:t>Pod</a:t>
            </a:r>
            <a:r>
              <a:rPr lang="ko-KR" altLang="en-US" sz="1200" dirty="0" smtClean="0"/>
              <a:t>만 </a:t>
            </a:r>
            <a:r>
              <a:rPr lang="en-US" altLang="ko-KR" sz="1200" dirty="0" smtClean="0"/>
              <a:t>Taints</a:t>
            </a:r>
            <a:r>
              <a:rPr lang="ko-KR" altLang="en-US" sz="1200" dirty="0" smtClean="0"/>
              <a:t>가 설정된 </a:t>
            </a:r>
            <a:r>
              <a:rPr lang="en-US" altLang="ko-KR" sz="1200" dirty="0" smtClean="0"/>
              <a:t>Node</a:t>
            </a:r>
            <a:r>
              <a:rPr lang="ko-KR" altLang="en-US" sz="1200" dirty="0" smtClean="0"/>
              <a:t>에 배치 될 수 있다</a:t>
            </a:r>
            <a:r>
              <a:rPr lang="en-US" altLang="ko-KR" sz="1200" dirty="0" smtClean="0"/>
              <a:t>.</a:t>
            </a:r>
          </a:p>
          <a:p>
            <a:pPr marL="180000" indent="-180000">
              <a:buFont typeface="Wingdings" panose="05000000000000000000" pitchFamily="2" charset="2"/>
              <a:buChar char="§"/>
            </a:pPr>
            <a:endParaRPr lang="en-US" altLang="ko-KR" sz="1200" dirty="0" smtClean="0"/>
          </a:p>
          <a:p>
            <a:r>
              <a:rPr lang="en-US" altLang="ko-KR" sz="1100" dirty="0" smtClean="0">
                <a:solidFill>
                  <a:schemeClr val="bg1"/>
                </a:solidFill>
              </a:rPr>
              <a:t># Taints </a:t>
            </a:r>
            <a:r>
              <a:rPr lang="ko-KR" altLang="en-US" sz="1100" dirty="0" smtClean="0">
                <a:solidFill>
                  <a:schemeClr val="bg1"/>
                </a:solidFill>
              </a:rPr>
              <a:t>추가 시</a:t>
            </a:r>
            <a:r>
              <a:rPr lang="en-US" altLang="ko-KR" sz="1100" dirty="0" smtClean="0">
                <a:solidFill>
                  <a:schemeClr val="bg1"/>
                </a:solidFill>
              </a:rPr>
              <a:t>, </a:t>
            </a:r>
            <a:r>
              <a:rPr lang="ko-KR" altLang="en-US" sz="1100" dirty="0" smtClean="0">
                <a:solidFill>
                  <a:schemeClr val="bg1"/>
                </a:solidFill>
              </a:rPr>
              <a:t>사용 옵션</a:t>
            </a:r>
            <a:endParaRPr lang="en-US" altLang="ko-KR" sz="1100" dirty="0" smtClean="0">
              <a:solidFill>
                <a:schemeClr val="bg1"/>
              </a:solidFill>
            </a:endParaRPr>
          </a:p>
          <a:p>
            <a:r>
              <a:rPr lang="en-US" altLang="ko-KR" sz="1100" dirty="0" smtClean="0">
                <a:solidFill>
                  <a:schemeClr val="bg1"/>
                </a:solidFill>
              </a:rPr>
              <a:t> - </a:t>
            </a:r>
            <a:r>
              <a:rPr lang="en-US" altLang="ko-KR" sz="1100" b="1" dirty="0" err="1" smtClean="0">
                <a:solidFill>
                  <a:schemeClr val="bg1"/>
                </a:solidFill>
              </a:rPr>
              <a:t>NoSchedule</a:t>
            </a:r>
            <a:r>
              <a:rPr lang="en-US" altLang="ko-KR" sz="1100" dirty="0" smtClean="0">
                <a:solidFill>
                  <a:schemeClr val="bg1"/>
                </a:solidFill>
              </a:rPr>
              <a:t> : Taint</a:t>
            </a:r>
            <a:r>
              <a:rPr lang="ko-KR" altLang="en-US" sz="1100" dirty="0" smtClean="0">
                <a:solidFill>
                  <a:schemeClr val="bg1"/>
                </a:solidFill>
              </a:rPr>
              <a:t>가 하나 이상 있을 때</a:t>
            </a:r>
            <a:r>
              <a:rPr lang="en-US" altLang="ko-KR" sz="1100" dirty="0" smtClean="0">
                <a:solidFill>
                  <a:schemeClr val="bg1"/>
                </a:solidFill>
              </a:rPr>
              <a:t>,</a:t>
            </a:r>
            <a:r>
              <a:rPr lang="ko-KR" altLang="en-US" sz="1100" dirty="0" smtClean="0">
                <a:solidFill>
                  <a:schemeClr val="bg1"/>
                </a:solidFill>
              </a:rPr>
              <a:t> 일치하는 </a:t>
            </a:r>
            <a:r>
              <a:rPr lang="en-US" altLang="ko-KR" sz="1100" dirty="0" smtClean="0">
                <a:solidFill>
                  <a:schemeClr val="bg1"/>
                </a:solidFill>
              </a:rPr>
              <a:t>Toleration</a:t>
            </a:r>
            <a:r>
              <a:rPr lang="ko-KR" altLang="en-US" sz="1100" dirty="0" smtClean="0">
                <a:solidFill>
                  <a:schemeClr val="bg1"/>
                </a:solidFill>
              </a:rPr>
              <a:t>이 없으면 </a:t>
            </a:r>
            <a:r>
              <a:rPr lang="en-US" altLang="ko-KR" sz="1100" dirty="0" smtClean="0">
                <a:solidFill>
                  <a:schemeClr val="bg1"/>
                </a:solidFill>
              </a:rPr>
              <a:t>node</a:t>
            </a:r>
            <a:r>
              <a:rPr lang="ko-KR" altLang="en-US" sz="1100" dirty="0" smtClean="0">
                <a:solidFill>
                  <a:schemeClr val="bg1"/>
                </a:solidFill>
              </a:rPr>
              <a:t>에 스케줄링 되지 않음</a:t>
            </a:r>
            <a:endParaRPr lang="en-US" altLang="ko-KR" sz="1100" dirty="0" smtClean="0">
              <a:solidFill>
                <a:schemeClr val="bg1"/>
              </a:solidFill>
            </a:endParaRPr>
          </a:p>
          <a:p>
            <a:r>
              <a:rPr lang="en-US" altLang="ko-KR" sz="1100" dirty="0" smtClean="0">
                <a:solidFill>
                  <a:schemeClr val="bg1"/>
                </a:solidFill>
              </a:rPr>
              <a:t> - </a:t>
            </a:r>
            <a:r>
              <a:rPr lang="en-US" altLang="ko-KR" sz="1100" b="1" dirty="0" err="1" smtClean="0">
                <a:solidFill>
                  <a:schemeClr val="bg1"/>
                </a:solidFill>
              </a:rPr>
              <a:t>PreferNoSchedule</a:t>
            </a:r>
            <a:r>
              <a:rPr lang="en-US" altLang="ko-KR" sz="1100" dirty="0" smtClean="0">
                <a:solidFill>
                  <a:schemeClr val="bg1"/>
                </a:solidFill>
              </a:rPr>
              <a:t> : Taint</a:t>
            </a:r>
            <a:r>
              <a:rPr lang="ko-KR" altLang="en-US" sz="1100" dirty="0" smtClean="0">
                <a:solidFill>
                  <a:schemeClr val="bg1"/>
                </a:solidFill>
              </a:rPr>
              <a:t>가 하나 이상 있고 일치하는 </a:t>
            </a:r>
            <a:r>
              <a:rPr lang="en-US" altLang="ko-KR" sz="1100" dirty="0" smtClean="0">
                <a:solidFill>
                  <a:schemeClr val="bg1"/>
                </a:solidFill>
              </a:rPr>
              <a:t>Toleration</a:t>
            </a:r>
            <a:r>
              <a:rPr lang="ko-KR" altLang="en-US" sz="1100" dirty="0" smtClean="0">
                <a:solidFill>
                  <a:schemeClr val="bg1"/>
                </a:solidFill>
              </a:rPr>
              <a:t>이 없는 경우</a:t>
            </a:r>
            <a:r>
              <a:rPr lang="en-US" altLang="ko-KR" sz="1100" dirty="0" smtClean="0">
                <a:solidFill>
                  <a:schemeClr val="bg1"/>
                </a:solidFill>
              </a:rPr>
              <a:t>,</a:t>
            </a:r>
            <a:r>
              <a:rPr lang="ko-KR" altLang="en-US" sz="1100" dirty="0" smtClean="0">
                <a:solidFill>
                  <a:schemeClr val="bg1"/>
                </a:solidFill>
              </a:rPr>
              <a:t> 해당 </a:t>
            </a:r>
            <a:r>
              <a:rPr lang="en-US" altLang="ko-KR" sz="1100" dirty="0" smtClean="0">
                <a:solidFill>
                  <a:schemeClr val="bg1"/>
                </a:solidFill>
              </a:rPr>
              <a:t>Node</a:t>
            </a:r>
            <a:r>
              <a:rPr lang="ko-KR" altLang="en-US" sz="1100" dirty="0" smtClean="0">
                <a:solidFill>
                  <a:schemeClr val="bg1"/>
                </a:solidFill>
              </a:rPr>
              <a:t>에 가능하면</a:t>
            </a:r>
            <a:r>
              <a:rPr lang="en-US" altLang="ko-KR" sz="1100" dirty="0" smtClean="0">
                <a:solidFill>
                  <a:schemeClr val="bg1"/>
                </a:solidFill>
              </a:rPr>
              <a:t> </a:t>
            </a:r>
            <a:r>
              <a:rPr lang="ko-KR" altLang="en-US" sz="1100" dirty="0" smtClean="0">
                <a:solidFill>
                  <a:schemeClr val="bg1"/>
                </a:solidFill>
              </a:rPr>
              <a:t>스케줄링하지 않지만 필요 시</a:t>
            </a:r>
            <a:r>
              <a:rPr lang="en-US" altLang="ko-KR" sz="1100" dirty="0" smtClean="0">
                <a:solidFill>
                  <a:schemeClr val="bg1"/>
                </a:solidFill>
              </a:rPr>
              <a:t> </a:t>
            </a:r>
            <a:r>
              <a:rPr lang="ko-KR" altLang="en-US" sz="1100" dirty="0" smtClean="0">
                <a:solidFill>
                  <a:schemeClr val="bg1"/>
                </a:solidFill>
              </a:rPr>
              <a:t>배치될 수 있음</a:t>
            </a:r>
            <a:endParaRPr lang="en-US" altLang="ko-KR" sz="1100" dirty="0" smtClean="0">
              <a:solidFill>
                <a:schemeClr val="bg1"/>
              </a:solidFill>
            </a:endParaRPr>
          </a:p>
          <a:p>
            <a:r>
              <a:rPr lang="en-US" altLang="ko-KR" sz="1100" dirty="0" smtClean="0">
                <a:solidFill>
                  <a:schemeClr val="bg1"/>
                </a:solidFill>
              </a:rPr>
              <a:t> - </a:t>
            </a:r>
            <a:r>
              <a:rPr lang="en-US" altLang="ko-KR" sz="1100" b="1" dirty="0" err="1" smtClean="0">
                <a:solidFill>
                  <a:schemeClr val="bg1"/>
                </a:solidFill>
              </a:rPr>
              <a:t>NoExcute</a:t>
            </a:r>
            <a:r>
              <a:rPr lang="en-US" altLang="ko-KR" sz="1100" dirty="0" smtClean="0">
                <a:solidFill>
                  <a:schemeClr val="bg1"/>
                </a:solidFill>
              </a:rPr>
              <a:t> : Taint</a:t>
            </a:r>
            <a:r>
              <a:rPr lang="ko-KR" altLang="en-US" sz="1100" dirty="0" smtClean="0">
                <a:solidFill>
                  <a:schemeClr val="bg1"/>
                </a:solidFill>
              </a:rPr>
              <a:t>가 하나 이상 있고 일치하는 </a:t>
            </a:r>
            <a:r>
              <a:rPr lang="en-US" altLang="ko-KR" sz="1100" dirty="0" smtClean="0">
                <a:solidFill>
                  <a:schemeClr val="bg1"/>
                </a:solidFill>
              </a:rPr>
              <a:t>Toleration</a:t>
            </a:r>
            <a:r>
              <a:rPr lang="ko-KR" altLang="en-US" sz="1100" dirty="0" smtClean="0">
                <a:solidFill>
                  <a:schemeClr val="bg1"/>
                </a:solidFill>
              </a:rPr>
              <a:t>이 없는 경우</a:t>
            </a:r>
            <a:r>
              <a:rPr lang="en-US" altLang="ko-KR" sz="1100" dirty="0" smtClean="0">
                <a:solidFill>
                  <a:schemeClr val="bg1"/>
                </a:solidFill>
              </a:rPr>
              <a:t>,</a:t>
            </a:r>
            <a:r>
              <a:rPr lang="ko-KR" altLang="en-US" sz="1100" dirty="0" smtClean="0">
                <a:solidFill>
                  <a:schemeClr val="bg1"/>
                </a:solidFill>
              </a:rPr>
              <a:t> 기존 </a:t>
            </a:r>
            <a:r>
              <a:rPr lang="en-US" altLang="ko-KR" sz="1100" dirty="0" smtClean="0">
                <a:solidFill>
                  <a:schemeClr val="bg1"/>
                </a:solidFill>
              </a:rPr>
              <a:t>Pod</a:t>
            </a:r>
            <a:r>
              <a:rPr lang="ko-KR" altLang="en-US" sz="1100" dirty="0" smtClean="0">
                <a:solidFill>
                  <a:schemeClr val="bg1"/>
                </a:solidFill>
              </a:rPr>
              <a:t>도 퇴출된다</a:t>
            </a:r>
            <a:r>
              <a:rPr lang="en-US" altLang="ko-KR" sz="1100" dirty="0" smtClean="0">
                <a:solidFill>
                  <a:schemeClr val="bg1"/>
                </a:solidFill>
              </a:rPr>
              <a:t>. </a:t>
            </a:r>
          </a:p>
          <a:p>
            <a:pPr marL="180000" indent="-180000">
              <a:buFont typeface="Wingdings" panose="05000000000000000000" pitchFamily="2" charset="2"/>
              <a:buChar char="§"/>
            </a:pPr>
            <a:endParaRPr lang="en-US" altLang="ko-KR" sz="11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49367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59029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55843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 smtClean="0"/>
              <a:t>Node </a:t>
            </a:r>
            <a:r>
              <a:rPr lang="en-US" altLang="ko-KR" sz="1200" dirty="0" err="1" smtClean="0"/>
              <a:t>Lable</a:t>
            </a:r>
            <a:r>
              <a:rPr lang="ko-KR" altLang="en-US" sz="1200" dirty="0" smtClean="0"/>
              <a:t>을 이용하여 지정된 </a:t>
            </a:r>
            <a:r>
              <a:rPr lang="en-US" altLang="ko-KR" sz="1200" dirty="0" smtClean="0"/>
              <a:t>Node</a:t>
            </a:r>
            <a:r>
              <a:rPr lang="ko-KR" altLang="en-US" sz="1200" dirty="0" smtClean="0"/>
              <a:t>에 서비스 </a:t>
            </a:r>
            <a:r>
              <a:rPr lang="en-US" altLang="ko-KR" sz="1200" dirty="0" smtClean="0"/>
              <a:t>Pod</a:t>
            </a:r>
            <a:r>
              <a:rPr lang="ko-KR" altLang="en-US" sz="1200" dirty="0" smtClean="0"/>
              <a:t>를 배치 할 수 있다</a:t>
            </a:r>
            <a:r>
              <a:rPr lang="en-US" altLang="ko-KR" sz="1200" dirty="0" smtClean="0"/>
              <a:t>.</a:t>
            </a:r>
          </a:p>
          <a:p>
            <a:endParaRPr lang="en-US" altLang="ko-KR" sz="1200" dirty="0" smtClean="0"/>
          </a:p>
          <a:p>
            <a:r>
              <a:rPr lang="en-US" altLang="ko-KR" sz="1200" dirty="0" err="1" smtClean="0"/>
              <a:t>NodeSelect</a:t>
            </a:r>
            <a:r>
              <a:rPr lang="ko-KR" altLang="en-US" sz="1200" dirty="0" smtClean="0"/>
              <a:t>는 </a:t>
            </a:r>
            <a:r>
              <a:rPr lang="en-US" altLang="ko-KR" sz="1200" dirty="0" smtClean="0"/>
              <a:t>2</a:t>
            </a:r>
            <a:r>
              <a:rPr lang="ko-KR" altLang="en-US" sz="1200" dirty="0" smtClean="0"/>
              <a:t>가지 조건을 만족하게 </a:t>
            </a:r>
            <a:r>
              <a:rPr lang="en-US" altLang="ko-KR" sz="1200" dirty="0" smtClean="0"/>
              <a:t>Pod</a:t>
            </a:r>
            <a:r>
              <a:rPr lang="ko-KR" altLang="en-US" sz="1200" dirty="0" smtClean="0"/>
              <a:t>를 배치 시킬 수는 없다</a:t>
            </a:r>
            <a:r>
              <a:rPr lang="en-US" altLang="ko-KR" sz="1200" dirty="0" smtClean="0"/>
              <a:t>.</a:t>
            </a:r>
          </a:p>
          <a:p>
            <a:r>
              <a:rPr lang="en-US" altLang="ko-KR" sz="1200" dirty="0" smtClean="0"/>
              <a:t>EX)</a:t>
            </a:r>
            <a:r>
              <a:rPr lang="en-US" altLang="ko-KR" sz="1200" baseline="0" dirty="0" smtClean="0"/>
              <a:t> ‘</a:t>
            </a:r>
            <a:r>
              <a:rPr lang="en-US" altLang="ko-KR" sz="1200" dirty="0" smtClean="0"/>
              <a:t>business’</a:t>
            </a:r>
            <a:r>
              <a:rPr lang="ko-KR" altLang="en-US" sz="1200" dirty="0" smtClean="0"/>
              <a:t>와 </a:t>
            </a:r>
            <a:r>
              <a:rPr lang="en-US" altLang="ko-KR" sz="1200" dirty="0" smtClean="0"/>
              <a:t>‘infra’</a:t>
            </a:r>
            <a:r>
              <a:rPr lang="en-US" altLang="ko-KR" sz="1200" baseline="0" dirty="0" smtClean="0"/>
              <a:t> Node </a:t>
            </a:r>
            <a:r>
              <a:rPr lang="ko-KR" altLang="en-US" sz="1200" baseline="0" dirty="0" smtClean="0"/>
              <a:t>모두에 </a:t>
            </a:r>
            <a:r>
              <a:rPr lang="en-US" altLang="ko-KR" sz="1200" baseline="0" dirty="0" smtClean="0"/>
              <a:t>Pod </a:t>
            </a:r>
            <a:r>
              <a:rPr lang="ko-KR" altLang="en-US" sz="1200" baseline="0" dirty="0" smtClean="0"/>
              <a:t>배치하고 싶은 경우에도 </a:t>
            </a:r>
            <a:r>
              <a:rPr lang="en-US" altLang="ko-KR" sz="1200" baseline="0" dirty="0" err="1" smtClean="0"/>
              <a:t>NodeSelector</a:t>
            </a:r>
            <a:r>
              <a:rPr lang="ko-KR" altLang="en-US" sz="1200" baseline="0" dirty="0" smtClean="0"/>
              <a:t>를 사용해서 배치시킬 수 있는 방법은 없다</a:t>
            </a:r>
            <a:r>
              <a:rPr lang="en-US" altLang="ko-KR" sz="1200" baseline="0" dirty="0" smtClean="0"/>
              <a:t>.</a:t>
            </a:r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0299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dirty="0" smtClean="0"/>
              <a:t>Node</a:t>
            </a:r>
            <a:r>
              <a:rPr lang="ko-KR" altLang="en-US" sz="1200" dirty="0" smtClean="0"/>
              <a:t>에 여러 조건을 일치 시켜 </a:t>
            </a:r>
            <a:r>
              <a:rPr lang="en-US" altLang="ko-KR" sz="1200" dirty="0" smtClean="0"/>
              <a:t>Pod </a:t>
            </a:r>
            <a:r>
              <a:rPr lang="ko-KR" altLang="en-US" sz="1200" dirty="0" smtClean="0"/>
              <a:t>서비스를 배치할 수 있다</a:t>
            </a:r>
            <a:r>
              <a:rPr lang="en-US" altLang="ko-KR" sz="1200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 smtClean="0"/>
              <a:t>EX)</a:t>
            </a:r>
            <a:r>
              <a:rPr lang="en-US" altLang="ko-KR" sz="1200" baseline="0" dirty="0" smtClean="0"/>
              <a:t> ‘</a:t>
            </a:r>
            <a:r>
              <a:rPr lang="en-US" altLang="ko-KR" sz="1200" dirty="0" smtClean="0"/>
              <a:t>business’</a:t>
            </a:r>
            <a:r>
              <a:rPr lang="ko-KR" altLang="en-US" sz="1200" dirty="0" smtClean="0"/>
              <a:t>와 </a:t>
            </a:r>
            <a:r>
              <a:rPr lang="en-US" altLang="ko-KR" sz="1200" dirty="0" smtClean="0"/>
              <a:t>‘infra’</a:t>
            </a:r>
            <a:r>
              <a:rPr lang="en-US" altLang="ko-KR" sz="1200" baseline="0" dirty="0" smtClean="0"/>
              <a:t> Node</a:t>
            </a:r>
            <a:r>
              <a:rPr lang="ko-KR" altLang="en-US" sz="1200" baseline="0" dirty="0" smtClean="0"/>
              <a:t>에 </a:t>
            </a:r>
            <a:r>
              <a:rPr lang="en-US" altLang="ko-KR" sz="1200" baseline="0" dirty="0" smtClean="0"/>
              <a:t>Pod</a:t>
            </a:r>
            <a:r>
              <a:rPr lang="ko-KR" altLang="en-US" sz="1200" baseline="0" dirty="0" smtClean="0"/>
              <a:t>를</a:t>
            </a:r>
            <a:r>
              <a:rPr lang="en-US" altLang="ko-KR" sz="1200" baseline="0" dirty="0" smtClean="0"/>
              <a:t> </a:t>
            </a:r>
            <a:r>
              <a:rPr lang="ko-KR" altLang="en-US" sz="1200" baseline="0" dirty="0" smtClean="0"/>
              <a:t>배치하고 싶은 경우</a:t>
            </a:r>
            <a:r>
              <a:rPr lang="en-US" altLang="ko-KR" sz="1200" baseline="0" dirty="0" smtClean="0"/>
              <a:t>, </a:t>
            </a:r>
            <a:r>
              <a:rPr lang="en-US" altLang="ko-KR" sz="1200" baseline="0" dirty="0" err="1" smtClean="0"/>
              <a:t>NodeAffinity</a:t>
            </a:r>
            <a:r>
              <a:rPr lang="ko-KR" altLang="en-US" sz="1200" baseline="0" dirty="0" smtClean="0"/>
              <a:t>를 사용하면 된다</a:t>
            </a:r>
            <a:r>
              <a:rPr lang="en-US" altLang="ko-KR" sz="1200" baseline="0" dirty="0" smtClean="0"/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aseline="0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baseline="0" dirty="0" smtClean="0"/>
              <a:t>&lt;spec&gt;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0" baseline="0" dirty="0" smtClean="0"/>
              <a:t>1. </a:t>
            </a:r>
            <a:r>
              <a:rPr lang="en-US" altLang="ko-KR" sz="1200" b="0" baseline="0" dirty="0" err="1" smtClean="0"/>
              <a:t>requiredDuringSchedulingIgnoredDuringExecution</a:t>
            </a:r>
            <a:r>
              <a:rPr lang="en-US" altLang="ko-KR" sz="1200" b="0" baseline="0" dirty="0" smtClean="0"/>
              <a:t> : </a:t>
            </a:r>
            <a:r>
              <a:rPr lang="ko-KR" altLang="en-US" sz="1200" b="0" i="0" u="none" strike="noStrike" dirty="0" smtClean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+mn-ea"/>
              </a:rPr>
              <a:t>일치하는 라벨이 없는 경우</a:t>
            </a:r>
            <a:r>
              <a:rPr lang="en-US" altLang="ko-KR" sz="1200" b="0" i="0" u="none" strike="noStrike" dirty="0" smtClean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+mn-ea"/>
              </a:rPr>
              <a:t> </a:t>
            </a:r>
            <a:r>
              <a:rPr lang="ko-KR" altLang="en-US" sz="1200" b="0" i="0" u="none" strike="noStrike" dirty="0" smtClean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+mn-ea"/>
              </a:rPr>
              <a:t>노드에 스케줄링 하지 않음</a:t>
            </a:r>
            <a:r>
              <a:rPr lang="en-US" altLang="ko-KR" sz="1200" b="0" i="0" u="none" strike="noStrike" dirty="0" smtClean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+mn-ea"/>
              </a:rPr>
              <a:t>. </a:t>
            </a:r>
            <a:r>
              <a:rPr lang="ko-KR" altLang="en-US" sz="1200" b="0" i="0" u="none" strike="noStrike" dirty="0" smtClean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+mn-ea"/>
              </a:rPr>
              <a:t>기존 실행중인 </a:t>
            </a:r>
            <a:r>
              <a:rPr lang="ko-KR" altLang="en-US" sz="1200" b="0" i="0" u="none" strike="noStrike" dirty="0" err="1" smtClean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+mn-ea"/>
              </a:rPr>
              <a:t>파드는</a:t>
            </a:r>
            <a:r>
              <a:rPr lang="ko-KR" altLang="en-US" sz="1200" b="0" i="0" u="none" strike="noStrike" dirty="0" smtClean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+mn-ea"/>
              </a:rPr>
              <a:t> 노드 라벨이 변경되어도 계속 실행</a:t>
            </a:r>
            <a:r>
              <a:rPr lang="ko-KR" altLang="en-US" sz="1200" b="0" i="0" u="none" strike="noStrike" baseline="0" dirty="0" smtClean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+mn-ea"/>
              </a:rPr>
              <a:t> 됨</a:t>
            </a:r>
            <a:endParaRPr lang="en-US" altLang="ko-KR" sz="1200" b="0" i="0" u="none" strike="noStrike" dirty="0" smtClean="0">
              <a:solidFill>
                <a:srgbClr val="000000"/>
              </a:solidFill>
              <a:effectLst/>
              <a:latin typeface="맑은 고딕" panose="020B0503020000020004" pitchFamily="50" charset="-127"/>
              <a:ea typeface="+mn-ea"/>
            </a:endParaRP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0" i="0" u="none" strike="noStrike" dirty="0" smtClean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+mn-ea"/>
              </a:rPr>
              <a:t>2. </a:t>
            </a:r>
            <a:r>
              <a:rPr lang="en-US" altLang="ko-KR" sz="1200" b="0" baseline="0" dirty="0" err="1" smtClean="0"/>
              <a:t>preferrededDuringSchedulingIgnoredDuringExecution</a:t>
            </a:r>
            <a:r>
              <a:rPr lang="en-US" altLang="ko-KR" sz="1200" b="0" baseline="0" dirty="0" smtClean="0"/>
              <a:t> : </a:t>
            </a:r>
            <a:r>
              <a:rPr lang="ko-KR" altLang="en-US" sz="1200" b="0" i="0" u="none" strike="noStrike" dirty="0" smtClean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+mn-ea"/>
              </a:rPr>
              <a:t>일치하는 라벨이 없어도 다른 노드에 스케줄링 함</a:t>
            </a:r>
            <a:r>
              <a:rPr lang="en-US" altLang="ko-KR" sz="1200" b="0" i="0" u="none" strike="noStrike" dirty="0" smtClean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+mn-ea"/>
              </a:rPr>
              <a:t>. </a:t>
            </a:r>
            <a:r>
              <a:rPr lang="ko-KR" altLang="en-US" sz="1200" b="0" i="0" u="none" strike="noStrike" dirty="0" smtClean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+mn-ea"/>
              </a:rPr>
              <a:t>기존 실행중인 </a:t>
            </a:r>
            <a:r>
              <a:rPr lang="ko-KR" altLang="en-US" sz="1200" b="0" i="0" u="none" strike="noStrike" dirty="0" err="1" smtClean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+mn-ea"/>
              </a:rPr>
              <a:t>파드는</a:t>
            </a:r>
            <a:r>
              <a:rPr lang="ko-KR" altLang="en-US" sz="1200" b="0" i="0" u="none" strike="noStrike" dirty="0" smtClean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+mn-ea"/>
              </a:rPr>
              <a:t> 노드 라벨이 변경되어도 계속 실행 됨</a:t>
            </a:r>
            <a:endParaRPr lang="en-US" altLang="ko-KR" sz="1200" b="0" i="0" u="none" strike="noStrike" dirty="0" smtClean="0">
              <a:solidFill>
                <a:srgbClr val="000000"/>
              </a:solidFill>
              <a:effectLst/>
              <a:latin typeface="맑은 고딕" panose="020B0503020000020004" pitchFamily="50" charset="-127"/>
              <a:ea typeface="+mn-ea"/>
            </a:endParaRP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0" i="0" u="none" strike="noStrike" dirty="0" smtClean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+mn-ea"/>
              </a:rPr>
              <a:t>3.</a:t>
            </a:r>
            <a:r>
              <a:rPr lang="en-US" altLang="ko-KR" sz="1200" b="0" i="0" u="none" strike="noStrike" baseline="0" dirty="0" smtClean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+mn-ea"/>
              </a:rPr>
              <a:t> </a:t>
            </a:r>
            <a:r>
              <a:rPr lang="en-US" altLang="ko-KR" sz="1200" b="0" baseline="0" dirty="0" err="1" smtClean="0"/>
              <a:t>requiredDuringSchedulingRequiredDuringExecution</a:t>
            </a:r>
            <a:r>
              <a:rPr lang="en-US" altLang="ko-KR" sz="1200" b="0" baseline="0" dirty="0" smtClean="0"/>
              <a:t> : </a:t>
            </a:r>
            <a:r>
              <a:rPr lang="ko-KR" altLang="en-US" sz="1200" b="0" i="0" u="none" strike="noStrike" dirty="0" smtClean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+mn-ea"/>
              </a:rPr>
              <a:t>노드 라벨이 변경되는 경우 기존 실행중인 </a:t>
            </a:r>
            <a:r>
              <a:rPr lang="ko-KR" altLang="en-US" sz="1200" b="0" i="0" u="none" strike="noStrike" dirty="0" err="1" smtClean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+mn-ea"/>
              </a:rPr>
              <a:t>파드를</a:t>
            </a:r>
            <a:r>
              <a:rPr lang="ko-KR" altLang="en-US" sz="1200" b="0" i="0" u="none" strike="noStrike" dirty="0" smtClean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+mn-ea"/>
              </a:rPr>
              <a:t> 노드에서 </a:t>
            </a:r>
            <a:r>
              <a:rPr lang="ko-KR" altLang="en-US" sz="1200" b="0" i="0" u="none" strike="noStrike" dirty="0" err="1" smtClean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+mn-ea"/>
              </a:rPr>
              <a:t>쫒아낸다</a:t>
            </a:r>
            <a:r>
              <a:rPr lang="en-US" altLang="ko-KR" sz="1200" b="0" i="0" u="none" strike="noStrike" dirty="0" smtClean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+mn-ea"/>
              </a:rPr>
              <a:t>. 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="0" baseline="0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baseline="0" dirty="0" smtClean="0"/>
              <a:t>&lt;operator&gt;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0" baseline="0" dirty="0" smtClean="0"/>
              <a:t>1. In : </a:t>
            </a:r>
            <a:r>
              <a:rPr lang="en-US" altLang="ko-KR" sz="1200" b="0" i="0" u="none" strike="noStrike" dirty="0" smtClean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+mn-ea"/>
              </a:rPr>
              <a:t>Label </a:t>
            </a:r>
            <a:r>
              <a:rPr lang="ko-KR" altLang="en-US" sz="1200" b="0" i="0" u="none" strike="noStrike" dirty="0" smtClean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+mn-ea"/>
              </a:rPr>
              <a:t>값은 문자열 집합체에 존재한다</a:t>
            </a:r>
            <a:r>
              <a:rPr lang="en-US" altLang="ko-KR" sz="1200" b="0" i="0" u="none" strike="noStrike" dirty="0" smtClean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+mn-ea"/>
              </a:rPr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0" baseline="0" dirty="0" smtClean="0"/>
              <a:t>2. </a:t>
            </a:r>
            <a:r>
              <a:rPr lang="en-US" altLang="ko-KR" sz="1200" b="0" baseline="0" dirty="0" err="1" smtClean="0"/>
              <a:t>NotIn</a:t>
            </a:r>
            <a:r>
              <a:rPr lang="en-US" altLang="ko-KR" sz="1200" b="0" baseline="0" dirty="0" smtClean="0"/>
              <a:t> : </a:t>
            </a:r>
            <a:r>
              <a:rPr lang="en-US" altLang="ko-KR" sz="1200" b="0" i="0" u="none" strike="noStrike" dirty="0" smtClean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+mn-ea"/>
              </a:rPr>
              <a:t>Label </a:t>
            </a:r>
            <a:r>
              <a:rPr lang="ko-KR" altLang="en-US" sz="1200" b="0" i="0" u="none" strike="noStrike" dirty="0" smtClean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+mn-ea"/>
              </a:rPr>
              <a:t>값은 문자열 집합체에 포함되지 않는다</a:t>
            </a:r>
            <a:r>
              <a:rPr lang="en-US" altLang="ko-KR" sz="1200" b="0" i="0" u="none" strike="noStrike" dirty="0" smtClean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+mn-ea"/>
              </a:rPr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0" baseline="0" dirty="0" smtClean="0"/>
              <a:t>3. Exists : </a:t>
            </a:r>
            <a:r>
              <a:rPr lang="en-US" altLang="ko-KR" sz="1200" b="0" i="0" u="none" strike="noStrike" dirty="0" smtClean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+mn-ea"/>
              </a:rPr>
              <a:t>Key</a:t>
            </a:r>
            <a:r>
              <a:rPr lang="ko-KR" altLang="en-US" sz="1200" b="0" i="0" u="none" strike="noStrike" dirty="0" smtClean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+mn-ea"/>
              </a:rPr>
              <a:t>값이 존재한다</a:t>
            </a:r>
            <a:r>
              <a:rPr lang="en-US" altLang="ko-KR" sz="1200" b="0" i="0" u="none" strike="noStrike" dirty="0" smtClean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+mn-ea"/>
              </a:rPr>
              <a:t>.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0" baseline="0" dirty="0" smtClean="0"/>
              <a:t>4. </a:t>
            </a:r>
            <a:r>
              <a:rPr lang="en-US" altLang="ko-KR" sz="1200" b="0" baseline="0" dirty="0" err="1" smtClean="0"/>
              <a:t>DoesNotExist</a:t>
            </a:r>
            <a:r>
              <a:rPr lang="en-US" altLang="ko-KR" sz="1200" b="0" baseline="0" dirty="0" smtClean="0"/>
              <a:t> : </a:t>
            </a:r>
            <a:r>
              <a:rPr lang="en-US" altLang="ko-KR" sz="1200" b="0" i="0" u="none" strike="noStrike" dirty="0" smtClean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+mn-ea"/>
              </a:rPr>
              <a:t>Key</a:t>
            </a:r>
            <a:r>
              <a:rPr lang="ko-KR" altLang="en-US" sz="1200" b="0" i="0" u="none" strike="noStrike" dirty="0" smtClean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+mn-ea"/>
              </a:rPr>
              <a:t>값이 존재하지 않는다</a:t>
            </a:r>
            <a:r>
              <a:rPr lang="en-US" altLang="ko-KR" sz="1200" b="0" i="0" u="none" strike="noStrike" dirty="0" smtClean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+mn-ea"/>
              </a:rPr>
              <a:t>.</a:t>
            </a:r>
          </a:p>
          <a:p>
            <a:endParaRPr lang="en-US" altLang="ko-KR" sz="1200" dirty="0" smtClean="0"/>
          </a:p>
          <a:p>
            <a:r>
              <a:rPr lang="ko-KR" altLang="en-US" sz="1200" dirty="0" smtClean="0"/>
              <a:t>예시 파일은 </a:t>
            </a:r>
            <a:r>
              <a:rPr lang="en-US" altLang="ko-KR" sz="1200" dirty="0" smtClean="0"/>
              <a:t>role: business</a:t>
            </a:r>
            <a:r>
              <a:rPr lang="en-US" altLang="ko-KR" sz="1200" baseline="0" dirty="0" smtClean="0"/>
              <a:t>, role: infra label</a:t>
            </a:r>
            <a:r>
              <a:rPr lang="ko-KR" altLang="en-US" sz="1200" baseline="0" dirty="0" smtClean="0"/>
              <a:t>을 가진 </a:t>
            </a:r>
            <a:r>
              <a:rPr lang="en-US" altLang="ko-KR" sz="1200" baseline="0" dirty="0" smtClean="0"/>
              <a:t>node</a:t>
            </a:r>
            <a:r>
              <a:rPr lang="ko-KR" altLang="en-US" sz="1200" baseline="0" dirty="0" smtClean="0"/>
              <a:t>로 해당 </a:t>
            </a:r>
            <a:r>
              <a:rPr lang="en-US" altLang="ko-KR" sz="1200" baseline="0" dirty="0" smtClean="0"/>
              <a:t>Pod</a:t>
            </a:r>
            <a:r>
              <a:rPr lang="ko-KR" altLang="en-US" sz="1200" baseline="0" dirty="0" smtClean="0"/>
              <a:t>가 배치 될 수 있다라는 의미이다</a:t>
            </a:r>
            <a:r>
              <a:rPr lang="en-US" altLang="ko-KR" sz="1200" baseline="0" dirty="0" smtClean="0"/>
              <a:t>.</a:t>
            </a:r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65470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5366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22155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16744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aseline="0" dirty="0" smtClean="0"/>
              <a:t>노드 </a:t>
            </a:r>
            <a:r>
              <a:rPr lang="ko-KR" altLang="en-US" sz="1200" baseline="0" dirty="0" err="1" smtClean="0"/>
              <a:t>셀렉터와</a:t>
            </a:r>
            <a:r>
              <a:rPr lang="ko-KR" altLang="en-US" sz="1200" baseline="0" dirty="0" smtClean="0"/>
              <a:t> 같이 사용 한다면 특정 노드에는 배치를 제외 시킬 수 있다</a:t>
            </a:r>
            <a:r>
              <a:rPr lang="en-US" altLang="ko-KR" sz="1200" baseline="0" dirty="0" smtClean="0"/>
              <a:t>.</a:t>
            </a:r>
          </a:p>
          <a:p>
            <a:endParaRPr lang="en-US" altLang="ko-KR" sz="120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79427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dirty="0" smtClean="0"/>
              <a:t>Kubernetes</a:t>
            </a:r>
            <a:r>
              <a:rPr lang="en-US" altLang="ko-KR" sz="1200" baseline="0" dirty="0" smtClean="0"/>
              <a:t> master</a:t>
            </a:r>
            <a:r>
              <a:rPr lang="ko-KR" altLang="en-US" sz="1200" baseline="0" dirty="0" smtClean="0"/>
              <a:t>가 없어도 </a:t>
            </a:r>
            <a:r>
              <a:rPr lang="en-US" altLang="ko-KR" sz="1200" baseline="0" dirty="0" smtClean="0"/>
              <a:t>worker node</a:t>
            </a:r>
            <a:r>
              <a:rPr lang="ko-KR" altLang="en-US" sz="1200" baseline="0" dirty="0" smtClean="0"/>
              <a:t>에서 독자적으로</a:t>
            </a:r>
            <a:r>
              <a:rPr lang="en-US" altLang="ko-KR" sz="1200" baseline="0" dirty="0" smtClean="0"/>
              <a:t> Pod</a:t>
            </a:r>
            <a:r>
              <a:rPr lang="ko-KR" altLang="en-US" sz="1200" baseline="0" dirty="0" smtClean="0"/>
              <a:t>를 올릴 수 있다</a:t>
            </a:r>
            <a:r>
              <a:rPr lang="en-US" altLang="ko-KR" sz="1200" baseline="0" dirty="0" smtClean="0"/>
              <a:t>.</a:t>
            </a:r>
          </a:p>
          <a:p>
            <a:endParaRPr lang="en-US" altLang="ko-KR" sz="1200" baseline="0" dirty="0" smtClean="0"/>
          </a:p>
          <a:p>
            <a:r>
              <a:rPr lang="en-US" altLang="ko-KR" sz="1200" baseline="0" dirty="0" smtClean="0"/>
              <a:t>Worker Node</a:t>
            </a:r>
            <a:r>
              <a:rPr lang="ko-KR" altLang="en-US" sz="1200" baseline="0" dirty="0" smtClean="0"/>
              <a:t>에서 </a:t>
            </a:r>
            <a:r>
              <a:rPr lang="en-US" altLang="ko-KR" sz="1200" baseline="0" dirty="0" err="1" smtClean="0"/>
              <a:t>Kubelet</a:t>
            </a:r>
            <a:r>
              <a:rPr lang="ko-KR" altLang="en-US" sz="1200" baseline="0" dirty="0" smtClean="0"/>
              <a:t>에 설정된 </a:t>
            </a:r>
            <a:r>
              <a:rPr lang="en-US" altLang="ko-KR" sz="1200" baseline="0" dirty="0" err="1" smtClean="0"/>
              <a:t>staticpodpath</a:t>
            </a:r>
            <a:r>
              <a:rPr lang="ko-KR" altLang="en-US" sz="1200" baseline="0" dirty="0" smtClean="0"/>
              <a:t>에 파일을 올리면 </a:t>
            </a:r>
            <a:r>
              <a:rPr lang="en-US" altLang="ko-KR" sz="1200" baseline="0" dirty="0" err="1" smtClean="0"/>
              <a:t>kubelet</a:t>
            </a:r>
            <a:r>
              <a:rPr lang="ko-KR" altLang="en-US" sz="1200" baseline="0" dirty="0" smtClean="0"/>
              <a:t>은 자동으로 </a:t>
            </a:r>
            <a:r>
              <a:rPr lang="en-US" altLang="ko-KR" sz="1200" baseline="0" dirty="0" smtClean="0"/>
              <a:t>Pod</a:t>
            </a:r>
            <a:r>
              <a:rPr lang="ko-KR" altLang="en-US" sz="1200" baseline="0" dirty="0" smtClean="0"/>
              <a:t>를 만들어준다</a:t>
            </a:r>
            <a:r>
              <a:rPr lang="en-US" altLang="ko-KR" sz="1200" baseline="0" dirty="0" smtClean="0"/>
              <a:t>.</a:t>
            </a:r>
          </a:p>
          <a:p>
            <a:endParaRPr lang="en-US" altLang="ko-KR" sz="1200" baseline="0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aseline="0" dirty="0" smtClean="0"/>
              <a:t>Manifest</a:t>
            </a:r>
            <a:r>
              <a:rPr lang="ko-KR" altLang="en-US" sz="1200" baseline="0" dirty="0" smtClean="0"/>
              <a:t>안에 파일을 지우면 </a:t>
            </a:r>
            <a:r>
              <a:rPr lang="ko-KR" altLang="en-US" sz="1200" baseline="0" dirty="0" err="1" smtClean="0"/>
              <a:t>파드도</a:t>
            </a:r>
            <a:r>
              <a:rPr lang="ko-KR" altLang="en-US" sz="1200" baseline="0" dirty="0" smtClean="0"/>
              <a:t> 지워지게 된다</a:t>
            </a:r>
            <a:r>
              <a:rPr lang="en-US" altLang="ko-KR" sz="1200" baseline="0" dirty="0" smtClean="0"/>
              <a:t>.</a:t>
            </a:r>
          </a:p>
          <a:p>
            <a:endParaRPr lang="en-US" altLang="ko-KR" sz="1200" baseline="0" dirty="0" smtClean="0"/>
          </a:p>
          <a:p>
            <a:endParaRPr lang="en-US" altLang="ko-KR" sz="1200" baseline="0" dirty="0" smtClean="0"/>
          </a:p>
          <a:p>
            <a:endParaRPr lang="en-US" altLang="ko-KR" sz="1200" baseline="0" dirty="0" smtClean="0"/>
          </a:p>
          <a:p>
            <a:endParaRPr lang="en-US" altLang="ko-KR" sz="1200" baseline="0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00705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5"/>
          <p:cNvSpPr txBox="1">
            <a:spLocks/>
          </p:cNvSpPr>
          <p:nvPr userDrawn="1"/>
        </p:nvSpPr>
        <p:spPr>
          <a:xfrm>
            <a:off x="11560552" y="6504396"/>
            <a:ext cx="490526" cy="233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DB96D0-201A-4320-B533-3C3F2CC7492C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6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84189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슬라이드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6271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2218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9321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5"/>
          <p:cNvSpPr txBox="1">
            <a:spLocks/>
          </p:cNvSpPr>
          <p:nvPr userDrawn="1"/>
        </p:nvSpPr>
        <p:spPr>
          <a:xfrm>
            <a:off x="10775568" y="6262414"/>
            <a:ext cx="959232" cy="595586"/>
          </a:xfrm>
          <a:prstGeom prst="rect">
            <a:avLst/>
          </a:prstGeom>
        </p:spPr>
        <p:txBody>
          <a:bodyPr vert="horz" lIns="91447" tIns="45725" rIns="91447" bIns="45725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50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DB96D0-201A-4320-B533-3C3F2CC7492C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50" charset="-127"/>
              </a:rPr>
              <a:pPr marL="0" marR="0" lvl="0" indent="0" algn="r" defTabSz="91450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5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2" name="object 8"/>
          <p:cNvSpPr/>
          <p:nvPr userDrawn="1"/>
        </p:nvSpPr>
        <p:spPr>
          <a:xfrm>
            <a:off x="580644" y="6318503"/>
            <a:ext cx="11057890" cy="0"/>
          </a:xfrm>
          <a:custGeom>
            <a:avLst/>
            <a:gdLst/>
            <a:ahLst/>
            <a:cxnLst/>
            <a:rect l="l" t="t" r="r" b="b"/>
            <a:pathLst>
              <a:path w="11057890">
                <a:moveTo>
                  <a:pt x="0" y="0"/>
                </a:moveTo>
                <a:lnTo>
                  <a:pt x="11057509" y="0"/>
                </a:lnTo>
              </a:path>
            </a:pathLst>
          </a:custGeom>
          <a:ln w="6350">
            <a:solidFill>
              <a:srgbClr val="DBDBD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직사각형 12"/>
          <p:cNvSpPr/>
          <p:nvPr userDrawn="1"/>
        </p:nvSpPr>
        <p:spPr>
          <a:xfrm>
            <a:off x="491124" y="6428173"/>
            <a:ext cx="2472152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</a:rPr>
              <a:t>Copyrightⓒ </a:t>
            </a:r>
            <a:r>
              <a:rPr lang="en-US" altLang="ko-KR" sz="800" dirty="0" smtClean="0"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</a:rPr>
              <a:t>2025 </a:t>
            </a:r>
            <a:r>
              <a:rPr lang="en-US" altLang="ko-KR" sz="800" dirty="0" err="1"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</a:rPr>
              <a:t>TmaxSoft</a:t>
            </a:r>
            <a:r>
              <a:rPr lang="en-US" altLang="ko-KR" sz="800" dirty="0"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</a:rPr>
              <a:t>  All Rights Reserved.</a:t>
            </a:r>
          </a:p>
        </p:txBody>
      </p:sp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1317" y="338424"/>
            <a:ext cx="1157417" cy="11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568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A393CA-1A98-4091-B4F8-8CF82E62BE0C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8F8EB2-BEDB-4375-BAD0-E61FA200F7A6}" type="datetimeFigureOut">
              <a:rPr lang="ko-KR" altLang="en-US" smtClean="0"/>
              <a:pPr/>
              <a:t>2025-03-05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3646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848855" y="4346799"/>
            <a:ext cx="2670034" cy="587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lang="en-US" altLang="ko-KR" sz="1400" b="1" dirty="0" smtClean="0">
                <a:ln w="0" cap="flat" cmpd="sng" algn="ctr">
                  <a:noFill/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rgbClr val="95BCF0"/>
                </a:solidFill>
                <a:latin typeface="+mj-lt"/>
                <a:ea typeface="맑은 고딕" panose="020B0503020000020004" pitchFamily="50" charset="-127"/>
                <a:cs typeface="뉴티맥스고딕 CJK"/>
              </a:rPr>
              <a:t>2025.02.26.</a:t>
            </a:r>
          </a:p>
          <a:p>
            <a:pPr>
              <a:spcBef>
                <a:spcPts val="500"/>
              </a:spcBef>
            </a:pPr>
            <a:r>
              <a:rPr lang="ko-KR" altLang="en-US" sz="1400" b="1" dirty="0" smtClean="0">
                <a:ln w="0" cap="flat" cmpd="sng" algn="ctr">
                  <a:noFill/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rgbClr val="95BCF0"/>
                </a:solidFill>
                <a:latin typeface="+mj-lt"/>
                <a:ea typeface="맑은 고딕" panose="020B0503020000020004" pitchFamily="50" charset="-127"/>
                <a:cs typeface="뉴티맥스고딕 CJK"/>
              </a:rPr>
              <a:t>조성환</a:t>
            </a:r>
            <a:endParaRPr lang="en-US" altLang="ko-KR" sz="1400" b="1" dirty="0">
              <a:ln w="0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solidFill>
                <a:srgbClr val="95BCF0"/>
              </a:solidFill>
              <a:latin typeface="+mj-lt"/>
              <a:ea typeface="맑은 고딕" panose="020B0503020000020004" pitchFamily="50" charset="-127"/>
              <a:cs typeface="뉴티맥스고딕 CJK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48855" y="6328660"/>
            <a:ext cx="319670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95BCF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Copyrightⓒ </a:t>
            </a:r>
            <a:r>
              <a:rPr lang="en-US" altLang="ko-KR" sz="1000" b="1" dirty="0" smtClean="0">
                <a:solidFill>
                  <a:srgbClr val="95BCF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2025 </a:t>
            </a:r>
            <a:r>
              <a:rPr lang="en-US" altLang="ko-KR" sz="1000" b="1" dirty="0" err="1">
                <a:solidFill>
                  <a:srgbClr val="95BCF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TmaxSoft</a:t>
            </a:r>
            <a:r>
              <a:rPr lang="en-US" altLang="ko-KR" sz="1000" b="1" dirty="0">
                <a:solidFill>
                  <a:srgbClr val="95BCF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All Rights Reserved.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24571" y="6201983"/>
            <a:ext cx="2086430" cy="431891"/>
          </a:xfrm>
          <a:prstGeom prst="rect">
            <a:avLst/>
          </a:prstGeom>
        </p:spPr>
      </p:pic>
      <p:sp>
        <p:nvSpPr>
          <p:cNvPr id="8" name="object 27"/>
          <p:cNvSpPr txBox="1">
            <a:spLocks/>
          </p:cNvSpPr>
          <p:nvPr/>
        </p:nvSpPr>
        <p:spPr>
          <a:xfrm>
            <a:off x="848855" y="1420448"/>
            <a:ext cx="9171445" cy="1876797"/>
          </a:xfrm>
          <a:prstGeom prst="rect">
            <a:avLst/>
          </a:prstGeom>
        </p:spPr>
        <p:txBody>
          <a:bodyPr vert="horz" wrap="square" lIns="0" tIns="17146" rIns="0" bIns="0" rtlCol="0" anchor="ctr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1">
              <a:lnSpc>
                <a:spcPct val="100000"/>
              </a:lnSpc>
              <a:spcBef>
                <a:spcPts val="135"/>
              </a:spcBef>
            </a:pPr>
            <a:r>
              <a:rPr lang="en-US" sz="6000" b="1" dirty="0" smtClean="0">
                <a:solidFill>
                  <a:srgbClr val="95BCF0"/>
                </a:solidFill>
                <a:latin typeface="Univers LT Std 85 XBlk" panose="020B0904040702020204" pitchFamily="34" charset="0"/>
                <a:cs typeface="Arial Black"/>
              </a:rPr>
              <a:t>Kubernetes</a:t>
            </a:r>
          </a:p>
          <a:p>
            <a:pPr marL="12701">
              <a:lnSpc>
                <a:spcPct val="100000"/>
              </a:lnSpc>
              <a:spcBef>
                <a:spcPts val="135"/>
              </a:spcBef>
            </a:pPr>
            <a:r>
              <a:rPr lang="ko-KR" altLang="en-US" sz="6000" b="1" dirty="0" err="1" smtClean="0">
                <a:solidFill>
                  <a:srgbClr val="95BCF0"/>
                </a:solidFill>
                <a:latin typeface="Univers LT Std 85 XBlk" panose="020B0904040702020204" pitchFamily="34" charset="0"/>
                <a:cs typeface="Arial Black"/>
              </a:rPr>
              <a:t>실습자료</a:t>
            </a:r>
            <a:r>
              <a:rPr lang="en-US" altLang="ko-KR" sz="6000" b="1" dirty="0" smtClean="0">
                <a:solidFill>
                  <a:srgbClr val="95BCF0"/>
                </a:solidFill>
                <a:latin typeface="Univers LT Std 85 XBlk" panose="020B0904040702020204" pitchFamily="34" charset="0"/>
                <a:cs typeface="Arial Black"/>
              </a:rPr>
              <a:t> 02</a:t>
            </a:r>
            <a:endParaRPr lang="en-US" sz="6000" b="1" dirty="0">
              <a:solidFill>
                <a:srgbClr val="95BCF0"/>
              </a:solidFill>
              <a:latin typeface="Univers LT Std 85 XBlk" panose="020B0904040702020204" pitchFamily="34" charset="0"/>
              <a:cs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3736625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36117" y="338424"/>
            <a:ext cx="25433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실습 자료 참고 </a:t>
            </a:r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URL</a:t>
            </a:r>
            <a:r>
              <a:rPr lang="ko-KR" altLang="en-US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 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11200" y="715450"/>
            <a:ext cx="5689600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b="1" dirty="0" smtClean="0"/>
              <a:t>실습 자료</a:t>
            </a:r>
          </a:p>
          <a:p>
            <a:pPr marL="180000">
              <a:spcBef>
                <a:spcPts val="600"/>
              </a:spcBef>
            </a:pPr>
            <a:r>
              <a:rPr lang="en-US" altLang="ko-KR" sz="1200" dirty="0"/>
              <a:t>https://</a:t>
            </a:r>
            <a:r>
              <a:rPr lang="en-US" altLang="ko-KR" sz="1200" dirty="0" smtClean="0"/>
              <a:t>github.com/Dev-HyperFrame/education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1284837"/>
            <a:ext cx="568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b="1" dirty="0" smtClean="0"/>
              <a:t>실습 자료 다운로드</a:t>
            </a:r>
          </a:p>
        </p:txBody>
      </p:sp>
      <p:sp>
        <p:nvSpPr>
          <p:cNvPr id="14" name="TextBox 3"/>
          <p:cNvSpPr txBox="1"/>
          <p:nvPr/>
        </p:nvSpPr>
        <p:spPr>
          <a:xfrm>
            <a:off x="963561" y="1592614"/>
            <a:ext cx="10604552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git</a:t>
            </a:r>
            <a:r>
              <a:rPr lang="en-US" altLang="ko-KR" sz="1200" dirty="0">
                <a:solidFill>
                  <a:schemeClr val="bg1"/>
                </a:solidFill>
              </a:rPr>
              <a:t> clone https://github.com/Dev-HyperFrame/education.git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66763" y="1969215"/>
            <a:ext cx="568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b="1" dirty="0" smtClean="0"/>
              <a:t>Docker hub URL</a:t>
            </a:r>
          </a:p>
          <a:p>
            <a:r>
              <a:rPr lang="en-US" altLang="ko-KR" sz="1400" b="1" dirty="0" smtClean="0"/>
              <a:t>   </a:t>
            </a:r>
            <a:r>
              <a:rPr lang="en-US" altLang="ko-KR" sz="1200" dirty="0"/>
              <a:t>https://</a:t>
            </a:r>
            <a:r>
              <a:rPr lang="en-US" altLang="ko-KR" sz="1200" dirty="0" smtClean="0"/>
              <a:t>hub.docker.com/repositories/josunghwan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4217694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1. Manual Scheduling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1199" y="715450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err="1"/>
              <a:t>N</a:t>
            </a:r>
            <a:r>
              <a:rPr lang="en-US" altLang="ko-KR" sz="1400" dirty="0" err="1" smtClean="0"/>
              <a:t>odeName</a:t>
            </a:r>
            <a:r>
              <a:rPr lang="ko-KR" altLang="en-US" sz="1400" dirty="0" smtClean="0"/>
              <a:t>을 설정하여 해당 </a:t>
            </a:r>
            <a:r>
              <a:rPr lang="en-US" altLang="ko-KR" sz="1400" dirty="0" smtClean="0"/>
              <a:t>Node</a:t>
            </a:r>
            <a:r>
              <a:rPr lang="ko-KR" altLang="en-US" sz="1400" dirty="0" smtClean="0"/>
              <a:t>로 </a:t>
            </a:r>
            <a:r>
              <a:rPr lang="en-US" altLang="ko-KR" sz="1400" dirty="0" smtClean="0"/>
              <a:t>Pod</a:t>
            </a:r>
            <a:r>
              <a:rPr lang="ko-KR" altLang="en-US" sz="1400" dirty="0" smtClean="0"/>
              <a:t>를 배치한다</a:t>
            </a:r>
            <a:r>
              <a:rPr lang="en-US" altLang="ko-KR" sz="1400" dirty="0" smtClean="0"/>
              <a:t>.</a:t>
            </a:r>
            <a:endParaRPr lang="en-US" altLang="ko-KR" sz="1200" dirty="0"/>
          </a:p>
        </p:txBody>
      </p:sp>
      <p:grpSp>
        <p:nvGrpSpPr>
          <p:cNvPr id="2" name="그룹 1"/>
          <p:cNvGrpSpPr/>
          <p:nvPr/>
        </p:nvGrpSpPr>
        <p:grpSpPr>
          <a:xfrm>
            <a:off x="700231" y="1233049"/>
            <a:ext cx="4664150" cy="2585323"/>
            <a:chOff x="6368902" y="1495806"/>
            <a:chExt cx="4664150" cy="2585323"/>
          </a:xfrm>
        </p:grpSpPr>
        <p:sp>
          <p:nvSpPr>
            <p:cNvPr id="61" name="TextBox 3"/>
            <p:cNvSpPr txBox="1"/>
            <p:nvPr/>
          </p:nvSpPr>
          <p:spPr>
            <a:xfrm>
              <a:off x="6368903" y="1772805"/>
              <a:ext cx="4664149" cy="2308324"/>
            </a:xfrm>
            <a:prstGeom prst="rect">
              <a:avLst/>
            </a:prstGeom>
            <a:solidFill>
              <a:srgbClr val="BBE0E3"/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v1</a:t>
              </a:r>
            </a:p>
            <a:p>
              <a:r>
                <a:rPr lang="en-US" altLang="ko-KR" sz="1200" dirty="0"/>
                <a:t>kind: Pod</a:t>
              </a:r>
            </a:p>
            <a:p>
              <a:r>
                <a:rPr lang="en-US" altLang="ko-KR" sz="1200" dirty="0"/>
                <a:t>metadata:</a:t>
              </a:r>
            </a:p>
            <a:p>
              <a:r>
                <a:rPr lang="en-US" altLang="ko-KR" sz="1200" dirty="0"/>
                <a:t>  name: </a:t>
              </a:r>
              <a:r>
                <a:rPr lang="en-US" altLang="ko-KR" sz="1200" dirty="0" err="1"/>
                <a:t>nginx</a:t>
              </a:r>
              <a:r>
                <a:rPr lang="en-US" altLang="ko-KR" sz="1200" dirty="0"/>
                <a:t>-schedule</a:t>
              </a:r>
            </a:p>
            <a:p>
              <a:r>
                <a:rPr lang="en-US" altLang="ko-KR" sz="1200" dirty="0"/>
                <a:t>  labels:</a:t>
              </a:r>
            </a:p>
            <a:p>
              <a:r>
                <a:rPr lang="en-US" altLang="ko-KR" sz="1200" dirty="0"/>
                <a:t>    app: </a:t>
              </a:r>
              <a:r>
                <a:rPr lang="en-US" altLang="ko-KR" sz="1200" dirty="0" err="1"/>
                <a:t>nginx</a:t>
              </a:r>
              <a:r>
                <a:rPr lang="en-US" altLang="ko-KR" sz="1200" dirty="0"/>
                <a:t>-schedule</a:t>
              </a:r>
            </a:p>
            <a:p>
              <a:r>
                <a:rPr lang="en-US" altLang="ko-KR" sz="1200" dirty="0"/>
                <a:t>    type: web-server</a:t>
              </a:r>
            </a:p>
            <a:p>
              <a:r>
                <a:rPr lang="en-US" altLang="ko-KR" sz="1200" dirty="0"/>
                <a:t>spec:</a:t>
              </a:r>
            </a:p>
            <a:p>
              <a:r>
                <a:rPr lang="en-US" altLang="ko-KR" sz="1200" dirty="0"/>
                <a:t>  containers:</a:t>
              </a:r>
            </a:p>
            <a:p>
              <a:r>
                <a:rPr lang="en-US" altLang="ko-KR" sz="1200" dirty="0"/>
                <a:t>    - name: </a:t>
              </a:r>
              <a:r>
                <a:rPr lang="en-US" altLang="ko-KR" sz="1200" dirty="0" err="1"/>
                <a:t>nginx</a:t>
              </a:r>
              <a:endParaRPr lang="en-US" altLang="ko-KR" sz="1200" dirty="0"/>
            </a:p>
            <a:p>
              <a:r>
                <a:rPr lang="en-US" altLang="ko-KR" sz="1200" dirty="0"/>
                <a:t>      image: </a:t>
              </a:r>
              <a:r>
                <a:rPr lang="en-US" altLang="ko-KR" sz="1200" dirty="0" err="1"/>
                <a:t>nginx</a:t>
              </a:r>
              <a:endParaRPr lang="en-US" altLang="ko-KR" sz="1200" dirty="0"/>
            </a:p>
            <a:p>
              <a:r>
                <a:rPr lang="en-US" altLang="ko-KR" sz="1200" b="1" dirty="0"/>
                <a:t>  </a:t>
              </a:r>
              <a:r>
                <a:rPr lang="en-US" altLang="ko-KR" sz="1200" b="1" dirty="0" err="1">
                  <a:solidFill>
                    <a:srgbClr val="FF0000"/>
                  </a:solidFill>
                </a:rPr>
                <a:t>nodeName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: k8sedu-node01  # 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Pod</a:t>
              </a:r>
              <a:r>
                <a:rPr lang="ko-KR" altLang="en-US" sz="1200" b="1" dirty="0" smtClean="0">
                  <a:solidFill>
                    <a:srgbClr val="FF0000"/>
                  </a:solidFill>
                </a:rPr>
                <a:t>를 생성할 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Node </a:t>
              </a:r>
              <a:r>
                <a:rPr lang="ko-KR" altLang="en-US" sz="1200" b="1" dirty="0" smtClean="0">
                  <a:solidFill>
                    <a:srgbClr val="FF0000"/>
                  </a:solidFill>
                </a:rPr>
                <a:t>지정</a:t>
              </a:r>
              <a:endParaRPr lang="en-US" altLang="ko-KR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62" name="TextBox 3"/>
            <p:cNvSpPr txBox="1"/>
            <p:nvPr/>
          </p:nvSpPr>
          <p:spPr>
            <a:xfrm>
              <a:off x="6368902" y="1495806"/>
              <a:ext cx="1557194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b="1" dirty="0" smtClean="0">
                  <a:solidFill>
                    <a:sysClr val="windowText" lastClr="000000"/>
                  </a:solidFill>
                </a:rPr>
                <a:t>schedule-</a:t>
              </a:r>
              <a:r>
                <a:rPr lang="en-US" altLang="ko-KR" sz="1200" b="1" dirty="0" err="1" smtClean="0">
                  <a:solidFill>
                    <a:sysClr val="windowText" lastClr="000000"/>
                  </a:solidFill>
                </a:rPr>
                <a:t>pod.yaml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647415" y="4067807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Pod</a:t>
            </a:r>
            <a:r>
              <a:rPr lang="ko-KR" altLang="en-US" sz="1400" dirty="0"/>
              <a:t>가 </a:t>
            </a:r>
            <a:r>
              <a:rPr lang="ko-KR" altLang="en-US" sz="1400" dirty="0" smtClean="0"/>
              <a:t>지정</a:t>
            </a:r>
            <a:r>
              <a:rPr lang="ko-KR" altLang="en-US" sz="1400" dirty="0"/>
              <a:t>한</a:t>
            </a:r>
            <a:r>
              <a:rPr lang="ko-KR" altLang="en-US" sz="1400" dirty="0" smtClean="0"/>
              <a:t> </a:t>
            </a:r>
            <a:r>
              <a:rPr lang="ko-KR" altLang="en-US" sz="1400" dirty="0"/>
              <a:t>노드에서 잘 기동 되었는지 </a:t>
            </a:r>
            <a:r>
              <a:rPr lang="ko-KR" altLang="en-US" sz="1400" dirty="0" smtClean="0"/>
              <a:t>확인</a:t>
            </a:r>
            <a:endParaRPr lang="en-US" altLang="ko-KR" sz="1400" dirty="0"/>
          </a:p>
        </p:txBody>
      </p:sp>
      <p:sp>
        <p:nvSpPr>
          <p:cNvPr id="24" name="TextBox 3"/>
          <p:cNvSpPr txBox="1"/>
          <p:nvPr/>
        </p:nvSpPr>
        <p:spPr>
          <a:xfrm>
            <a:off x="689244" y="4398677"/>
            <a:ext cx="10838341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r>
              <a:rPr lang="en-US" altLang="ko-KR" sz="1200" dirty="0">
                <a:solidFill>
                  <a:schemeClr val="bg1"/>
                </a:solidFill>
              </a:rPr>
              <a:t>get pods -A -o </a:t>
            </a:r>
            <a:r>
              <a:rPr lang="en-US" altLang="ko-KR" sz="1200" dirty="0" smtClean="0">
                <a:solidFill>
                  <a:schemeClr val="bg1"/>
                </a:solidFill>
              </a:rPr>
              <a:t>wide		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NAMESPACE  NAME                READY   </a:t>
            </a:r>
            <a:r>
              <a:rPr lang="en-US" altLang="ko-KR" sz="1200" dirty="0">
                <a:solidFill>
                  <a:schemeClr val="bg1"/>
                </a:solidFill>
              </a:rPr>
              <a:t>STATUS    </a:t>
            </a:r>
            <a:r>
              <a:rPr lang="en-US" altLang="ko-KR" sz="1200" dirty="0" smtClean="0">
                <a:solidFill>
                  <a:schemeClr val="bg1"/>
                </a:solidFill>
              </a:rPr>
              <a:t> RESTARTS     AGE    IP                 </a:t>
            </a:r>
            <a:r>
              <a:rPr lang="en-US" altLang="ko-KR" sz="1200" dirty="0">
                <a:solidFill>
                  <a:schemeClr val="bg1"/>
                </a:solidFill>
              </a:rPr>
              <a:t>NODE    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 </a:t>
            </a:r>
            <a:r>
              <a:rPr lang="en-US" altLang="ko-KR" sz="1200" dirty="0">
                <a:solidFill>
                  <a:schemeClr val="bg1"/>
                </a:solidFill>
              </a:rPr>
              <a:t>NOMINATED NODE   READINESS </a:t>
            </a:r>
            <a:r>
              <a:rPr lang="en-US" altLang="ko-KR" sz="1200" dirty="0" smtClean="0">
                <a:solidFill>
                  <a:schemeClr val="bg1"/>
                </a:solidFill>
              </a:rPr>
              <a:t>GATES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default          </a:t>
            </a:r>
            <a:r>
              <a:rPr lang="en-US" altLang="ko-KR" sz="1200" dirty="0" err="1">
                <a:solidFill>
                  <a:schemeClr val="bg1"/>
                </a:solidFill>
              </a:rPr>
              <a:t>nginx</a:t>
            </a:r>
            <a:r>
              <a:rPr lang="en-US" altLang="ko-KR" sz="1200" dirty="0">
                <a:solidFill>
                  <a:schemeClr val="bg1"/>
                </a:solidFill>
              </a:rPr>
              <a:t>-schedule  </a:t>
            </a:r>
            <a:r>
              <a:rPr lang="en-US" altLang="ko-KR" sz="1200" dirty="0" smtClean="0">
                <a:solidFill>
                  <a:schemeClr val="bg1"/>
                </a:solidFill>
              </a:rPr>
              <a:t>  1/1        Running   </a:t>
            </a:r>
            <a:r>
              <a:rPr lang="en-US" altLang="ko-KR" sz="1200" dirty="0">
                <a:solidFill>
                  <a:schemeClr val="bg1"/>
                </a:solidFill>
              </a:rPr>
              <a:t>0          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12s     </a:t>
            </a:r>
            <a:r>
              <a:rPr lang="en-US" altLang="ko-KR" sz="1200" dirty="0">
                <a:solidFill>
                  <a:schemeClr val="bg1"/>
                </a:solidFill>
              </a:rPr>
              <a:t>10.244.0.122    k8sedu-node01   &lt;none&gt;     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   &lt;</a:t>
            </a:r>
            <a:r>
              <a:rPr lang="en-US" altLang="ko-KR" sz="1200" dirty="0">
                <a:solidFill>
                  <a:schemeClr val="bg1"/>
                </a:solidFill>
              </a:rPr>
              <a:t>none&gt;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7080355" y="4572005"/>
            <a:ext cx="1166648" cy="44147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022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2. Labels and Selectors(1/2)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11199" y="715450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en-US" altLang="ko-KR" sz="1400" dirty="0" err="1" smtClean="0"/>
              <a:t>Yaml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내 </a:t>
            </a:r>
            <a:r>
              <a:rPr lang="en-US" altLang="ko-KR" sz="1400" dirty="0"/>
              <a:t>M</a:t>
            </a:r>
            <a:r>
              <a:rPr lang="en-US" altLang="ko-KR" sz="1400" dirty="0" smtClean="0"/>
              <a:t>etadata section</a:t>
            </a:r>
            <a:r>
              <a:rPr lang="ko-KR" altLang="en-US" sz="1400" dirty="0" smtClean="0"/>
              <a:t>에서 </a:t>
            </a:r>
            <a:r>
              <a:rPr lang="en-US" altLang="ko-KR" sz="1400" dirty="0" smtClean="0"/>
              <a:t>Label </a:t>
            </a:r>
            <a:r>
              <a:rPr lang="ko-KR" altLang="en-US" sz="1400" dirty="0" smtClean="0"/>
              <a:t>설정</a:t>
            </a:r>
            <a:endParaRPr lang="en-US" altLang="ko-KR" sz="1200" dirty="0"/>
          </a:p>
        </p:txBody>
      </p:sp>
      <p:grpSp>
        <p:nvGrpSpPr>
          <p:cNvPr id="4" name="그룹 3"/>
          <p:cNvGrpSpPr/>
          <p:nvPr/>
        </p:nvGrpSpPr>
        <p:grpSpPr>
          <a:xfrm>
            <a:off x="697073" y="1225652"/>
            <a:ext cx="4664151" cy="2400657"/>
            <a:chOff x="6368901" y="1495806"/>
            <a:chExt cx="4664151" cy="2400657"/>
          </a:xfrm>
        </p:grpSpPr>
        <p:sp>
          <p:nvSpPr>
            <p:cNvPr id="5" name="TextBox 3"/>
            <p:cNvSpPr txBox="1"/>
            <p:nvPr/>
          </p:nvSpPr>
          <p:spPr>
            <a:xfrm>
              <a:off x="6368903" y="1772805"/>
              <a:ext cx="4664149" cy="2123658"/>
            </a:xfrm>
            <a:prstGeom prst="rect">
              <a:avLst/>
            </a:prstGeom>
            <a:solidFill>
              <a:srgbClr val="BBE0E3"/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</a:t>
              </a:r>
              <a:r>
                <a:rPr lang="en-US" altLang="ko-KR" sz="1200" dirty="0" smtClean="0"/>
                <a:t>v1</a:t>
              </a:r>
              <a:endParaRPr lang="en-US" altLang="ko-KR" sz="1200" dirty="0">
                <a:solidFill>
                  <a:srgbClr val="FF0000"/>
                </a:solidFill>
              </a:endParaRPr>
            </a:p>
            <a:p>
              <a:pPr algn="l"/>
              <a:r>
                <a:rPr lang="en-US" altLang="ko-KR" sz="1200" dirty="0"/>
                <a:t>kind: </a:t>
              </a:r>
              <a:r>
                <a:rPr lang="en-US" altLang="ko-KR" sz="1200" dirty="0" smtClean="0"/>
                <a:t>Pod</a:t>
              </a:r>
              <a:endParaRPr lang="en-US" altLang="ko-KR" sz="1200" dirty="0">
                <a:solidFill>
                  <a:srgbClr val="FF0000"/>
                </a:solidFill>
              </a:endParaRPr>
            </a:p>
            <a:p>
              <a:pPr algn="l"/>
              <a:r>
                <a:rPr lang="en-US" altLang="ko-KR" sz="1200" b="1" dirty="0">
                  <a:solidFill>
                    <a:srgbClr val="FF0000"/>
                  </a:solidFill>
                </a:rPr>
                <a:t>metadata: </a:t>
              </a:r>
            </a:p>
            <a:p>
              <a:pPr algn="l"/>
              <a:r>
                <a:rPr lang="en-US" altLang="ko-KR" sz="1200" dirty="0"/>
                <a:t>  name : </a:t>
              </a:r>
              <a:r>
                <a:rPr lang="en-US" altLang="ko-KR" sz="1200" dirty="0" err="1" smtClean="0"/>
                <a:t>nginx</a:t>
              </a:r>
              <a:r>
                <a:rPr lang="en-US" altLang="ko-KR" sz="1200" dirty="0" smtClean="0"/>
                <a:t>-label</a:t>
              </a:r>
              <a:endParaRPr lang="en-US" altLang="ko-KR" sz="1200" dirty="0"/>
            </a:p>
            <a:p>
              <a:pPr algn="l"/>
              <a:r>
                <a:rPr lang="en-US" altLang="ko-KR" sz="1200" b="1" dirty="0">
                  <a:solidFill>
                    <a:srgbClr val="FF0000"/>
                  </a:solidFill>
                </a:rPr>
                <a:t>  labels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:	# Label </a:t>
              </a:r>
              <a:r>
                <a:rPr lang="ko-KR" altLang="en-US" sz="1200" b="1" dirty="0" smtClean="0">
                  <a:solidFill>
                    <a:srgbClr val="FF0000"/>
                  </a:solidFill>
                </a:rPr>
                <a:t>지정</a:t>
              </a:r>
              <a:endParaRPr lang="en-US" altLang="ko-KR" sz="1200" b="1" dirty="0">
                <a:solidFill>
                  <a:srgbClr val="FF0000"/>
                </a:solidFill>
              </a:endParaRPr>
            </a:p>
            <a:p>
              <a:r>
                <a:rPr lang="en-US" altLang="ko-KR" sz="1200" b="1" dirty="0">
                  <a:solidFill>
                    <a:srgbClr val="FF0000"/>
                  </a:solidFill>
                </a:rPr>
                <a:t>    app: </a:t>
              </a:r>
              <a:r>
                <a:rPr lang="en-US" altLang="ko-KR" sz="1200" b="1" dirty="0" err="1">
                  <a:solidFill>
                    <a:srgbClr val="FF0000"/>
                  </a:solidFill>
                </a:rPr>
                <a:t>nginx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-label</a:t>
              </a:r>
            </a:p>
            <a:p>
              <a:r>
                <a:rPr lang="en-US" altLang="ko-KR" sz="1200" b="1" dirty="0">
                  <a:solidFill>
                    <a:srgbClr val="FF0000"/>
                  </a:solidFill>
                </a:rPr>
                <a:t>    type: 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web-server</a:t>
              </a:r>
            </a:p>
            <a:p>
              <a:r>
                <a:rPr lang="en-US" altLang="ko-KR" sz="1200" dirty="0" smtClean="0"/>
                <a:t>spec</a:t>
              </a:r>
              <a:r>
                <a:rPr lang="en-US" altLang="ko-KR" sz="1200" dirty="0"/>
                <a:t>: </a:t>
              </a:r>
              <a:endParaRPr lang="en-US" altLang="ko-KR" sz="1200" dirty="0" smtClean="0"/>
            </a:p>
            <a:p>
              <a:pPr algn="l"/>
              <a:r>
                <a:rPr lang="en-US" altLang="ko-KR" sz="1200" dirty="0"/>
                <a:t> </a:t>
              </a:r>
              <a:r>
                <a:rPr lang="en-US" altLang="ko-KR" sz="1200" dirty="0" smtClean="0"/>
                <a:t> containers</a:t>
              </a:r>
              <a:r>
                <a:rPr lang="en-US" altLang="ko-KR" sz="1200" dirty="0"/>
                <a:t>:</a:t>
              </a:r>
            </a:p>
            <a:p>
              <a:pPr algn="l"/>
              <a:r>
                <a:rPr lang="en-US" altLang="ko-KR" sz="1200" dirty="0"/>
                <a:t>    - name: </a:t>
              </a:r>
              <a:r>
                <a:rPr lang="en-US" altLang="ko-KR" sz="1200" dirty="0" err="1" smtClean="0"/>
                <a:t>nginx</a:t>
              </a:r>
              <a:endParaRPr lang="en-US" altLang="ko-KR" sz="1200" dirty="0"/>
            </a:p>
            <a:p>
              <a:pPr algn="l"/>
              <a:r>
                <a:rPr lang="en-US" altLang="ko-KR" sz="1200" dirty="0"/>
                <a:t>      image: </a:t>
              </a:r>
              <a:r>
                <a:rPr lang="en-US" altLang="ko-KR" sz="1200" dirty="0" err="1" smtClean="0"/>
                <a:t>nignx</a:t>
              </a:r>
              <a:endParaRPr lang="en-US" altLang="ko-KR" sz="1200" dirty="0" smtClean="0"/>
            </a:p>
          </p:txBody>
        </p:sp>
        <p:sp>
          <p:nvSpPr>
            <p:cNvPr id="6" name="TextBox 3"/>
            <p:cNvSpPr txBox="1"/>
            <p:nvPr/>
          </p:nvSpPr>
          <p:spPr>
            <a:xfrm>
              <a:off x="6368901" y="1495806"/>
              <a:ext cx="1534497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lIns="90000" rIns="9000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b="1" dirty="0">
                  <a:solidFill>
                    <a:sysClr val="windowText" lastClr="000000"/>
                  </a:solidFill>
                </a:rPr>
                <a:t>1-label-pod.yaml</a:t>
              </a: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647415" y="3910153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Selector </a:t>
            </a:r>
            <a:r>
              <a:rPr lang="ko-KR" altLang="en-US" sz="1400" dirty="0" smtClean="0"/>
              <a:t>옵션을 이용해</a:t>
            </a:r>
            <a:r>
              <a:rPr lang="en-US" altLang="ko-KR" sz="1400" dirty="0" smtClean="0"/>
              <a:t>, Pod </a:t>
            </a:r>
            <a:r>
              <a:rPr lang="ko-KR" altLang="en-US" sz="1400" dirty="0" smtClean="0"/>
              <a:t>조회</a:t>
            </a:r>
            <a:endParaRPr lang="en-US" altLang="ko-KR" sz="1400" dirty="0"/>
          </a:p>
        </p:txBody>
      </p:sp>
      <p:sp>
        <p:nvSpPr>
          <p:cNvPr id="12" name="TextBox 3"/>
          <p:cNvSpPr txBox="1"/>
          <p:nvPr/>
        </p:nvSpPr>
        <p:spPr>
          <a:xfrm>
            <a:off x="689244" y="4241023"/>
            <a:ext cx="10838341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get pods --selector </a:t>
            </a:r>
            <a:r>
              <a:rPr lang="en-US" altLang="ko-KR" sz="1200" dirty="0" smtClean="0">
                <a:solidFill>
                  <a:schemeClr val="bg1"/>
                </a:solidFill>
              </a:rPr>
              <a:t>app=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nginx</a:t>
            </a:r>
            <a:r>
              <a:rPr lang="en-US" altLang="ko-KR" sz="1200" dirty="0" smtClean="0">
                <a:solidFill>
                  <a:schemeClr val="bg1"/>
                </a:solidFill>
              </a:rPr>
              <a:t>-label</a:t>
            </a:r>
            <a:r>
              <a:rPr lang="en-US" altLang="ko-KR" sz="1200" dirty="0">
                <a:solidFill>
                  <a:schemeClr val="bg1"/>
                </a:solidFill>
              </a:rPr>
              <a:t>	# ‘app=</a:t>
            </a:r>
            <a:r>
              <a:rPr lang="en-US" altLang="ko-KR" sz="1200" dirty="0" err="1">
                <a:solidFill>
                  <a:schemeClr val="bg1"/>
                </a:solidFill>
              </a:rPr>
              <a:t>nginx</a:t>
            </a:r>
            <a:r>
              <a:rPr lang="en-US" altLang="ko-KR" sz="1200" dirty="0">
                <a:solidFill>
                  <a:schemeClr val="bg1"/>
                </a:solidFill>
              </a:rPr>
              <a:t>-label</a:t>
            </a:r>
            <a:r>
              <a:rPr lang="en-US" altLang="ko-KR" sz="1200" dirty="0" smtClean="0">
                <a:solidFill>
                  <a:schemeClr val="bg1"/>
                </a:solidFill>
              </a:rPr>
              <a:t>’ Label</a:t>
            </a:r>
            <a:r>
              <a:rPr lang="ko-KR" altLang="en-US" sz="1200" dirty="0" smtClean="0">
                <a:solidFill>
                  <a:schemeClr val="bg1"/>
                </a:solidFill>
              </a:rPr>
              <a:t>을 가진 </a:t>
            </a:r>
            <a:r>
              <a:rPr lang="en-US" altLang="ko-KR" sz="1200" dirty="0" smtClean="0">
                <a:solidFill>
                  <a:schemeClr val="bg1"/>
                </a:solidFill>
              </a:rPr>
              <a:t>pod </a:t>
            </a:r>
            <a:r>
              <a:rPr lang="ko-KR" altLang="en-US" sz="1200" dirty="0" smtClean="0">
                <a:solidFill>
                  <a:schemeClr val="bg1"/>
                </a:solidFill>
              </a:rPr>
              <a:t>조회</a:t>
            </a:r>
            <a:r>
              <a:rPr lang="en-US" altLang="ko-KR" sz="1200" dirty="0" smtClean="0">
                <a:solidFill>
                  <a:schemeClr val="bg1"/>
                </a:solidFill>
              </a:rPr>
              <a:t>	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NAME          </a:t>
            </a:r>
            <a:r>
              <a:rPr lang="en-US" altLang="ko-KR" sz="1200" dirty="0">
                <a:solidFill>
                  <a:schemeClr val="bg1"/>
                </a:solidFill>
              </a:rPr>
              <a:t>READY   STATUS    </a:t>
            </a:r>
            <a:r>
              <a:rPr lang="en-US" altLang="ko-KR" sz="1200" dirty="0" smtClean="0">
                <a:solidFill>
                  <a:schemeClr val="bg1"/>
                </a:solidFill>
              </a:rPr>
              <a:t> RESTARTS   </a:t>
            </a:r>
            <a:r>
              <a:rPr lang="en-US" altLang="ko-KR" sz="1200" dirty="0">
                <a:solidFill>
                  <a:schemeClr val="bg1"/>
                </a:solidFill>
              </a:rPr>
              <a:t>AGE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nginx</a:t>
            </a:r>
            <a:r>
              <a:rPr lang="en-US" altLang="ko-KR" sz="1200" dirty="0" smtClean="0">
                <a:solidFill>
                  <a:schemeClr val="bg1"/>
                </a:solidFill>
              </a:rPr>
              <a:t>-label    1/1        </a:t>
            </a:r>
            <a:r>
              <a:rPr lang="en-US" altLang="ko-KR" sz="1200" dirty="0">
                <a:solidFill>
                  <a:schemeClr val="bg1"/>
                </a:solidFill>
              </a:rPr>
              <a:t>Running   </a:t>
            </a:r>
            <a:r>
              <a:rPr lang="en-US" altLang="ko-KR" sz="1200" dirty="0" smtClean="0">
                <a:solidFill>
                  <a:schemeClr val="bg1"/>
                </a:solidFill>
              </a:rPr>
              <a:t> 0              </a:t>
            </a:r>
            <a:r>
              <a:rPr lang="en-US" altLang="ko-KR" sz="1200" dirty="0">
                <a:solidFill>
                  <a:schemeClr val="bg1"/>
                </a:solidFill>
              </a:rPr>
              <a:t>2m47s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2105025" y="4256402"/>
            <a:ext cx="1962150" cy="22632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4837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2. Labels and Selectors(2/2)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11199" y="715450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err="1" smtClean="0"/>
              <a:t>ReplicaSet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컨트롤러에서 </a:t>
            </a:r>
            <a:r>
              <a:rPr lang="en-US" altLang="ko-KR" sz="1400" dirty="0" smtClean="0"/>
              <a:t>Selector</a:t>
            </a:r>
            <a:r>
              <a:rPr lang="ko-KR" altLang="en-US" sz="1400" dirty="0" smtClean="0"/>
              <a:t>를 설정하여 특정 </a:t>
            </a:r>
            <a:r>
              <a:rPr lang="en-US" altLang="ko-KR" sz="1400" dirty="0" smtClean="0"/>
              <a:t>Pod</a:t>
            </a:r>
            <a:r>
              <a:rPr lang="ko-KR" altLang="en-US" sz="1400" dirty="0" smtClean="0"/>
              <a:t>를 묶어서 관리할 수 있다</a:t>
            </a:r>
            <a:r>
              <a:rPr lang="en-US" altLang="ko-KR" sz="1400" dirty="0" smtClean="0"/>
              <a:t>.</a:t>
            </a:r>
            <a:r>
              <a:rPr lang="ko-KR" altLang="en-US" sz="1200" dirty="0" smtClean="0"/>
              <a:t> </a:t>
            </a:r>
            <a:endParaRPr lang="en-US" altLang="ko-KR" sz="1200" dirty="0"/>
          </a:p>
        </p:txBody>
      </p:sp>
      <p:grpSp>
        <p:nvGrpSpPr>
          <p:cNvPr id="4" name="그룹 3"/>
          <p:cNvGrpSpPr/>
          <p:nvPr/>
        </p:nvGrpSpPr>
        <p:grpSpPr>
          <a:xfrm>
            <a:off x="691548" y="1234477"/>
            <a:ext cx="4753936" cy="4431983"/>
            <a:chOff x="6368902" y="1495806"/>
            <a:chExt cx="4753936" cy="4431983"/>
          </a:xfrm>
        </p:grpSpPr>
        <p:sp>
          <p:nvSpPr>
            <p:cNvPr id="5" name="TextBox 3"/>
            <p:cNvSpPr txBox="1"/>
            <p:nvPr/>
          </p:nvSpPr>
          <p:spPr>
            <a:xfrm>
              <a:off x="6368903" y="1772805"/>
              <a:ext cx="4753935" cy="4154984"/>
            </a:xfrm>
            <a:prstGeom prst="rect">
              <a:avLst/>
            </a:prstGeom>
            <a:solidFill>
              <a:srgbClr val="BBE0E3"/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apps/v1 </a:t>
              </a:r>
              <a:r>
                <a:rPr lang="en-US" altLang="ko-KR" sz="1200" dirty="0">
                  <a:solidFill>
                    <a:srgbClr val="FF0000"/>
                  </a:solidFill>
                </a:rPr>
                <a:t># </a:t>
              </a:r>
              <a:r>
                <a:rPr lang="en-US" altLang="ko-KR" sz="1200" dirty="0" err="1">
                  <a:solidFill>
                    <a:srgbClr val="FF0000"/>
                  </a:solidFill>
                </a:rPr>
                <a:t>ReplicationController</a:t>
              </a:r>
              <a:r>
                <a:rPr lang="ko-KR" altLang="en-US" sz="1200" dirty="0">
                  <a:solidFill>
                    <a:srgbClr val="FF0000"/>
                  </a:solidFill>
                </a:rPr>
                <a:t>와는 다른 </a:t>
              </a:r>
              <a:r>
                <a:rPr lang="en-US" altLang="ko-KR" sz="1200" dirty="0" err="1" smtClean="0">
                  <a:solidFill>
                    <a:srgbClr val="FF0000"/>
                  </a:solidFill>
                </a:rPr>
                <a:t>api</a:t>
              </a:r>
              <a:endParaRPr lang="en-US" altLang="ko-KR" sz="1200" dirty="0" smtClean="0">
                <a:solidFill>
                  <a:srgbClr val="FF0000"/>
                </a:solidFill>
              </a:endParaRPr>
            </a:p>
            <a:p>
              <a:r>
                <a:rPr lang="en-US" altLang="ko-KR" sz="1200" dirty="0"/>
                <a:t>k</a:t>
              </a:r>
              <a:r>
                <a:rPr lang="en-US" altLang="ko-KR" sz="1200" dirty="0" smtClean="0"/>
                <a:t>ind</a:t>
              </a:r>
              <a:r>
                <a:rPr lang="en-US" altLang="ko-KR" sz="1200" dirty="0"/>
                <a:t>: </a:t>
              </a:r>
              <a:r>
                <a:rPr lang="en-US" altLang="ko-KR" sz="1200" dirty="0" err="1"/>
                <a:t>ReplicaSet</a:t>
              </a:r>
              <a:endParaRPr lang="en-US" altLang="ko-KR" sz="1200" dirty="0">
                <a:solidFill>
                  <a:srgbClr val="FF0000"/>
                </a:solidFill>
              </a:endParaRPr>
            </a:p>
            <a:p>
              <a:r>
                <a:rPr lang="en-US" altLang="ko-KR" sz="1200" dirty="0"/>
                <a:t>m</a:t>
              </a:r>
              <a:r>
                <a:rPr lang="en-US" altLang="ko-KR" sz="1200" dirty="0" smtClean="0"/>
                <a:t>etadata</a:t>
              </a:r>
              <a:r>
                <a:rPr lang="en-US" altLang="ko-KR" sz="1200" dirty="0"/>
                <a:t>: </a:t>
              </a:r>
              <a:endParaRPr lang="en-US" altLang="ko-KR" sz="1200" dirty="0">
                <a:solidFill>
                  <a:srgbClr val="FF0000"/>
                </a:solidFill>
              </a:endParaRPr>
            </a:p>
            <a:p>
              <a:r>
                <a:rPr lang="en-US" altLang="ko-KR" sz="1200" dirty="0"/>
                <a:t>  name : </a:t>
              </a:r>
              <a:r>
                <a:rPr lang="en-US" altLang="ko-KR" sz="1200" dirty="0" err="1" smtClean="0"/>
                <a:t>nginx</a:t>
              </a:r>
              <a:r>
                <a:rPr lang="en-US" altLang="ko-KR" sz="1200" dirty="0" smtClean="0"/>
                <a:t>-selector</a:t>
              </a:r>
              <a:endParaRPr lang="en-US" altLang="ko-KR" sz="1200" dirty="0"/>
            </a:p>
            <a:p>
              <a:r>
                <a:rPr lang="en-US" altLang="ko-KR" sz="1200" dirty="0"/>
                <a:t>  labels: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# </a:t>
              </a:r>
              <a:r>
                <a:rPr lang="en-US" altLang="ko-KR" sz="1200" dirty="0" err="1">
                  <a:solidFill>
                    <a:srgbClr val="FF0000"/>
                  </a:solidFill>
                </a:rPr>
                <a:t>ReplicaSet</a:t>
              </a:r>
              <a:r>
                <a:rPr lang="ko-KR" altLang="en-US" sz="1200" dirty="0">
                  <a:solidFill>
                    <a:srgbClr val="FF0000"/>
                  </a:solidFill>
                </a:rPr>
                <a:t>에 </a:t>
              </a:r>
              <a:r>
                <a:rPr lang="en-US" altLang="ko-KR" sz="1200" dirty="0">
                  <a:solidFill>
                    <a:srgbClr val="FF0000"/>
                  </a:solidFill>
                </a:rPr>
                <a:t>Label</a:t>
              </a:r>
              <a:r>
                <a:rPr lang="ko-KR" altLang="en-US" sz="1200" dirty="0">
                  <a:solidFill>
                    <a:srgbClr val="FF0000"/>
                  </a:solidFill>
                </a:rPr>
                <a:t>을 지정</a:t>
              </a:r>
              <a:endParaRPr lang="en-US" altLang="ko-KR" sz="1200" dirty="0"/>
            </a:p>
            <a:p>
              <a:r>
                <a:rPr lang="en-US" altLang="ko-KR" sz="1200" dirty="0"/>
                <a:t>    app: </a:t>
              </a:r>
              <a:r>
                <a:rPr lang="en-US" altLang="ko-KR" sz="1200" dirty="0" err="1"/>
                <a:t>nginx</a:t>
              </a:r>
              <a:r>
                <a:rPr lang="en-US" altLang="ko-KR" sz="1200" dirty="0"/>
                <a:t>-selector</a:t>
              </a:r>
            </a:p>
            <a:p>
              <a:r>
                <a:rPr lang="en-US" altLang="ko-KR" sz="1200" dirty="0" smtClean="0"/>
                <a:t>    </a:t>
              </a:r>
              <a:r>
                <a:rPr lang="en-US" altLang="ko-KR" sz="1200" dirty="0"/>
                <a:t>type: </a:t>
              </a:r>
              <a:r>
                <a:rPr lang="en-US" altLang="ko-KR" sz="1200" dirty="0" smtClean="0"/>
                <a:t>web-server02</a:t>
              </a:r>
            </a:p>
            <a:p>
              <a:r>
                <a:rPr lang="en-US" altLang="ko-KR" sz="1200" dirty="0"/>
                <a:t>s</a:t>
              </a:r>
              <a:r>
                <a:rPr lang="en-US" altLang="ko-KR" sz="1200" dirty="0" smtClean="0"/>
                <a:t>pec</a:t>
              </a:r>
              <a:r>
                <a:rPr lang="en-US" altLang="ko-KR" sz="1200" dirty="0"/>
                <a:t>:</a:t>
              </a:r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  </a:t>
              </a:r>
              <a:r>
                <a:rPr lang="en-US" altLang="ko-KR" sz="1200" dirty="0"/>
                <a:t>template</a:t>
              </a:r>
              <a:r>
                <a:rPr lang="en-US" altLang="ko-KR" sz="1200" dirty="0" smtClean="0"/>
                <a:t>:</a:t>
              </a:r>
              <a:endParaRPr lang="en-US" altLang="ko-KR" sz="1200" dirty="0" smtClean="0">
                <a:solidFill>
                  <a:srgbClr val="FF0000"/>
                </a:solidFill>
              </a:endParaRPr>
            </a:p>
            <a:p>
              <a:r>
                <a:rPr lang="en-US" altLang="ko-KR" sz="1200" dirty="0" smtClean="0"/>
                <a:t>    metadata:</a:t>
              </a:r>
              <a:endParaRPr lang="en-US" altLang="ko-KR" sz="1200" dirty="0" smtClean="0">
                <a:solidFill>
                  <a:srgbClr val="FF0000"/>
                </a:solidFill>
              </a:endParaRPr>
            </a:p>
            <a:p>
              <a:r>
                <a:rPr lang="en-US" altLang="ko-KR" sz="1200" dirty="0" smtClean="0"/>
                <a:t>      </a:t>
              </a:r>
              <a:r>
                <a:rPr lang="en-US" altLang="ko-KR" sz="1200" dirty="0"/>
                <a:t>name : </a:t>
              </a:r>
              <a:r>
                <a:rPr lang="en-US" altLang="ko-KR" sz="1200" dirty="0" err="1"/>
                <a:t>nginx</a:t>
              </a:r>
              <a:r>
                <a:rPr lang="en-US" altLang="ko-KR" sz="1200" dirty="0"/>
                <a:t>-selector</a:t>
              </a:r>
            </a:p>
            <a:p>
              <a:r>
                <a:rPr lang="en-US" altLang="ko-KR" sz="1200" dirty="0"/>
                <a:t>     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labels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: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# Pod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에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Label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을 지정</a:t>
              </a:r>
              <a:endParaRPr lang="en-US" altLang="ko-KR" sz="1200" b="1" dirty="0">
                <a:solidFill>
                  <a:srgbClr val="FF0000"/>
                </a:solidFill>
              </a:endParaRPr>
            </a:p>
            <a:p>
              <a:r>
                <a:rPr lang="en-US" altLang="ko-KR" sz="1200" dirty="0"/>
                <a:t>        app: </a:t>
              </a:r>
              <a:r>
                <a:rPr lang="en-US" altLang="ko-KR" sz="1200" dirty="0" err="1"/>
                <a:t>nginx</a:t>
              </a:r>
              <a:r>
                <a:rPr lang="en-US" altLang="ko-KR" sz="1200" dirty="0"/>
                <a:t>-selector</a:t>
              </a:r>
            </a:p>
            <a:p>
              <a:r>
                <a:rPr lang="en-US" altLang="ko-KR" sz="1200" dirty="0"/>
                <a:t>       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type: web-server02</a:t>
              </a:r>
            </a:p>
            <a:p>
              <a:r>
                <a:rPr lang="en-US" altLang="ko-KR" sz="1200" dirty="0"/>
                <a:t>    spec: </a:t>
              </a:r>
              <a:endParaRPr lang="en-US" altLang="ko-KR" sz="1200" dirty="0">
                <a:solidFill>
                  <a:srgbClr val="FF0000"/>
                </a:solidFill>
              </a:endParaRPr>
            </a:p>
            <a:p>
              <a:r>
                <a:rPr lang="en-US" altLang="ko-KR" sz="1200" dirty="0"/>
                <a:t>      containers:</a:t>
              </a:r>
            </a:p>
            <a:p>
              <a:r>
                <a:rPr lang="en-US" altLang="ko-KR" sz="1200" dirty="0"/>
                <a:t>      - name: </a:t>
              </a:r>
              <a:r>
                <a:rPr lang="en-US" altLang="ko-KR" sz="1200" dirty="0" err="1" smtClean="0"/>
                <a:t>nginx</a:t>
              </a:r>
              <a:endParaRPr lang="en-US" altLang="ko-KR" sz="1200" dirty="0"/>
            </a:p>
            <a:p>
              <a:r>
                <a:rPr lang="en-US" altLang="ko-KR" sz="1200" dirty="0"/>
                <a:t>        image: </a:t>
              </a:r>
              <a:r>
                <a:rPr lang="en-US" altLang="ko-KR" sz="1200" dirty="0" err="1" smtClean="0"/>
                <a:t>nginx</a:t>
              </a:r>
              <a:endParaRPr lang="en-US" altLang="ko-KR" sz="1200" dirty="0"/>
            </a:p>
            <a:p>
              <a:r>
                <a:rPr lang="en-US" altLang="ko-KR" sz="1200" dirty="0"/>
                <a:t>  replicas: 3 </a:t>
              </a:r>
              <a:r>
                <a:rPr lang="en-US" altLang="ko-KR" sz="1200" dirty="0">
                  <a:solidFill>
                    <a:srgbClr val="FF0000"/>
                  </a:solidFill>
                </a:rPr>
                <a:t>#</a:t>
              </a:r>
              <a:r>
                <a:rPr lang="ko-KR" altLang="en-US" sz="1200" dirty="0">
                  <a:solidFill>
                    <a:srgbClr val="FF0000"/>
                  </a:solidFill>
                </a:rPr>
                <a:t>복제할 </a:t>
              </a:r>
              <a:r>
                <a:rPr lang="en-US" altLang="ko-KR" sz="1200" dirty="0">
                  <a:solidFill>
                    <a:srgbClr val="FF0000"/>
                  </a:solidFill>
                </a:rPr>
                <a:t>Pod </a:t>
              </a:r>
              <a:r>
                <a:rPr lang="ko-KR" altLang="en-US" sz="1200" dirty="0">
                  <a:solidFill>
                    <a:srgbClr val="FF0000"/>
                  </a:solidFill>
                </a:rPr>
                <a:t>숫자</a:t>
              </a:r>
              <a:endParaRPr lang="en-US" altLang="ko-KR" sz="1200" dirty="0">
                <a:solidFill>
                  <a:srgbClr val="FF0000"/>
                </a:solidFill>
              </a:endParaRPr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 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selector:</a:t>
              </a:r>
              <a:r>
                <a:rPr lang="en-US" altLang="ko-KR" sz="1200" b="1" dirty="0"/>
                <a:t>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#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아래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Label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을 가진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Pod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만 연결하여 관리하는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Selector</a:t>
              </a:r>
            </a:p>
            <a:p>
              <a:r>
                <a:rPr lang="en-US" altLang="ko-KR" sz="1200" b="1" dirty="0"/>
                <a:t>    </a:t>
              </a:r>
              <a:r>
                <a:rPr lang="en-US" altLang="ko-KR" sz="1200" b="1" dirty="0" err="1">
                  <a:solidFill>
                    <a:srgbClr val="FF0000"/>
                  </a:solidFill>
                </a:rPr>
                <a:t>matchLabels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:</a:t>
              </a:r>
            </a:p>
            <a:p>
              <a:r>
                <a:rPr lang="en-US" altLang="ko-KR" sz="1200" b="1" dirty="0">
                  <a:solidFill>
                    <a:srgbClr val="FF0000"/>
                  </a:solidFill>
                </a:rPr>
                <a:t>      type: web-server02</a:t>
              </a:r>
            </a:p>
          </p:txBody>
        </p:sp>
        <p:sp>
          <p:nvSpPr>
            <p:cNvPr id="6" name="TextBox 3"/>
            <p:cNvSpPr txBox="1"/>
            <p:nvPr/>
          </p:nvSpPr>
          <p:spPr>
            <a:xfrm>
              <a:off x="6368902" y="1495806"/>
              <a:ext cx="1442052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lIns="90000" rIns="9000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b="1" dirty="0">
                  <a:solidFill>
                    <a:sysClr val="windowText" lastClr="000000"/>
                  </a:solidFill>
                </a:rPr>
                <a:t>2-replicaset.yaml</a:t>
              </a: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5662541" y="1352837"/>
            <a:ext cx="49298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err="1" smtClean="0"/>
              <a:t>Replicaset</a:t>
            </a:r>
            <a:r>
              <a:rPr lang="ko-KR" altLang="en-US" sz="1400" dirty="0" smtClean="0"/>
              <a:t>이 관리하는 </a:t>
            </a:r>
            <a:r>
              <a:rPr lang="en-US" altLang="ko-KR" sz="1400" dirty="0" smtClean="0"/>
              <a:t>Pod</a:t>
            </a:r>
            <a:r>
              <a:rPr lang="ko-KR" altLang="en-US" sz="1400" dirty="0" smtClean="0"/>
              <a:t>들의 </a:t>
            </a:r>
            <a:r>
              <a:rPr lang="en-US" altLang="ko-KR" sz="1400" dirty="0" smtClean="0"/>
              <a:t>Label </a:t>
            </a:r>
            <a:r>
              <a:rPr lang="ko-KR" altLang="en-US" sz="1400" dirty="0" smtClean="0"/>
              <a:t>확인</a:t>
            </a:r>
            <a:endParaRPr lang="en-US" altLang="ko-KR" sz="1400" dirty="0"/>
          </a:p>
        </p:txBody>
      </p:sp>
      <p:sp>
        <p:nvSpPr>
          <p:cNvPr id="27" name="TextBox 3"/>
          <p:cNvSpPr txBox="1"/>
          <p:nvPr/>
        </p:nvSpPr>
        <p:spPr>
          <a:xfrm>
            <a:off x="5667375" y="1683707"/>
            <a:ext cx="6410325" cy="95410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get pods </a:t>
            </a:r>
            <a:r>
              <a:rPr lang="en-US" altLang="ko-KR" sz="1200" b="1" dirty="0">
                <a:solidFill>
                  <a:schemeClr val="bg1"/>
                </a:solidFill>
              </a:rPr>
              <a:t>--show-labels</a:t>
            </a:r>
          </a:p>
          <a:p>
            <a:r>
              <a:rPr lang="en-US" altLang="ko-KR" sz="1100" dirty="0">
                <a:solidFill>
                  <a:schemeClr val="bg1"/>
                </a:solidFill>
              </a:rPr>
              <a:t>NAME                     </a:t>
            </a:r>
            <a:r>
              <a:rPr lang="en-US" altLang="ko-KR" sz="1100" dirty="0" smtClean="0">
                <a:solidFill>
                  <a:schemeClr val="bg1"/>
                </a:solidFill>
              </a:rPr>
              <a:t>READY  STATUS  RESTARTS   </a:t>
            </a:r>
            <a:r>
              <a:rPr lang="en-US" altLang="ko-KR" sz="1100" dirty="0">
                <a:solidFill>
                  <a:schemeClr val="bg1"/>
                </a:solidFill>
              </a:rPr>
              <a:t>AGE  </a:t>
            </a:r>
            <a:r>
              <a:rPr lang="en-US" altLang="ko-KR" sz="1100" dirty="0" smtClean="0">
                <a:solidFill>
                  <a:schemeClr val="bg1"/>
                </a:solidFill>
              </a:rPr>
              <a:t>LABELS</a:t>
            </a:r>
          </a:p>
          <a:p>
            <a:r>
              <a:rPr lang="en-US" altLang="ko-KR" sz="1100" dirty="0" smtClean="0">
                <a:solidFill>
                  <a:schemeClr val="bg1"/>
                </a:solidFill>
              </a:rPr>
              <a:t>nginx-selector-9tmxd  1/1      Running  0              5s     </a:t>
            </a:r>
            <a:r>
              <a:rPr lang="en-US" altLang="ko-KR" sz="1100" dirty="0">
                <a:solidFill>
                  <a:schemeClr val="bg1"/>
                </a:solidFill>
              </a:rPr>
              <a:t>app=</a:t>
            </a:r>
            <a:r>
              <a:rPr lang="en-US" altLang="ko-KR" sz="1100" dirty="0" err="1">
                <a:solidFill>
                  <a:schemeClr val="bg1"/>
                </a:solidFill>
              </a:rPr>
              <a:t>nginx-selector,type</a:t>
            </a:r>
            <a:r>
              <a:rPr lang="en-US" altLang="ko-KR" sz="1100" dirty="0">
                <a:solidFill>
                  <a:schemeClr val="bg1"/>
                </a:solidFill>
              </a:rPr>
              <a:t>=web-server02</a:t>
            </a:r>
          </a:p>
          <a:p>
            <a:r>
              <a:rPr lang="en-US" altLang="ko-KR" sz="1100" dirty="0">
                <a:solidFill>
                  <a:schemeClr val="bg1"/>
                </a:solidFill>
              </a:rPr>
              <a:t>nginx-selector-k2bt9   1</a:t>
            </a:r>
            <a:r>
              <a:rPr lang="en-US" altLang="ko-KR" sz="1100" dirty="0" smtClean="0">
                <a:solidFill>
                  <a:schemeClr val="bg1"/>
                </a:solidFill>
              </a:rPr>
              <a:t>/1      </a:t>
            </a:r>
            <a:r>
              <a:rPr lang="en-US" altLang="ko-KR" sz="1100" dirty="0">
                <a:solidFill>
                  <a:schemeClr val="bg1"/>
                </a:solidFill>
              </a:rPr>
              <a:t>Running  </a:t>
            </a:r>
            <a:r>
              <a:rPr lang="en-US" altLang="ko-KR" sz="1100" dirty="0" smtClean="0">
                <a:solidFill>
                  <a:schemeClr val="bg1"/>
                </a:solidFill>
              </a:rPr>
              <a:t>0              5s     </a:t>
            </a:r>
            <a:r>
              <a:rPr lang="en-US" altLang="ko-KR" sz="1100" dirty="0">
                <a:solidFill>
                  <a:schemeClr val="bg1"/>
                </a:solidFill>
              </a:rPr>
              <a:t>app=</a:t>
            </a:r>
            <a:r>
              <a:rPr lang="en-US" altLang="ko-KR" sz="1100" dirty="0" err="1">
                <a:solidFill>
                  <a:schemeClr val="bg1"/>
                </a:solidFill>
              </a:rPr>
              <a:t>nginx-selector,type</a:t>
            </a:r>
            <a:r>
              <a:rPr lang="en-US" altLang="ko-KR" sz="1100" dirty="0">
                <a:solidFill>
                  <a:schemeClr val="bg1"/>
                </a:solidFill>
              </a:rPr>
              <a:t>=web-server02</a:t>
            </a:r>
          </a:p>
          <a:p>
            <a:r>
              <a:rPr lang="en-US" altLang="ko-KR" sz="1100" dirty="0">
                <a:solidFill>
                  <a:schemeClr val="bg1"/>
                </a:solidFill>
              </a:rPr>
              <a:t>nginx-selector-tsh7p   </a:t>
            </a:r>
            <a:r>
              <a:rPr lang="en-US" altLang="ko-KR" sz="1100" dirty="0" smtClean="0">
                <a:solidFill>
                  <a:schemeClr val="bg1"/>
                </a:solidFill>
              </a:rPr>
              <a:t>1/1      </a:t>
            </a:r>
            <a:r>
              <a:rPr lang="en-US" altLang="ko-KR" sz="1100" dirty="0">
                <a:solidFill>
                  <a:schemeClr val="bg1"/>
                </a:solidFill>
              </a:rPr>
              <a:t>Running  </a:t>
            </a:r>
            <a:r>
              <a:rPr lang="en-US" altLang="ko-KR" sz="1100" dirty="0" smtClean="0">
                <a:solidFill>
                  <a:schemeClr val="bg1"/>
                </a:solidFill>
              </a:rPr>
              <a:t>0              5s     </a:t>
            </a:r>
            <a:r>
              <a:rPr lang="en-US" altLang="ko-KR" sz="1100" dirty="0">
                <a:solidFill>
                  <a:schemeClr val="bg1"/>
                </a:solidFill>
              </a:rPr>
              <a:t>app=</a:t>
            </a:r>
            <a:r>
              <a:rPr lang="en-US" altLang="ko-KR" sz="1100" dirty="0" err="1">
                <a:solidFill>
                  <a:schemeClr val="bg1"/>
                </a:solidFill>
              </a:rPr>
              <a:t>nginx-selector,type</a:t>
            </a:r>
            <a:r>
              <a:rPr lang="en-US" altLang="ko-KR" sz="1100" dirty="0">
                <a:solidFill>
                  <a:schemeClr val="bg1"/>
                </a:solidFill>
              </a:rPr>
              <a:t>=web-server02</a:t>
            </a:r>
          </a:p>
        </p:txBody>
      </p:sp>
      <p:sp>
        <p:nvSpPr>
          <p:cNvPr id="28" name="직사각형 27"/>
          <p:cNvSpPr/>
          <p:nvPr/>
        </p:nvSpPr>
        <p:spPr>
          <a:xfrm>
            <a:off x="5737330" y="2071781"/>
            <a:ext cx="1387370" cy="53745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/>
          <p:cNvSpPr/>
          <p:nvPr/>
        </p:nvSpPr>
        <p:spPr>
          <a:xfrm>
            <a:off x="10734675" y="2059250"/>
            <a:ext cx="1254588" cy="53745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534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3. Taints &amp; Tolerations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11199" y="2614302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Taints </a:t>
            </a:r>
            <a:r>
              <a:rPr lang="ko-KR" altLang="en-US" sz="1400" dirty="0" smtClean="0"/>
              <a:t>추가 </a:t>
            </a:r>
            <a:r>
              <a:rPr lang="en-US" altLang="ko-KR" sz="1400" dirty="0" smtClean="0"/>
              <a:t>– Master Node</a:t>
            </a:r>
            <a:r>
              <a:rPr lang="ko-KR" altLang="en-US" sz="1400" dirty="0" smtClean="0"/>
              <a:t>에는 기본적으로 </a:t>
            </a:r>
            <a:r>
              <a:rPr lang="en-US" altLang="ko-KR" sz="1400" dirty="0" smtClean="0"/>
              <a:t>taints </a:t>
            </a:r>
            <a:r>
              <a:rPr lang="ko-KR" altLang="en-US" sz="1400" dirty="0" smtClean="0"/>
              <a:t>설정이 되어 있어</a:t>
            </a:r>
            <a:r>
              <a:rPr lang="en-US" altLang="ko-KR" sz="1400" dirty="0" smtClean="0"/>
              <a:t>, Worker Node</a:t>
            </a:r>
            <a:r>
              <a:rPr lang="ko-KR" altLang="en-US" sz="1400" dirty="0" smtClean="0"/>
              <a:t>들에만 설정한다</a:t>
            </a:r>
            <a:r>
              <a:rPr lang="en-US" altLang="ko-KR" sz="1400" dirty="0" smtClean="0"/>
              <a:t>.</a:t>
            </a:r>
          </a:p>
        </p:txBody>
      </p:sp>
      <p:sp>
        <p:nvSpPr>
          <p:cNvPr id="41" name="TextBox 5"/>
          <p:cNvSpPr txBox="1"/>
          <p:nvPr/>
        </p:nvSpPr>
        <p:spPr>
          <a:xfrm>
            <a:off x="743392" y="2922079"/>
            <a:ext cx="10838341" cy="1015663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taint nodes k8sedu-node01 </a:t>
            </a:r>
            <a:r>
              <a:rPr lang="en-US" altLang="ko-KR" sz="1200" dirty="0" smtClean="0">
                <a:solidFill>
                  <a:schemeClr val="bg1"/>
                </a:solidFill>
              </a:rPr>
              <a:t>role=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infra:NoSchedule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r>
              <a:rPr lang="en-US" altLang="ko-KR" sz="1200" dirty="0">
                <a:solidFill>
                  <a:schemeClr val="bg1"/>
                </a:solidFill>
              </a:rPr>
              <a:t>		# key</a:t>
            </a:r>
            <a:r>
              <a:rPr lang="ko-KR" altLang="en-US" sz="1200" dirty="0">
                <a:solidFill>
                  <a:schemeClr val="bg1"/>
                </a:solidFill>
              </a:rPr>
              <a:t>값이 </a:t>
            </a:r>
            <a:r>
              <a:rPr lang="en-US" altLang="ko-KR" sz="1200" dirty="0">
                <a:solidFill>
                  <a:schemeClr val="bg1"/>
                </a:solidFill>
              </a:rPr>
              <a:t>‘role’</a:t>
            </a:r>
            <a:r>
              <a:rPr lang="ko-KR" altLang="en-US" sz="1200" dirty="0">
                <a:solidFill>
                  <a:schemeClr val="bg1"/>
                </a:solidFill>
              </a:rPr>
              <a:t>이고</a:t>
            </a:r>
            <a:r>
              <a:rPr lang="en-US" altLang="ko-KR" sz="1200" dirty="0">
                <a:solidFill>
                  <a:schemeClr val="bg1"/>
                </a:solidFill>
              </a:rPr>
              <a:t>, value</a:t>
            </a:r>
            <a:r>
              <a:rPr lang="ko-KR" altLang="en-US" sz="1200" dirty="0">
                <a:solidFill>
                  <a:schemeClr val="bg1"/>
                </a:solidFill>
              </a:rPr>
              <a:t>값이 </a:t>
            </a:r>
            <a:r>
              <a:rPr lang="en-US" altLang="ko-KR" sz="1200" dirty="0">
                <a:solidFill>
                  <a:schemeClr val="bg1"/>
                </a:solidFill>
              </a:rPr>
              <a:t>‘infra’</a:t>
            </a:r>
            <a:r>
              <a:rPr lang="ko-KR" altLang="en-US" sz="1200" dirty="0">
                <a:solidFill>
                  <a:schemeClr val="bg1"/>
                </a:solidFill>
              </a:rPr>
              <a:t>임을 뜻한다</a:t>
            </a:r>
            <a:r>
              <a:rPr lang="en-US" altLang="ko-KR" sz="1200" dirty="0" smtClean="0">
                <a:solidFill>
                  <a:schemeClr val="bg1"/>
                </a:solidFill>
              </a:rPr>
              <a:t>.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</a:t>
            </a:r>
            <a:r>
              <a:rPr lang="en-US" altLang="ko-KR" sz="1200" dirty="0">
                <a:solidFill>
                  <a:schemeClr val="bg1"/>
                </a:solidFill>
              </a:rPr>
              <a:t>node/k8sedu-node01 </a:t>
            </a:r>
            <a:r>
              <a:rPr lang="en-US" altLang="ko-KR" sz="1200" dirty="0" smtClean="0">
                <a:solidFill>
                  <a:schemeClr val="bg1"/>
                </a:solidFill>
              </a:rPr>
              <a:t>tainted	 	# Taints </a:t>
            </a:r>
            <a:r>
              <a:rPr lang="ko-KR" altLang="en-US" sz="1200" dirty="0" smtClean="0">
                <a:solidFill>
                  <a:schemeClr val="bg1"/>
                </a:solidFill>
              </a:rPr>
              <a:t>추가 완료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taint nodes </a:t>
            </a:r>
            <a:r>
              <a:rPr lang="en-US" altLang="ko-KR" sz="1200" dirty="0" smtClean="0">
                <a:solidFill>
                  <a:schemeClr val="bg1"/>
                </a:solidFill>
              </a:rPr>
              <a:t>k8sedu-node02 role=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business:NoSchedule</a:t>
            </a:r>
            <a:r>
              <a:rPr lang="en-US" altLang="ko-KR" sz="1200" dirty="0">
                <a:solidFill>
                  <a:schemeClr val="bg1"/>
                </a:solidFill>
              </a:rPr>
              <a:t>		# key</a:t>
            </a:r>
            <a:r>
              <a:rPr lang="ko-KR" altLang="en-US" sz="1200" dirty="0">
                <a:solidFill>
                  <a:schemeClr val="bg1"/>
                </a:solidFill>
              </a:rPr>
              <a:t>값이 </a:t>
            </a:r>
            <a:r>
              <a:rPr lang="en-US" altLang="ko-KR" sz="1200" dirty="0">
                <a:solidFill>
                  <a:schemeClr val="bg1"/>
                </a:solidFill>
              </a:rPr>
              <a:t>‘role’</a:t>
            </a:r>
            <a:r>
              <a:rPr lang="ko-KR" altLang="en-US" sz="1200" dirty="0">
                <a:solidFill>
                  <a:schemeClr val="bg1"/>
                </a:solidFill>
              </a:rPr>
              <a:t>이고</a:t>
            </a:r>
            <a:r>
              <a:rPr lang="en-US" altLang="ko-KR" sz="1200" dirty="0">
                <a:solidFill>
                  <a:schemeClr val="bg1"/>
                </a:solidFill>
              </a:rPr>
              <a:t>, value</a:t>
            </a:r>
            <a:r>
              <a:rPr lang="ko-KR" altLang="en-US" sz="1200" dirty="0">
                <a:solidFill>
                  <a:schemeClr val="bg1"/>
                </a:solidFill>
              </a:rPr>
              <a:t>값이 </a:t>
            </a:r>
            <a:r>
              <a:rPr lang="en-US" altLang="ko-KR" sz="1200" dirty="0" smtClean="0">
                <a:solidFill>
                  <a:schemeClr val="bg1"/>
                </a:solidFill>
              </a:rPr>
              <a:t>‘business’</a:t>
            </a:r>
            <a:r>
              <a:rPr lang="ko-KR" altLang="en-US" sz="1200" dirty="0">
                <a:solidFill>
                  <a:schemeClr val="bg1"/>
                </a:solidFill>
              </a:rPr>
              <a:t>임을 뜻한다</a:t>
            </a:r>
            <a:r>
              <a:rPr lang="en-US" altLang="ko-KR" sz="1200" dirty="0" smtClean="0">
                <a:solidFill>
                  <a:schemeClr val="bg1"/>
                </a:solidFill>
              </a:rPr>
              <a:t>.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   </a:t>
            </a:r>
            <a:r>
              <a:rPr lang="en-US" altLang="ko-KR" sz="1200" dirty="0" smtClean="0">
                <a:solidFill>
                  <a:schemeClr val="bg1"/>
                </a:solidFill>
              </a:rPr>
              <a:t>node/k8sedu-node02 </a:t>
            </a:r>
            <a:r>
              <a:rPr lang="en-US" altLang="ko-KR" sz="1200" dirty="0">
                <a:solidFill>
                  <a:schemeClr val="bg1"/>
                </a:solidFill>
              </a:rPr>
              <a:t>tainted	 	# Taints </a:t>
            </a:r>
            <a:r>
              <a:rPr lang="ko-KR" altLang="en-US" sz="1200" dirty="0">
                <a:solidFill>
                  <a:schemeClr val="bg1"/>
                </a:solidFill>
              </a:rPr>
              <a:t>추가 </a:t>
            </a:r>
            <a:r>
              <a:rPr lang="ko-KR" altLang="en-US" sz="1200" dirty="0" smtClean="0">
                <a:solidFill>
                  <a:schemeClr val="bg1"/>
                </a:solidFill>
              </a:rPr>
              <a:t>완료</a:t>
            </a:r>
            <a:endParaRPr lang="en-US" altLang="ko-KR" sz="1200" dirty="0" smtClean="0">
              <a:solidFill>
                <a:schemeClr val="bg1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43392" y="4010906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Taints </a:t>
            </a:r>
            <a:r>
              <a:rPr lang="ko-KR" altLang="en-US" sz="1400" dirty="0" smtClean="0"/>
              <a:t>확인 명령어</a:t>
            </a:r>
            <a:endParaRPr lang="en-US" altLang="ko-KR" sz="1400" dirty="0" smtClean="0"/>
          </a:p>
        </p:txBody>
      </p:sp>
      <p:sp>
        <p:nvSpPr>
          <p:cNvPr id="48" name="TextBox 5"/>
          <p:cNvSpPr txBox="1"/>
          <p:nvPr/>
        </p:nvSpPr>
        <p:spPr>
          <a:xfrm>
            <a:off x="743392" y="4318683"/>
            <a:ext cx="10838341" cy="83099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describe node </a:t>
            </a:r>
            <a:r>
              <a:rPr lang="en-US" altLang="ko-KR" sz="1200" dirty="0">
                <a:solidFill>
                  <a:schemeClr val="bg1"/>
                </a:solidFill>
              </a:rPr>
              <a:t>k8sedu-node01 </a:t>
            </a:r>
            <a:r>
              <a:rPr lang="en-US" altLang="ko-KR" sz="1200" dirty="0" smtClean="0">
                <a:solidFill>
                  <a:schemeClr val="bg1"/>
                </a:solidFill>
              </a:rPr>
              <a:t>|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grep</a:t>
            </a:r>
            <a:r>
              <a:rPr lang="en-US" altLang="ko-KR" sz="1200" dirty="0" smtClean="0">
                <a:solidFill>
                  <a:schemeClr val="bg1"/>
                </a:solidFill>
              </a:rPr>
              <a:t> -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i</a:t>
            </a:r>
            <a:r>
              <a:rPr lang="en-US" altLang="ko-KR" sz="1200" dirty="0" smtClean="0">
                <a:solidFill>
                  <a:schemeClr val="bg1"/>
                </a:solidFill>
              </a:rPr>
              <a:t> taint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</a:t>
            </a:r>
            <a:r>
              <a:rPr lang="en-US" altLang="ko-KR" sz="1200" dirty="0">
                <a:solidFill>
                  <a:schemeClr val="bg1"/>
                </a:solidFill>
              </a:rPr>
              <a:t>Taints:       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role=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infra:NoSchedule</a:t>
            </a:r>
            <a:r>
              <a:rPr lang="en-US" altLang="ko-KR" sz="1200" dirty="0" smtClean="0">
                <a:solidFill>
                  <a:schemeClr val="bg1"/>
                </a:solidFill>
              </a:rPr>
              <a:t>	# Taints </a:t>
            </a:r>
            <a:r>
              <a:rPr lang="ko-KR" altLang="en-US" sz="1200" dirty="0" smtClean="0">
                <a:solidFill>
                  <a:schemeClr val="bg1"/>
                </a:solidFill>
              </a:rPr>
              <a:t>확인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Taints</a:t>
            </a:r>
            <a:r>
              <a:rPr lang="en-US" altLang="ko-KR" sz="1200" dirty="0">
                <a:solidFill>
                  <a:schemeClr val="bg1"/>
                </a:solidFill>
              </a:rPr>
              <a:t>:             &lt;none</a:t>
            </a:r>
            <a:r>
              <a:rPr lang="en-US" altLang="ko-KR" sz="1200" dirty="0" smtClean="0">
                <a:solidFill>
                  <a:schemeClr val="bg1"/>
                </a:solidFill>
              </a:rPr>
              <a:t>&gt;		# Taints</a:t>
            </a:r>
            <a:r>
              <a:rPr lang="ko-KR" altLang="en-US" sz="1200" dirty="0" smtClean="0">
                <a:solidFill>
                  <a:schemeClr val="bg1"/>
                </a:solidFill>
              </a:rPr>
              <a:t>가 없는 경우 </a:t>
            </a:r>
            <a:r>
              <a:rPr lang="en-US" altLang="ko-KR" sz="1200" dirty="0" smtClean="0">
                <a:solidFill>
                  <a:schemeClr val="bg1"/>
                </a:solidFill>
              </a:rPr>
              <a:t>&lt;none&gt;</a:t>
            </a:r>
            <a:r>
              <a:rPr lang="ko-KR" altLang="en-US" sz="1200" dirty="0" smtClean="0">
                <a:solidFill>
                  <a:schemeClr val="bg1"/>
                </a:solidFill>
              </a:rPr>
              <a:t>으로 표시된다</a:t>
            </a:r>
            <a:r>
              <a:rPr lang="en-US" altLang="ko-KR" sz="1200" dirty="0" smtClean="0">
                <a:solidFill>
                  <a:schemeClr val="bg1"/>
                </a:solidFill>
              </a:rPr>
              <a:t>.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095499" y="4555277"/>
            <a:ext cx="1587859" cy="18945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2095499" y="4924609"/>
            <a:ext cx="609602" cy="16631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3467099" y="2953498"/>
            <a:ext cx="1607177" cy="2051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711200" y="791650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/>
              <a:t>[TEST. </a:t>
            </a:r>
            <a:r>
              <a:rPr lang="ko-KR" altLang="en-US" sz="1400" b="1" dirty="0"/>
              <a:t>전체</a:t>
            </a:r>
            <a:r>
              <a:rPr lang="en-US" altLang="ko-KR" sz="1400" dirty="0"/>
              <a:t> Worker Node</a:t>
            </a:r>
            <a:r>
              <a:rPr lang="ko-KR" altLang="en-US" sz="1400" dirty="0"/>
              <a:t>에 </a:t>
            </a:r>
            <a:r>
              <a:rPr lang="en-US" altLang="ko-KR" sz="1400" b="1" dirty="0"/>
              <a:t>Taints</a:t>
            </a:r>
            <a:r>
              <a:rPr lang="ko-KR" altLang="en-US" sz="1400" b="1" dirty="0"/>
              <a:t>를 설정</a:t>
            </a:r>
            <a:r>
              <a:rPr lang="ko-KR" altLang="en-US" sz="1400" dirty="0"/>
              <a:t> 하고</a:t>
            </a:r>
            <a:r>
              <a:rPr lang="en-US" altLang="ko-KR" sz="1400" b="1" dirty="0"/>
              <a:t> Toleration </a:t>
            </a:r>
            <a:r>
              <a:rPr lang="ko-KR" altLang="en-US" sz="1400" b="1" dirty="0"/>
              <a:t>설정을 하지 않은</a:t>
            </a:r>
            <a:r>
              <a:rPr lang="ko-KR" altLang="en-US" sz="1400" dirty="0"/>
              <a:t> </a:t>
            </a:r>
            <a:r>
              <a:rPr lang="en-US" altLang="ko-KR" sz="1400" dirty="0"/>
              <a:t>Pod </a:t>
            </a:r>
            <a:r>
              <a:rPr lang="ko-KR" altLang="en-US" sz="1400" dirty="0"/>
              <a:t>생성 후</a:t>
            </a:r>
            <a:r>
              <a:rPr lang="en-US" altLang="ko-KR" sz="1400" dirty="0"/>
              <a:t>, Pod </a:t>
            </a:r>
            <a:r>
              <a:rPr lang="ko-KR" altLang="en-US" sz="1400" dirty="0"/>
              <a:t>정상 동작 여부 확인</a:t>
            </a:r>
            <a:r>
              <a:rPr lang="en-US" altLang="ko-KR" sz="1400" b="1" dirty="0" smtClean="0"/>
              <a:t> 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6410" y="1238891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Cluster</a:t>
            </a:r>
            <a:r>
              <a:rPr lang="ko-KR" altLang="en-US" sz="1400" dirty="0" smtClean="0"/>
              <a:t>의 </a:t>
            </a:r>
            <a:r>
              <a:rPr lang="en-US" altLang="ko-KR" sz="1400" dirty="0" smtClean="0"/>
              <a:t>Node </a:t>
            </a:r>
            <a:r>
              <a:rPr lang="ko-KR" altLang="en-US" sz="1400" dirty="0" smtClean="0"/>
              <a:t>확인</a:t>
            </a:r>
            <a:endParaRPr lang="en-US" altLang="ko-KR" sz="1400" dirty="0" smtClean="0"/>
          </a:p>
        </p:txBody>
      </p:sp>
      <p:sp>
        <p:nvSpPr>
          <p:cNvPr id="25" name="TextBox 5"/>
          <p:cNvSpPr txBox="1"/>
          <p:nvPr/>
        </p:nvSpPr>
        <p:spPr>
          <a:xfrm>
            <a:off x="674217" y="1546668"/>
            <a:ext cx="10838341" cy="1015663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ko-KR" altLang="en-US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get nodes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   NAME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     </a:t>
            </a:r>
            <a:r>
              <a:rPr lang="en-US" altLang="ko-KR" sz="1200" dirty="0">
                <a:solidFill>
                  <a:schemeClr val="bg1"/>
                </a:solidFill>
              </a:rPr>
              <a:t>STATUS </a:t>
            </a:r>
            <a:r>
              <a:rPr lang="en-US" altLang="ko-KR" sz="1200" dirty="0" smtClean="0">
                <a:solidFill>
                  <a:schemeClr val="bg1"/>
                </a:solidFill>
              </a:rPr>
              <a:t>   </a:t>
            </a:r>
            <a:r>
              <a:rPr lang="en-US" altLang="ko-KR" sz="1200" dirty="0">
                <a:solidFill>
                  <a:schemeClr val="bg1"/>
                </a:solidFill>
              </a:rPr>
              <a:t>ROLES    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AGE    VERSION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k8sedu-master    </a:t>
            </a:r>
            <a:r>
              <a:rPr lang="en-US" altLang="ko-KR" sz="1200" dirty="0">
                <a:solidFill>
                  <a:schemeClr val="bg1"/>
                </a:solidFill>
              </a:rPr>
              <a:t>Ready   </a:t>
            </a:r>
            <a:r>
              <a:rPr lang="en-US" altLang="ko-KR" sz="1200" dirty="0" smtClean="0">
                <a:solidFill>
                  <a:schemeClr val="bg1"/>
                </a:solidFill>
              </a:rPr>
              <a:t>  </a:t>
            </a:r>
            <a:r>
              <a:rPr lang="en-US" altLang="ko-KR" sz="1200" dirty="0">
                <a:solidFill>
                  <a:schemeClr val="bg1"/>
                </a:solidFill>
              </a:rPr>
              <a:t>control-plane  </a:t>
            </a:r>
            <a:r>
              <a:rPr lang="en-US" altLang="ko-KR" sz="1200" dirty="0" smtClean="0">
                <a:solidFill>
                  <a:schemeClr val="bg1"/>
                </a:solidFill>
              </a:rPr>
              <a:t>  </a:t>
            </a:r>
            <a:r>
              <a:rPr lang="en-US" altLang="ko-KR" sz="1200" dirty="0">
                <a:solidFill>
                  <a:schemeClr val="bg1"/>
                </a:solidFill>
              </a:rPr>
              <a:t>8d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</a:t>
            </a:r>
            <a:r>
              <a:rPr lang="en-US" altLang="ko-KR" sz="1200" dirty="0">
                <a:solidFill>
                  <a:schemeClr val="bg1"/>
                </a:solidFill>
              </a:rPr>
              <a:t>v1.32.1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k8sedu-node01   </a:t>
            </a:r>
            <a:r>
              <a:rPr lang="en-US" altLang="ko-KR" sz="1200" dirty="0">
                <a:solidFill>
                  <a:schemeClr val="bg1"/>
                </a:solidFill>
              </a:rPr>
              <a:t>Ready    </a:t>
            </a:r>
            <a:r>
              <a:rPr lang="en-US" altLang="ko-KR" sz="1200" dirty="0" smtClean="0">
                <a:solidFill>
                  <a:schemeClr val="bg1"/>
                </a:solidFill>
              </a:rPr>
              <a:t> &lt;</a:t>
            </a:r>
            <a:r>
              <a:rPr lang="en-US" altLang="ko-KR" sz="1200" dirty="0">
                <a:solidFill>
                  <a:schemeClr val="bg1"/>
                </a:solidFill>
              </a:rPr>
              <a:t>none&gt;    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8d      </a:t>
            </a:r>
            <a:r>
              <a:rPr lang="en-US" altLang="ko-KR" sz="1200" dirty="0">
                <a:solidFill>
                  <a:schemeClr val="bg1"/>
                </a:solidFill>
              </a:rPr>
              <a:t>v1.32.1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k8sedu-node02   </a:t>
            </a:r>
            <a:r>
              <a:rPr lang="en-US" altLang="ko-KR" sz="1200" dirty="0">
                <a:solidFill>
                  <a:schemeClr val="bg1"/>
                </a:solidFill>
              </a:rPr>
              <a:t>Ready    </a:t>
            </a:r>
            <a:r>
              <a:rPr lang="en-US" altLang="ko-KR" sz="1200" dirty="0" smtClean="0">
                <a:solidFill>
                  <a:schemeClr val="bg1"/>
                </a:solidFill>
              </a:rPr>
              <a:t> &lt;none</a:t>
            </a:r>
            <a:r>
              <a:rPr lang="en-US" altLang="ko-KR" sz="1200" dirty="0">
                <a:solidFill>
                  <a:schemeClr val="bg1"/>
                </a:solidFill>
              </a:rPr>
              <a:t>&gt;    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8d      v1.32.1 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3476623" y="3486898"/>
            <a:ext cx="1932503" cy="1964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5330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1199" y="784274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Toleration</a:t>
            </a:r>
            <a:r>
              <a:rPr lang="ko-KR" altLang="en-US" sz="1400" dirty="0" smtClean="0"/>
              <a:t>이 설정되지 않은 </a:t>
            </a:r>
            <a:r>
              <a:rPr lang="en-US" altLang="ko-KR" sz="1400" dirty="0" smtClean="0"/>
              <a:t>Pod</a:t>
            </a:r>
            <a:r>
              <a:rPr lang="ko-KR" altLang="en-US" sz="1400" dirty="0" smtClean="0"/>
              <a:t> 배포</a:t>
            </a:r>
            <a:endParaRPr lang="en-US" altLang="ko-KR" sz="1400" dirty="0" smtClean="0"/>
          </a:p>
        </p:txBody>
      </p:sp>
      <p:grpSp>
        <p:nvGrpSpPr>
          <p:cNvPr id="57" name="그룹 56"/>
          <p:cNvGrpSpPr/>
          <p:nvPr/>
        </p:nvGrpSpPr>
        <p:grpSpPr>
          <a:xfrm>
            <a:off x="743392" y="1089129"/>
            <a:ext cx="4753936" cy="1846659"/>
            <a:chOff x="6368902" y="1495806"/>
            <a:chExt cx="4753936" cy="1846659"/>
          </a:xfrm>
        </p:grpSpPr>
        <p:sp>
          <p:nvSpPr>
            <p:cNvPr id="58" name="TextBox 3"/>
            <p:cNvSpPr txBox="1"/>
            <p:nvPr/>
          </p:nvSpPr>
          <p:spPr>
            <a:xfrm>
              <a:off x="6368903" y="1772805"/>
              <a:ext cx="4753935" cy="1569660"/>
            </a:xfrm>
            <a:prstGeom prst="rect">
              <a:avLst/>
            </a:prstGeom>
            <a:solidFill>
              <a:srgbClr val="BBE0E3"/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v1</a:t>
              </a:r>
              <a:endParaRPr lang="en-US" altLang="ko-KR" sz="1200" dirty="0">
                <a:solidFill>
                  <a:srgbClr val="FF0000"/>
                </a:solidFill>
              </a:endParaRPr>
            </a:p>
            <a:p>
              <a:r>
                <a:rPr lang="en-US" altLang="ko-KR" sz="1200" dirty="0"/>
                <a:t>kind: Pod </a:t>
              </a:r>
            </a:p>
            <a:p>
              <a:r>
                <a:rPr lang="en-US" altLang="ko-KR" sz="1200" dirty="0"/>
                <a:t>metadata: </a:t>
              </a:r>
              <a:endParaRPr lang="en-US" altLang="ko-KR" sz="1200" dirty="0">
                <a:solidFill>
                  <a:srgbClr val="FF0000"/>
                </a:solidFill>
              </a:endParaRPr>
            </a:p>
            <a:p>
              <a:r>
                <a:rPr lang="en-US" altLang="ko-KR" sz="1200" dirty="0"/>
                <a:t>  name : </a:t>
              </a:r>
              <a:r>
                <a:rPr lang="en-US" altLang="ko-KR" sz="1200" dirty="0" smtClean="0"/>
                <a:t>nginx-toleration01</a:t>
              </a:r>
              <a:endParaRPr lang="en-US" altLang="ko-KR" sz="1200" dirty="0"/>
            </a:p>
            <a:p>
              <a:r>
                <a:rPr lang="en-US" altLang="ko-KR" sz="1200" dirty="0"/>
                <a:t>spec: </a:t>
              </a:r>
            </a:p>
            <a:p>
              <a:r>
                <a:rPr lang="en-US" altLang="ko-KR" sz="1200" dirty="0"/>
                <a:t>  containers:</a:t>
              </a:r>
            </a:p>
            <a:p>
              <a:r>
                <a:rPr lang="en-US" altLang="ko-KR" sz="1200" dirty="0"/>
                <a:t>    - name: </a:t>
              </a:r>
              <a:r>
                <a:rPr lang="en-US" altLang="ko-KR" sz="1200" dirty="0" err="1" smtClean="0"/>
                <a:t>nginx</a:t>
              </a:r>
              <a:endParaRPr lang="en-US" altLang="ko-KR" sz="1200" dirty="0"/>
            </a:p>
            <a:p>
              <a:r>
                <a:rPr lang="en-US" altLang="ko-KR" sz="1200" dirty="0" smtClean="0"/>
                <a:t>      </a:t>
              </a:r>
              <a:r>
                <a:rPr lang="en-US" altLang="ko-KR" sz="1200" dirty="0"/>
                <a:t>image: </a:t>
              </a:r>
              <a:r>
                <a:rPr lang="en-US" altLang="ko-KR" sz="1200" dirty="0" err="1" smtClean="0"/>
                <a:t>nginx</a:t>
              </a:r>
              <a:endParaRPr lang="en-US" altLang="ko-KR" sz="1200" dirty="0"/>
            </a:p>
          </p:txBody>
        </p:sp>
        <p:sp>
          <p:nvSpPr>
            <p:cNvPr id="59" name="TextBox 3"/>
            <p:cNvSpPr txBox="1"/>
            <p:nvPr/>
          </p:nvSpPr>
          <p:spPr>
            <a:xfrm>
              <a:off x="6368902" y="1495806"/>
              <a:ext cx="2086894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b="1" dirty="0">
                  <a:solidFill>
                    <a:sysClr val="windowText" lastClr="000000"/>
                  </a:solidFill>
                </a:rPr>
                <a:t>1-toleration-pod01.yaml </a:t>
              </a: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724342" y="3014446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Pod </a:t>
            </a:r>
            <a:r>
              <a:rPr lang="ko-KR" altLang="en-US" sz="1400" dirty="0" smtClean="0"/>
              <a:t>상태 확인</a:t>
            </a:r>
            <a:endParaRPr lang="en-US" altLang="ko-KR" sz="1400" dirty="0" smtClean="0"/>
          </a:p>
        </p:txBody>
      </p:sp>
      <p:sp>
        <p:nvSpPr>
          <p:cNvPr id="18" name="TextBox 5"/>
          <p:cNvSpPr txBox="1"/>
          <p:nvPr/>
        </p:nvSpPr>
        <p:spPr>
          <a:xfrm>
            <a:off x="756535" y="3322223"/>
            <a:ext cx="10838341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 smtClean="0">
                <a:solidFill>
                  <a:schemeClr val="bg1"/>
                </a:solidFill>
              </a:rPr>
              <a:t> get pods 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   NAME                               READY   STATUS    RESTARTS   AGE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   nginx-toleration01          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0/1       Pending   </a:t>
            </a:r>
            <a:r>
              <a:rPr lang="en-US" altLang="ko-KR" sz="1200" dirty="0">
                <a:solidFill>
                  <a:schemeClr val="bg1"/>
                </a:solidFill>
              </a:rPr>
              <a:t>0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      5s	#  Pod</a:t>
            </a:r>
            <a:r>
              <a:rPr lang="ko-KR" altLang="en-US" sz="1200" dirty="0" smtClean="0">
                <a:solidFill>
                  <a:schemeClr val="bg1"/>
                </a:solidFill>
              </a:rPr>
              <a:t>가 </a:t>
            </a:r>
            <a:r>
              <a:rPr lang="en-US" altLang="ko-KR" sz="1200" dirty="0" smtClean="0">
                <a:solidFill>
                  <a:schemeClr val="bg1"/>
                </a:solidFill>
              </a:rPr>
              <a:t>Pending </a:t>
            </a:r>
            <a:r>
              <a:rPr lang="ko-KR" altLang="en-US" sz="1200" dirty="0" smtClean="0">
                <a:solidFill>
                  <a:schemeClr val="bg1"/>
                </a:solidFill>
              </a:rPr>
              <a:t>상태임을 알 수 있다</a:t>
            </a:r>
            <a:r>
              <a:rPr lang="en-US" altLang="ko-KR" sz="1200" dirty="0" smtClean="0">
                <a:solidFill>
                  <a:schemeClr val="bg1"/>
                </a:solidFill>
              </a:rPr>
              <a:t>. 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3747317" y="3737674"/>
            <a:ext cx="618205" cy="187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734174" y="4025317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Pod </a:t>
            </a:r>
            <a:r>
              <a:rPr lang="ko-KR" altLang="en-US" sz="1400" dirty="0" smtClean="0"/>
              <a:t>상세 정보 확인</a:t>
            </a:r>
            <a:endParaRPr lang="en-US" altLang="ko-KR" sz="1400" dirty="0" smtClean="0"/>
          </a:p>
        </p:txBody>
      </p:sp>
      <p:sp>
        <p:nvSpPr>
          <p:cNvPr id="21" name="TextBox 5"/>
          <p:cNvSpPr txBox="1"/>
          <p:nvPr/>
        </p:nvSpPr>
        <p:spPr>
          <a:xfrm>
            <a:off x="766367" y="4333094"/>
            <a:ext cx="10838341" cy="156966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describe </a:t>
            </a:r>
            <a:r>
              <a:rPr lang="en-US" altLang="ko-KR" sz="1200" dirty="0" smtClean="0">
                <a:solidFill>
                  <a:schemeClr val="bg1"/>
                </a:solidFill>
              </a:rPr>
              <a:t>pods nginx-toleration01	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r>
              <a:rPr lang="en-US" altLang="ko-KR" sz="1200" b="1" dirty="0" smtClean="0">
                <a:solidFill>
                  <a:schemeClr val="bg1"/>
                </a:solidFill>
              </a:rPr>
              <a:t> …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   </a:t>
            </a:r>
            <a:r>
              <a:rPr lang="en-US" altLang="ko-KR" sz="1200" dirty="0">
                <a:solidFill>
                  <a:srgbClr val="FFFF00"/>
                </a:solidFill>
              </a:rPr>
              <a:t>Warning</a:t>
            </a:r>
            <a:r>
              <a:rPr lang="en-US" altLang="ko-KR" sz="1200" dirty="0">
                <a:solidFill>
                  <a:schemeClr val="bg1"/>
                </a:solidFill>
              </a:rPr>
              <a:t>  </a:t>
            </a:r>
            <a:r>
              <a:rPr lang="en-US" altLang="ko-KR" sz="1200" dirty="0" err="1">
                <a:solidFill>
                  <a:schemeClr val="bg1"/>
                </a:solidFill>
              </a:rPr>
              <a:t>FailedScheduling</a:t>
            </a:r>
            <a:r>
              <a:rPr lang="en-US" altLang="ko-KR" sz="1200" dirty="0">
                <a:solidFill>
                  <a:schemeClr val="bg1"/>
                </a:solidFill>
              </a:rPr>
              <a:t>  2m40s  default-scheduler  0/3 nodes are available: 1 node(s) had </a:t>
            </a:r>
            <a:r>
              <a:rPr lang="en-US" altLang="ko-KR" sz="1200" dirty="0" err="1">
                <a:solidFill>
                  <a:schemeClr val="bg1"/>
                </a:solidFill>
              </a:rPr>
              <a:t>untolerated</a:t>
            </a:r>
            <a:r>
              <a:rPr lang="en-US" altLang="ko-KR" sz="1200" dirty="0">
                <a:solidFill>
                  <a:schemeClr val="bg1"/>
                </a:solidFill>
              </a:rPr>
              <a:t> taint </a:t>
            </a:r>
            <a:r>
              <a:rPr lang="en-US" altLang="ko-KR" sz="1200" dirty="0" smtClean="0">
                <a:solidFill>
                  <a:schemeClr val="bg1"/>
                </a:solidFill>
              </a:rPr>
              <a:t>{role: infra}, </a:t>
            </a:r>
            <a:r>
              <a:rPr lang="en-US" altLang="ko-KR" sz="1200" dirty="0">
                <a:solidFill>
                  <a:schemeClr val="bg1"/>
                </a:solidFill>
              </a:rPr>
              <a:t>1 node(s) </a:t>
            </a:r>
            <a:r>
              <a:rPr lang="en-US" altLang="ko-KR" sz="1200" dirty="0" smtClean="0">
                <a:solidFill>
                  <a:schemeClr val="bg1"/>
                </a:solidFill>
              </a:rPr>
              <a:t>had</a:t>
            </a:r>
            <a:br>
              <a:rPr lang="en-US" altLang="ko-KR" sz="1200" dirty="0" smtClean="0">
                <a:solidFill>
                  <a:schemeClr val="bg1"/>
                </a:solidFill>
              </a:rPr>
            </a:br>
            <a:r>
              <a:rPr lang="en-US" altLang="ko-KR" sz="1200" dirty="0" smtClean="0">
                <a:solidFill>
                  <a:schemeClr val="bg1"/>
                </a:solidFill>
              </a:rPr>
              <a:t>   </a:t>
            </a:r>
            <a:r>
              <a:rPr lang="en-US" altLang="ko-KR" sz="1200" dirty="0" err="1">
                <a:solidFill>
                  <a:schemeClr val="bg1"/>
                </a:solidFill>
              </a:rPr>
              <a:t>untolerated</a:t>
            </a:r>
            <a:r>
              <a:rPr lang="en-US" altLang="ko-KR" sz="1200" dirty="0">
                <a:solidFill>
                  <a:schemeClr val="bg1"/>
                </a:solidFill>
              </a:rPr>
              <a:t> taint </a:t>
            </a:r>
            <a:r>
              <a:rPr lang="en-US" altLang="ko-KR" sz="1200" dirty="0" smtClean="0">
                <a:solidFill>
                  <a:schemeClr val="bg1"/>
                </a:solidFill>
              </a:rPr>
              <a:t>{role: business}, </a:t>
            </a:r>
            <a:r>
              <a:rPr lang="en-US" altLang="ko-KR" sz="1200" dirty="0">
                <a:solidFill>
                  <a:schemeClr val="bg1"/>
                </a:solidFill>
              </a:rPr>
              <a:t>1 node(s) had </a:t>
            </a:r>
            <a:r>
              <a:rPr lang="en-US" altLang="ko-KR" sz="1200" dirty="0" err="1">
                <a:solidFill>
                  <a:schemeClr val="bg1"/>
                </a:solidFill>
              </a:rPr>
              <a:t>untolerated</a:t>
            </a:r>
            <a:r>
              <a:rPr lang="en-US" altLang="ko-KR" sz="1200" dirty="0">
                <a:solidFill>
                  <a:schemeClr val="bg1"/>
                </a:solidFill>
              </a:rPr>
              <a:t> taint {node-role.kubernetes.io/control-plane: }. preemption: 0/3 nodes are available: 3 </a:t>
            </a:r>
            <a:r>
              <a:rPr lang="en-US" altLang="ko-KR" sz="1200" dirty="0" smtClean="0">
                <a:solidFill>
                  <a:schemeClr val="bg1"/>
                </a:solidFill>
              </a:rPr>
              <a:t/>
            </a:r>
            <a:br>
              <a:rPr lang="en-US" altLang="ko-KR" sz="1200" dirty="0" smtClean="0">
                <a:solidFill>
                  <a:schemeClr val="bg1"/>
                </a:solidFill>
              </a:rPr>
            </a:br>
            <a:r>
              <a:rPr lang="en-US" altLang="ko-KR" sz="1200" dirty="0" smtClean="0">
                <a:solidFill>
                  <a:schemeClr val="bg1"/>
                </a:solidFill>
              </a:rPr>
              <a:t>   Preemption </a:t>
            </a:r>
            <a:r>
              <a:rPr lang="en-US" altLang="ko-KR" sz="1200" dirty="0">
                <a:solidFill>
                  <a:schemeClr val="bg1"/>
                </a:solidFill>
              </a:rPr>
              <a:t>is not helpful for scheduling</a:t>
            </a:r>
            <a:r>
              <a:rPr lang="en-US" altLang="ko-KR" sz="1200" dirty="0" smtClean="0">
                <a:solidFill>
                  <a:schemeClr val="bg1"/>
                </a:solidFill>
              </a:rPr>
              <a:t>.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r>
              <a:rPr lang="en-US" altLang="ko-KR" sz="1200" b="1" dirty="0" smtClean="0">
                <a:solidFill>
                  <a:schemeClr val="bg1"/>
                </a:solidFill>
              </a:rPr>
              <a:t> …</a:t>
            </a:r>
          </a:p>
          <a:p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# Toleration </a:t>
            </a:r>
            <a:r>
              <a:rPr lang="ko-KR" altLang="en-US" sz="1200" dirty="0" smtClean="0">
                <a:solidFill>
                  <a:schemeClr val="bg1"/>
                </a:solidFill>
              </a:rPr>
              <a:t>설정이 없어서</a:t>
            </a:r>
            <a:r>
              <a:rPr lang="en-US" altLang="ko-KR" sz="1200" dirty="0" smtClean="0">
                <a:solidFill>
                  <a:schemeClr val="bg1"/>
                </a:solidFill>
              </a:rPr>
              <a:t>, Pod</a:t>
            </a:r>
            <a:r>
              <a:rPr lang="ko-KR" altLang="en-US" sz="1200" dirty="0" smtClean="0">
                <a:solidFill>
                  <a:schemeClr val="bg1"/>
                </a:solidFill>
              </a:rPr>
              <a:t>가 정상 배포되지 않았음을 알 수 있다</a:t>
            </a:r>
            <a:r>
              <a:rPr lang="en-US" altLang="ko-KR" sz="1200" dirty="0" smtClean="0">
                <a:solidFill>
                  <a:schemeClr val="bg1"/>
                </a:solidFill>
              </a:rPr>
              <a:t>.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7543183" y="4738522"/>
            <a:ext cx="2038700" cy="18094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/>
          <p:cNvSpPr/>
          <p:nvPr/>
        </p:nvSpPr>
        <p:spPr>
          <a:xfrm>
            <a:off x="989982" y="4906589"/>
            <a:ext cx="2294131" cy="23208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5982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1199" y="784274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Toleration</a:t>
            </a:r>
            <a:r>
              <a:rPr lang="ko-KR" altLang="en-US" sz="1400" dirty="0" smtClean="0"/>
              <a:t>이 설정된 </a:t>
            </a:r>
            <a:r>
              <a:rPr lang="en-US" altLang="ko-KR" sz="1400" dirty="0" smtClean="0"/>
              <a:t>Pod</a:t>
            </a:r>
            <a:r>
              <a:rPr lang="ko-KR" altLang="en-US" sz="1400" dirty="0" smtClean="0"/>
              <a:t> 배포</a:t>
            </a:r>
            <a:endParaRPr lang="en-US" altLang="ko-KR" sz="1400" dirty="0" smtClean="0"/>
          </a:p>
        </p:txBody>
      </p:sp>
      <p:grpSp>
        <p:nvGrpSpPr>
          <p:cNvPr id="57" name="그룹 56"/>
          <p:cNvGrpSpPr/>
          <p:nvPr/>
        </p:nvGrpSpPr>
        <p:grpSpPr>
          <a:xfrm>
            <a:off x="743391" y="1089129"/>
            <a:ext cx="4753937" cy="2769989"/>
            <a:chOff x="6368901" y="1495806"/>
            <a:chExt cx="4753937" cy="2769989"/>
          </a:xfrm>
        </p:grpSpPr>
        <p:sp>
          <p:nvSpPr>
            <p:cNvPr id="58" name="TextBox 3"/>
            <p:cNvSpPr txBox="1"/>
            <p:nvPr/>
          </p:nvSpPr>
          <p:spPr>
            <a:xfrm>
              <a:off x="6368903" y="1772805"/>
              <a:ext cx="4753935" cy="2492990"/>
            </a:xfrm>
            <a:prstGeom prst="rect">
              <a:avLst/>
            </a:prstGeom>
            <a:solidFill>
              <a:srgbClr val="BBE0E3"/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v1</a:t>
              </a:r>
            </a:p>
            <a:p>
              <a:r>
                <a:rPr lang="en-US" altLang="ko-KR" sz="1200" dirty="0"/>
                <a:t>kind: Pod</a:t>
              </a:r>
            </a:p>
            <a:p>
              <a:r>
                <a:rPr lang="en-US" altLang="ko-KR" sz="1200" dirty="0"/>
                <a:t>metadata:</a:t>
              </a:r>
            </a:p>
            <a:p>
              <a:r>
                <a:rPr lang="en-US" altLang="ko-KR" sz="1200" dirty="0"/>
                <a:t>  name: nginx-toleration02</a:t>
              </a:r>
            </a:p>
            <a:p>
              <a:r>
                <a:rPr lang="en-US" altLang="ko-KR" sz="1200" dirty="0"/>
                <a:t>spec:</a:t>
              </a:r>
            </a:p>
            <a:p>
              <a:r>
                <a:rPr lang="en-US" altLang="ko-KR" sz="1200" dirty="0"/>
                <a:t>  containers:</a:t>
              </a:r>
            </a:p>
            <a:p>
              <a:r>
                <a:rPr lang="en-US" altLang="ko-KR" sz="1200" dirty="0"/>
                <a:t>    - name: </a:t>
              </a:r>
              <a:r>
                <a:rPr lang="en-US" altLang="ko-KR" sz="1200" dirty="0" err="1"/>
                <a:t>nginx</a:t>
              </a:r>
              <a:endParaRPr lang="en-US" altLang="ko-KR" sz="1200" dirty="0"/>
            </a:p>
            <a:p>
              <a:r>
                <a:rPr lang="en-US" altLang="ko-KR" sz="1200" dirty="0"/>
                <a:t>      image: </a:t>
              </a:r>
              <a:r>
                <a:rPr lang="en-US" altLang="ko-KR" sz="1200" dirty="0" err="1"/>
                <a:t>nginx</a:t>
              </a:r>
              <a:endParaRPr lang="en-US" altLang="ko-KR" sz="1200" dirty="0"/>
            </a:p>
            <a:p>
              <a:r>
                <a:rPr lang="en-US" altLang="ko-KR" sz="1200" dirty="0"/>
                <a:t>  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tolerations:	    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#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‘k8sedu-node01’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의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Taints 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값과 일치하는 설정</a:t>
              </a:r>
              <a:r>
                <a:rPr lang="en-US" altLang="ko-KR" sz="1200" dirty="0">
                  <a:solidFill>
                    <a:srgbClr val="FF0000"/>
                  </a:solidFill>
                </a:rPr>
                <a:t> </a:t>
              </a:r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    - key: 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“role"</a:t>
              </a:r>
              <a:endParaRPr lang="ko-KR" altLang="en-US" sz="1200" dirty="0">
                <a:solidFill>
                  <a:srgbClr val="FF0000"/>
                </a:solidFill>
              </a:endParaRPr>
            </a:p>
            <a:p>
              <a:r>
                <a:rPr lang="ko-KR" altLang="en-US" sz="1200" dirty="0">
                  <a:solidFill>
                    <a:srgbClr val="FF0000"/>
                  </a:solidFill>
                </a:rPr>
                <a:t>      </a:t>
              </a:r>
              <a:r>
                <a:rPr lang="en-US" altLang="ko-KR" sz="1200" dirty="0">
                  <a:solidFill>
                    <a:srgbClr val="FF0000"/>
                  </a:solidFill>
                </a:rPr>
                <a:t>operator: "Equal"</a:t>
              </a:r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      value: 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“infra"</a:t>
              </a:r>
              <a:endParaRPr lang="en-US" altLang="ko-KR" sz="1200" dirty="0">
                <a:solidFill>
                  <a:srgbClr val="FF0000"/>
                </a:solidFill>
              </a:endParaRPr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      effect: "</a:t>
              </a:r>
              <a:r>
                <a:rPr lang="en-US" altLang="ko-KR" sz="1200" dirty="0" err="1">
                  <a:solidFill>
                    <a:srgbClr val="FF0000"/>
                  </a:solidFill>
                </a:rPr>
                <a:t>NoSchedule</a:t>
              </a:r>
              <a:r>
                <a:rPr lang="en-US" altLang="ko-KR" sz="1200" dirty="0">
                  <a:solidFill>
                    <a:srgbClr val="FF0000"/>
                  </a:solidFill>
                </a:rPr>
                <a:t>"</a:t>
              </a:r>
            </a:p>
          </p:txBody>
        </p:sp>
        <p:sp>
          <p:nvSpPr>
            <p:cNvPr id="59" name="TextBox 3"/>
            <p:cNvSpPr txBox="1"/>
            <p:nvPr/>
          </p:nvSpPr>
          <p:spPr>
            <a:xfrm>
              <a:off x="6368901" y="1495806"/>
              <a:ext cx="2097780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b="1" dirty="0">
                  <a:solidFill>
                    <a:sysClr val="windowText" lastClr="000000"/>
                  </a:solidFill>
                </a:rPr>
                <a:t>2-toleration-pod02.yaml</a:t>
              </a: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724342" y="3938371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Pod </a:t>
            </a:r>
            <a:r>
              <a:rPr lang="ko-KR" altLang="en-US" sz="1400" dirty="0" smtClean="0"/>
              <a:t>상태 확인</a:t>
            </a:r>
            <a:endParaRPr lang="en-US" altLang="ko-KR" sz="1400" dirty="0" smtClean="0"/>
          </a:p>
        </p:txBody>
      </p:sp>
      <p:sp>
        <p:nvSpPr>
          <p:cNvPr id="18" name="TextBox 5"/>
          <p:cNvSpPr txBox="1"/>
          <p:nvPr/>
        </p:nvSpPr>
        <p:spPr>
          <a:xfrm>
            <a:off x="756535" y="4246148"/>
            <a:ext cx="10838341" cy="1015663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 smtClean="0">
                <a:solidFill>
                  <a:schemeClr val="bg1"/>
                </a:solidFill>
              </a:rPr>
              <a:t> get pods -o wide	# </a:t>
            </a:r>
            <a:r>
              <a:rPr lang="ko-KR" altLang="en-US" sz="1200" dirty="0" smtClean="0">
                <a:solidFill>
                  <a:schemeClr val="bg1"/>
                </a:solidFill>
              </a:rPr>
              <a:t>정상 배포된 경우</a:t>
            </a:r>
            <a:r>
              <a:rPr lang="en-US" altLang="ko-KR" sz="1200" dirty="0" smtClean="0">
                <a:solidFill>
                  <a:schemeClr val="bg1"/>
                </a:solidFill>
              </a:rPr>
              <a:t>, </a:t>
            </a:r>
            <a:r>
              <a:rPr lang="ko-KR" altLang="en-US" sz="1200" dirty="0" smtClean="0">
                <a:solidFill>
                  <a:schemeClr val="bg1"/>
                </a:solidFill>
              </a:rPr>
              <a:t>어떤 </a:t>
            </a:r>
            <a:r>
              <a:rPr lang="en-US" altLang="ko-KR" sz="1200" dirty="0" smtClean="0">
                <a:solidFill>
                  <a:schemeClr val="bg1"/>
                </a:solidFill>
              </a:rPr>
              <a:t>Node</a:t>
            </a:r>
            <a:r>
              <a:rPr lang="ko-KR" altLang="en-US" sz="1200" dirty="0" smtClean="0">
                <a:solidFill>
                  <a:schemeClr val="bg1"/>
                </a:solidFill>
              </a:rPr>
              <a:t>에 배포되었는지 확인하기 위해 </a:t>
            </a:r>
            <a:r>
              <a:rPr lang="en-US" altLang="ko-KR" sz="1200" dirty="0" smtClean="0">
                <a:solidFill>
                  <a:schemeClr val="bg1"/>
                </a:solidFill>
              </a:rPr>
              <a:t>‘-o wide’ </a:t>
            </a:r>
            <a:r>
              <a:rPr lang="ko-KR" altLang="en-US" sz="1200" dirty="0" smtClean="0">
                <a:solidFill>
                  <a:schemeClr val="bg1"/>
                </a:solidFill>
              </a:rPr>
              <a:t>옵션 사용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  NAME                      READY   </a:t>
            </a:r>
            <a:r>
              <a:rPr lang="en-US" altLang="ko-KR" sz="1200" dirty="0">
                <a:solidFill>
                  <a:schemeClr val="bg1"/>
                </a:solidFill>
              </a:rPr>
              <a:t>STATUS    RESTARTS   AGE     IP     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</a:t>
            </a:r>
            <a:r>
              <a:rPr lang="en-US" altLang="ko-KR" sz="1200" dirty="0">
                <a:solidFill>
                  <a:schemeClr val="bg1"/>
                </a:solidFill>
              </a:rPr>
              <a:t>NODE  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   </a:t>
            </a:r>
            <a:r>
              <a:rPr lang="en-US" altLang="ko-KR" sz="1200" dirty="0">
                <a:solidFill>
                  <a:schemeClr val="bg1"/>
                </a:solidFill>
              </a:rPr>
              <a:t>NOMINATED NODE   READINESS GATES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  nginx-toleration02       1/1       </a:t>
            </a:r>
            <a:r>
              <a:rPr lang="en-US" altLang="ko-KR" sz="1200" dirty="0">
                <a:solidFill>
                  <a:schemeClr val="bg1"/>
                </a:solidFill>
              </a:rPr>
              <a:t>Running   0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    </a:t>
            </a:r>
            <a:r>
              <a:rPr lang="en-US" altLang="ko-KR" sz="1200" dirty="0">
                <a:solidFill>
                  <a:schemeClr val="bg1"/>
                </a:solidFill>
              </a:rPr>
              <a:t>66s     10.244.0.65  </a:t>
            </a:r>
            <a:r>
              <a:rPr lang="en-US" altLang="ko-KR" sz="1200" dirty="0" smtClean="0">
                <a:solidFill>
                  <a:schemeClr val="bg1"/>
                </a:solidFill>
              </a:rPr>
              <a:t>  </a:t>
            </a:r>
            <a:r>
              <a:rPr lang="en-US" altLang="ko-KR" sz="1200" dirty="0">
                <a:solidFill>
                  <a:schemeClr val="bg1"/>
                </a:solidFill>
              </a:rPr>
              <a:t>k8sedu-node01   &lt;none&gt;    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   </a:t>
            </a:r>
            <a:r>
              <a:rPr lang="en-US" altLang="ko-KR" sz="1200" dirty="0">
                <a:solidFill>
                  <a:schemeClr val="bg1"/>
                </a:solidFill>
              </a:rPr>
              <a:t>&lt;none</a:t>
            </a:r>
            <a:r>
              <a:rPr lang="en-US" altLang="ko-KR" sz="1200" dirty="0" smtClean="0">
                <a:solidFill>
                  <a:schemeClr val="bg1"/>
                </a:solidFill>
              </a:rPr>
              <a:t>&gt;</a:t>
            </a:r>
          </a:p>
          <a:p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# </a:t>
            </a:r>
            <a:r>
              <a:rPr lang="ko-KR" altLang="en-US" sz="1200" dirty="0" smtClean="0">
                <a:solidFill>
                  <a:schemeClr val="bg1"/>
                </a:solidFill>
              </a:rPr>
              <a:t>해당 </a:t>
            </a:r>
            <a:r>
              <a:rPr lang="en-US" altLang="ko-KR" sz="1200" dirty="0" smtClean="0">
                <a:solidFill>
                  <a:schemeClr val="bg1"/>
                </a:solidFill>
              </a:rPr>
              <a:t>Pod </a:t>
            </a:r>
            <a:r>
              <a:rPr lang="ko-KR" altLang="en-US" sz="1200" dirty="0" smtClean="0">
                <a:solidFill>
                  <a:schemeClr val="bg1"/>
                </a:solidFill>
              </a:rPr>
              <a:t>정상 동작 및 </a:t>
            </a:r>
            <a:r>
              <a:rPr lang="en-US" altLang="ko-KR" sz="1200" dirty="0" smtClean="0">
                <a:solidFill>
                  <a:schemeClr val="bg1"/>
                </a:solidFill>
              </a:rPr>
              <a:t>‘k8sedu-node01’ Node</a:t>
            </a:r>
            <a:r>
              <a:rPr lang="ko-KR" altLang="en-US" sz="1200" dirty="0" smtClean="0">
                <a:solidFill>
                  <a:schemeClr val="bg1"/>
                </a:solidFill>
              </a:rPr>
              <a:t>에 배포된 것 확인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3252017" y="4661599"/>
            <a:ext cx="618205" cy="187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6327604" y="4661599"/>
            <a:ext cx="1092371" cy="187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775585" y="5349186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Taints </a:t>
            </a:r>
            <a:r>
              <a:rPr lang="ko-KR" altLang="en-US" sz="1400" dirty="0" smtClean="0"/>
              <a:t>삭제 명령어</a:t>
            </a:r>
            <a:endParaRPr lang="en-US" altLang="ko-KR" sz="1400" dirty="0" smtClean="0"/>
          </a:p>
        </p:txBody>
      </p:sp>
      <p:sp>
        <p:nvSpPr>
          <p:cNvPr id="24" name="TextBox 5"/>
          <p:cNvSpPr txBox="1"/>
          <p:nvPr/>
        </p:nvSpPr>
        <p:spPr>
          <a:xfrm>
            <a:off x="743392" y="5656963"/>
            <a:ext cx="10838341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taint nodes k8sedu-node01 </a:t>
            </a:r>
            <a:r>
              <a:rPr lang="en-US" altLang="ko-KR" sz="1200" dirty="0" smtClean="0">
                <a:solidFill>
                  <a:schemeClr val="bg1"/>
                </a:solidFill>
              </a:rPr>
              <a:t>role=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infra:NoSchedule</a:t>
            </a:r>
            <a:r>
              <a:rPr lang="en-US" altLang="ko-KR" sz="1200" dirty="0" smtClean="0">
                <a:solidFill>
                  <a:schemeClr val="bg1"/>
                </a:solidFill>
              </a:rPr>
              <a:t>-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   node/k8sedu-node01 </a:t>
            </a:r>
            <a:r>
              <a:rPr lang="en-US" altLang="ko-KR" sz="1200" dirty="0" smtClean="0">
                <a:solidFill>
                  <a:schemeClr val="bg1"/>
                </a:solidFill>
              </a:rPr>
              <a:t>untainted</a:t>
            </a:r>
            <a:r>
              <a:rPr lang="en-US" altLang="ko-KR" sz="1200" dirty="0">
                <a:solidFill>
                  <a:schemeClr val="bg1"/>
                </a:solidFill>
              </a:rPr>
              <a:t>	</a:t>
            </a:r>
            <a:r>
              <a:rPr lang="en-US" altLang="ko-KR" sz="1200" dirty="0" smtClean="0">
                <a:solidFill>
                  <a:schemeClr val="bg1"/>
                </a:solidFill>
              </a:rPr>
              <a:t>	# Taints </a:t>
            </a:r>
            <a:r>
              <a:rPr lang="ko-KR" altLang="en-US" sz="1200" dirty="0" smtClean="0">
                <a:solidFill>
                  <a:schemeClr val="bg1"/>
                </a:solidFill>
              </a:rPr>
              <a:t>삭제 완료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9658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4. </a:t>
            </a:r>
            <a:r>
              <a:rPr lang="en-US" altLang="ko-KR" sz="1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NodeSelector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11199" y="648775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Node</a:t>
            </a:r>
            <a:r>
              <a:rPr lang="ko-KR" altLang="en-US" sz="1400" dirty="0" smtClean="0"/>
              <a:t>에</a:t>
            </a:r>
            <a:r>
              <a:rPr lang="en-US" altLang="ko-KR" sz="1400" dirty="0" smtClean="0"/>
              <a:t> Label </a:t>
            </a:r>
            <a:r>
              <a:rPr lang="ko-KR" altLang="en-US" sz="1400" dirty="0" smtClean="0"/>
              <a:t>추가</a:t>
            </a:r>
            <a:endParaRPr lang="en-US" altLang="ko-KR" sz="1400" dirty="0" smtClean="0"/>
          </a:p>
        </p:txBody>
      </p:sp>
      <p:sp>
        <p:nvSpPr>
          <p:cNvPr id="28" name="TextBox 5"/>
          <p:cNvSpPr txBox="1"/>
          <p:nvPr/>
        </p:nvSpPr>
        <p:spPr>
          <a:xfrm>
            <a:off x="743392" y="956552"/>
            <a:ext cx="10838341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label nodes </a:t>
            </a:r>
            <a:r>
              <a:rPr lang="en-US" altLang="ko-KR" sz="1200" dirty="0">
                <a:solidFill>
                  <a:schemeClr val="bg1"/>
                </a:solidFill>
              </a:rPr>
              <a:t>k8sedu-node01 </a:t>
            </a:r>
            <a:r>
              <a:rPr lang="en-US" altLang="ko-KR" sz="1200" dirty="0" smtClean="0">
                <a:solidFill>
                  <a:schemeClr val="bg1"/>
                </a:solidFill>
              </a:rPr>
              <a:t>role=infra	</a:t>
            </a:r>
            <a:r>
              <a:rPr lang="en-US" altLang="ko-KR" sz="1200" dirty="0">
                <a:solidFill>
                  <a:schemeClr val="bg1"/>
                </a:solidFill>
              </a:rPr>
              <a:t># key</a:t>
            </a:r>
            <a:r>
              <a:rPr lang="ko-KR" altLang="en-US" sz="1200" dirty="0">
                <a:solidFill>
                  <a:schemeClr val="bg1"/>
                </a:solidFill>
              </a:rPr>
              <a:t>값이 </a:t>
            </a:r>
            <a:r>
              <a:rPr lang="en-US" altLang="ko-KR" sz="1200" dirty="0">
                <a:solidFill>
                  <a:schemeClr val="bg1"/>
                </a:solidFill>
              </a:rPr>
              <a:t>‘role’</a:t>
            </a:r>
            <a:r>
              <a:rPr lang="ko-KR" altLang="en-US" sz="1200" dirty="0">
                <a:solidFill>
                  <a:schemeClr val="bg1"/>
                </a:solidFill>
              </a:rPr>
              <a:t>이고</a:t>
            </a:r>
            <a:r>
              <a:rPr lang="en-US" altLang="ko-KR" sz="1200" dirty="0">
                <a:solidFill>
                  <a:schemeClr val="bg1"/>
                </a:solidFill>
              </a:rPr>
              <a:t>, value</a:t>
            </a:r>
            <a:r>
              <a:rPr lang="ko-KR" altLang="en-US" sz="1200" dirty="0">
                <a:solidFill>
                  <a:schemeClr val="bg1"/>
                </a:solidFill>
              </a:rPr>
              <a:t>값이 </a:t>
            </a:r>
            <a:r>
              <a:rPr lang="en-US" altLang="ko-KR" sz="1200" dirty="0">
                <a:solidFill>
                  <a:schemeClr val="bg1"/>
                </a:solidFill>
              </a:rPr>
              <a:t>‘infra’</a:t>
            </a:r>
            <a:r>
              <a:rPr lang="ko-KR" altLang="en-US" sz="1200" dirty="0">
                <a:solidFill>
                  <a:schemeClr val="bg1"/>
                </a:solidFill>
              </a:rPr>
              <a:t>임을 뜻한다</a:t>
            </a:r>
            <a:r>
              <a:rPr lang="en-US" altLang="ko-KR" sz="1200" dirty="0" smtClean="0">
                <a:solidFill>
                  <a:schemeClr val="bg1"/>
                </a:solidFill>
              </a:rPr>
              <a:t>.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</a:t>
            </a:r>
            <a:r>
              <a:rPr lang="en-US" altLang="ko-KR" sz="1200" dirty="0">
                <a:solidFill>
                  <a:schemeClr val="bg1"/>
                </a:solidFill>
              </a:rPr>
              <a:t>node/k8sedu-node01 </a:t>
            </a:r>
            <a:r>
              <a:rPr lang="en-US" altLang="ko-KR" sz="1200" dirty="0" smtClean="0">
                <a:solidFill>
                  <a:schemeClr val="bg1"/>
                </a:solidFill>
              </a:rPr>
              <a:t>labeled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11199" y="3055029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err="1" smtClean="0"/>
              <a:t>NodeSelector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설정되어 있는 </a:t>
            </a:r>
            <a:r>
              <a:rPr lang="en-US" altLang="ko-KR" sz="1400" dirty="0" smtClean="0"/>
              <a:t>Pod</a:t>
            </a:r>
            <a:r>
              <a:rPr lang="ko-KR" altLang="en-US" sz="1400" dirty="0" smtClean="0"/>
              <a:t> </a:t>
            </a:r>
            <a:endParaRPr lang="en-US" altLang="ko-KR" sz="1400" dirty="0" smtClean="0"/>
          </a:p>
        </p:txBody>
      </p:sp>
      <p:grpSp>
        <p:nvGrpSpPr>
          <p:cNvPr id="31" name="그룹 30"/>
          <p:cNvGrpSpPr/>
          <p:nvPr/>
        </p:nvGrpSpPr>
        <p:grpSpPr>
          <a:xfrm>
            <a:off x="743391" y="3362806"/>
            <a:ext cx="4753937" cy="2215991"/>
            <a:chOff x="6368901" y="1495806"/>
            <a:chExt cx="4753937" cy="2215991"/>
          </a:xfrm>
        </p:grpSpPr>
        <p:sp>
          <p:nvSpPr>
            <p:cNvPr id="32" name="TextBox 3"/>
            <p:cNvSpPr txBox="1"/>
            <p:nvPr/>
          </p:nvSpPr>
          <p:spPr>
            <a:xfrm>
              <a:off x="6368903" y="1772805"/>
              <a:ext cx="4753935" cy="1938992"/>
            </a:xfrm>
            <a:prstGeom prst="rect">
              <a:avLst/>
            </a:prstGeom>
            <a:solidFill>
              <a:srgbClr val="BBE0E3"/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v1</a:t>
              </a:r>
              <a:endParaRPr lang="en-US" altLang="ko-KR" sz="1200" dirty="0">
                <a:solidFill>
                  <a:srgbClr val="FF0000"/>
                </a:solidFill>
              </a:endParaRPr>
            </a:p>
            <a:p>
              <a:r>
                <a:rPr lang="en-US" altLang="ko-KR" sz="1200" dirty="0"/>
                <a:t>kind: Pod </a:t>
              </a:r>
            </a:p>
            <a:p>
              <a:r>
                <a:rPr lang="en-US" altLang="ko-KR" sz="1200" dirty="0"/>
                <a:t>metadata: </a:t>
              </a:r>
              <a:endParaRPr lang="en-US" altLang="ko-KR" sz="1200" dirty="0">
                <a:solidFill>
                  <a:srgbClr val="FF0000"/>
                </a:solidFill>
              </a:endParaRPr>
            </a:p>
            <a:p>
              <a:r>
                <a:rPr lang="en-US" altLang="ko-KR" sz="1200" dirty="0"/>
                <a:t>  name : </a:t>
              </a:r>
              <a:r>
                <a:rPr lang="en-US" altLang="ko-KR" sz="1200" dirty="0" err="1" smtClean="0"/>
                <a:t>nodeselector-nginx</a:t>
              </a:r>
              <a:endParaRPr lang="en-US" altLang="ko-KR" sz="1200" dirty="0" smtClean="0"/>
            </a:p>
            <a:p>
              <a:r>
                <a:rPr lang="en-US" altLang="ko-KR" sz="1200" dirty="0" smtClean="0"/>
                <a:t>spec</a:t>
              </a:r>
              <a:r>
                <a:rPr lang="en-US" altLang="ko-KR" sz="1200" dirty="0"/>
                <a:t>: </a:t>
              </a:r>
            </a:p>
            <a:p>
              <a:r>
                <a:rPr lang="en-US" altLang="ko-KR" sz="1200" dirty="0"/>
                <a:t>  containers:</a:t>
              </a:r>
            </a:p>
            <a:p>
              <a:r>
                <a:rPr lang="en-US" altLang="ko-KR" sz="1200" dirty="0"/>
                <a:t>    - name: </a:t>
              </a:r>
              <a:r>
                <a:rPr lang="en-US" altLang="ko-KR" sz="1200" dirty="0" err="1" smtClean="0"/>
                <a:t>nginx</a:t>
              </a:r>
              <a:endParaRPr lang="en-US" altLang="ko-KR" sz="1200" dirty="0"/>
            </a:p>
            <a:p>
              <a:r>
                <a:rPr lang="en-US" altLang="ko-KR" sz="1200" dirty="0"/>
                <a:t>      image: </a:t>
              </a:r>
              <a:r>
                <a:rPr lang="en-US" altLang="ko-KR" sz="1200" dirty="0" err="1" smtClean="0"/>
                <a:t>nignx</a:t>
              </a:r>
              <a:endParaRPr lang="en-US" altLang="ko-KR" sz="1200" dirty="0" smtClean="0"/>
            </a:p>
            <a:p>
              <a:r>
                <a:rPr lang="en-US" altLang="ko-KR" sz="1200" dirty="0" smtClean="0">
                  <a:solidFill>
                    <a:srgbClr val="FF0000"/>
                  </a:solidFill>
                </a:rPr>
                <a:t>  </a:t>
              </a:r>
              <a:r>
                <a:rPr lang="en-US" altLang="ko-KR" sz="1200" dirty="0" err="1" smtClean="0">
                  <a:solidFill>
                    <a:srgbClr val="FF0000"/>
                  </a:solidFill>
                </a:rPr>
                <a:t>nodeSelector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:       # </a:t>
              </a:r>
              <a:r>
                <a:rPr lang="en-US" altLang="ko-KR" sz="1200" dirty="0" err="1" smtClean="0">
                  <a:solidFill>
                    <a:srgbClr val="FF0000"/>
                  </a:solidFill>
                </a:rPr>
                <a:t>NodeSelector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 </a:t>
              </a:r>
              <a:r>
                <a:rPr lang="ko-KR" altLang="en-US" sz="1200" dirty="0" smtClean="0">
                  <a:solidFill>
                    <a:srgbClr val="FF0000"/>
                  </a:solidFill>
                </a:rPr>
                <a:t>설정</a:t>
              </a:r>
              <a:endParaRPr lang="en-US" altLang="ko-KR" sz="1200" dirty="0" smtClean="0">
                <a:solidFill>
                  <a:srgbClr val="FF0000"/>
                </a:solidFill>
              </a:endParaRPr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 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   role: business</a:t>
              </a:r>
              <a:endParaRPr lang="en-US" altLang="ko-KR" sz="1200" dirty="0">
                <a:solidFill>
                  <a:srgbClr val="FF0000"/>
                </a:solidFill>
              </a:endParaRPr>
            </a:p>
          </p:txBody>
        </p:sp>
        <p:sp>
          <p:nvSpPr>
            <p:cNvPr id="33" name="TextBox 3"/>
            <p:cNvSpPr txBox="1"/>
            <p:nvPr/>
          </p:nvSpPr>
          <p:spPr>
            <a:xfrm>
              <a:off x="6368901" y="1495806"/>
              <a:ext cx="1885509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b="1" dirty="0" err="1">
                  <a:solidFill>
                    <a:sysClr val="windowText" lastClr="000000"/>
                  </a:solidFill>
                </a:rPr>
                <a:t>n</a:t>
              </a:r>
              <a:r>
                <a:rPr lang="en-US" altLang="ko-KR" sz="1200" b="1" dirty="0" err="1" smtClean="0">
                  <a:solidFill>
                    <a:sysClr val="windowText" lastClr="000000"/>
                  </a:solidFill>
                </a:rPr>
                <a:t>odeselector-pod.yaml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711199" y="1465469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Node</a:t>
            </a:r>
            <a:r>
              <a:rPr lang="ko-KR" altLang="en-US" sz="1400" dirty="0" smtClean="0"/>
              <a:t>의</a:t>
            </a:r>
            <a:r>
              <a:rPr lang="en-US" altLang="ko-KR" sz="1400" dirty="0" smtClean="0"/>
              <a:t> Label </a:t>
            </a:r>
            <a:r>
              <a:rPr lang="ko-KR" altLang="en-US" sz="1400" dirty="0" smtClean="0"/>
              <a:t>확인 방법</a:t>
            </a:r>
            <a:endParaRPr lang="en-US" altLang="ko-KR" sz="1400" dirty="0" smtClean="0"/>
          </a:p>
        </p:txBody>
      </p:sp>
      <p:sp>
        <p:nvSpPr>
          <p:cNvPr id="10" name="TextBox 5"/>
          <p:cNvSpPr txBox="1"/>
          <p:nvPr/>
        </p:nvSpPr>
        <p:spPr>
          <a:xfrm>
            <a:off x="743392" y="1773246"/>
            <a:ext cx="10838341" cy="120032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get nodes --</a:t>
            </a:r>
            <a:r>
              <a:rPr lang="en-US" altLang="ko-KR" sz="1200" dirty="0" smtClean="0">
                <a:solidFill>
                  <a:schemeClr val="bg1"/>
                </a:solidFill>
              </a:rPr>
              <a:t>show-labels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NAME      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STATUS   </a:t>
            </a:r>
            <a:r>
              <a:rPr lang="en-US" altLang="ko-KR" sz="1200" dirty="0">
                <a:solidFill>
                  <a:schemeClr val="bg1"/>
                </a:solidFill>
              </a:rPr>
              <a:t>ROLES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r>
              <a:rPr lang="en-US" altLang="ko-KR" sz="1200" dirty="0">
                <a:solidFill>
                  <a:schemeClr val="bg1"/>
                </a:solidFill>
              </a:rPr>
              <a:t>AGE   VERSION   LABELS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k8sedu-node01   Ready    &lt;none&gt;   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r>
              <a:rPr lang="en-US" altLang="ko-KR" sz="1200" dirty="0">
                <a:solidFill>
                  <a:schemeClr val="bg1"/>
                </a:solidFill>
              </a:rPr>
              <a:t>8d  </a:t>
            </a:r>
            <a:r>
              <a:rPr lang="en-US" altLang="ko-KR" sz="1200" dirty="0" smtClean="0">
                <a:solidFill>
                  <a:schemeClr val="bg1"/>
                </a:solidFill>
              </a:rPr>
              <a:t>   </a:t>
            </a:r>
            <a:r>
              <a:rPr lang="en-US" altLang="ko-KR" sz="1200" dirty="0">
                <a:solidFill>
                  <a:schemeClr val="bg1"/>
                </a:solidFill>
              </a:rPr>
              <a:t>v1.32.1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beta.kubernetes.io/arch=amd64,beta.kubernetes.io/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os</a:t>
            </a:r>
            <a:r>
              <a:rPr lang="en-US" altLang="ko-KR" sz="1200" dirty="0" smtClean="0">
                <a:solidFill>
                  <a:schemeClr val="bg1"/>
                </a:solidFill>
              </a:rPr>
              <a:t>=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linux,kubernetes.io</a:t>
            </a:r>
            <a:r>
              <a:rPr lang="en-US" altLang="ko-KR" sz="1200" dirty="0" smtClean="0">
                <a:solidFill>
                  <a:schemeClr val="bg1"/>
                </a:solidFill>
              </a:rPr>
              <a:t>/arch=amd64,kubernet</a:t>
            </a:r>
            <a:br>
              <a:rPr lang="en-US" altLang="ko-KR" sz="1200" dirty="0" smtClean="0">
                <a:solidFill>
                  <a:schemeClr val="bg1"/>
                </a:solidFill>
              </a:rPr>
            </a:br>
            <a:r>
              <a:rPr lang="en-US" altLang="ko-KR" sz="1200" dirty="0" smtClean="0">
                <a:solidFill>
                  <a:schemeClr val="bg1"/>
                </a:solidFill>
              </a:rPr>
              <a:t>es.io/hostname=k8sedu-node01,kubernetes.io/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os</a:t>
            </a:r>
            <a:r>
              <a:rPr lang="en-US" altLang="ko-KR" sz="1200" dirty="0" smtClean="0">
                <a:solidFill>
                  <a:schemeClr val="bg1"/>
                </a:solidFill>
              </a:rPr>
              <a:t>=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linux,role</a:t>
            </a:r>
            <a:r>
              <a:rPr lang="en-US" altLang="ko-KR" sz="1200" dirty="0" smtClean="0">
                <a:solidFill>
                  <a:schemeClr val="bg1"/>
                </a:solidFill>
              </a:rPr>
              <a:t>=infra</a:t>
            </a:r>
          </a:p>
          <a:p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# ‘role=business’</a:t>
            </a:r>
            <a:r>
              <a:rPr lang="ko-KR" altLang="en-US" sz="1200" dirty="0" smtClean="0">
                <a:solidFill>
                  <a:schemeClr val="bg1"/>
                </a:solidFill>
              </a:rPr>
              <a:t>라는 </a:t>
            </a:r>
            <a:r>
              <a:rPr lang="en-US" altLang="ko-KR" sz="1200" dirty="0" smtClean="0">
                <a:solidFill>
                  <a:schemeClr val="bg1"/>
                </a:solidFill>
              </a:rPr>
              <a:t>Label</a:t>
            </a:r>
            <a:r>
              <a:rPr lang="ko-KR" altLang="en-US" sz="1200" dirty="0" smtClean="0">
                <a:solidFill>
                  <a:schemeClr val="bg1"/>
                </a:solidFill>
              </a:rPr>
              <a:t>을 확인할 수 있다</a:t>
            </a:r>
            <a:r>
              <a:rPr lang="en-US" altLang="ko-KR" sz="1200" dirty="0" smtClean="0">
                <a:solidFill>
                  <a:schemeClr val="bg1"/>
                </a:solidFill>
              </a:rPr>
              <a:t>. 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4689305" y="2358811"/>
            <a:ext cx="808024" cy="19120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5"/>
          <p:cNvSpPr txBox="1"/>
          <p:nvPr/>
        </p:nvSpPr>
        <p:spPr>
          <a:xfrm>
            <a:off x="743391" y="5630530"/>
            <a:ext cx="10924734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ko-KR" altLang="en-US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>
                <a:solidFill>
                  <a:schemeClr val="bg1"/>
                </a:solidFill>
              </a:rPr>
              <a:t>get pods -o </a:t>
            </a:r>
            <a:r>
              <a:rPr lang="en-US" altLang="ko-KR" sz="1200" dirty="0" smtClean="0">
                <a:solidFill>
                  <a:schemeClr val="bg1"/>
                </a:solidFill>
              </a:rPr>
              <a:t>wide	# ‘</a:t>
            </a:r>
            <a:r>
              <a:rPr lang="en-US" altLang="ko-KR" sz="1200" dirty="0">
                <a:solidFill>
                  <a:schemeClr val="bg1"/>
                </a:solidFill>
              </a:rPr>
              <a:t>k8sedu-node01</a:t>
            </a:r>
            <a:r>
              <a:rPr lang="en-US" altLang="ko-KR" sz="1200" dirty="0" smtClean="0">
                <a:solidFill>
                  <a:schemeClr val="bg1"/>
                </a:solidFill>
              </a:rPr>
              <a:t>’ Node</a:t>
            </a:r>
            <a:r>
              <a:rPr lang="ko-KR" altLang="en-US" sz="1200" dirty="0" smtClean="0">
                <a:solidFill>
                  <a:schemeClr val="bg1"/>
                </a:solidFill>
              </a:rPr>
              <a:t>에 정상 배포됨을 확인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</a:t>
            </a:r>
            <a:r>
              <a:rPr lang="en-US" altLang="ko-KR" sz="1200" dirty="0">
                <a:solidFill>
                  <a:schemeClr val="bg1"/>
                </a:solidFill>
              </a:rPr>
              <a:t>NAME            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</a:t>
            </a:r>
            <a:r>
              <a:rPr lang="en-US" altLang="ko-KR" sz="1200" dirty="0">
                <a:solidFill>
                  <a:schemeClr val="bg1"/>
                </a:solidFill>
              </a:rPr>
              <a:t>READY   STATUS    </a:t>
            </a:r>
            <a:r>
              <a:rPr lang="en-US" altLang="ko-KR" sz="1200" dirty="0" smtClean="0">
                <a:solidFill>
                  <a:schemeClr val="bg1"/>
                </a:solidFill>
              </a:rPr>
              <a:t>RESTARTS   </a:t>
            </a:r>
            <a:r>
              <a:rPr lang="en-US" altLang="ko-KR" sz="1200" dirty="0">
                <a:solidFill>
                  <a:schemeClr val="bg1"/>
                </a:solidFill>
              </a:rPr>
              <a:t>AGE    IP      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</a:t>
            </a:r>
            <a:r>
              <a:rPr lang="en-US" altLang="ko-KR" sz="1200" dirty="0">
                <a:solidFill>
                  <a:schemeClr val="bg1"/>
                </a:solidFill>
              </a:rPr>
              <a:t>NODE   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  </a:t>
            </a:r>
            <a:r>
              <a:rPr lang="en-US" altLang="ko-KR" sz="1200" dirty="0">
                <a:solidFill>
                  <a:schemeClr val="bg1"/>
                </a:solidFill>
              </a:rPr>
              <a:t>NOMINATED NODE   READINESS </a:t>
            </a:r>
            <a:r>
              <a:rPr lang="en-US" altLang="ko-KR" sz="1200" dirty="0" smtClean="0">
                <a:solidFill>
                  <a:schemeClr val="bg1"/>
                </a:solidFill>
              </a:rPr>
              <a:t>GATES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nodeselector-nginx</a:t>
            </a:r>
            <a:r>
              <a:rPr lang="en-US" altLang="ko-KR" sz="1200" dirty="0">
                <a:solidFill>
                  <a:schemeClr val="bg1"/>
                </a:solidFill>
              </a:rPr>
              <a:t>     </a:t>
            </a:r>
            <a:r>
              <a:rPr lang="en-US" altLang="ko-KR" sz="1200" dirty="0" smtClean="0">
                <a:solidFill>
                  <a:schemeClr val="bg1"/>
                </a:solidFill>
              </a:rPr>
              <a:t>1/1       </a:t>
            </a:r>
            <a:r>
              <a:rPr lang="en-US" altLang="ko-KR" sz="1200" dirty="0">
                <a:solidFill>
                  <a:schemeClr val="bg1"/>
                </a:solidFill>
              </a:rPr>
              <a:t>Running   0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        </a:t>
            </a:r>
            <a:r>
              <a:rPr lang="en-US" altLang="ko-KR" sz="1200" dirty="0">
                <a:solidFill>
                  <a:schemeClr val="bg1"/>
                </a:solidFill>
              </a:rPr>
              <a:t>10s    10.244.0.67     k8sedu-node01   &lt;none&gt; 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      </a:t>
            </a:r>
            <a:r>
              <a:rPr lang="en-US" altLang="ko-KR" sz="1200" dirty="0">
                <a:solidFill>
                  <a:schemeClr val="bg1"/>
                </a:solidFill>
              </a:rPr>
              <a:t>&lt;none&gt;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6205758" y="6019761"/>
            <a:ext cx="1157067" cy="2304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9943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5. </a:t>
            </a:r>
            <a:r>
              <a:rPr lang="en-US" altLang="ko-KR" sz="1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NodeAffinity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11199" y="715450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err="1" smtClean="0"/>
              <a:t>nodeAffinity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설정된 </a:t>
            </a:r>
            <a:r>
              <a:rPr lang="en-US" altLang="ko-KR" sz="1400" dirty="0" smtClean="0"/>
              <a:t>Pod</a:t>
            </a:r>
            <a:endParaRPr lang="en-US" altLang="ko-KR" sz="1400" dirty="0"/>
          </a:p>
        </p:txBody>
      </p:sp>
      <p:grpSp>
        <p:nvGrpSpPr>
          <p:cNvPr id="28" name="그룹 27"/>
          <p:cNvGrpSpPr/>
          <p:nvPr/>
        </p:nvGrpSpPr>
        <p:grpSpPr>
          <a:xfrm>
            <a:off x="966379" y="1226799"/>
            <a:ext cx="4753937" cy="4247317"/>
            <a:chOff x="6368901" y="1495806"/>
            <a:chExt cx="4753937" cy="4247317"/>
          </a:xfrm>
        </p:grpSpPr>
        <p:sp>
          <p:nvSpPr>
            <p:cNvPr id="29" name="TextBox 3"/>
            <p:cNvSpPr txBox="1"/>
            <p:nvPr/>
          </p:nvSpPr>
          <p:spPr>
            <a:xfrm>
              <a:off x="6368903" y="1772805"/>
              <a:ext cx="4753935" cy="3970318"/>
            </a:xfrm>
            <a:prstGeom prst="rect">
              <a:avLst/>
            </a:prstGeom>
            <a:solidFill>
              <a:srgbClr val="BBE0E3"/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v1</a:t>
              </a:r>
              <a:endParaRPr lang="en-US" altLang="ko-KR" sz="1200" dirty="0">
                <a:solidFill>
                  <a:srgbClr val="FF0000"/>
                </a:solidFill>
              </a:endParaRPr>
            </a:p>
            <a:p>
              <a:r>
                <a:rPr lang="en-US" altLang="ko-KR" sz="1200" dirty="0"/>
                <a:t>kind: Pod </a:t>
              </a:r>
            </a:p>
            <a:p>
              <a:r>
                <a:rPr lang="en-US" altLang="ko-KR" sz="1200" dirty="0"/>
                <a:t>metadata: </a:t>
              </a:r>
              <a:endParaRPr lang="en-US" altLang="ko-KR" sz="1200" dirty="0">
                <a:solidFill>
                  <a:srgbClr val="FF0000"/>
                </a:solidFill>
              </a:endParaRPr>
            </a:p>
            <a:p>
              <a:r>
                <a:rPr lang="en-US" altLang="ko-KR" sz="1200" dirty="0"/>
                <a:t>  name : </a:t>
              </a:r>
              <a:r>
                <a:rPr lang="en-US" altLang="ko-KR" sz="1200" dirty="0" err="1" smtClean="0"/>
                <a:t>nodeaffinity-nginx</a:t>
              </a:r>
              <a:endParaRPr lang="en-US" altLang="ko-KR" sz="1200" dirty="0" smtClean="0"/>
            </a:p>
            <a:p>
              <a:r>
                <a:rPr lang="en-US" altLang="ko-KR" sz="1200" dirty="0" smtClean="0"/>
                <a:t>spec</a:t>
              </a:r>
              <a:r>
                <a:rPr lang="en-US" altLang="ko-KR" sz="1200" dirty="0"/>
                <a:t>: </a:t>
              </a:r>
            </a:p>
            <a:p>
              <a:r>
                <a:rPr lang="en-US" altLang="ko-KR" sz="1200" dirty="0"/>
                <a:t>  containers:</a:t>
              </a:r>
            </a:p>
            <a:p>
              <a:r>
                <a:rPr lang="en-US" altLang="ko-KR" sz="1200" dirty="0"/>
                <a:t>    - name: </a:t>
              </a:r>
              <a:r>
                <a:rPr lang="en-US" altLang="ko-KR" sz="1200" dirty="0" err="1" smtClean="0"/>
                <a:t>nginx</a:t>
              </a:r>
              <a:endParaRPr lang="en-US" altLang="ko-KR" sz="1200" dirty="0"/>
            </a:p>
            <a:p>
              <a:r>
                <a:rPr lang="en-US" altLang="ko-KR" sz="1200" dirty="0"/>
                <a:t>      image: </a:t>
              </a:r>
              <a:r>
                <a:rPr lang="en-US" altLang="ko-KR" sz="1200" dirty="0" err="1" smtClean="0"/>
                <a:t>nginx</a:t>
              </a:r>
              <a:endParaRPr lang="en-US" altLang="ko-KR" sz="1200" dirty="0" smtClean="0"/>
            </a:p>
            <a:p>
              <a:r>
                <a:rPr lang="en-US" altLang="ko-KR" sz="1200" dirty="0" smtClean="0">
                  <a:solidFill>
                    <a:srgbClr val="FF0000"/>
                  </a:solidFill>
                </a:rPr>
                <a:t>  </a:t>
              </a:r>
              <a:r>
                <a:rPr lang="en-US" altLang="ko-KR" sz="1200" dirty="0">
                  <a:solidFill>
                    <a:srgbClr val="FF0000"/>
                  </a:solidFill>
                </a:rPr>
                <a:t>affinity:</a:t>
              </a:r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    </a:t>
              </a:r>
              <a:r>
                <a:rPr lang="en-US" altLang="ko-KR" sz="1200" dirty="0" err="1">
                  <a:solidFill>
                    <a:srgbClr val="FF0000"/>
                  </a:solidFill>
                </a:rPr>
                <a:t>nodeAffinity</a:t>
              </a:r>
              <a:r>
                <a:rPr lang="en-US" altLang="ko-KR" sz="1200" dirty="0">
                  <a:solidFill>
                    <a:srgbClr val="FF0000"/>
                  </a:solidFill>
                </a:rPr>
                <a:t>:  </a:t>
              </a:r>
              <a:r>
                <a:rPr lang="en-US" altLang="ko-KR" sz="1200" b="1" dirty="0">
                  <a:solidFill>
                    <a:srgbClr val="FF0000"/>
                  </a:solidFill>
                </a:rPr>
                <a:t># 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‘role’, ‘type’ Key</a:t>
              </a:r>
              <a:r>
                <a:rPr lang="ko-KR" altLang="en-US" sz="1200" b="1" dirty="0" smtClean="0">
                  <a:solidFill>
                    <a:srgbClr val="FF0000"/>
                  </a:solidFill>
                </a:rPr>
                <a:t>를 모두 가진 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Node</a:t>
              </a:r>
              <a:r>
                <a:rPr lang="ko-KR" altLang="en-US" sz="1200" b="1" dirty="0" smtClean="0">
                  <a:solidFill>
                    <a:srgbClr val="FF0000"/>
                  </a:solidFill>
                </a:rPr>
                <a:t>에 배포</a:t>
              </a:r>
              <a:endParaRPr lang="en-US" altLang="ko-KR" sz="1200" b="1" dirty="0">
                <a:solidFill>
                  <a:srgbClr val="FF0000"/>
                </a:solidFill>
              </a:endParaRPr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      </a:t>
              </a:r>
              <a:r>
                <a:rPr lang="en-US" altLang="ko-KR" sz="1200" dirty="0" err="1">
                  <a:solidFill>
                    <a:srgbClr val="FF0000"/>
                  </a:solidFill>
                </a:rPr>
                <a:t>requiredDuringSchedulingIgnoredDuringExecution</a:t>
              </a:r>
              <a:r>
                <a:rPr lang="en-US" altLang="ko-KR" sz="1200" dirty="0">
                  <a:solidFill>
                    <a:srgbClr val="FF0000"/>
                  </a:solidFill>
                </a:rPr>
                <a:t>:</a:t>
              </a:r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        </a:t>
              </a:r>
              <a:r>
                <a:rPr lang="en-US" altLang="ko-KR" sz="1200" dirty="0" err="1">
                  <a:solidFill>
                    <a:srgbClr val="FF0000"/>
                  </a:solidFill>
                </a:rPr>
                <a:t>nodeSelectorTerms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: - </a:t>
              </a:r>
              <a:r>
                <a:rPr lang="en-US" altLang="ko-KR" sz="1200" dirty="0" err="1">
                  <a:solidFill>
                    <a:srgbClr val="FF0000"/>
                  </a:solidFill>
                </a:rPr>
                <a:t>matchExpressions</a:t>
              </a:r>
              <a:r>
                <a:rPr lang="en-US" altLang="ko-KR" sz="1200" dirty="0">
                  <a:solidFill>
                    <a:srgbClr val="FF0000"/>
                  </a:solidFill>
                </a:rPr>
                <a:t>:</a:t>
              </a:r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          - key: 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role    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# key</a:t>
              </a:r>
              <a:r>
                <a:rPr lang="ko-KR" altLang="en-US" sz="1200" b="1" dirty="0" smtClean="0">
                  <a:solidFill>
                    <a:srgbClr val="FF0000"/>
                  </a:solidFill>
                </a:rPr>
                <a:t>에는 하나의 값만 사용 가능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. </a:t>
              </a:r>
              <a:endParaRPr lang="en-US" altLang="ko-KR" sz="1200" b="1" dirty="0">
                <a:solidFill>
                  <a:srgbClr val="FF0000"/>
                </a:solidFill>
              </a:endParaRPr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            operator: In</a:t>
              </a:r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            values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:       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# values</a:t>
              </a:r>
              <a:r>
                <a:rPr lang="ko-KR" altLang="en-US" sz="1200" b="1" dirty="0" smtClean="0">
                  <a:solidFill>
                    <a:srgbClr val="FF0000"/>
                  </a:solidFill>
                </a:rPr>
                <a:t>에는 여러 개의 값 사용 가능</a:t>
              </a:r>
              <a:endParaRPr lang="en-US" altLang="ko-KR" sz="1200" b="1" dirty="0">
                <a:solidFill>
                  <a:srgbClr val="FF0000"/>
                </a:solidFill>
              </a:endParaRPr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            - 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infra</a:t>
              </a:r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 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           - business</a:t>
              </a:r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 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         </a:t>
              </a:r>
              <a:r>
                <a:rPr lang="en-US" altLang="ko-KR" sz="1200" dirty="0">
                  <a:solidFill>
                    <a:srgbClr val="FF0000"/>
                  </a:solidFill>
                </a:rPr>
                <a:t>- key: type 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   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# </a:t>
              </a:r>
              <a:r>
                <a:rPr lang="ko-KR" altLang="en-US" sz="1200" b="1" dirty="0" smtClean="0">
                  <a:solidFill>
                    <a:srgbClr val="FF0000"/>
                  </a:solidFill>
                </a:rPr>
                <a:t>여러 개의 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key</a:t>
              </a:r>
              <a:r>
                <a:rPr lang="ko-KR" altLang="en-US" sz="1200" b="1" dirty="0" smtClean="0">
                  <a:solidFill>
                    <a:srgbClr val="FF0000"/>
                  </a:solidFill>
                </a:rPr>
                <a:t>는 사용 가능</a:t>
              </a:r>
              <a:endParaRPr lang="en-US" altLang="ko-KR" sz="1200" b="1" dirty="0" smtClean="0">
                <a:solidFill>
                  <a:srgbClr val="FF0000"/>
                </a:solidFill>
              </a:endParaRPr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 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           operator</a:t>
              </a:r>
              <a:r>
                <a:rPr lang="en-US" altLang="ko-KR" sz="1200" dirty="0">
                  <a:solidFill>
                    <a:srgbClr val="FF0000"/>
                  </a:solidFill>
                </a:rPr>
                <a:t>: In </a:t>
              </a:r>
              <a:endParaRPr lang="en-US" altLang="ko-KR" sz="1200" dirty="0" smtClean="0">
                <a:solidFill>
                  <a:srgbClr val="FF0000"/>
                </a:solidFill>
              </a:endParaRPr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 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           values:</a:t>
              </a:r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 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            </a:t>
              </a:r>
              <a:r>
                <a:rPr lang="en-US" altLang="ko-KR" sz="1200" dirty="0">
                  <a:solidFill>
                    <a:srgbClr val="FF0000"/>
                  </a:solidFill>
                </a:rPr>
                <a:t>- 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web</a:t>
              </a:r>
              <a:endParaRPr lang="en-US" altLang="ko-KR" sz="1200" dirty="0">
                <a:solidFill>
                  <a:srgbClr val="FF0000"/>
                </a:solidFill>
              </a:endParaRPr>
            </a:p>
          </p:txBody>
        </p:sp>
        <p:sp>
          <p:nvSpPr>
            <p:cNvPr id="30" name="TextBox 3"/>
            <p:cNvSpPr txBox="1"/>
            <p:nvPr/>
          </p:nvSpPr>
          <p:spPr>
            <a:xfrm>
              <a:off x="6368901" y="1495806"/>
              <a:ext cx="1866973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b="1" dirty="0" err="1" smtClean="0">
                  <a:solidFill>
                    <a:sysClr val="windowText" lastClr="000000"/>
                  </a:solidFill>
                </a:rPr>
                <a:t>nodeAffinity-pod.yaml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80126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5. </a:t>
            </a:r>
            <a:r>
              <a:rPr lang="en-US" altLang="ko-KR" sz="1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NodeAffinity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5325" y="778364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/>
              <a:t>[TEST]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199" y="2019438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현재 </a:t>
            </a:r>
            <a:r>
              <a:rPr lang="en-US" altLang="ko-KR" sz="1400" dirty="0" smtClean="0"/>
              <a:t>Node</a:t>
            </a:r>
            <a:r>
              <a:rPr lang="ko-KR" altLang="en-US" sz="1400" dirty="0" smtClean="0"/>
              <a:t>의</a:t>
            </a:r>
            <a:r>
              <a:rPr lang="en-US" altLang="ko-KR" sz="1400" dirty="0" smtClean="0"/>
              <a:t> Label </a:t>
            </a:r>
            <a:r>
              <a:rPr lang="ko-KR" altLang="en-US" sz="1400" dirty="0" smtClean="0"/>
              <a:t>확인</a:t>
            </a:r>
            <a:endParaRPr lang="en-US" altLang="ko-KR" sz="1400" dirty="0" smtClean="0"/>
          </a:p>
        </p:txBody>
      </p:sp>
      <p:sp>
        <p:nvSpPr>
          <p:cNvPr id="16" name="TextBox 5"/>
          <p:cNvSpPr txBox="1"/>
          <p:nvPr/>
        </p:nvSpPr>
        <p:spPr>
          <a:xfrm>
            <a:off x="743392" y="2327215"/>
            <a:ext cx="10838341" cy="120032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get nodes --</a:t>
            </a:r>
            <a:r>
              <a:rPr lang="en-US" altLang="ko-KR" sz="1200" dirty="0" smtClean="0">
                <a:solidFill>
                  <a:schemeClr val="bg1"/>
                </a:solidFill>
              </a:rPr>
              <a:t>show-labels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NAME      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STATUS   </a:t>
            </a:r>
            <a:r>
              <a:rPr lang="en-US" altLang="ko-KR" sz="1200" dirty="0">
                <a:solidFill>
                  <a:schemeClr val="bg1"/>
                </a:solidFill>
              </a:rPr>
              <a:t>ROLES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r>
              <a:rPr lang="en-US" altLang="ko-KR" sz="1200" dirty="0">
                <a:solidFill>
                  <a:schemeClr val="bg1"/>
                </a:solidFill>
              </a:rPr>
              <a:t>AGE   VERSION   LABELS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k8sedu-node01   Ready    &lt;none&gt;   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r>
              <a:rPr lang="en-US" altLang="ko-KR" sz="1200" dirty="0">
                <a:solidFill>
                  <a:schemeClr val="bg1"/>
                </a:solidFill>
              </a:rPr>
              <a:t>8d  </a:t>
            </a:r>
            <a:r>
              <a:rPr lang="en-US" altLang="ko-KR" sz="1200" dirty="0" smtClean="0">
                <a:solidFill>
                  <a:schemeClr val="bg1"/>
                </a:solidFill>
              </a:rPr>
              <a:t>   </a:t>
            </a:r>
            <a:r>
              <a:rPr lang="en-US" altLang="ko-KR" sz="1200" dirty="0">
                <a:solidFill>
                  <a:schemeClr val="bg1"/>
                </a:solidFill>
              </a:rPr>
              <a:t>v1.32.1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beta.kubernetes.io/arch=amd64,beta.kubernetes.io/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os</a:t>
            </a:r>
            <a:r>
              <a:rPr lang="en-US" altLang="ko-KR" sz="1200" dirty="0" smtClean="0">
                <a:solidFill>
                  <a:schemeClr val="bg1"/>
                </a:solidFill>
              </a:rPr>
              <a:t>=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linux,kubernetes.io</a:t>
            </a:r>
            <a:r>
              <a:rPr lang="en-US" altLang="ko-KR" sz="1200" dirty="0" smtClean="0">
                <a:solidFill>
                  <a:schemeClr val="bg1"/>
                </a:solidFill>
              </a:rPr>
              <a:t>/arch=amd64,kubernet</a:t>
            </a:r>
            <a:br>
              <a:rPr lang="en-US" altLang="ko-KR" sz="1200" dirty="0" smtClean="0">
                <a:solidFill>
                  <a:schemeClr val="bg1"/>
                </a:solidFill>
              </a:rPr>
            </a:br>
            <a:r>
              <a:rPr lang="en-US" altLang="ko-KR" sz="1200" dirty="0" smtClean="0">
                <a:solidFill>
                  <a:schemeClr val="bg1"/>
                </a:solidFill>
              </a:rPr>
              <a:t>es.io/hostname=k8sedu-node01,kubernetes.io/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os</a:t>
            </a:r>
            <a:r>
              <a:rPr lang="en-US" altLang="ko-KR" sz="1200" dirty="0" smtClean="0">
                <a:solidFill>
                  <a:schemeClr val="bg1"/>
                </a:solidFill>
              </a:rPr>
              <a:t>=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linux,role</a:t>
            </a:r>
            <a:r>
              <a:rPr lang="en-US" altLang="ko-KR" sz="1200" dirty="0" smtClean="0">
                <a:solidFill>
                  <a:schemeClr val="bg1"/>
                </a:solidFill>
              </a:rPr>
              <a:t>=</a:t>
            </a:r>
            <a:r>
              <a:rPr lang="en-US" altLang="ko-KR" sz="1200" dirty="0" err="1">
                <a:solidFill>
                  <a:schemeClr val="bg1"/>
                </a:solidFill>
              </a:rPr>
              <a:t>infra,type</a:t>
            </a:r>
            <a:r>
              <a:rPr lang="en-US" altLang="ko-KR" sz="1200" dirty="0">
                <a:solidFill>
                  <a:schemeClr val="bg1"/>
                </a:solidFill>
              </a:rPr>
              <a:t>=web</a:t>
            </a:r>
          </a:p>
          <a:p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# ‘role=infra’, ‘type=web’</a:t>
            </a:r>
            <a:r>
              <a:rPr lang="ko-KR" altLang="en-US" sz="1200" dirty="0" smtClean="0">
                <a:solidFill>
                  <a:schemeClr val="bg1"/>
                </a:solidFill>
              </a:rPr>
              <a:t>라는 </a:t>
            </a:r>
            <a:r>
              <a:rPr lang="en-US" altLang="ko-KR" sz="1200" dirty="0" smtClean="0">
                <a:solidFill>
                  <a:schemeClr val="bg1"/>
                </a:solidFill>
              </a:rPr>
              <a:t>Label</a:t>
            </a:r>
            <a:r>
              <a:rPr lang="ko-KR" altLang="en-US" sz="1200" dirty="0" smtClean="0">
                <a:solidFill>
                  <a:schemeClr val="bg1"/>
                </a:solidFill>
              </a:rPr>
              <a:t>을 확인할 수 있다</a:t>
            </a:r>
            <a:r>
              <a:rPr lang="en-US" altLang="ko-KR" sz="1200" dirty="0" smtClean="0">
                <a:solidFill>
                  <a:schemeClr val="bg1"/>
                </a:solidFill>
              </a:rPr>
              <a:t>. 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4689304" y="2912780"/>
            <a:ext cx="1444795" cy="19120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695325" y="3685244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‘</a:t>
            </a:r>
            <a:r>
              <a:rPr lang="en-US" altLang="ko-KR" sz="1400" dirty="0" err="1" smtClean="0">
                <a:solidFill>
                  <a:sysClr val="windowText" lastClr="000000"/>
                </a:solidFill>
              </a:rPr>
              <a:t>nodeAffinity-pod.yaml</a:t>
            </a:r>
            <a:r>
              <a:rPr lang="en-US" altLang="ko-KR" sz="1400" dirty="0" smtClean="0">
                <a:solidFill>
                  <a:sysClr val="windowText" lastClr="000000"/>
                </a:solidFill>
              </a:rPr>
              <a:t>’</a:t>
            </a:r>
            <a:r>
              <a:rPr lang="ko-KR" altLang="en-US" sz="1400" dirty="0" smtClean="0">
                <a:solidFill>
                  <a:sysClr val="windowText" lastClr="000000"/>
                </a:solidFill>
              </a:rPr>
              <a:t>로 </a:t>
            </a:r>
            <a:r>
              <a:rPr lang="en-US" altLang="ko-KR" sz="1400" dirty="0" smtClean="0">
                <a:solidFill>
                  <a:sysClr val="windowText" lastClr="000000"/>
                </a:solidFill>
              </a:rPr>
              <a:t>Pod</a:t>
            </a:r>
            <a:r>
              <a:rPr lang="ko-KR" altLang="en-US" sz="1400" dirty="0" smtClean="0">
                <a:solidFill>
                  <a:sysClr val="windowText" lastClr="000000"/>
                </a:solidFill>
              </a:rPr>
              <a:t> 배포 후</a:t>
            </a:r>
            <a:r>
              <a:rPr lang="en-US" altLang="ko-KR" sz="1400" dirty="0" smtClean="0">
                <a:solidFill>
                  <a:sysClr val="windowText" lastClr="000000"/>
                </a:solidFill>
              </a:rPr>
              <a:t>, </a:t>
            </a:r>
            <a:r>
              <a:rPr lang="ko-KR" altLang="en-US" sz="1400" dirty="0" smtClean="0">
                <a:solidFill>
                  <a:sysClr val="windowText" lastClr="000000"/>
                </a:solidFill>
              </a:rPr>
              <a:t>상태 확인</a:t>
            </a:r>
            <a:endParaRPr lang="en-US" altLang="ko-KR" sz="1400" dirty="0" smtClean="0"/>
          </a:p>
        </p:txBody>
      </p:sp>
      <p:sp>
        <p:nvSpPr>
          <p:cNvPr id="19" name="TextBox 5"/>
          <p:cNvSpPr txBox="1"/>
          <p:nvPr/>
        </p:nvSpPr>
        <p:spPr>
          <a:xfrm>
            <a:off x="759711" y="4000350"/>
            <a:ext cx="10822022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get pods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NAME                       </a:t>
            </a:r>
            <a:r>
              <a:rPr lang="en-US" altLang="ko-KR" sz="1200" dirty="0">
                <a:solidFill>
                  <a:schemeClr val="bg1"/>
                </a:solidFill>
              </a:rPr>
              <a:t>READY   STATUS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RESTARTS   AGE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nodeaffinity-nginx</a:t>
            </a:r>
            <a:r>
              <a:rPr lang="en-US" altLang="ko-KR" sz="1200" dirty="0" smtClean="0">
                <a:solidFill>
                  <a:schemeClr val="bg1"/>
                </a:solidFill>
              </a:rPr>
              <a:t>        1/1       Running     </a:t>
            </a:r>
            <a:r>
              <a:rPr lang="en-US" altLang="ko-KR" sz="1200" dirty="0">
                <a:solidFill>
                  <a:schemeClr val="bg1"/>
                </a:solidFill>
              </a:rPr>
              <a:t>0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       10s		# Pod </a:t>
            </a:r>
            <a:r>
              <a:rPr lang="ko-KR" altLang="en-US" sz="1200" dirty="0" smtClean="0">
                <a:solidFill>
                  <a:schemeClr val="bg1"/>
                </a:solidFill>
              </a:rPr>
              <a:t>정상 동작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11199" y="1062432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Node</a:t>
            </a:r>
            <a:r>
              <a:rPr lang="ko-KR" altLang="en-US" sz="1400" dirty="0" smtClean="0"/>
              <a:t>에</a:t>
            </a:r>
            <a:r>
              <a:rPr lang="en-US" altLang="ko-KR" sz="1400" dirty="0" smtClean="0"/>
              <a:t> ‘role’ Key</a:t>
            </a:r>
            <a:r>
              <a:rPr lang="ko-KR" altLang="en-US" sz="1400" dirty="0" smtClean="0"/>
              <a:t>와 </a:t>
            </a:r>
            <a:r>
              <a:rPr lang="en-US" altLang="ko-KR" sz="1400" dirty="0" smtClean="0"/>
              <a:t>‘type’ Key</a:t>
            </a:r>
            <a:r>
              <a:rPr lang="ko-KR" altLang="en-US" sz="1400" dirty="0" smtClean="0"/>
              <a:t>값을 가진 </a:t>
            </a:r>
            <a:r>
              <a:rPr lang="en-US" altLang="ko-KR" sz="1400" dirty="0" smtClean="0"/>
              <a:t>Label </a:t>
            </a:r>
            <a:r>
              <a:rPr lang="ko-KR" altLang="en-US" sz="1400" dirty="0" smtClean="0"/>
              <a:t>추가</a:t>
            </a:r>
            <a:endParaRPr lang="en-US" altLang="ko-KR" sz="1400" dirty="0" smtClean="0"/>
          </a:p>
        </p:txBody>
      </p:sp>
      <p:sp>
        <p:nvSpPr>
          <p:cNvPr id="23" name="TextBox 5"/>
          <p:cNvSpPr txBox="1"/>
          <p:nvPr/>
        </p:nvSpPr>
        <p:spPr>
          <a:xfrm>
            <a:off x="743392" y="1370209"/>
            <a:ext cx="10838341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label nodes </a:t>
            </a:r>
            <a:r>
              <a:rPr lang="en-US" altLang="ko-KR" sz="1200" dirty="0">
                <a:solidFill>
                  <a:schemeClr val="bg1"/>
                </a:solidFill>
              </a:rPr>
              <a:t>k8sedu-node01 role=infra type=web</a:t>
            </a:r>
            <a:r>
              <a:rPr lang="en-US" altLang="ko-KR" sz="1200" dirty="0" smtClean="0">
                <a:solidFill>
                  <a:schemeClr val="bg1"/>
                </a:solidFill>
              </a:rPr>
              <a:t>	</a:t>
            </a:r>
            <a:r>
              <a:rPr lang="en-US" altLang="ko-KR" sz="1200" dirty="0">
                <a:solidFill>
                  <a:schemeClr val="bg1"/>
                </a:solidFill>
              </a:rPr>
              <a:t># </a:t>
            </a:r>
            <a:r>
              <a:rPr lang="en-US" altLang="ko-KR" sz="1200" dirty="0" smtClean="0">
                <a:solidFill>
                  <a:schemeClr val="bg1"/>
                </a:solidFill>
              </a:rPr>
              <a:t>‘role’ key</a:t>
            </a:r>
            <a:r>
              <a:rPr lang="ko-KR" altLang="en-US" sz="1200" dirty="0" smtClean="0">
                <a:solidFill>
                  <a:schemeClr val="bg1"/>
                </a:solidFill>
              </a:rPr>
              <a:t>의 </a:t>
            </a:r>
            <a:r>
              <a:rPr lang="en-US" altLang="ko-KR" sz="1200" dirty="0" smtClean="0">
                <a:solidFill>
                  <a:schemeClr val="bg1"/>
                </a:solidFill>
              </a:rPr>
              <a:t>value</a:t>
            </a:r>
            <a:r>
              <a:rPr lang="ko-KR" altLang="en-US" sz="1200" dirty="0" smtClean="0">
                <a:solidFill>
                  <a:schemeClr val="bg1"/>
                </a:solidFill>
              </a:rPr>
              <a:t>는 </a:t>
            </a:r>
            <a:r>
              <a:rPr lang="en-US" altLang="ko-KR" sz="1200" dirty="0" smtClean="0">
                <a:solidFill>
                  <a:schemeClr val="bg1"/>
                </a:solidFill>
              </a:rPr>
              <a:t>‘infra’,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‘type’ </a:t>
            </a:r>
            <a:r>
              <a:rPr lang="en-US" altLang="ko-KR" sz="1200" dirty="0">
                <a:solidFill>
                  <a:schemeClr val="bg1"/>
                </a:solidFill>
              </a:rPr>
              <a:t>key</a:t>
            </a:r>
            <a:r>
              <a:rPr lang="ko-KR" altLang="en-US" sz="1200" dirty="0">
                <a:solidFill>
                  <a:schemeClr val="bg1"/>
                </a:solidFill>
              </a:rPr>
              <a:t>의 </a:t>
            </a:r>
            <a:r>
              <a:rPr lang="en-US" altLang="ko-KR" sz="1200" dirty="0">
                <a:solidFill>
                  <a:schemeClr val="bg1"/>
                </a:solidFill>
              </a:rPr>
              <a:t>value</a:t>
            </a:r>
            <a:r>
              <a:rPr lang="ko-KR" altLang="en-US" sz="1200" dirty="0">
                <a:solidFill>
                  <a:schemeClr val="bg1"/>
                </a:solidFill>
              </a:rPr>
              <a:t>는 </a:t>
            </a:r>
            <a:r>
              <a:rPr lang="en-US" altLang="ko-KR" sz="1200" dirty="0" smtClean="0">
                <a:solidFill>
                  <a:schemeClr val="bg1"/>
                </a:solidFill>
              </a:rPr>
              <a:t>‘web’</a:t>
            </a:r>
            <a:r>
              <a:rPr lang="ko-KR" altLang="en-US" sz="1200" dirty="0" smtClean="0">
                <a:solidFill>
                  <a:schemeClr val="bg1"/>
                </a:solidFill>
              </a:rPr>
              <a:t>임을 </a:t>
            </a:r>
            <a:r>
              <a:rPr lang="ko-KR" altLang="en-US" sz="1200" dirty="0">
                <a:solidFill>
                  <a:schemeClr val="bg1"/>
                </a:solidFill>
              </a:rPr>
              <a:t>뜻한다</a:t>
            </a:r>
            <a:r>
              <a:rPr lang="en-US" altLang="ko-KR" sz="1200" dirty="0" smtClean="0">
                <a:solidFill>
                  <a:schemeClr val="bg1"/>
                </a:solidFill>
              </a:rPr>
              <a:t>.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...   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node/k8sedu-node01 labeled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11199" y="4819110"/>
            <a:ext cx="104184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Node</a:t>
            </a:r>
            <a:r>
              <a:rPr lang="ko-KR" altLang="en-US" sz="1400" dirty="0" smtClean="0"/>
              <a:t>에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있는 </a:t>
            </a:r>
            <a:r>
              <a:rPr lang="en-US" altLang="ko-KR" sz="1400" dirty="0" smtClean="0"/>
              <a:t>Label</a:t>
            </a:r>
            <a:r>
              <a:rPr lang="ko-KR" altLang="en-US" sz="1400" dirty="0" smtClean="0"/>
              <a:t>에서 </a:t>
            </a:r>
            <a:r>
              <a:rPr lang="en-US" altLang="ko-KR" sz="1400" dirty="0"/>
              <a:t>‘type’ </a:t>
            </a:r>
            <a:r>
              <a:rPr lang="en-US" altLang="ko-KR" sz="1400" dirty="0" smtClean="0"/>
              <a:t>key </a:t>
            </a:r>
            <a:r>
              <a:rPr lang="ko-KR" altLang="en-US" sz="1400" dirty="0" smtClean="0"/>
              <a:t>삭제</a:t>
            </a:r>
            <a:endParaRPr lang="en-US" altLang="ko-KR" sz="1400" dirty="0" smtClean="0"/>
          </a:p>
        </p:txBody>
      </p:sp>
      <p:sp>
        <p:nvSpPr>
          <p:cNvPr id="24" name="TextBox 5"/>
          <p:cNvSpPr txBox="1"/>
          <p:nvPr/>
        </p:nvSpPr>
        <p:spPr>
          <a:xfrm>
            <a:off x="743391" y="5126887"/>
            <a:ext cx="10838341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label nodes </a:t>
            </a:r>
            <a:r>
              <a:rPr lang="en-US" altLang="ko-KR" sz="1200" dirty="0">
                <a:solidFill>
                  <a:schemeClr val="bg1"/>
                </a:solidFill>
              </a:rPr>
              <a:t>k8sedu-node01 </a:t>
            </a:r>
            <a:r>
              <a:rPr lang="en-US" altLang="ko-KR" sz="1200" dirty="0" smtClean="0">
                <a:solidFill>
                  <a:schemeClr val="bg1"/>
                </a:solidFill>
              </a:rPr>
              <a:t>type-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...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node/k8sedu-node01 unlabeled</a:t>
            </a:r>
          </a:p>
        </p:txBody>
      </p:sp>
    </p:spTree>
    <p:extLst>
      <p:ext uri="{BB962C8B-B14F-4D97-AF65-F5344CB8AC3E}">
        <p14:creationId xmlns:p14="http://schemas.microsoft.com/office/powerpoint/2010/main" val="1303905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5"/>
          <p:cNvSpPr txBox="1"/>
          <p:nvPr/>
        </p:nvSpPr>
        <p:spPr>
          <a:xfrm>
            <a:off x="759711" y="3765308"/>
            <a:ext cx="10854215" cy="1754326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describe pods </a:t>
            </a:r>
            <a:r>
              <a:rPr lang="en-US" altLang="ko-KR" sz="1200" dirty="0" err="1">
                <a:solidFill>
                  <a:schemeClr val="bg1"/>
                </a:solidFill>
              </a:rPr>
              <a:t>nodeaffinity-nginx</a:t>
            </a:r>
            <a:r>
              <a:rPr lang="en-US" altLang="ko-KR" sz="1200" dirty="0">
                <a:solidFill>
                  <a:schemeClr val="bg1"/>
                </a:solidFill>
              </a:rPr>
              <a:t> 	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  </a:t>
            </a:r>
            <a:r>
              <a:rPr lang="en-US" altLang="ko-KR" sz="1200" b="1" dirty="0">
                <a:solidFill>
                  <a:schemeClr val="bg1"/>
                </a:solidFill>
              </a:rPr>
              <a:t> …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  </a:t>
            </a:r>
            <a:r>
              <a:rPr lang="en-US" altLang="ko-KR" sz="1200" dirty="0" smtClean="0">
                <a:solidFill>
                  <a:srgbClr val="FFFF00"/>
                </a:solidFill>
              </a:rPr>
              <a:t>Warning</a:t>
            </a:r>
            <a:r>
              <a:rPr lang="en-US" altLang="ko-KR" sz="1200" dirty="0" smtClean="0">
                <a:solidFill>
                  <a:schemeClr val="bg1"/>
                </a:solidFill>
              </a:rPr>
              <a:t>  </a:t>
            </a:r>
            <a:r>
              <a:rPr lang="en-US" altLang="ko-KR" sz="1200" dirty="0" err="1">
                <a:solidFill>
                  <a:schemeClr val="bg1"/>
                </a:solidFill>
              </a:rPr>
              <a:t>FailedScheduling</a:t>
            </a:r>
            <a:r>
              <a:rPr lang="en-US" altLang="ko-KR" sz="1200" dirty="0">
                <a:solidFill>
                  <a:schemeClr val="bg1"/>
                </a:solidFill>
              </a:rPr>
              <a:t>  39s   default-scheduler  0/3 nodes are available: 1 node(s) had </a:t>
            </a:r>
            <a:r>
              <a:rPr lang="en-US" altLang="ko-KR" sz="1200" dirty="0" err="1">
                <a:solidFill>
                  <a:schemeClr val="bg1"/>
                </a:solidFill>
              </a:rPr>
              <a:t>untolerated</a:t>
            </a:r>
            <a:r>
              <a:rPr lang="en-US" altLang="ko-KR" sz="1200" dirty="0">
                <a:solidFill>
                  <a:schemeClr val="bg1"/>
                </a:solidFill>
              </a:rPr>
              <a:t> taint {node-role.kubernetes.io/control-plane: }, </a:t>
            </a:r>
            <a:r>
              <a:rPr lang="en-US" altLang="ko-KR" sz="1200" dirty="0" smtClean="0">
                <a:solidFill>
                  <a:schemeClr val="bg1"/>
                </a:solidFill>
              </a:rPr>
              <a:t/>
            </a:r>
            <a:br>
              <a:rPr lang="en-US" altLang="ko-KR" sz="1200" dirty="0" smtClean="0">
                <a:solidFill>
                  <a:schemeClr val="bg1"/>
                </a:solidFill>
              </a:rPr>
            </a:br>
            <a:r>
              <a:rPr lang="en-US" altLang="ko-KR" sz="1200" dirty="0" smtClean="0">
                <a:solidFill>
                  <a:schemeClr val="bg1"/>
                </a:solidFill>
              </a:rPr>
              <a:t>   2 </a:t>
            </a:r>
            <a:r>
              <a:rPr lang="en-US" altLang="ko-KR" sz="1200" dirty="0">
                <a:solidFill>
                  <a:schemeClr val="bg1"/>
                </a:solidFill>
              </a:rPr>
              <a:t>node(s) didn't match Pod's node affinity/selector. preemption: 0/3 nodes are available: 3 Preemption is not helpful for scheduling.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.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  </a:t>
            </a:r>
            <a:r>
              <a:rPr lang="en-US" altLang="ko-KR" sz="1200" b="1" dirty="0">
                <a:solidFill>
                  <a:schemeClr val="bg1"/>
                </a:solidFill>
              </a:rPr>
              <a:t> …</a:t>
            </a:r>
          </a:p>
          <a:p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# </a:t>
            </a:r>
            <a:r>
              <a:rPr lang="en-US" altLang="ko-KR" sz="1200" dirty="0" smtClean="0">
                <a:solidFill>
                  <a:schemeClr val="bg1"/>
                </a:solidFill>
              </a:rPr>
              <a:t>Node Affinity </a:t>
            </a:r>
            <a:r>
              <a:rPr lang="ko-KR" altLang="en-US" sz="1200" dirty="0" smtClean="0">
                <a:solidFill>
                  <a:schemeClr val="bg1"/>
                </a:solidFill>
              </a:rPr>
              <a:t>조건이 </a:t>
            </a:r>
            <a:r>
              <a:rPr lang="ko-KR" altLang="en-US" sz="1200" dirty="0" err="1" smtClean="0">
                <a:solidFill>
                  <a:schemeClr val="bg1"/>
                </a:solidFill>
              </a:rPr>
              <a:t>불일치해서</a:t>
            </a:r>
            <a:r>
              <a:rPr lang="en-US" altLang="ko-KR" sz="1200" dirty="0" smtClean="0">
                <a:solidFill>
                  <a:schemeClr val="bg1"/>
                </a:solidFill>
              </a:rPr>
              <a:t>, </a:t>
            </a:r>
            <a:r>
              <a:rPr lang="en-US" altLang="ko-KR" sz="1200" dirty="0">
                <a:solidFill>
                  <a:schemeClr val="bg1"/>
                </a:solidFill>
              </a:rPr>
              <a:t>Pod</a:t>
            </a:r>
            <a:r>
              <a:rPr lang="ko-KR" altLang="en-US" sz="1200" dirty="0">
                <a:solidFill>
                  <a:schemeClr val="bg1"/>
                </a:solidFill>
              </a:rPr>
              <a:t>가 정상 배포되지 않았음을 알 수 있다</a:t>
            </a:r>
            <a:r>
              <a:rPr lang="en-US" altLang="ko-KR" sz="1200" dirty="0" smtClean="0">
                <a:solidFill>
                  <a:schemeClr val="bg1"/>
                </a:solidFill>
              </a:rPr>
              <a:t>.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# </a:t>
            </a:r>
            <a:r>
              <a:rPr lang="ko-KR" altLang="en-US" sz="1200" dirty="0" smtClean="0">
                <a:solidFill>
                  <a:schemeClr val="bg1"/>
                </a:solidFill>
              </a:rPr>
              <a:t>즉</a:t>
            </a:r>
            <a:r>
              <a:rPr lang="en-US" altLang="ko-KR" sz="1200" dirty="0" smtClean="0">
                <a:solidFill>
                  <a:schemeClr val="bg1"/>
                </a:solidFill>
              </a:rPr>
              <a:t>, </a:t>
            </a:r>
            <a:r>
              <a:rPr lang="en-US" altLang="ko-KR" sz="1200" b="1" dirty="0" err="1" smtClean="0">
                <a:solidFill>
                  <a:schemeClr val="bg1"/>
                </a:solidFill>
              </a:rPr>
              <a:t>requiredDuringSchedulingIgnoredDuringExecution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r>
              <a:rPr lang="ko-KR" altLang="en-US" sz="1200" dirty="0" smtClean="0">
                <a:solidFill>
                  <a:schemeClr val="bg1"/>
                </a:solidFill>
              </a:rPr>
              <a:t>옵션의 경우</a:t>
            </a:r>
            <a:r>
              <a:rPr lang="en-US" altLang="ko-KR" sz="1200" dirty="0" smtClean="0">
                <a:solidFill>
                  <a:schemeClr val="bg1"/>
                </a:solidFill>
              </a:rPr>
              <a:t>, Pod</a:t>
            </a:r>
            <a:r>
              <a:rPr lang="ko-KR" altLang="en-US" sz="1200" dirty="0" smtClean="0">
                <a:solidFill>
                  <a:schemeClr val="bg1"/>
                </a:solidFill>
              </a:rPr>
              <a:t>는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nodeAffinity</a:t>
            </a:r>
            <a:r>
              <a:rPr lang="ko-KR" altLang="en-US" sz="1200" dirty="0" smtClean="0">
                <a:solidFill>
                  <a:schemeClr val="bg1"/>
                </a:solidFill>
              </a:rPr>
              <a:t>을 통해 </a:t>
            </a:r>
            <a:r>
              <a:rPr lang="en-US" altLang="ko-KR" sz="1200" b="1" dirty="0" smtClean="0">
                <a:solidFill>
                  <a:schemeClr val="bg1"/>
                </a:solidFill>
              </a:rPr>
              <a:t>Node</a:t>
            </a:r>
            <a:r>
              <a:rPr lang="ko-KR" altLang="en-US" sz="1200" b="1" dirty="0" smtClean="0">
                <a:solidFill>
                  <a:schemeClr val="bg1"/>
                </a:solidFill>
              </a:rPr>
              <a:t>의</a:t>
            </a:r>
            <a:r>
              <a:rPr lang="en-US" altLang="ko-KR" sz="1200" b="1" dirty="0" smtClean="0">
                <a:solidFill>
                  <a:schemeClr val="bg1"/>
                </a:solidFill>
              </a:rPr>
              <a:t> Label</a:t>
            </a:r>
            <a:r>
              <a:rPr lang="ko-KR" altLang="en-US" sz="1200" b="1" dirty="0" smtClean="0">
                <a:solidFill>
                  <a:schemeClr val="bg1"/>
                </a:solidFill>
              </a:rPr>
              <a:t>을 모두 충족</a:t>
            </a:r>
            <a:r>
              <a:rPr lang="ko-KR" altLang="en-US" sz="1200" dirty="0" smtClean="0">
                <a:solidFill>
                  <a:schemeClr val="bg1"/>
                </a:solidFill>
              </a:rPr>
              <a:t>해야 정상 배포가 가능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11199" y="774838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dirty="0" smtClean="0"/>
              <a:t>현재 </a:t>
            </a:r>
            <a:r>
              <a:rPr lang="en-US" altLang="ko-KR" sz="1400" dirty="0" smtClean="0"/>
              <a:t>Node</a:t>
            </a:r>
            <a:r>
              <a:rPr lang="ko-KR" altLang="en-US" sz="1400" dirty="0" smtClean="0"/>
              <a:t>의</a:t>
            </a:r>
            <a:r>
              <a:rPr lang="en-US" altLang="ko-KR" sz="1400" dirty="0" smtClean="0"/>
              <a:t> Label </a:t>
            </a:r>
            <a:r>
              <a:rPr lang="ko-KR" altLang="en-US" sz="1400" dirty="0" smtClean="0"/>
              <a:t>확인</a:t>
            </a:r>
            <a:endParaRPr lang="en-US" altLang="ko-KR" sz="1400" dirty="0" smtClean="0"/>
          </a:p>
        </p:txBody>
      </p:sp>
      <p:sp>
        <p:nvSpPr>
          <p:cNvPr id="16" name="TextBox 5"/>
          <p:cNvSpPr txBox="1"/>
          <p:nvPr/>
        </p:nvSpPr>
        <p:spPr>
          <a:xfrm>
            <a:off x="743392" y="1082615"/>
            <a:ext cx="10838341" cy="120032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get nodes --</a:t>
            </a:r>
            <a:r>
              <a:rPr lang="en-US" altLang="ko-KR" sz="1200" dirty="0" smtClean="0">
                <a:solidFill>
                  <a:schemeClr val="bg1"/>
                </a:solidFill>
              </a:rPr>
              <a:t>show-labels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NAME      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STATUS   </a:t>
            </a:r>
            <a:r>
              <a:rPr lang="en-US" altLang="ko-KR" sz="1200" dirty="0">
                <a:solidFill>
                  <a:schemeClr val="bg1"/>
                </a:solidFill>
              </a:rPr>
              <a:t>ROLES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r>
              <a:rPr lang="en-US" altLang="ko-KR" sz="1200" dirty="0">
                <a:solidFill>
                  <a:schemeClr val="bg1"/>
                </a:solidFill>
              </a:rPr>
              <a:t>AGE   VERSION   LABELS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k8sedu-node01   Ready    &lt;none&gt;   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r>
              <a:rPr lang="en-US" altLang="ko-KR" sz="1200" dirty="0">
                <a:solidFill>
                  <a:schemeClr val="bg1"/>
                </a:solidFill>
              </a:rPr>
              <a:t>8d  </a:t>
            </a:r>
            <a:r>
              <a:rPr lang="en-US" altLang="ko-KR" sz="1200" dirty="0" smtClean="0">
                <a:solidFill>
                  <a:schemeClr val="bg1"/>
                </a:solidFill>
              </a:rPr>
              <a:t>   </a:t>
            </a:r>
            <a:r>
              <a:rPr lang="en-US" altLang="ko-KR" sz="1200" dirty="0">
                <a:solidFill>
                  <a:schemeClr val="bg1"/>
                </a:solidFill>
              </a:rPr>
              <a:t>v1.32.1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beta.kubernetes.io/arch=amd64,beta.kubernetes.io/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os</a:t>
            </a:r>
            <a:r>
              <a:rPr lang="en-US" altLang="ko-KR" sz="1200" dirty="0" smtClean="0">
                <a:solidFill>
                  <a:schemeClr val="bg1"/>
                </a:solidFill>
              </a:rPr>
              <a:t>=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linux,kubernetes.io</a:t>
            </a:r>
            <a:r>
              <a:rPr lang="en-US" altLang="ko-KR" sz="1200" dirty="0" smtClean="0">
                <a:solidFill>
                  <a:schemeClr val="bg1"/>
                </a:solidFill>
              </a:rPr>
              <a:t>/arch=amd64,kubernet</a:t>
            </a:r>
            <a:br>
              <a:rPr lang="en-US" altLang="ko-KR" sz="1200" dirty="0" smtClean="0">
                <a:solidFill>
                  <a:schemeClr val="bg1"/>
                </a:solidFill>
              </a:rPr>
            </a:br>
            <a:r>
              <a:rPr lang="en-US" altLang="ko-KR" sz="1200" dirty="0" smtClean="0">
                <a:solidFill>
                  <a:schemeClr val="bg1"/>
                </a:solidFill>
              </a:rPr>
              <a:t>es.io/hostname=k8sedu-node01,kubernetes.io/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os</a:t>
            </a:r>
            <a:r>
              <a:rPr lang="en-US" altLang="ko-KR" sz="1200" dirty="0" smtClean="0">
                <a:solidFill>
                  <a:schemeClr val="bg1"/>
                </a:solidFill>
              </a:rPr>
              <a:t>=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linux,role</a:t>
            </a:r>
            <a:r>
              <a:rPr lang="en-US" altLang="ko-KR" sz="1200" dirty="0" smtClean="0">
                <a:solidFill>
                  <a:schemeClr val="bg1"/>
                </a:solidFill>
              </a:rPr>
              <a:t>=infra</a:t>
            </a:r>
          </a:p>
          <a:p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# ‘type=web’</a:t>
            </a:r>
            <a:r>
              <a:rPr lang="ko-KR" altLang="en-US" sz="1200" dirty="0" smtClean="0">
                <a:solidFill>
                  <a:schemeClr val="bg1"/>
                </a:solidFill>
              </a:rPr>
              <a:t>라는 </a:t>
            </a:r>
            <a:r>
              <a:rPr lang="en-US" altLang="ko-KR" sz="1200" dirty="0" smtClean="0">
                <a:solidFill>
                  <a:schemeClr val="bg1"/>
                </a:solidFill>
              </a:rPr>
              <a:t>Label</a:t>
            </a:r>
            <a:r>
              <a:rPr lang="ko-KR" altLang="en-US" sz="1200" dirty="0" smtClean="0">
                <a:solidFill>
                  <a:schemeClr val="bg1"/>
                </a:solidFill>
              </a:rPr>
              <a:t>이 삭제되었음을 확인할 수 있다</a:t>
            </a:r>
            <a:r>
              <a:rPr lang="en-US" altLang="ko-KR" sz="1200" dirty="0" smtClean="0">
                <a:solidFill>
                  <a:schemeClr val="bg1"/>
                </a:solidFill>
              </a:rPr>
              <a:t>. 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4689305" y="1668180"/>
            <a:ext cx="746296" cy="2368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695325" y="2351744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‘</a:t>
            </a:r>
            <a:r>
              <a:rPr lang="en-US" altLang="ko-KR" sz="1400" dirty="0" err="1" smtClean="0">
                <a:solidFill>
                  <a:sysClr val="windowText" lastClr="000000"/>
                </a:solidFill>
              </a:rPr>
              <a:t>nodeAffinity-pod.yaml</a:t>
            </a:r>
            <a:r>
              <a:rPr lang="en-US" altLang="ko-KR" sz="1400" dirty="0" smtClean="0">
                <a:solidFill>
                  <a:sysClr val="windowText" lastClr="000000"/>
                </a:solidFill>
              </a:rPr>
              <a:t>’</a:t>
            </a:r>
            <a:r>
              <a:rPr lang="ko-KR" altLang="en-US" sz="1400" dirty="0" smtClean="0">
                <a:solidFill>
                  <a:sysClr val="windowText" lastClr="000000"/>
                </a:solidFill>
              </a:rPr>
              <a:t>로 </a:t>
            </a:r>
            <a:r>
              <a:rPr lang="ko-KR" altLang="en-US" sz="1400" dirty="0" err="1" smtClean="0">
                <a:solidFill>
                  <a:sysClr val="windowText" lastClr="000000"/>
                </a:solidFill>
              </a:rPr>
              <a:t>파드</a:t>
            </a:r>
            <a:r>
              <a:rPr lang="ko-KR" altLang="en-US" sz="1400" dirty="0" smtClean="0">
                <a:solidFill>
                  <a:sysClr val="windowText" lastClr="000000"/>
                </a:solidFill>
              </a:rPr>
              <a:t> 삭제하고 재 배포 후</a:t>
            </a:r>
            <a:r>
              <a:rPr lang="en-US" altLang="ko-KR" sz="1400" dirty="0" smtClean="0">
                <a:solidFill>
                  <a:sysClr val="windowText" lastClr="000000"/>
                </a:solidFill>
              </a:rPr>
              <a:t>, </a:t>
            </a:r>
            <a:r>
              <a:rPr lang="ko-KR" altLang="en-US" sz="1400" dirty="0" smtClean="0">
                <a:solidFill>
                  <a:sysClr val="windowText" lastClr="000000"/>
                </a:solidFill>
              </a:rPr>
              <a:t>상태 확인</a:t>
            </a:r>
            <a:endParaRPr lang="en-US" altLang="ko-KR" sz="1400" dirty="0" smtClean="0"/>
          </a:p>
        </p:txBody>
      </p:sp>
      <p:sp>
        <p:nvSpPr>
          <p:cNvPr id="19" name="TextBox 5"/>
          <p:cNvSpPr txBox="1"/>
          <p:nvPr/>
        </p:nvSpPr>
        <p:spPr>
          <a:xfrm>
            <a:off x="759711" y="2666850"/>
            <a:ext cx="10822022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get pods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NAME                       </a:t>
            </a:r>
            <a:r>
              <a:rPr lang="en-US" altLang="ko-KR" sz="1200" dirty="0">
                <a:solidFill>
                  <a:schemeClr val="bg1"/>
                </a:solidFill>
              </a:rPr>
              <a:t>READY   STATUS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RESTARTS   AGE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nodeaffinity-nginx</a:t>
            </a:r>
            <a:r>
              <a:rPr lang="en-US" altLang="ko-KR" sz="1200" dirty="0" smtClean="0">
                <a:solidFill>
                  <a:schemeClr val="bg1"/>
                </a:solidFill>
              </a:rPr>
              <a:t>        </a:t>
            </a:r>
            <a:r>
              <a:rPr lang="en-US" altLang="ko-KR" sz="1200" dirty="0">
                <a:solidFill>
                  <a:schemeClr val="bg1"/>
                </a:solidFill>
              </a:rPr>
              <a:t>0/1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</a:t>
            </a:r>
            <a:r>
              <a:rPr lang="en-US" altLang="ko-KR" sz="1200" dirty="0">
                <a:solidFill>
                  <a:schemeClr val="bg1"/>
                </a:solidFill>
              </a:rPr>
              <a:t>Pending  </a:t>
            </a:r>
            <a:r>
              <a:rPr lang="en-US" altLang="ko-KR" sz="1200" dirty="0" smtClean="0">
                <a:solidFill>
                  <a:schemeClr val="bg1"/>
                </a:solidFill>
              </a:rPr>
              <a:t>   </a:t>
            </a:r>
            <a:r>
              <a:rPr lang="en-US" altLang="ko-KR" sz="1200" dirty="0">
                <a:solidFill>
                  <a:schemeClr val="bg1"/>
                </a:solidFill>
              </a:rPr>
              <a:t>0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       </a:t>
            </a:r>
            <a:r>
              <a:rPr lang="en-US" altLang="ko-KR" sz="1200" dirty="0">
                <a:solidFill>
                  <a:schemeClr val="bg1"/>
                </a:solidFill>
              </a:rPr>
              <a:t>10s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199" y="3385356"/>
            <a:ext cx="58857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Pod </a:t>
            </a:r>
            <a:r>
              <a:rPr lang="ko-KR" altLang="en-US" sz="1400" dirty="0" smtClean="0"/>
              <a:t>상세 정보 확인</a:t>
            </a:r>
            <a:endParaRPr lang="en-US" altLang="ko-KR" sz="1400" dirty="0" smtClean="0"/>
          </a:p>
        </p:txBody>
      </p:sp>
      <p:sp>
        <p:nvSpPr>
          <p:cNvPr id="21" name="직사각형 20"/>
          <p:cNvSpPr/>
          <p:nvPr/>
        </p:nvSpPr>
        <p:spPr>
          <a:xfrm>
            <a:off x="1673502" y="4357726"/>
            <a:ext cx="2898498" cy="19298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9580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cs typeface="Pretendard SemiBold" panose="02000703000000020004" pitchFamily="50" charset="-127"/>
              </a:rPr>
              <a:t>6. Resource </a:t>
            </a:r>
            <a:r>
              <a:rPr lang="en-US" altLang="ko-KR" sz="1600" b="1" dirty="0">
                <a:solidFill>
                  <a:srgbClr val="333333"/>
                </a:solidFill>
                <a:cs typeface="Pretendard SemiBold" panose="02000703000000020004" pitchFamily="50" charset="-127"/>
              </a:rPr>
              <a:t>Request &amp; Limit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11199" y="715450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Resource Request &amp; Limit</a:t>
            </a:r>
            <a:r>
              <a:rPr lang="ko-KR" altLang="en-US" sz="1400" dirty="0" smtClean="0"/>
              <a:t>를 적용한 </a:t>
            </a:r>
            <a:r>
              <a:rPr lang="en-US" altLang="ko-KR" sz="1400" dirty="0" smtClean="0"/>
              <a:t>Pod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804421" y="1061699"/>
            <a:ext cx="4678805" cy="3139321"/>
            <a:chOff x="676830" y="1536174"/>
            <a:chExt cx="4678805" cy="3139321"/>
          </a:xfrm>
        </p:grpSpPr>
        <p:sp>
          <p:nvSpPr>
            <p:cNvPr id="26" name="TextBox 7"/>
            <p:cNvSpPr txBox="1"/>
            <p:nvPr/>
          </p:nvSpPr>
          <p:spPr>
            <a:xfrm>
              <a:off x="676831" y="1813173"/>
              <a:ext cx="4678804" cy="2862322"/>
            </a:xfrm>
            <a:prstGeom prst="rect">
              <a:avLst/>
            </a:prstGeom>
            <a:solidFill>
              <a:srgbClr val="BBE0E3"/>
            </a:solidFill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v1</a:t>
              </a:r>
            </a:p>
            <a:p>
              <a:r>
                <a:rPr lang="en-US" altLang="ko-KR" sz="1200" dirty="0"/>
                <a:t>kind: Pod</a:t>
              </a:r>
            </a:p>
            <a:p>
              <a:r>
                <a:rPr lang="en-US" altLang="ko-KR" sz="1200" dirty="0"/>
                <a:t>metadata:</a:t>
              </a:r>
            </a:p>
            <a:p>
              <a:r>
                <a:rPr lang="en-US" altLang="ko-KR" sz="1200" dirty="0"/>
                <a:t>  name: </a:t>
              </a:r>
              <a:r>
                <a:rPr lang="en-US" altLang="ko-KR" sz="1200" dirty="0" smtClean="0"/>
                <a:t>resource-</a:t>
              </a:r>
              <a:r>
                <a:rPr lang="en-US" altLang="ko-KR" sz="1200" dirty="0" err="1" smtClean="0"/>
                <a:t>nginx</a:t>
              </a:r>
              <a:endParaRPr lang="en-US" altLang="ko-KR" sz="1200" dirty="0"/>
            </a:p>
            <a:p>
              <a:r>
                <a:rPr lang="en-US" altLang="ko-KR" sz="1200" dirty="0"/>
                <a:t>spec:</a:t>
              </a:r>
            </a:p>
            <a:p>
              <a:r>
                <a:rPr lang="en-US" altLang="ko-KR" sz="1200" dirty="0"/>
                <a:t>  containers:</a:t>
              </a:r>
            </a:p>
            <a:p>
              <a:r>
                <a:rPr lang="en-US" altLang="ko-KR" sz="1200" dirty="0"/>
                <a:t>    - name: </a:t>
              </a:r>
              <a:r>
                <a:rPr lang="en-US" altLang="ko-KR" sz="1200" dirty="0" err="1" smtClean="0"/>
                <a:t>nginx</a:t>
              </a:r>
              <a:endParaRPr lang="en-US" altLang="ko-KR" sz="1200" dirty="0"/>
            </a:p>
            <a:p>
              <a:r>
                <a:rPr lang="en-US" altLang="ko-KR" sz="1200" dirty="0"/>
                <a:t>      image: </a:t>
              </a:r>
              <a:r>
                <a:rPr lang="en-US" altLang="ko-KR" sz="1200" dirty="0" err="1"/>
                <a:t>nginx</a:t>
              </a:r>
              <a:endParaRPr lang="en-US" altLang="ko-KR" sz="1200" dirty="0"/>
            </a:p>
            <a:p>
              <a:r>
                <a:rPr lang="en-US" altLang="ko-KR" sz="1200" dirty="0" smtClean="0">
                  <a:solidFill>
                    <a:srgbClr val="FF0000"/>
                  </a:solidFill>
                </a:rPr>
                <a:t>      resources:    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# Resource Request &amp; Limit </a:t>
              </a:r>
              <a:r>
                <a:rPr lang="ko-KR" altLang="en-US" sz="1200" b="1" dirty="0" smtClean="0">
                  <a:solidFill>
                    <a:srgbClr val="FF0000"/>
                  </a:solidFill>
                </a:rPr>
                <a:t>설정</a:t>
              </a:r>
              <a:endParaRPr lang="en-US" altLang="ko-KR" sz="1200" b="1" dirty="0">
                <a:solidFill>
                  <a:srgbClr val="FF0000"/>
                </a:solidFill>
              </a:endParaRPr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  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      requests</a:t>
              </a:r>
              <a:r>
                <a:rPr lang="en-US" altLang="ko-KR" sz="1200" dirty="0">
                  <a:solidFill>
                    <a:srgbClr val="FF0000"/>
                  </a:solidFill>
                </a:rPr>
                <a:t>:</a:t>
              </a:r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     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      </a:t>
              </a:r>
              <a:r>
                <a:rPr lang="en-US" altLang="ko-KR" sz="1200" dirty="0" err="1" smtClean="0">
                  <a:solidFill>
                    <a:srgbClr val="FF0000"/>
                  </a:solidFill>
                </a:rPr>
                <a:t>cpu</a:t>
              </a:r>
              <a:r>
                <a:rPr lang="en-US" altLang="ko-KR" sz="1200" dirty="0">
                  <a:solidFill>
                    <a:srgbClr val="FF0000"/>
                  </a:solidFill>
                </a:rPr>
                <a:t>: 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10m  </a:t>
              </a:r>
              <a:r>
                <a:rPr lang="en-US" altLang="ko-KR" sz="1200" b="1" dirty="0" smtClean="0">
                  <a:solidFill>
                    <a:srgbClr val="FF0000"/>
                  </a:solidFill>
                </a:rPr>
                <a:t># </a:t>
              </a:r>
              <a:r>
                <a:rPr lang="en-US" altLang="ko-KR" sz="1200" b="1" dirty="0" err="1" smtClean="0">
                  <a:solidFill>
                    <a:srgbClr val="FF0000"/>
                  </a:solidFill>
                  <a:ea typeface="나눔고딕" panose="020D0604000000000000" pitchFamily="50" charset="-127"/>
                </a:rPr>
                <a:t>cpu</a:t>
              </a:r>
              <a:r>
                <a:rPr lang="en-US" altLang="ko-KR" sz="1200" b="1" dirty="0" smtClean="0">
                  <a:solidFill>
                    <a:srgbClr val="FF0000"/>
                  </a:solidFill>
                  <a:ea typeface="나눔고딕" panose="020D0604000000000000" pitchFamily="50" charset="-127"/>
                </a:rPr>
                <a:t> </a:t>
              </a:r>
              <a:r>
                <a:rPr lang="en-US" altLang="ko-KR" sz="1200" b="1" dirty="0">
                  <a:solidFill>
                    <a:srgbClr val="FF0000"/>
                  </a:solidFill>
                  <a:ea typeface="나눔고딕" panose="020D0604000000000000" pitchFamily="50" charset="-127"/>
                </a:rPr>
                <a:t>m </a:t>
              </a:r>
              <a:r>
                <a:rPr lang="ko-KR" altLang="en-US" sz="1200" b="1" dirty="0">
                  <a:solidFill>
                    <a:srgbClr val="FF0000"/>
                  </a:solidFill>
                  <a:ea typeface="나눔고딕" panose="020D0604000000000000" pitchFamily="50" charset="-127"/>
                </a:rPr>
                <a:t>단위는 </a:t>
              </a:r>
              <a:r>
                <a:rPr lang="en-US" altLang="ko-KR" sz="1200" b="1" dirty="0">
                  <a:solidFill>
                    <a:srgbClr val="FF0000"/>
                  </a:solidFill>
                  <a:ea typeface="나눔고딕" panose="020D0604000000000000" pitchFamily="50" charset="-127"/>
                </a:rPr>
                <a:t>1/1000 core</a:t>
              </a:r>
              <a:r>
                <a:rPr lang="ko-KR" altLang="en-US" sz="1200" b="1" dirty="0">
                  <a:solidFill>
                    <a:srgbClr val="FF0000"/>
                  </a:solidFill>
                  <a:ea typeface="나눔고딕" panose="020D0604000000000000" pitchFamily="50" charset="-127"/>
                </a:rPr>
                <a:t>를 </a:t>
              </a:r>
              <a:r>
                <a:rPr lang="ko-KR" altLang="en-US" sz="1200" b="1" dirty="0" smtClean="0">
                  <a:solidFill>
                    <a:srgbClr val="FF0000"/>
                  </a:solidFill>
                  <a:ea typeface="나눔고딕" panose="020D0604000000000000" pitchFamily="50" charset="-127"/>
                </a:rPr>
                <a:t>의미</a:t>
              </a:r>
              <a:endParaRPr lang="en-US" altLang="ko-KR" sz="1200" b="1" dirty="0">
                <a:solidFill>
                  <a:srgbClr val="FF0000"/>
                </a:solidFill>
              </a:endParaRPr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     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      </a:t>
              </a:r>
              <a:r>
                <a:rPr lang="en-US" altLang="ko-KR" sz="1200" dirty="0">
                  <a:solidFill>
                    <a:srgbClr val="FF0000"/>
                  </a:solidFill>
                </a:rPr>
                <a:t>memory: "500Mi"</a:t>
              </a:r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     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   limits</a:t>
              </a:r>
              <a:r>
                <a:rPr lang="en-US" altLang="ko-KR" sz="1200" dirty="0">
                  <a:solidFill>
                    <a:srgbClr val="FF0000"/>
                  </a:solidFill>
                </a:rPr>
                <a:t>:</a:t>
              </a:r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     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      </a:t>
              </a:r>
              <a:r>
                <a:rPr lang="en-US" altLang="ko-KR" sz="1200" dirty="0" err="1">
                  <a:solidFill>
                    <a:srgbClr val="FF0000"/>
                  </a:solidFill>
                </a:rPr>
                <a:t>cpu</a:t>
              </a:r>
              <a:r>
                <a:rPr lang="en-US" altLang="ko-KR" sz="1200" dirty="0">
                  <a:solidFill>
                    <a:srgbClr val="FF0000"/>
                  </a:solidFill>
                </a:rPr>
                <a:t>: 100m</a:t>
              </a:r>
            </a:p>
            <a:p>
              <a:r>
                <a:rPr lang="en-US" altLang="ko-KR" sz="1200" dirty="0">
                  <a:solidFill>
                    <a:srgbClr val="FF0000"/>
                  </a:solidFill>
                </a:rPr>
                <a:t>   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        </a:t>
              </a:r>
              <a:r>
                <a:rPr lang="en-US" altLang="ko-KR" sz="1200" dirty="0">
                  <a:solidFill>
                    <a:srgbClr val="FF0000"/>
                  </a:solidFill>
                </a:rPr>
                <a:t>memory: "1Gi"</a:t>
              </a:r>
            </a:p>
          </p:txBody>
        </p:sp>
        <p:sp>
          <p:nvSpPr>
            <p:cNvPr id="27" name="TextBox 3"/>
            <p:cNvSpPr txBox="1"/>
            <p:nvPr/>
          </p:nvSpPr>
          <p:spPr>
            <a:xfrm>
              <a:off x="676830" y="1536174"/>
              <a:ext cx="1596067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b="1" dirty="0" err="1">
                  <a:solidFill>
                    <a:sysClr val="windowText" lastClr="000000"/>
                  </a:solidFill>
                </a:rPr>
                <a:t>resource_pod.yaml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8" name="TextBox 5"/>
          <p:cNvSpPr txBox="1"/>
          <p:nvPr/>
        </p:nvSpPr>
        <p:spPr>
          <a:xfrm>
            <a:off x="785110" y="4531898"/>
            <a:ext cx="10838341" cy="1754326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r>
              <a:rPr lang="en-US" altLang="ko-KR" sz="1200" dirty="0">
                <a:solidFill>
                  <a:schemeClr val="bg1"/>
                </a:solidFill>
              </a:rPr>
              <a:t>describe pods </a:t>
            </a:r>
            <a:r>
              <a:rPr lang="en-US" altLang="ko-KR" sz="1200" dirty="0" smtClean="0">
                <a:solidFill>
                  <a:schemeClr val="bg1"/>
                </a:solidFill>
              </a:rPr>
              <a:t>resource-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nginx</a:t>
            </a:r>
            <a:r>
              <a:rPr lang="en-US" altLang="ko-KR" sz="1200" dirty="0" smtClean="0">
                <a:solidFill>
                  <a:schemeClr val="bg1"/>
                </a:solidFill>
              </a:rPr>
              <a:t>	# Pod</a:t>
            </a:r>
            <a:r>
              <a:rPr lang="ko-KR" altLang="en-US" sz="1200" dirty="0" smtClean="0">
                <a:solidFill>
                  <a:schemeClr val="bg1"/>
                </a:solidFill>
              </a:rPr>
              <a:t>의 상세 정보에서 </a:t>
            </a:r>
            <a:r>
              <a:rPr lang="en-US" altLang="ko-KR" sz="1200" dirty="0" smtClean="0">
                <a:solidFill>
                  <a:schemeClr val="bg1"/>
                </a:solidFill>
              </a:rPr>
              <a:t>Request &amp; Limit</a:t>
            </a:r>
            <a:r>
              <a:rPr lang="ko-KR" altLang="en-US" sz="1200" dirty="0" smtClean="0">
                <a:solidFill>
                  <a:schemeClr val="bg1"/>
                </a:solidFill>
              </a:rPr>
              <a:t>이 정상 적용 확인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…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</a:t>
            </a:r>
            <a:r>
              <a:rPr lang="en-US" altLang="ko-KR" sz="1200" dirty="0">
                <a:solidFill>
                  <a:schemeClr val="bg1"/>
                </a:solidFill>
              </a:rPr>
              <a:t>Limits: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cpu</a:t>
            </a:r>
            <a:r>
              <a:rPr lang="en-US" altLang="ko-KR" sz="1200" dirty="0">
                <a:solidFill>
                  <a:schemeClr val="bg1"/>
                </a:solidFill>
              </a:rPr>
              <a:t>:     100m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memory</a:t>
            </a:r>
            <a:r>
              <a:rPr lang="en-US" altLang="ko-KR" sz="1200" dirty="0">
                <a:solidFill>
                  <a:schemeClr val="bg1"/>
                </a:solidFill>
              </a:rPr>
              <a:t>:  1Gi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   </a:t>
            </a:r>
            <a:r>
              <a:rPr lang="en-US" altLang="ko-KR" sz="1200" dirty="0" smtClean="0">
                <a:solidFill>
                  <a:schemeClr val="bg1"/>
                </a:solidFill>
              </a:rPr>
              <a:t>Requests</a:t>
            </a:r>
            <a:r>
              <a:rPr lang="en-US" altLang="ko-KR" sz="1200" dirty="0">
                <a:solidFill>
                  <a:schemeClr val="bg1"/>
                </a:solidFill>
              </a:rPr>
              <a:t>: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      </a:t>
            </a:r>
            <a:r>
              <a:rPr lang="en-US" altLang="ko-KR" sz="1200" dirty="0" err="1">
                <a:solidFill>
                  <a:schemeClr val="bg1"/>
                </a:solidFill>
              </a:rPr>
              <a:t>cpu</a:t>
            </a:r>
            <a:r>
              <a:rPr lang="en-US" altLang="ko-KR" sz="1200" dirty="0">
                <a:solidFill>
                  <a:schemeClr val="bg1"/>
                </a:solidFill>
              </a:rPr>
              <a:t>:        10m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      memory:     500Mi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… (</a:t>
            </a:r>
            <a:r>
              <a:rPr lang="ko-KR" altLang="en-US" sz="1200" dirty="0" smtClean="0">
                <a:solidFill>
                  <a:schemeClr val="bg1"/>
                </a:solidFill>
              </a:rPr>
              <a:t>생략</a:t>
            </a:r>
            <a:r>
              <a:rPr lang="en-US" altLang="ko-KR" sz="1200" dirty="0" smtClean="0">
                <a:solidFill>
                  <a:schemeClr val="bg1"/>
                </a:solidFill>
              </a:rPr>
              <a:t>)   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24342" y="4224121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Pod </a:t>
            </a:r>
            <a:r>
              <a:rPr lang="ko-KR" altLang="en-US" sz="1400" dirty="0" smtClean="0"/>
              <a:t>상세 정보 확인</a:t>
            </a:r>
            <a:endParaRPr lang="en-US" altLang="ko-KR" sz="1400" dirty="0" smtClean="0"/>
          </a:p>
        </p:txBody>
      </p:sp>
    </p:spTree>
    <p:extLst>
      <p:ext uri="{BB962C8B-B14F-4D97-AF65-F5344CB8AC3E}">
        <p14:creationId xmlns:p14="http://schemas.microsoft.com/office/powerpoint/2010/main" val="4049381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7. </a:t>
            </a:r>
            <a:r>
              <a:rPr lang="en-US" altLang="ko-KR" sz="1600" b="1" dirty="0" err="1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DaemonSet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11199" y="715450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err="1" smtClean="0"/>
              <a:t>DaemonSet</a:t>
            </a:r>
            <a:r>
              <a:rPr lang="en-US" altLang="ko-KR" sz="1400" dirty="0" smtClean="0"/>
              <a:t> </a:t>
            </a:r>
            <a:r>
              <a:rPr lang="ko-KR" altLang="en-US" sz="1400" dirty="0"/>
              <a:t>컨트롤러 </a:t>
            </a:r>
            <a:r>
              <a:rPr lang="ko-KR" altLang="en-US" sz="1400" dirty="0" smtClean="0"/>
              <a:t>사용시</a:t>
            </a:r>
            <a:r>
              <a:rPr lang="en-US" altLang="ko-KR" sz="1400" dirty="0" smtClean="0"/>
              <a:t>,</a:t>
            </a:r>
            <a:r>
              <a:rPr lang="ko-KR" altLang="en-US" sz="1400" dirty="0" smtClean="0"/>
              <a:t> </a:t>
            </a:r>
            <a:r>
              <a:rPr lang="ko-KR" altLang="en-US" sz="1400" dirty="0"/>
              <a:t>각 </a:t>
            </a:r>
            <a:r>
              <a:rPr lang="en-US" altLang="ko-KR" sz="1400" dirty="0"/>
              <a:t>Node</a:t>
            </a:r>
            <a:r>
              <a:rPr lang="ko-KR" altLang="en-US" sz="1400" dirty="0"/>
              <a:t>에 </a:t>
            </a:r>
            <a:r>
              <a:rPr lang="en-US" altLang="ko-KR" sz="1400" dirty="0"/>
              <a:t>Pod</a:t>
            </a:r>
            <a:r>
              <a:rPr lang="ko-KR" altLang="en-US" sz="1400" dirty="0"/>
              <a:t>를 </a:t>
            </a:r>
            <a:r>
              <a:rPr lang="en-US" altLang="ko-KR" sz="1400" dirty="0"/>
              <a:t>1</a:t>
            </a:r>
            <a:r>
              <a:rPr lang="ko-KR" altLang="en-US" sz="1400" dirty="0"/>
              <a:t>개씩 </a:t>
            </a:r>
            <a:r>
              <a:rPr lang="ko-KR" altLang="en-US" sz="1400" dirty="0" smtClean="0"/>
              <a:t>배치한다</a:t>
            </a:r>
            <a:r>
              <a:rPr lang="en-US" altLang="ko-KR" sz="1400" dirty="0" smtClean="0"/>
              <a:t>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199" y="1096450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err="1" smtClean="0"/>
              <a:t>DaemonSet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설정</a:t>
            </a:r>
            <a:endParaRPr lang="en-US" altLang="ko-KR" sz="1400" dirty="0" smtClean="0"/>
          </a:p>
        </p:txBody>
      </p:sp>
      <p:grpSp>
        <p:nvGrpSpPr>
          <p:cNvPr id="36" name="그룹 35"/>
          <p:cNvGrpSpPr/>
          <p:nvPr/>
        </p:nvGrpSpPr>
        <p:grpSpPr>
          <a:xfrm>
            <a:off x="804422" y="1442699"/>
            <a:ext cx="4678804" cy="3323987"/>
            <a:chOff x="676830" y="1536174"/>
            <a:chExt cx="10838341" cy="3323987"/>
          </a:xfrm>
        </p:grpSpPr>
        <p:sp>
          <p:nvSpPr>
            <p:cNvPr id="37" name="TextBox 7"/>
            <p:cNvSpPr txBox="1"/>
            <p:nvPr/>
          </p:nvSpPr>
          <p:spPr>
            <a:xfrm>
              <a:off x="676830" y="1813173"/>
              <a:ext cx="10838341" cy="3046988"/>
            </a:xfrm>
            <a:prstGeom prst="rect">
              <a:avLst/>
            </a:prstGeom>
            <a:solidFill>
              <a:srgbClr val="BBE0E3"/>
            </a:solidFill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apps/v1</a:t>
              </a:r>
            </a:p>
            <a:p>
              <a:r>
                <a:rPr lang="en-US" altLang="ko-KR" sz="1200" dirty="0"/>
                <a:t>kind: </a:t>
              </a:r>
              <a:r>
                <a:rPr lang="en-US" altLang="ko-KR" sz="1200" dirty="0" err="1"/>
                <a:t>DaemonSet</a:t>
              </a:r>
              <a:endParaRPr lang="en-US" altLang="ko-KR" sz="1200" dirty="0"/>
            </a:p>
            <a:p>
              <a:r>
                <a:rPr lang="en-US" altLang="ko-KR" sz="1200" dirty="0"/>
                <a:t>metadata:</a:t>
              </a:r>
            </a:p>
            <a:p>
              <a:r>
                <a:rPr lang="en-US" altLang="ko-KR" sz="1200" dirty="0"/>
                <a:t>  name: </a:t>
              </a:r>
              <a:r>
                <a:rPr lang="en-US" altLang="ko-KR" sz="1200" dirty="0" err="1"/>
                <a:t>daemonset-nginx</a:t>
              </a:r>
              <a:endParaRPr lang="en-US" altLang="ko-KR" sz="1200" dirty="0"/>
            </a:p>
            <a:p>
              <a:r>
                <a:rPr lang="en-US" altLang="ko-KR" sz="1200" dirty="0"/>
                <a:t>spec:</a:t>
              </a:r>
            </a:p>
            <a:p>
              <a:r>
                <a:rPr lang="en-US" altLang="ko-KR" sz="1200" dirty="0"/>
                <a:t>  selector:</a:t>
              </a:r>
            </a:p>
            <a:p>
              <a:r>
                <a:rPr lang="en-US" altLang="ko-KR" sz="1200" dirty="0"/>
                <a:t>    </a:t>
              </a:r>
              <a:r>
                <a:rPr lang="en-US" altLang="ko-KR" sz="1200" dirty="0" err="1"/>
                <a:t>matchLabels</a:t>
              </a:r>
              <a:r>
                <a:rPr lang="en-US" altLang="ko-KR" sz="1200" dirty="0"/>
                <a:t>:</a:t>
              </a:r>
            </a:p>
            <a:p>
              <a:r>
                <a:rPr lang="en-US" altLang="ko-KR" sz="1200" dirty="0"/>
                <a:t>      app: </a:t>
              </a:r>
              <a:r>
                <a:rPr lang="en-US" altLang="ko-KR" sz="1200" dirty="0" err="1"/>
                <a:t>nginx</a:t>
              </a:r>
              <a:endParaRPr lang="en-US" altLang="ko-KR" sz="1200" dirty="0"/>
            </a:p>
            <a:p>
              <a:r>
                <a:rPr lang="en-US" altLang="ko-KR" sz="1200" dirty="0"/>
                <a:t>  template:</a:t>
              </a:r>
            </a:p>
            <a:p>
              <a:r>
                <a:rPr lang="en-US" altLang="ko-KR" sz="1200" dirty="0"/>
                <a:t>    metadata:</a:t>
              </a:r>
            </a:p>
            <a:p>
              <a:r>
                <a:rPr lang="en-US" altLang="ko-KR" sz="1200" dirty="0"/>
                <a:t>      labels:</a:t>
              </a:r>
            </a:p>
            <a:p>
              <a:r>
                <a:rPr lang="en-US" altLang="ko-KR" sz="1200" dirty="0"/>
                <a:t>        app: </a:t>
              </a:r>
              <a:r>
                <a:rPr lang="en-US" altLang="ko-KR" sz="1200" dirty="0" err="1"/>
                <a:t>nginx</a:t>
              </a:r>
              <a:endParaRPr lang="en-US" altLang="ko-KR" sz="1200" dirty="0"/>
            </a:p>
            <a:p>
              <a:r>
                <a:rPr lang="en-US" altLang="ko-KR" sz="1200" dirty="0"/>
                <a:t>    spec:</a:t>
              </a:r>
            </a:p>
            <a:p>
              <a:r>
                <a:rPr lang="en-US" altLang="ko-KR" sz="1200" dirty="0"/>
                <a:t>      containers:</a:t>
              </a:r>
            </a:p>
            <a:p>
              <a:r>
                <a:rPr lang="en-US" altLang="ko-KR" sz="1200" dirty="0"/>
                <a:t>        - name: </a:t>
              </a:r>
              <a:r>
                <a:rPr lang="en-US" altLang="ko-KR" sz="1200" dirty="0" err="1"/>
                <a:t>nginx</a:t>
              </a:r>
              <a:endParaRPr lang="en-US" altLang="ko-KR" sz="1200" dirty="0"/>
            </a:p>
            <a:p>
              <a:r>
                <a:rPr lang="en-US" altLang="ko-KR" sz="1200" dirty="0"/>
                <a:t>          image: </a:t>
              </a:r>
              <a:r>
                <a:rPr lang="en-US" altLang="ko-KR" sz="1200" dirty="0" err="1"/>
                <a:t>nginx</a:t>
              </a:r>
              <a:endParaRPr lang="en-US" altLang="ko-KR" sz="1200" dirty="0"/>
            </a:p>
          </p:txBody>
        </p:sp>
        <p:sp>
          <p:nvSpPr>
            <p:cNvPr id="41" name="TextBox 3"/>
            <p:cNvSpPr txBox="1"/>
            <p:nvPr/>
          </p:nvSpPr>
          <p:spPr>
            <a:xfrm>
              <a:off x="676830" y="1536174"/>
              <a:ext cx="3196687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b="1" dirty="0" err="1" smtClean="0">
                  <a:solidFill>
                    <a:sysClr val="windowText" lastClr="000000"/>
                  </a:solidFill>
                </a:rPr>
                <a:t>daemonset.yaml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42" name="TextBox 5"/>
          <p:cNvSpPr txBox="1"/>
          <p:nvPr/>
        </p:nvSpPr>
        <p:spPr>
          <a:xfrm>
            <a:off x="5653548" y="1709721"/>
            <a:ext cx="5859010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ko-KR" altLang="en-US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apply –f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daemonset.yaml</a:t>
            </a:r>
            <a:r>
              <a:rPr lang="en-US" altLang="ko-KR" sz="1200" dirty="0" smtClean="0">
                <a:solidFill>
                  <a:schemeClr val="bg1"/>
                </a:solidFill>
              </a:rPr>
              <a:t>	#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DaemonSet</a:t>
            </a:r>
            <a:r>
              <a:rPr lang="ko-KR" altLang="en-US" sz="1200" dirty="0" smtClean="0">
                <a:solidFill>
                  <a:schemeClr val="bg1"/>
                </a:solidFill>
              </a:rPr>
              <a:t>으로 </a:t>
            </a:r>
            <a:r>
              <a:rPr lang="en-US" altLang="ko-KR" sz="1200" dirty="0" smtClean="0">
                <a:solidFill>
                  <a:schemeClr val="bg1"/>
                </a:solidFill>
              </a:rPr>
              <a:t>Pod </a:t>
            </a:r>
            <a:r>
              <a:rPr lang="ko-KR" altLang="en-US" sz="1200" dirty="0" smtClean="0">
                <a:solidFill>
                  <a:schemeClr val="bg1"/>
                </a:solidFill>
              </a:rPr>
              <a:t>배포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daemonset.apps</a:t>
            </a:r>
            <a:r>
              <a:rPr lang="en-US" altLang="ko-KR" sz="1200" dirty="0" smtClean="0">
                <a:solidFill>
                  <a:schemeClr val="bg1"/>
                </a:solidFill>
              </a:rPr>
              <a:t>/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daemonset-nginx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r>
              <a:rPr lang="en-US" altLang="ko-KR" sz="1200" dirty="0">
                <a:solidFill>
                  <a:schemeClr val="bg1"/>
                </a:solidFill>
              </a:rPr>
              <a:t>created</a:t>
            </a:r>
          </a:p>
        </p:txBody>
      </p:sp>
      <p:sp>
        <p:nvSpPr>
          <p:cNvPr id="43" name="TextBox 5"/>
          <p:cNvSpPr txBox="1"/>
          <p:nvPr/>
        </p:nvSpPr>
        <p:spPr>
          <a:xfrm>
            <a:off x="756535" y="5122448"/>
            <a:ext cx="10838341" cy="83099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r>
              <a:rPr lang="en-US" altLang="ko-KR" sz="1200" dirty="0">
                <a:solidFill>
                  <a:schemeClr val="bg1"/>
                </a:solidFill>
              </a:rPr>
              <a:t>get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po</a:t>
            </a:r>
            <a:r>
              <a:rPr lang="en-US" altLang="ko-KR" sz="1200" dirty="0" smtClean="0">
                <a:solidFill>
                  <a:schemeClr val="bg1"/>
                </a:solidFill>
              </a:rPr>
              <a:t> -o wide		# 2</a:t>
            </a:r>
            <a:r>
              <a:rPr lang="ko-KR" altLang="en-US" sz="1200" dirty="0" smtClean="0">
                <a:solidFill>
                  <a:schemeClr val="bg1"/>
                </a:solidFill>
              </a:rPr>
              <a:t>개의 </a:t>
            </a:r>
            <a:r>
              <a:rPr lang="en-US" altLang="ko-KR" sz="1200" dirty="0" smtClean="0">
                <a:solidFill>
                  <a:schemeClr val="bg1"/>
                </a:solidFill>
              </a:rPr>
              <a:t>Worker Node</a:t>
            </a:r>
            <a:r>
              <a:rPr lang="ko-KR" altLang="en-US" sz="1200" dirty="0" smtClean="0">
                <a:solidFill>
                  <a:schemeClr val="bg1"/>
                </a:solidFill>
              </a:rPr>
              <a:t>에 각각 하나씩 </a:t>
            </a:r>
            <a:r>
              <a:rPr lang="en-US" altLang="ko-KR" sz="1200" dirty="0" smtClean="0">
                <a:solidFill>
                  <a:schemeClr val="bg1"/>
                </a:solidFill>
              </a:rPr>
              <a:t>Pod</a:t>
            </a:r>
            <a:r>
              <a:rPr lang="ko-KR" altLang="en-US" sz="1200" dirty="0" smtClean="0">
                <a:solidFill>
                  <a:schemeClr val="bg1"/>
                </a:solidFill>
              </a:rPr>
              <a:t>가 배포됨을 확인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NAME                               </a:t>
            </a:r>
            <a:r>
              <a:rPr lang="en-US" altLang="ko-KR" sz="1200" dirty="0">
                <a:solidFill>
                  <a:schemeClr val="bg1"/>
                </a:solidFill>
              </a:rPr>
              <a:t>READY   STATUS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RESTARTS   </a:t>
            </a:r>
            <a:r>
              <a:rPr lang="en-US" altLang="ko-KR" sz="1200" dirty="0">
                <a:solidFill>
                  <a:schemeClr val="bg1"/>
                </a:solidFill>
              </a:rPr>
              <a:t>AGE   </a:t>
            </a:r>
            <a:r>
              <a:rPr lang="en-US" altLang="ko-KR" sz="1200" dirty="0" smtClean="0">
                <a:solidFill>
                  <a:schemeClr val="bg1"/>
                </a:solidFill>
              </a:rPr>
              <a:t> IP                 </a:t>
            </a:r>
            <a:r>
              <a:rPr lang="en-US" altLang="ko-KR" sz="1200" dirty="0">
                <a:solidFill>
                  <a:schemeClr val="bg1"/>
                </a:solidFill>
              </a:rPr>
              <a:t>NODE      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NOMINATED </a:t>
            </a:r>
            <a:r>
              <a:rPr lang="en-US" altLang="ko-KR" sz="1200" dirty="0">
                <a:solidFill>
                  <a:schemeClr val="bg1"/>
                </a:solidFill>
              </a:rPr>
              <a:t>NODE </a:t>
            </a:r>
            <a:r>
              <a:rPr lang="en-US" altLang="ko-KR" sz="1200" dirty="0" smtClean="0">
                <a:solidFill>
                  <a:schemeClr val="bg1"/>
                </a:solidFill>
              </a:rPr>
              <a:t>  READINESS </a:t>
            </a:r>
            <a:r>
              <a:rPr lang="en-US" altLang="ko-KR" sz="1200" dirty="0">
                <a:solidFill>
                  <a:schemeClr val="bg1"/>
                </a:solidFill>
              </a:rPr>
              <a:t>GATES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daemonset-nginx-9fm6z        1/1        </a:t>
            </a:r>
            <a:r>
              <a:rPr lang="en-US" altLang="ko-KR" sz="1200" dirty="0">
                <a:solidFill>
                  <a:schemeClr val="bg1"/>
                </a:solidFill>
              </a:rPr>
              <a:t>Running   </a:t>
            </a:r>
            <a:r>
              <a:rPr lang="en-US" altLang="ko-KR" sz="1200" dirty="0" smtClean="0">
                <a:solidFill>
                  <a:schemeClr val="bg1"/>
                </a:solidFill>
              </a:rPr>
              <a:t> 0              </a:t>
            </a:r>
            <a:r>
              <a:rPr lang="en-US" altLang="ko-KR" sz="1200" dirty="0">
                <a:solidFill>
                  <a:schemeClr val="bg1"/>
                </a:solidFill>
              </a:rPr>
              <a:t>7s      10.244.107.53   k8sedu-node02   &lt;none&gt;     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   &lt;none</a:t>
            </a:r>
            <a:r>
              <a:rPr lang="en-US" altLang="ko-KR" sz="1200" dirty="0">
                <a:solidFill>
                  <a:schemeClr val="bg1"/>
                </a:solidFill>
              </a:rPr>
              <a:t>&gt;</a:t>
            </a: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daemonset-nginx-jg9tk          1/1        </a:t>
            </a:r>
            <a:r>
              <a:rPr lang="en-US" altLang="ko-KR" sz="1200" dirty="0">
                <a:solidFill>
                  <a:schemeClr val="bg1"/>
                </a:solidFill>
              </a:rPr>
              <a:t>Running   </a:t>
            </a:r>
            <a:r>
              <a:rPr lang="en-US" altLang="ko-KR" sz="1200" dirty="0" smtClean="0">
                <a:solidFill>
                  <a:schemeClr val="bg1"/>
                </a:solidFill>
              </a:rPr>
              <a:t> 0              7s      </a:t>
            </a:r>
            <a:r>
              <a:rPr lang="en-US" altLang="ko-KR" sz="1200" dirty="0">
                <a:solidFill>
                  <a:schemeClr val="bg1"/>
                </a:solidFill>
              </a:rPr>
              <a:t>10.244.0.71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</a:t>
            </a:r>
            <a:r>
              <a:rPr lang="en-US" altLang="ko-KR" sz="1200" dirty="0">
                <a:solidFill>
                  <a:schemeClr val="bg1"/>
                </a:solidFill>
              </a:rPr>
              <a:t>k8sedu-node01   &lt;none&gt;       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     &lt;</a:t>
            </a:r>
            <a:r>
              <a:rPr lang="en-US" altLang="ko-KR" sz="1200" dirty="0">
                <a:solidFill>
                  <a:schemeClr val="bg1"/>
                </a:solidFill>
              </a:rPr>
              <a:t>none&gt;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4342" y="4814671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Pod </a:t>
            </a:r>
            <a:r>
              <a:rPr lang="ko-KR" altLang="en-US" sz="1400" dirty="0" smtClean="0"/>
              <a:t>상태 확인</a:t>
            </a:r>
            <a:endParaRPr lang="en-US" altLang="ko-KR" sz="1400" dirty="0" smtClean="0"/>
          </a:p>
        </p:txBody>
      </p:sp>
      <p:sp>
        <p:nvSpPr>
          <p:cNvPr id="45" name="직사각형 44"/>
          <p:cNvSpPr/>
          <p:nvPr/>
        </p:nvSpPr>
        <p:spPr>
          <a:xfrm>
            <a:off x="6927680" y="5364059"/>
            <a:ext cx="1206670" cy="540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6475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8. Static Pods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11199" y="715450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err="1"/>
              <a:t>k</a:t>
            </a:r>
            <a:r>
              <a:rPr lang="en-US" altLang="ko-KR" sz="1400" dirty="0" err="1" smtClean="0"/>
              <a:t>ubelet</a:t>
            </a:r>
            <a:r>
              <a:rPr lang="ko-KR" altLang="en-US" sz="1400" dirty="0" smtClean="0"/>
              <a:t>이 지정한 경로 확인</a:t>
            </a:r>
            <a:endParaRPr lang="en-US" altLang="ko-KR" sz="1400" dirty="0" smtClean="0"/>
          </a:p>
        </p:txBody>
      </p:sp>
      <p:grpSp>
        <p:nvGrpSpPr>
          <p:cNvPr id="11" name="그룹 10"/>
          <p:cNvGrpSpPr/>
          <p:nvPr/>
        </p:nvGrpSpPr>
        <p:grpSpPr>
          <a:xfrm>
            <a:off x="704850" y="1061699"/>
            <a:ext cx="3478029" cy="1477328"/>
            <a:chOff x="711199" y="4129381"/>
            <a:chExt cx="3478029" cy="1477328"/>
          </a:xfrm>
        </p:grpSpPr>
        <p:sp>
          <p:nvSpPr>
            <p:cNvPr id="52" name="TextBox 7"/>
            <p:cNvSpPr txBox="1"/>
            <p:nvPr/>
          </p:nvSpPr>
          <p:spPr>
            <a:xfrm>
              <a:off x="711199" y="4406380"/>
              <a:ext cx="3478029" cy="1200329"/>
            </a:xfrm>
            <a:prstGeom prst="rect">
              <a:avLst/>
            </a:prstGeom>
            <a:solidFill>
              <a:srgbClr val="BBE0E3"/>
            </a:solidFill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/>
                <a:t>apiVersion</a:t>
              </a:r>
              <a:r>
                <a:rPr lang="en-US" altLang="ko-KR" sz="1200" dirty="0"/>
                <a:t>: kubelet.config.k8s.io/v1beta1</a:t>
              </a:r>
            </a:p>
            <a:p>
              <a:r>
                <a:rPr lang="en-US" altLang="ko-KR" sz="1200" dirty="0" smtClean="0"/>
                <a:t>Authentication</a:t>
              </a:r>
              <a:r>
                <a:rPr lang="en-US" altLang="ko-KR" sz="1200" dirty="0"/>
                <a:t>:</a:t>
              </a:r>
            </a:p>
            <a:p>
              <a:r>
                <a:rPr lang="en-US" altLang="ko-KR" sz="1200" dirty="0"/>
                <a:t>  anonymous</a:t>
              </a:r>
              <a:r>
                <a:rPr lang="en-US" altLang="ko-KR" sz="1200" dirty="0" smtClean="0"/>
                <a:t>:</a:t>
              </a:r>
            </a:p>
            <a:p>
              <a:r>
                <a:rPr lang="en-US" altLang="ko-KR" sz="1200" dirty="0" smtClean="0"/>
                <a:t>…(</a:t>
              </a:r>
              <a:r>
                <a:rPr lang="ko-KR" altLang="en-US" sz="1200" dirty="0" smtClean="0"/>
                <a:t>생략</a:t>
              </a:r>
              <a:r>
                <a:rPr lang="en-US" altLang="ko-KR" sz="1200" dirty="0" smtClean="0"/>
                <a:t>)</a:t>
              </a:r>
            </a:p>
            <a:p>
              <a:r>
                <a:rPr lang="en-US" altLang="ko-KR" sz="1200" dirty="0" err="1">
                  <a:solidFill>
                    <a:srgbClr val="FF0000"/>
                  </a:solidFill>
                </a:rPr>
                <a:t>staticPodPath</a:t>
              </a:r>
              <a:r>
                <a:rPr lang="en-US" altLang="ko-KR" sz="1200" dirty="0">
                  <a:solidFill>
                    <a:srgbClr val="FF0000"/>
                  </a:solidFill>
                </a:rPr>
                <a:t>: /</a:t>
              </a:r>
              <a:r>
                <a:rPr lang="en-US" altLang="ko-KR" sz="1200" dirty="0" err="1" smtClean="0">
                  <a:solidFill>
                    <a:srgbClr val="FF0000"/>
                  </a:solidFill>
                </a:rPr>
                <a:t>etc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/</a:t>
              </a:r>
              <a:r>
                <a:rPr lang="en-US" altLang="ko-KR" sz="1200" dirty="0" err="1" smtClean="0">
                  <a:solidFill>
                    <a:srgbClr val="FF0000"/>
                  </a:solidFill>
                </a:rPr>
                <a:t>kubernetes</a:t>
              </a:r>
              <a:r>
                <a:rPr lang="en-US" altLang="ko-KR" sz="1200" dirty="0" smtClean="0">
                  <a:solidFill>
                    <a:srgbClr val="FF0000"/>
                  </a:solidFill>
                </a:rPr>
                <a:t>/manifests</a:t>
              </a:r>
            </a:p>
            <a:p>
              <a:r>
                <a:rPr lang="en-US" altLang="ko-KR" sz="1200" dirty="0" smtClean="0"/>
                <a:t>…(</a:t>
              </a:r>
              <a:r>
                <a:rPr lang="ko-KR" altLang="en-US" sz="1200" dirty="0" smtClean="0"/>
                <a:t>생략</a:t>
              </a:r>
              <a:r>
                <a:rPr lang="en-US" altLang="ko-KR" sz="1200" dirty="0" smtClean="0"/>
                <a:t>)</a:t>
              </a:r>
              <a:endParaRPr lang="en-US" altLang="ko-KR" sz="1200" dirty="0"/>
            </a:p>
          </p:txBody>
        </p:sp>
        <p:sp>
          <p:nvSpPr>
            <p:cNvPr id="53" name="TextBox 3"/>
            <p:cNvSpPr txBox="1"/>
            <p:nvPr/>
          </p:nvSpPr>
          <p:spPr>
            <a:xfrm>
              <a:off x="711199" y="4129381"/>
              <a:ext cx="2250343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ko-KR" sz="1200" b="1" dirty="0" smtClean="0">
                  <a:solidFill>
                    <a:sysClr val="windowText" lastClr="000000"/>
                  </a:solidFill>
                </a:rPr>
                <a:t>/</a:t>
              </a:r>
              <a:r>
                <a:rPr lang="en-US" altLang="ko-KR" sz="1200" b="1" dirty="0" err="1" smtClean="0">
                  <a:solidFill>
                    <a:sysClr val="windowText" lastClr="000000"/>
                  </a:solidFill>
                </a:rPr>
                <a:t>var</a:t>
              </a:r>
              <a:r>
                <a:rPr lang="en-US" altLang="ko-KR" sz="1200" b="1" dirty="0" smtClean="0">
                  <a:solidFill>
                    <a:sysClr val="windowText" lastClr="000000"/>
                  </a:solidFill>
                </a:rPr>
                <a:t>/lib/</a:t>
              </a:r>
              <a:r>
                <a:rPr lang="en-US" altLang="ko-KR" sz="1200" b="1" dirty="0" err="1" smtClean="0">
                  <a:solidFill>
                    <a:sysClr val="windowText" lastClr="000000"/>
                  </a:solidFill>
                </a:rPr>
                <a:t>kubelet</a:t>
              </a:r>
              <a:r>
                <a:rPr lang="en-US" altLang="ko-KR" sz="1200" b="1" dirty="0" smtClean="0">
                  <a:solidFill>
                    <a:sysClr val="windowText" lastClr="000000"/>
                  </a:solidFill>
                </a:rPr>
                <a:t>/</a:t>
              </a:r>
              <a:r>
                <a:rPr lang="en-US" altLang="ko-KR" sz="1200" b="1" dirty="0" err="1" smtClean="0">
                  <a:solidFill>
                    <a:sysClr val="windowText" lastClr="000000"/>
                  </a:solidFill>
                </a:rPr>
                <a:t>config.yaml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695325" y="2625172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err="1" smtClean="0"/>
              <a:t>Worker</a:t>
            </a:r>
            <a:r>
              <a:rPr lang="en-US" altLang="ko-KR" sz="1400" dirty="0" err="1"/>
              <a:t>node</a:t>
            </a:r>
            <a:r>
              <a:rPr lang="en-US" altLang="ko-KR" sz="1400" dirty="0"/>
              <a:t>(k8sedu-node01)</a:t>
            </a:r>
            <a:r>
              <a:rPr lang="ko-KR" altLang="en-US" sz="1400" dirty="0" smtClean="0"/>
              <a:t>에 접속 후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해당 경로</a:t>
            </a:r>
            <a:r>
              <a:rPr lang="en-US" altLang="ko-KR" sz="1400" dirty="0" smtClean="0"/>
              <a:t>(</a:t>
            </a:r>
            <a:r>
              <a:rPr lang="en-US" altLang="ko-KR" sz="1400" dirty="0"/>
              <a:t>/</a:t>
            </a:r>
            <a:r>
              <a:rPr lang="en-US" altLang="ko-KR" sz="1400" dirty="0" err="1"/>
              <a:t>etc</a:t>
            </a:r>
            <a:r>
              <a:rPr lang="en-US" altLang="ko-KR" sz="1400" dirty="0"/>
              <a:t>/</a:t>
            </a:r>
            <a:r>
              <a:rPr lang="en-US" altLang="ko-KR" sz="1400" dirty="0" err="1"/>
              <a:t>kubernetes</a:t>
            </a:r>
            <a:r>
              <a:rPr lang="en-US" altLang="ko-KR" sz="1400" dirty="0"/>
              <a:t>/manifests</a:t>
            </a:r>
            <a:r>
              <a:rPr lang="en-US" altLang="ko-KR" sz="1400" dirty="0" smtClean="0"/>
              <a:t>)</a:t>
            </a:r>
            <a:r>
              <a:rPr lang="ko-KR" altLang="en-US" sz="1400" dirty="0" smtClean="0"/>
              <a:t>에 아래 </a:t>
            </a:r>
            <a:r>
              <a:rPr lang="en-US" altLang="ko-KR" sz="1400" dirty="0" err="1" smtClean="0"/>
              <a:t>Yaml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업로드</a:t>
            </a:r>
            <a:r>
              <a:rPr lang="en-US" altLang="ko-KR" sz="1400" dirty="0" smtClean="0"/>
              <a:t> </a:t>
            </a:r>
          </a:p>
        </p:txBody>
      </p:sp>
      <p:grpSp>
        <p:nvGrpSpPr>
          <p:cNvPr id="29" name="그룹 28"/>
          <p:cNvGrpSpPr/>
          <p:nvPr/>
        </p:nvGrpSpPr>
        <p:grpSpPr>
          <a:xfrm>
            <a:off x="706031" y="2932949"/>
            <a:ext cx="3478029" cy="1846659"/>
            <a:chOff x="711199" y="4129381"/>
            <a:chExt cx="3478029" cy="1846659"/>
          </a:xfrm>
        </p:grpSpPr>
        <p:sp>
          <p:nvSpPr>
            <p:cNvPr id="30" name="TextBox 7"/>
            <p:cNvSpPr txBox="1"/>
            <p:nvPr/>
          </p:nvSpPr>
          <p:spPr>
            <a:xfrm>
              <a:off x="711199" y="4406380"/>
              <a:ext cx="3478029" cy="1569660"/>
            </a:xfrm>
            <a:prstGeom prst="rect">
              <a:avLst/>
            </a:prstGeom>
            <a:solidFill>
              <a:srgbClr val="BBE0E3"/>
            </a:solidFill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dirty="0" err="1" smtClean="0"/>
                <a:t>apiVersion</a:t>
              </a:r>
              <a:r>
                <a:rPr lang="en-US" altLang="ko-KR" sz="1200" dirty="0"/>
                <a:t>: v1</a:t>
              </a:r>
            </a:p>
            <a:p>
              <a:r>
                <a:rPr lang="en-US" altLang="ko-KR" sz="1200" dirty="0"/>
                <a:t>kind: Pod</a:t>
              </a:r>
            </a:p>
            <a:p>
              <a:r>
                <a:rPr lang="en-US" altLang="ko-KR" sz="1200" dirty="0"/>
                <a:t>metadata:</a:t>
              </a:r>
            </a:p>
            <a:p>
              <a:r>
                <a:rPr lang="en-US" altLang="ko-KR" sz="1200" dirty="0"/>
                <a:t>  name: static-</a:t>
              </a:r>
              <a:r>
                <a:rPr lang="en-US" altLang="ko-KR" sz="1200" dirty="0" err="1"/>
                <a:t>nginx</a:t>
              </a:r>
              <a:endParaRPr lang="en-US" altLang="ko-KR" sz="1200" dirty="0"/>
            </a:p>
            <a:p>
              <a:r>
                <a:rPr lang="en-US" altLang="ko-KR" sz="1200" dirty="0"/>
                <a:t>spec:</a:t>
              </a:r>
            </a:p>
            <a:p>
              <a:r>
                <a:rPr lang="en-US" altLang="ko-KR" sz="1200" dirty="0"/>
                <a:t>  containers:</a:t>
              </a:r>
            </a:p>
            <a:p>
              <a:r>
                <a:rPr lang="en-US" altLang="ko-KR" sz="1200" dirty="0"/>
                <a:t>  - name: </a:t>
              </a:r>
              <a:r>
                <a:rPr lang="en-US" altLang="ko-KR" sz="1200" dirty="0" err="1"/>
                <a:t>nginx</a:t>
              </a:r>
              <a:endParaRPr lang="en-US" altLang="ko-KR" sz="1200" dirty="0"/>
            </a:p>
            <a:p>
              <a:r>
                <a:rPr lang="en-US" altLang="ko-KR" sz="1200" dirty="0"/>
                <a:t>    image: </a:t>
              </a:r>
              <a:r>
                <a:rPr lang="en-US" altLang="ko-KR" sz="1200" dirty="0" err="1"/>
                <a:t>nginx</a:t>
              </a:r>
              <a:endParaRPr lang="en-US" altLang="ko-KR" sz="1200" dirty="0"/>
            </a:p>
          </p:txBody>
        </p:sp>
        <p:sp>
          <p:nvSpPr>
            <p:cNvPr id="31" name="TextBox 3"/>
            <p:cNvSpPr txBox="1"/>
            <p:nvPr/>
          </p:nvSpPr>
          <p:spPr>
            <a:xfrm>
              <a:off x="711199" y="4129381"/>
              <a:ext cx="2250343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BBE0E3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200" b="1" dirty="0" smtClean="0">
                  <a:solidFill>
                    <a:sysClr val="windowText" lastClr="000000"/>
                  </a:solidFill>
                </a:rPr>
                <a:t>static-</a:t>
              </a:r>
              <a:r>
                <a:rPr lang="en-US" altLang="ko-KR" sz="1200" b="1" dirty="0" err="1" smtClean="0">
                  <a:solidFill>
                    <a:sysClr val="windowText" lastClr="000000"/>
                  </a:solidFill>
                </a:rPr>
                <a:t>nginx.yaml</a:t>
              </a:r>
              <a:endParaRPr lang="en-US" altLang="ko-KR" sz="1200" b="1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32" name="TextBox 5"/>
          <p:cNvSpPr txBox="1"/>
          <p:nvPr/>
        </p:nvSpPr>
        <p:spPr>
          <a:xfrm>
            <a:off x="756535" y="5131973"/>
            <a:ext cx="10838341" cy="1015663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kubectl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r>
              <a:rPr lang="en-US" altLang="ko-KR" sz="1200" dirty="0">
                <a:solidFill>
                  <a:schemeClr val="bg1"/>
                </a:solidFill>
              </a:rPr>
              <a:t>get </a:t>
            </a:r>
            <a:r>
              <a:rPr lang="en-US" altLang="ko-KR" sz="1200" dirty="0" smtClean="0">
                <a:solidFill>
                  <a:schemeClr val="bg1"/>
                </a:solidFill>
              </a:rPr>
              <a:t>pods –n default		# Pod </a:t>
            </a:r>
            <a:r>
              <a:rPr lang="ko-KR" altLang="en-US" sz="1200" dirty="0" smtClean="0">
                <a:solidFill>
                  <a:schemeClr val="bg1"/>
                </a:solidFill>
              </a:rPr>
              <a:t>정상 배포 확인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   NAME                               </a:t>
            </a:r>
            <a:r>
              <a:rPr lang="en-US" altLang="ko-KR" sz="1200" dirty="0">
                <a:solidFill>
                  <a:schemeClr val="bg1"/>
                </a:solidFill>
              </a:rPr>
              <a:t>READY   STATUS    </a:t>
            </a:r>
            <a:r>
              <a:rPr lang="en-US" altLang="ko-KR" sz="1200" dirty="0" smtClean="0">
                <a:solidFill>
                  <a:schemeClr val="bg1"/>
                </a:solidFill>
              </a:rPr>
              <a:t>  RESTARTS   </a:t>
            </a:r>
            <a:r>
              <a:rPr lang="en-US" altLang="ko-KR" sz="1200" dirty="0">
                <a:solidFill>
                  <a:schemeClr val="bg1"/>
                </a:solidFill>
              </a:rPr>
              <a:t>AGE 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   static-nginx-k8sedu-node01     </a:t>
            </a:r>
            <a:r>
              <a:rPr lang="en-US" altLang="ko-KR" sz="1200" dirty="0" smtClean="0">
                <a:solidFill>
                  <a:schemeClr val="bg1"/>
                </a:solidFill>
              </a:rPr>
              <a:t>1/1       </a:t>
            </a:r>
            <a:r>
              <a:rPr lang="en-US" altLang="ko-KR" sz="1200" dirty="0">
                <a:solidFill>
                  <a:schemeClr val="bg1"/>
                </a:solidFill>
              </a:rPr>
              <a:t>Running   </a:t>
            </a:r>
            <a:r>
              <a:rPr lang="en-US" altLang="ko-KR" sz="1200" dirty="0" smtClean="0">
                <a:solidFill>
                  <a:schemeClr val="bg1"/>
                </a:solidFill>
              </a:rPr>
              <a:t>  0              14s </a:t>
            </a:r>
          </a:p>
          <a:p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#   Static </a:t>
            </a:r>
            <a:r>
              <a:rPr lang="en-US" altLang="ko-KR" sz="1200" dirty="0">
                <a:solidFill>
                  <a:schemeClr val="bg1"/>
                </a:solidFill>
              </a:rPr>
              <a:t>pod</a:t>
            </a:r>
            <a:r>
              <a:rPr lang="ko-KR" altLang="en-US" sz="1200" dirty="0">
                <a:solidFill>
                  <a:schemeClr val="bg1"/>
                </a:solidFill>
              </a:rPr>
              <a:t>는 </a:t>
            </a:r>
            <a:r>
              <a:rPr lang="en-US" altLang="ko-KR" sz="1200" dirty="0" smtClean="0">
                <a:solidFill>
                  <a:schemeClr val="bg1"/>
                </a:solidFill>
              </a:rPr>
              <a:t>Pod</a:t>
            </a:r>
            <a:r>
              <a:rPr lang="ko-KR" altLang="en-US" sz="1200" dirty="0" smtClean="0">
                <a:solidFill>
                  <a:schemeClr val="bg1"/>
                </a:solidFill>
              </a:rPr>
              <a:t> </a:t>
            </a:r>
            <a:r>
              <a:rPr lang="ko-KR" altLang="en-US" sz="1200" dirty="0">
                <a:solidFill>
                  <a:schemeClr val="bg1"/>
                </a:solidFill>
              </a:rPr>
              <a:t>이름 뒤에 </a:t>
            </a:r>
            <a:r>
              <a:rPr lang="en-US" altLang="ko-KR" sz="1200" dirty="0" err="1">
                <a:solidFill>
                  <a:schemeClr val="bg1"/>
                </a:solidFill>
              </a:rPr>
              <a:t>N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odeName</a:t>
            </a:r>
            <a:r>
              <a:rPr lang="ko-KR" altLang="en-US" sz="1200" dirty="0">
                <a:solidFill>
                  <a:schemeClr val="bg1"/>
                </a:solidFill>
              </a:rPr>
              <a:t>이 붙는다</a:t>
            </a:r>
            <a:r>
              <a:rPr lang="en-US" altLang="ko-KR" sz="1200" dirty="0" smtClean="0">
                <a:solidFill>
                  <a:schemeClr val="bg1"/>
                </a:solidFill>
              </a:rPr>
              <a:t>.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24342" y="4824196"/>
            <a:ext cx="98575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dirty="0" smtClean="0"/>
              <a:t>Pod </a:t>
            </a:r>
            <a:r>
              <a:rPr lang="ko-KR" altLang="en-US" sz="1400" dirty="0" smtClean="0"/>
              <a:t>상태 확인</a:t>
            </a:r>
            <a:endParaRPr lang="en-US" altLang="ko-KR" sz="1400" dirty="0" smtClean="0"/>
          </a:p>
        </p:txBody>
      </p:sp>
      <p:sp>
        <p:nvSpPr>
          <p:cNvPr id="36" name="직사각형 35"/>
          <p:cNvSpPr/>
          <p:nvPr/>
        </p:nvSpPr>
        <p:spPr>
          <a:xfrm>
            <a:off x="1850053" y="5524499"/>
            <a:ext cx="1124189" cy="19050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6390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02524" y="2094660"/>
            <a:ext cx="4942186" cy="795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219"/>
              </a:lnSpc>
            </a:pPr>
            <a:r>
              <a:rPr sz="5400" spc="-104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WRTDIQ+SpoqaHanSans-Bold"/>
              </a:rPr>
              <a:t>감사합니다.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41464" y="4996703"/>
            <a:ext cx="5687935" cy="969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본사        </a:t>
            </a:r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경기도 </a:t>
            </a:r>
            <a:r>
              <a:rPr lang="ko-KR" altLang="en-US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성남시 분당구 </a:t>
            </a:r>
            <a:r>
              <a:rPr lang="ko-KR" altLang="en-US" sz="1050" dirty="0" err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황새울로</a:t>
            </a:r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258</a:t>
            </a:r>
            <a:r>
              <a:rPr lang="ko-KR" altLang="en-US" sz="1050" dirty="0" err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번길</a:t>
            </a:r>
            <a:r>
              <a:rPr lang="ko-KR" altLang="en-US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 </a:t>
            </a:r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29, </a:t>
            </a:r>
            <a:r>
              <a:rPr lang="ko-KR" altLang="en-US" sz="1050" dirty="0" err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티맥스수내타워</a:t>
            </a:r>
            <a:r>
              <a:rPr lang="ko-KR" altLang="en-US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ko-KR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R&amp;D</a:t>
            </a:r>
            <a:r>
              <a:rPr lang="ko-KR" altLang="en-US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센터  </a:t>
            </a:r>
            <a:r>
              <a:rPr lang="ko-KR" altLang="en-US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경기도 성남시 분당구 </a:t>
            </a:r>
            <a:r>
              <a:rPr lang="ko-KR" altLang="en-US" sz="1050" dirty="0" err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정자일로</a:t>
            </a:r>
            <a:r>
              <a:rPr lang="ko-KR" altLang="en-US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 </a:t>
            </a:r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45, </a:t>
            </a:r>
            <a:r>
              <a:rPr lang="ko-KR" altLang="en-US" sz="1050" dirty="0" err="1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티맥스타워</a:t>
            </a:r>
            <a:endParaRPr lang="en-US" altLang="ko-KR" sz="1050" dirty="0" smtClean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BVOPUE+SpoqaHanSans-Bold"/>
            </a:endParaRPr>
          </a:p>
          <a:p>
            <a:pPr>
              <a:lnSpc>
                <a:spcPct val="150000"/>
              </a:lnSpc>
            </a:pPr>
            <a:r>
              <a:rPr lang="ko-KR" altLang="en-US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홈페이지</a:t>
            </a:r>
            <a:r>
              <a:rPr lang="en-US" altLang="ko-KR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 </a:t>
            </a:r>
            <a:r>
              <a:rPr lang="ko-KR" altLang="en-US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 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www.tmaxsoft.com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+mn-ea"/>
                <a:cs typeface="BVOPUE+SpoqaHanSans-Bold"/>
              </a:rPr>
              <a:t>대표번호</a:t>
            </a:r>
            <a:r>
              <a:rPr lang="en-US" altLang="ko-KR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+mn-ea"/>
                <a:cs typeface="BVOPUE+SpoqaHanSans-Bold"/>
              </a:rPr>
              <a:t> </a:t>
            </a:r>
            <a:r>
              <a:rPr lang="ko-KR" altLang="en-US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+mn-ea"/>
                <a:cs typeface="BVOPUE+SpoqaHanSans-Bold"/>
              </a:rPr>
              <a:t> 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+mn-ea"/>
                <a:cs typeface="BVOPUE+SpoqaHanSans-Bold"/>
              </a:rPr>
              <a:t>031-8018-1000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1464" y="4336547"/>
            <a:ext cx="2254733" cy="466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2580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25671</TotalTime>
  <Words>1595</Words>
  <Application>Microsoft Office PowerPoint</Application>
  <PresentationFormat>와이드스크린</PresentationFormat>
  <Paragraphs>367</Paragraphs>
  <Slides>16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7" baseType="lpstr">
      <vt:lpstr>BVOPUE+SpoqaHanSans-Bold</vt:lpstr>
      <vt:lpstr>Pretendard SemiBold</vt:lpstr>
      <vt:lpstr>Univers LT Std 85 XBlk</vt:lpstr>
      <vt:lpstr>WRTDIQ+SpoqaHanSans-Bold</vt:lpstr>
      <vt:lpstr>나눔고딕</vt:lpstr>
      <vt:lpstr>뉴티맥스고딕 CJK</vt:lpstr>
      <vt:lpstr>맑은 고딕</vt:lpstr>
      <vt:lpstr>Arial</vt:lpstr>
      <vt:lpstr>Arial Black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Tmax</dc:creator>
  <cp:lastModifiedBy>조 성환</cp:lastModifiedBy>
  <cp:revision>419</cp:revision>
  <dcterms:created xsi:type="dcterms:W3CDTF">2022-09-15T01:21:24Z</dcterms:created>
  <dcterms:modified xsi:type="dcterms:W3CDTF">2025-03-05T01:27:44Z</dcterms:modified>
</cp:coreProperties>
</file>