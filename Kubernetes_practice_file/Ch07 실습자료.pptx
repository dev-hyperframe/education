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91" r:id="rId2"/>
    <p:sldId id="510" r:id="rId3"/>
    <p:sldId id="360" r:id="rId4"/>
    <p:sldId id="478" r:id="rId5"/>
    <p:sldId id="483" r:id="rId6"/>
    <p:sldId id="479" r:id="rId7"/>
    <p:sldId id="492" r:id="rId8"/>
    <p:sldId id="493" r:id="rId9"/>
    <p:sldId id="488" r:id="rId10"/>
    <p:sldId id="496" r:id="rId11"/>
    <p:sldId id="489" r:id="rId12"/>
    <p:sldId id="497" r:id="rId13"/>
    <p:sldId id="499" r:id="rId14"/>
    <p:sldId id="500" r:id="rId15"/>
    <p:sldId id="501" r:id="rId16"/>
    <p:sldId id="502" r:id="rId17"/>
    <p:sldId id="503" r:id="rId18"/>
    <p:sldId id="504" r:id="rId19"/>
    <p:sldId id="505" r:id="rId20"/>
    <p:sldId id="507" r:id="rId21"/>
    <p:sldId id="50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491"/>
            <p14:sldId id="510"/>
            <p14:sldId id="360"/>
            <p14:sldId id="478"/>
            <p14:sldId id="483"/>
            <p14:sldId id="479"/>
            <p14:sldId id="492"/>
            <p14:sldId id="493"/>
            <p14:sldId id="488"/>
            <p14:sldId id="496"/>
            <p14:sldId id="489"/>
            <p14:sldId id="497"/>
            <p14:sldId id="499"/>
            <p14:sldId id="500"/>
            <p14:sldId id="501"/>
            <p14:sldId id="502"/>
            <p14:sldId id="503"/>
            <p14:sldId id="504"/>
            <p14:sldId id="505"/>
            <p14:sldId id="507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pos="461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pos="7605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orient="horz" pos="2387" userDrawn="1">
          <p15:clr>
            <a:srgbClr val="A4A3A4"/>
          </p15:clr>
        </p15:guide>
        <p15:guide id="7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5B9BD5"/>
    <a:srgbClr val="85C8CD"/>
    <a:srgbClr val="BBE0E3"/>
    <a:srgbClr val="2366EF"/>
    <a:srgbClr val="7D9EBB"/>
    <a:srgbClr val="171C2C"/>
    <a:srgbClr val="0232AE"/>
    <a:srgbClr val="BACDFE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181" autoAdjust="0"/>
  </p:normalViewPr>
  <p:slideViewPr>
    <p:cSldViewPr snapToGrid="0">
      <p:cViewPr varScale="1">
        <p:scale>
          <a:sx n="94" d="100"/>
          <a:sy n="94" d="100"/>
        </p:scale>
        <p:origin x="1176" y="78"/>
      </p:cViewPr>
      <p:guideLst>
        <p:guide pos="461"/>
        <p:guide pos="3976"/>
        <p:guide pos="7605"/>
        <p:guide orient="horz" pos="981"/>
        <p:guide orient="horz" pos="504"/>
        <p:guide orient="horz" pos="2387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258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[</a:t>
            </a:r>
            <a:r>
              <a:rPr lang="ko-KR" altLang="en-US" sz="1200" dirty="0" smtClean="0"/>
              <a:t>필요 시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‘Metrics-Server’ </a:t>
            </a:r>
            <a:r>
              <a:rPr lang="en-US" altLang="ko-KR" sz="1200" dirty="0" err="1" smtClean="0"/>
              <a:t>Yaml</a:t>
            </a:r>
            <a:r>
              <a:rPr lang="ko-KR" altLang="en-US" sz="1200" baseline="0" dirty="0" smtClean="0"/>
              <a:t>에 추가 내용</a:t>
            </a:r>
            <a:r>
              <a:rPr lang="en-US" altLang="ko-KR" sz="1200" dirty="0" smtClean="0"/>
              <a:t>]</a:t>
            </a:r>
          </a:p>
          <a:p>
            <a:pPr marL="0" indent="0">
              <a:buFontTx/>
              <a:buNone/>
            </a:pPr>
            <a:r>
              <a:rPr lang="en-US" altLang="ko-KR" sz="1200" b="0" dirty="0" err="1" smtClean="0"/>
              <a:t>Yaml</a:t>
            </a:r>
            <a:r>
              <a:rPr lang="ko-KR" altLang="en-US" sz="1200" b="0" dirty="0" smtClean="0"/>
              <a:t>내</a:t>
            </a:r>
            <a:r>
              <a:rPr lang="en-US" altLang="ko-KR" sz="1200" b="0" dirty="0" smtClean="0"/>
              <a:t>, </a:t>
            </a:r>
            <a:r>
              <a:rPr lang="en-US" altLang="ko-KR" sz="1200" b="0" dirty="0" err="1" smtClean="0"/>
              <a:t>spec.template.spec.containers.args</a:t>
            </a:r>
            <a:r>
              <a:rPr lang="en-US" altLang="ko-KR" sz="1200" b="0" dirty="0" smtClean="0"/>
              <a:t> </a:t>
            </a:r>
            <a:r>
              <a:rPr lang="ko-KR" altLang="en-US" sz="1200" b="0" dirty="0" smtClean="0"/>
              <a:t>부분에 아래 옵션 추가</a:t>
            </a:r>
            <a:endParaRPr lang="en-US" altLang="ko-KR" sz="1200" b="0" dirty="0" smtClean="0"/>
          </a:p>
          <a:p>
            <a:pPr marL="0" indent="0">
              <a:buFontTx/>
              <a:buNone/>
            </a:pPr>
            <a:endParaRPr lang="en-US" altLang="ko-KR" sz="1200" b="1" dirty="0" smtClean="0"/>
          </a:p>
          <a:p>
            <a:pPr marL="0" indent="0">
              <a:buFontTx/>
              <a:buNone/>
            </a:pPr>
            <a:r>
              <a:rPr lang="en-US" altLang="ko-KR" b="1" dirty="0" smtClean="0"/>
              <a:t>--</a:t>
            </a:r>
            <a:r>
              <a:rPr lang="en-US" altLang="ko-KR" b="1" dirty="0" err="1" smtClean="0"/>
              <a:t>kubelet</a:t>
            </a:r>
            <a:r>
              <a:rPr lang="en-US" altLang="ko-KR" b="1" dirty="0" smtClean="0"/>
              <a:t>-preferred-address-types=</a:t>
            </a:r>
            <a:r>
              <a:rPr lang="en-US" altLang="ko-KR" b="1" dirty="0" err="1" smtClean="0"/>
              <a:t>InternalIP,ExternalIP,Hostname</a:t>
            </a:r>
            <a:r>
              <a:rPr lang="en-US" altLang="ko-KR" b="1" dirty="0" smtClean="0"/>
              <a:t> </a:t>
            </a:r>
            <a:r>
              <a:rPr lang="en-US" altLang="ko-KR" dirty="0" smtClean="0"/>
              <a:t>: metrics-server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kubelet</a:t>
            </a:r>
            <a:r>
              <a:rPr lang="ko-KR" altLang="en-US" dirty="0" smtClean="0"/>
              <a:t>과 통신할 때 우선적으로 사용할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타입을 지정하여 안정적인 연결 보장</a:t>
            </a:r>
            <a:r>
              <a:rPr lang="en-US" altLang="ko-KR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5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358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Kubernetes </a:t>
            </a:r>
            <a:r>
              <a:rPr lang="en-US" altLang="ko-KR" sz="1200" dirty="0" err="1" smtClean="0"/>
              <a:t>Evnet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일 후에 자동으로 삭제 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dirty="0" smtClean="0"/>
              <a:t>[</a:t>
            </a:r>
            <a:r>
              <a:rPr lang="ko-KR" altLang="en-US" sz="1200" dirty="0" smtClean="0"/>
              <a:t>필드 설명</a:t>
            </a:r>
            <a:r>
              <a:rPr lang="en-US" altLang="ko-KR" sz="1200" dirty="0" smtClean="0"/>
              <a:t>]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NAMESAPCE :</a:t>
            </a:r>
            <a:r>
              <a:rPr lang="en-US" altLang="ko-KR" sz="1200" b="1" i="0" u="none" strike="noStrike" baseline="0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이벤트가 발생한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Namespace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LAST SEEN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이벤트가 발생한 마지막 시간</a:t>
            </a:r>
            <a:endParaRPr lang="en-US" altLang="ko-KR" sz="1200" b="0" i="0" u="none" strike="noStrike" dirty="0" smtClean="0">
              <a:solidFill>
                <a:srgbClr val="000000"/>
              </a:solidFill>
              <a:effectLst/>
              <a:latin typeface="맑은 고딕" panose="020B0503020000020004" pitchFamily="50" charset="-127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TYPE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이벤트 유형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(Normal, Warning)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REASON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이벤트가 발생한 이유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(Scheduled, Pulling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등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OBJECT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이벤트가 발생한 리소스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(Pod, Node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등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MESSAGE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이벤트 상세 설명</a:t>
            </a:r>
            <a:endParaRPr lang="en-US" altLang="ko-KR" sz="1200" b="0" i="0" u="none" strike="noStrike" dirty="0" smtClean="0">
              <a:solidFill>
                <a:srgbClr val="000000"/>
              </a:solidFill>
              <a:effectLst/>
              <a:latin typeface="맑은 고딕" panose="020B0503020000020004" pitchFamily="50" charset="-127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i="0" u="none" strike="noStrike" dirty="0" smtClean="0">
              <a:solidFill>
                <a:srgbClr val="000000"/>
              </a:solidFill>
              <a:effectLst/>
              <a:latin typeface="맑은 고딕" panose="020B0503020000020004" pitchFamily="50" charset="-127"/>
              <a:ea typeface="+mn-ea"/>
            </a:endParaRPr>
          </a:p>
          <a:p>
            <a:pPr marL="0" indent="0">
              <a:buFontTx/>
              <a:buNone/>
            </a:pPr>
            <a:r>
              <a:rPr lang="en-US" altLang="ko-KR" sz="1200" dirty="0" smtClean="0"/>
              <a:t>* </a:t>
            </a:r>
            <a:r>
              <a:rPr lang="ko-KR" altLang="en-US" sz="1200" dirty="0" smtClean="0"/>
              <a:t>옵션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activeDeadlineSeconds</a:t>
            </a:r>
            <a:r>
              <a:rPr lang="en-US" altLang="ko-KR" sz="1200" dirty="0" smtClean="0"/>
              <a:t>: 86400 </a:t>
            </a:r>
            <a:r>
              <a:rPr lang="en-US" altLang="ko-KR" sz="1200" baseline="0" dirty="0" smtClean="0"/>
              <a:t>   -&gt; 86400</a:t>
            </a:r>
            <a:r>
              <a:rPr lang="ko-KR" altLang="en-US" sz="1200" baseline="0" dirty="0" smtClean="0"/>
              <a:t>초가 지난 후</a:t>
            </a:r>
            <a:r>
              <a:rPr lang="en-US" altLang="ko-KR" sz="1200" baseline="0" dirty="0" smtClean="0"/>
              <a:t>, Pod </a:t>
            </a:r>
            <a:r>
              <a:rPr lang="ko-KR" altLang="en-US" sz="1200" baseline="0" dirty="0" smtClean="0"/>
              <a:t>강제 종료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--</a:t>
            </a:r>
            <a:r>
              <a:rPr lang="ko-KR" altLang="en-US" sz="1200" dirty="0" smtClean="0"/>
              <a:t>실습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Event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Default</a:t>
            </a:r>
            <a:r>
              <a:rPr lang="ko-KR" altLang="en-US" sz="1200" dirty="0" smtClean="0"/>
              <a:t>로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err="1" smtClean="0"/>
              <a:t>컨트롤러든</a:t>
            </a:r>
            <a:r>
              <a:rPr lang="en-US" altLang="ko-KR" sz="1200" dirty="0" smtClean="0"/>
              <a:t>, pod</a:t>
            </a:r>
            <a:r>
              <a:rPr lang="ko-KR" altLang="en-US" sz="1200" dirty="0" smtClean="0"/>
              <a:t>든 생성</a:t>
            </a:r>
            <a:r>
              <a:rPr lang="en-US" altLang="ko-KR" sz="1200" dirty="0" smtClean="0"/>
              <a:t>,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수정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삭제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32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[</a:t>
            </a:r>
            <a:r>
              <a:rPr lang="ko-KR" altLang="en-US" sz="1200" dirty="0" smtClean="0"/>
              <a:t>추가 명령어</a:t>
            </a:r>
            <a:r>
              <a:rPr lang="en-US" altLang="ko-KR" sz="1200" dirty="0" smtClean="0"/>
              <a:t>]</a:t>
            </a:r>
          </a:p>
          <a:p>
            <a:pPr marL="228600" marR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200" dirty="0" smtClean="0"/>
              <a:t>모든 이벤트 확인</a:t>
            </a:r>
            <a:r>
              <a:rPr lang="en-US" altLang="ko-KR" sz="1200" baseline="0" dirty="0" smtClean="0"/>
              <a:t> : </a:t>
            </a:r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events -A</a:t>
            </a:r>
          </a:p>
          <a:p>
            <a:pPr marL="228600" marR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200" dirty="0" smtClean="0"/>
              <a:t>특정 네임스페이스 이벤트 조회</a:t>
            </a:r>
            <a:r>
              <a:rPr lang="en-US" altLang="ko-KR" sz="1200" baseline="0" dirty="0" smtClean="0"/>
              <a:t> : </a:t>
            </a:r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events -n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-system</a:t>
            </a:r>
          </a:p>
          <a:p>
            <a:pPr marL="228600" marR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200" dirty="0" smtClean="0"/>
              <a:t>특정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 이벤트 조회</a:t>
            </a:r>
            <a:r>
              <a:rPr lang="en-US" altLang="ko-KR" sz="1200" baseline="0" dirty="0" smtClean="0"/>
              <a:t> : </a:t>
            </a:r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describe pod [POD_NAME]</a:t>
            </a:r>
          </a:p>
          <a:p>
            <a:pPr marL="228600" marR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ko-KR" sz="1200" dirty="0" smtClean="0">
              <a:solidFill>
                <a:schemeClr val="bg1"/>
              </a:solidFill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777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에서 운영중인 서비스는 </a:t>
            </a:r>
            <a:r>
              <a:rPr lang="en-US" altLang="ko-KR" sz="1200" dirty="0" smtClean="0"/>
              <a:t>log </a:t>
            </a:r>
            <a:r>
              <a:rPr lang="ko-KR" altLang="en-US" sz="1200" dirty="0" smtClean="0"/>
              <a:t>명령어를 통해 </a:t>
            </a:r>
            <a:r>
              <a:rPr lang="en-US" altLang="ko-KR" sz="1200" dirty="0" smtClean="0"/>
              <a:t>Log</a:t>
            </a:r>
            <a:r>
              <a:rPr lang="ko-KR" altLang="en-US" sz="1200" dirty="0" smtClean="0"/>
              <a:t>를 확인할 수 있다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412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22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896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6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394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319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713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288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594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532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353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365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700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915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192.168.53.21:6443/api/v1/namespaces/kubernetes-dashboard/services/https:kubernetes-dashboard:/proxy/#/logi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192.168.53.21:31000/#/logi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2025.02.27.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ko-KR" alt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실습자료</a:t>
            </a:r>
            <a:r>
              <a:rPr lang="ko-KR" alt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 </a:t>
            </a:r>
            <a:r>
              <a:rPr lang="en-US" altLang="ko-KR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07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35343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실습 자료 참고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URL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</a:t>
            </a:r>
          </a:p>
          <a:p>
            <a:pPr marL="180000">
              <a:spcBef>
                <a:spcPts val="600"/>
              </a:spcBef>
            </a:pPr>
            <a:r>
              <a:rPr lang="en-US" altLang="ko-KR" sz="1200" dirty="0"/>
              <a:t>https://</a:t>
            </a:r>
            <a:r>
              <a:rPr lang="en-US" altLang="ko-KR" sz="1200" dirty="0" smtClean="0"/>
              <a:t>github.com/Dev-HyperFrame/education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 다운로드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963561" y="1592614"/>
            <a:ext cx="106045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git</a:t>
            </a:r>
            <a:r>
              <a:rPr lang="en-US" altLang="ko-KR" sz="1200" dirty="0">
                <a:solidFill>
                  <a:schemeClr val="bg1"/>
                </a:solidFill>
              </a:rPr>
              <a:t> clone https://github.com/Dev-HyperFrame/education.git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763" y="19692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Docker hub URL</a:t>
            </a:r>
          </a:p>
          <a:p>
            <a:r>
              <a:rPr lang="en-US" altLang="ko-KR" sz="1400" b="1" dirty="0" smtClean="0"/>
              <a:t>   </a:t>
            </a:r>
            <a:r>
              <a:rPr lang="en-US" altLang="ko-KR" sz="1200" dirty="0"/>
              <a:t>https://</a:t>
            </a:r>
            <a:r>
              <a:rPr lang="en-US" altLang="ko-KR" sz="1200" dirty="0" smtClean="0"/>
              <a:t>hub.docker.com/repositories/josunghwan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78836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Monitoring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Metrics Server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199" y="368023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 Resource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22" name="TextBox 20"/>
          <p:cNvSpPr txBox="1"/>
          <p:nvPr/>
        </p:nvSpPr>
        <p:spPr>
          <a:xfrm>
            <a:off x="785101" y="3988014"/>
            <a:ext cx="1067506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top nodes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</a:t>
            </a:r>
            <a:r>
              <a:rPr lang="en-US" altLang="ko-KR" sz="1200" dirty="0">
                <a:solidFill>
                  <a:schemeClr val="bg1"/>
                </a:solidFill>
              </a:rPr>
              <a:t>CPU(cores)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CPU(%)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MEMORY(bytes)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MEMORY(%)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k8sedu-master       </a:t>
            </a:r>
            <a:r>
              <a:rPr lang="en-US" altLang="ko-KR" sz="1200" dirty="0">
                <a:solidFill>
                  <a:schemeClr val="bg1"/>
                </a:solidFill>
              </a:rPr>
              <a:t>86m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</a:t>
            </a:r>
            <a:r>
              <a:rPr lang="en-US" altLang="ko-KR" sz="1200" dirty="0">
                <a:solidFill>
                  <a:schemeClr val="bg1"/>
                </a:solidFill>
              </a:rPr>
              <a:t>%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3922Mi                 </a:t>
            </a:r>
            <a:r>
              <a:rPr lang="en-US" altLang="ko-KR" sz="1200" dirty="0">
                <a:solidFill>
                  <a:schemeClr val="bg1"/>
                </a:solidFill>
              </a:rPr>
              <a:t>50%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k8sedu-node01      47m              </a:t>
            </a:r>
            <a:r>
              <a:rPr lang="en-US" altLang="ko-KR" sz="1200" dirty="0">
                <a:solidFill>
                  <a:schemeClr val="bg1"/>
                </a:solidFill>
              </a:rPr>
              <a:t>0%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3076Mi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39</a:t>
            </a:r>
            <a:r>
              <a:rPr lang="en-US" altLang="ko-KR" sz="1200" dirty="0">
                <a:solidFill>
                  <a:schemeClr val="bg1"/>
                </a:solidFill>
              </a:rPr>
              <a:t>%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k8sedu-node02      </a:t>
            </a:r>
            <a:r>
              <a:rPr lang="en-US" altLang="ko-KR" sz="1200" dirty="0">
                <a:solidFill>
                  <a:schemeClr val="bg1"/>
                </a:solidFill>
              </a:rPr>
              <a:t>54m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0</a:t>
            </a:r>
            <a:r>
              <a:rPr lang="en-US" altLang="ko-KR" sz="1200" dirty="0">
                <a:solidFill>
                  <a:schemeClr val="bg1"/>
                </a:solidFill>
              </a:rPr>
              <a:t>%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3361Mi                 42</a:t>
            </a:r>
            <a:r>
              <a:rPr lang="en-US" altLang="ko-KR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199" y="499642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Resource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24" name="TextBox 20"/>
          <p:cNvSpPr txBox="1"/>
          <p:nvPr/>
        </p:nvSpPr>
        <p:spPr>
          <a:xfrm>
            <a:off x="785101" y="5304206"/>
            <a:ext cx="1067506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top pod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CPU(cores)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MEMORY(bytes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deployment-nginx-896ff7754-bvmpm      </a:t>
            </a:r>
            <a:r>
              <a:rPr lang="en-US" altLang="ko-KR" sz="1200" dirty="0">
                <a:solidFill>
                  <a:schemeClr val="bg1"/>
                </a:solidFill>
              </a:rPr>
              <a:t>0m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5Mi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deployment-nginx-896ff7754-kjlls           0m                5Mi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1199" y="637417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Metrics Server </a:t>
            </a:r>
            <a:r>
              <a:rPr lang="ko-KR" altLang="en-US" sz="1400" dirty="0" smtClean="0"/>
              <a:t>설치 </a:t>
            </a:r>
            <a:endParaRPr lang="en-US" altLang="ko-KR" sz="1400" dirty="0" smtClean="0"/>
          </a:p>
        </p:txBody>
      </p:sp>
      <p:sp>
        <p:nvSpPr>
          <p:cNvPr id="9" name="TextBox 5"/>
          <p:cNvSpPr txBox="1"/>
          <p:nvPr/>
        </p:nvSpPr>
        <p:spPr>
          <a:xfrm>
            <a:off x="785102" y="935078"/>
            <a:ext cx="1067506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apply -f https://</a:t>
            </a:r>
            <a:r>
              <a:rPr lang="en-US" altLang="ko-KR" sz="1200" dirty="0" smtClean="0">
                <a:solidFill>
                  <a:schemeClr val="bg1"/>
                </a:solidFill>
              </a:rPr>
              <a:t>github.com/kubernetes-sigs/metrics-server/releases/latest/download/components.yaml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/metrics-server created	# </a:t>
            </a:r>
            <a:r>
              <a:rPr lang="ko-KR" altLang="en-US" sz="1200" dirty="0" smtClean="0">
                <a:solidFill>
                  <a:schemeClr val="bg1"/>
                </a:solidFill>
              </a:rPr>
              <a:t>설치 완료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1584719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‘Metrics Server’ </a:t>
            </a:r>
            <a:r>
              <a:rPr lang="en-US" altLang="ko-KR" sz="1400" dirty="0" err="1" smtClean="0"/>
              <a:t>Yaml</a:t>
            </a:r>
            <a:r>
              <a:rPr lang="ko-KR" altLang="en-US" sz="1400" dirty="0" smtClean="0"/>
              <a:t>에 옵션 추가 </a:t>
            </a:r>
            <a:r>
              <a:rPr lang="en-US" altLang="ko-KR" sz="1400" dirty="0" smtClean="0"/>
              <a:t>– TLS </a:t>
            </a:r>
            <a:r>
              <a:rPr lang="ko-KR" altLang="en-US" sz="1400" dirty="0" smtClean="0"/>
              <a:t>문제 방지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</p:txBody>
      </p:sp>
      <p:sp>
        <p:nvSpPr>
          <p:cNvPr id="11" name="TextBox 5"/>
          <p:cNvSpPr txBox="1"/>
          <p:nvPr/>
        </p:nvSpPr>
        <p:spPr>
          <a:xfrm>
            <a:off x="785102" y="1882380"/>
            <a:ext cx="1067506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apply -f https://</a:t>
            </a:r>
            <a:r>
              <a:rPr lang="en-US" altLang="ko-KR" sz="1200" dirty="0" smtClean="0">
                <a:solidFill>
                  <a:schemeClr val="bg1"/>
                </a:solidFill>
              </a:rPr>
              <a:t>github.com/kubernetes-sigs/metrics-server/releases/latest/download/components.yaml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 …</a:t>
            </a:r>
          </a:p>
          <a:p>
            <a:r>
              <a:rPr lang="en-US" altLang="ko-KR" sz="1200" b="1" dirty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- --metric-resolution=15s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  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- </a:t>
            </a:r>
            <a:r>
              <a:rPr lang="en-US" altLang="ko-KR" sz="1200" b="1" dirty="0">
                <a:solidFill>
                  <a:srgbClr val="FF0000"/>
                </a:solidFill>
              </a:rPr>
              <a:t>--</a:t>
            </a:r>
            <a:r>
              <a:rPr lang="en-US" altLang="ko-KR" sz="1200" b="1" dirty="0" err="1" smtClean="0">
                <a:solidFill>
                  <a:srgbClr val="FF0000"/>
                </a:solidFill>
              </a:rPr>
              <a:t>kubelet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-insecure-</a:t>
            </a:r>
            <a:r>
              <a:rPr lang="en-US" altLang="ko-KR" sz="1200" b="1" dirty="0" err="1" smtClean="0">
                <a:solidFill>
                  <a:srgbClr val="FF0000"/>
                </a:solidFill>
              </a:rPr>
              <a:t>tls</a:t>
            </a:r>
            <a:r>
              <a:rPr lang="en-US" altLang="ko-KR" sz="1200" dirty="0" smtClean="0">
                <a:solidFill>
                  <a:schemeClr val="bg1"/>
                </a:solidFill>
              </a:rPr>
              <a:t>	# </a:t>
            </a:r>
            <a:r>
              <a:rPr lang="ko-KR" altLang="en-US" sz="1200" dirty="0" smtClean="0">
                <a:solidFill>
                  <a:schemeClr val="bg1"/>
                </a:solidFill>
              </a:rPr>
              <a:t>추가한 옵션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 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289856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Metrics Server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13" name="TextBox 20"/>
          <p:cNvSpPr txBox="1"/>
          <p:nvPr/>
        </p:nvSpPr>
        <p:spPr>
          <a:xfrm>
            <a:off x="785102" y="3206343"/>
            <a:ext cx="1067506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pods -n 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-system 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metrics-server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metrics-server-8467fcc7b7-m4k24        1/1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Running        0        12m		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동작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60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2. Logging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16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Event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테스트를 위</a:t>
            </a:r>
            <a:r>
              <a:rPr lang="ko-KR" altLang="en-US" sz="1400" dirty="0"/>
              <a:t>한</a:t>
            </a:r>
            <a:r>
              <a:rPr lang="ko-KR" altLang="en-US" sz="1400" dirty="0" smtClean="0"/>
              <a:t>  </a:t>
            </a:r>
            <a:r>
              <a:rPr lang="en-US" altLang="ko-KR" sz="1400" dirty="0" smtClean="0"/>
              <a:t>‘event-test-pod01’ </a:t>
            </a:r>
            <a:r>
              <a:rPr lang="ko-KR" altLang="en-US" sz="1400" dirty="0" smtClean="0"/>
              <a:t>생성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삭제 </a:t>
            </a:r>
            <a:endParaRPr lang="en-US" altLang="ko-KR" sz="1400" dirty="0" smtClean="0"/>
          </a:p>
        </p:txBody>
      </p:sp>
      <p:sp>
        <p:nvSpPr>
          <p:cNvPr id="19" name="TextBox 20"/>
          <p:cNvSpPr txBox="1"/>
          <p:nvPr/>
        </p:nvSpPr>
        <p:spPr>
          <a:xfrm>
            <a:off x="5639981" y="1319748"/>
            <a:ext cx="5838190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# 1.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1-pod.yaml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pod/event-test-pod </a:t>
            </a:r>
            <a:r>
              <a:rPr lang="en-US" altLang="ko-KR" sz="1200" dirty="0">
                <a:solidFill>
                  <a:schemeClr val="bg1"/>
                </a:solidFill>
              </a:rPr>
              <a:t>created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2.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delete -f 1-pod.yaml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pod "event-test-pod"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deleted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78510" y="1042749"/>
            <a:ext cx="3945890" cy="2215991"/>
            <a:chOff x="7600397" y="1003344"/>
            <a:chExt cx="3945890" cy="2215991"/>
          </a:xfrm>
        </p:grpSpPr>
        <p:sp>
          <p:nvSpPr>
            <p:cNvPr id="8" name="TextBox 3"/>
            <p:cNvSpPr txBox="1"/>
            <p:nvPr/>
          </p:nvSpPr>
          <p:spPr>
            <a:xfrm>
              <a:off x="7600397" y="1280343"/>
              <a:ext cx="3945890" cy="193899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event-test-pod01</a:t>
              </a:r>
              <a:endParaRPr lang="en-US" altLang="ko-KR" sz="1200" dirty="0"/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event-test-pod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</p:txBody>
        </p:sp>
        <p:sp>
          <p:nvSpPr>
            <p:cNvPr id="9" name="TextBox 3"/>
            <p:cNvSpPr txBox="1"/>
            <p:nvPr/>
          </p:nvSpPr>
          <p:spPr>
            <a:xfrm>
              <a:off x="7600397" y="1003344"/>
              <a:ext cx="105981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1-pod.yaml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11199" y="33818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테스트를 위</a:t>
            </a:r>
            <a:r>
              <a:rPr lang="ko-KR" altLang="en-US" sz="1400" dirty="0"/>
              <a:t>한</a:t>
            </a:r>
            <a:r>
              <a:rPr lang="ko-KR" altLang="en-US" sz="1400" dirty="0" smtClean="0"/>
              <a:t>  </a:t>
            </a:r>
            <a:r>
              <a:rPr lang="en-US" altLang="ko-KR" sz="1400" dirty="0" smtClean="0"/>
              <a:t>‘event-test-pod02’ </a:t>
            </a:r>
            <a:r>
              <a:rPr lang="ko-KR" altLang="en-US" sz="1400" dirty="0" smtClean="0"/>
              <a:t>생성</a:t>
            </a:r>
            <a:endParaRPr lang="en-US" altLang="ko-KR" sz="1400" dirty="0" smtClean="0"/>
          </a:p>
        </p:txBody>
      </p:sp>
      <p:grpSp>
        <p:nvGrpSpPr>
          <p:cNvPr id="16" name="그룹 15"/>
          <p:cNvGrpSpPr/>
          <p:nvPr/>
        </p:nvGrpSpPr>
        <p:grpSpPr>
          <a:xfrm>
            <a:off x="778510" y="3709149"/>
            <a:ext cx="3945890" cy="2215991"/>
            <a:chOff x="7600397" y="1003344"/>
            <a:chExt cx="3945890" cy="2215991"/>
          </a:xfrm>
        </p:grpSpPr>
        <p:sp>
          <p:nvSpPr>
            <p:cNvPr id="17" name="TextBox 3"/>
            <p:cNvSpPr txBox="1"/>
            <p:nvPr/>
          </p:nvSpPr>
          <p:spPr>
            <a:xfrm>
              <a:off x="7600397" y="1280343"/>
              <a:ext cx="3945890" cy="193899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event-test-pod02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event-test-pod02</a:t>
              </a:r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busybox</a:t>
              </a:r>
              <a:endParaRPr lang="en-US" altLang="ko-KR" sz="1200" dirty="0"/>
            </a:p>
            <a:p>
              <a:r>
                <a:rPr lang="en-US" altLang="ko-KR" sz="1200" dirty="0"/>
                <a:t>    command: ["false"]  </a:t>
              </a:r>
              <a:r>
                <a:rPr lang="en-US" altLang="ko-KR" sz="1200" dirty="0" smtClean="0"/>
                <a:t>   # </a:t>
              </a:r>
              <a:r>
                <a:rPr lang="en-US" altLang="ko-KR" sz="1200" dirty="0" err="1"/>
                <a:t>CrashLoopBackkOff</a:t>
              </a:r>
              <a:r>
                <a:rPr lang="en-US" altLang="ko-KR" sz="1200" dirty="0"/>
                <a:t> </a:t>
              </a:r>
              <a:r>
                <a:rPr lang="ko-KR" altLang="en-US" sz="1200" dirty="0" smtClean="0"/>
                <a:t>유발</a:t>
              </a:r>
              <a:endParaRPr lang="ko-KR" altLang="en-US" sz="1200" dirty="0"/>
            </a:p>
            <a:p>
              <a:r>
                <a:rPr lang="ko-KR" altLang="en-US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Always</a:t>
              </a:r>
            </a:p>
          </p:txBody>
        </p:sp>
        <p:sp>
          <p:nvSpPr>
            <p:cNvPr id="18" name="TextBox 3"/>
            <p:cNvSpPr txBox="1"/>
            <p:nvPr/>
          </p:nvSpPr>
          <p:spPr>
            <a:xfrm>
              <a:off x="7600397" y="1003344"/>
              <a:ext cx="105981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>
                  <a:solidFill>
                    <a:sysClr val="windowText" lastClr="000000"/>
                  </a:solidFill>
                </a:rPr>
                <a:t>2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639981" y="3986148"/>
            <a:ext cx="583819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2-pod.yaml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pod/event-test-pod02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62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199" y="4741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최근 이벤트 정렬</a:t>
            </a:r>
            <a:endParaRPr lang="en-US" altLang="ko-KR" sz="1400" dirty="0" smtClean="0"/>
          </a:p>
        </p:txBody>
      </p:sp>
      <p:sp>
        <p:nvSpPr>
          <p:cNvPr id="19" name="TextBox 20"/>
          <p:cNvSpPr txBox="1"/>
          <p:nvPr/>
        </p:nvSpPr>
        <p:spPr>
          <a:xfrm>
            <a:off x="766764" y="781927"/>
            <a:ext cx="1069340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events --sort-by=.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metadata.creationTimestamp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LAST SEEN   TYPE       REASON           OBJECT                           MESSAGE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1199" y="443742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특정 이벤트 타입 정렬</a:t>
            </a:r>
            <a:endParaRPr lang="en-US" altLang="ko-KR" sz="1400" dirty="0" smtClean="0"/>
          </a:p>
        </p:txBody>
      </p:sp>
      <p:sp>
        <p:nvSpPr>
          <p:cNvPr id="8" name="TextBox 20"/>
          <p:cNvSpPr txBox="1"/>
          <p:nvPr/>
        </p:nvSpPr>
        <p:spPr>
          <a:xfrm>
            <a:off x="766764" y="4745201"/>
            <a:ext cx="1069340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events --field-selector type=Warning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LAST SEEN   TYPE       REASON           OBJECT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MESSAGE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66763" y="1243592"/>
            <a:ext cx="10693400" cy="2972215"/>
            <a:chOff x="766763" y="1484892"/>
            <a:chExt cx="10896602" cy="297221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965" y="1484892"/>
              <a:ext cx="10693400" cy="297221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66763" y="1484892"/>
              <a:ext cx="203202" cy="297221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1820782" y="2297117"/>
            <a:ext cx="1331993" cy="223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830306" y="1655055"/>
            <a:ext cx="1331993" cy="223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830306" y="3746193"/>
            <a:ext cx="1331993" cy="223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76" y="5160295"/>
            <a:ext cx="10493987" cy="647790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766763" y="5206867"/>
            <a:ext cx="199413" cy="60121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781886" y="4772524"/>
            <a:ext cx="649438" cy="216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Log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1199" y="65282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기본 로그 조회</a:t>
            </a:r>
            <a:endParaRPr lang="en-US" altLang="ko-KR" sz="1400" dirty="0" smtClean="0"/>
          </a:p>
        </p:txBody>
      </p:sp>
      <p:sp>
        <p:nvSpPr>
          <p:cNvPr id="8" name="TextBox 20"/>
          <p:cNvSpPr txBox="1"/>
          <p:nvPr/>
        </p:nvSpPr>
        <p:spPr>
          <a:xfrm>
            <a:off x="731838" y="960601"/>
            <a:ext cx="10728325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pod-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 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199" y="272398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특정 컨테이너 로그 조회</a:t>
            </a:r>
            <a:endParaRPr lang="en-US" altLang="ko-KR" sz="1400" dirty="0" smtClean="0"/>
          </a:p>
        </p:txBody>
      </p:sp>
      <p:sp>
        <p:nvSpPr>
          <p:cNvPr id="11" name="TextBox 20"/>
          <p:cNvSpPr txBox="1"/>
          <p:nvPr/>
        </p:nvSpPr>
        <p:spPr>
          <a:xfrm>
            <a:off x="731838" y="3031761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[POD_NAME] -c [CONTAINER_NAME]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199" y="339063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실시간 로그 확인</a:t>
            </a:r>
            <a:endParaRPr lang="en-US" altLang="ko-KR" sz="1400" dirty="0" smtClean="0"/>
          </a:p>
        </p:txBody>
      </p:sp>
      <p:sp>
        <p:nvSpPr>
          <p:cNvPr id="13" name="TextBox 20"/>
          <p:cNvSpPr txBox="1"/>
          <p:nvPr/>
        </p:nvSpPr>
        <p:spPr>
          <a:xfrm>
            <a:off x="731838" y="3698413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[POD_NAME] -f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405728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최근 </a:t>
            </a:r>
            <a:r>
              <a:rPr lang="en-US" altLang="ko-KR" sz="1400" dirty="0" smtClean="0"/>
              <a:t>5</a:t>
            </a:r>
            <a:r>
              <a:rPr lang="ko-KR" altLang="en-US" sz="1400" dirty="0" smtClean="0"/>
              <a:t>분 동안의 로그 확인</a:t>
            </a:r>
            <a:endParaRPr lang="en-US" altLang="ko-KR" sz="1400" dirty="0" smtClean="0"/>
          </a:p>
        </p:txBody>
      </p:sp>
      <p:sp>
        <p:nvSpPr>
          <p:cNvPr id="15" name="TextBox 20"/>
          <p:cNvSpPr txBox="1"/>
          <p:nvPr/>
        </p:nvSpPr>
        <p:spPr>
          <a:xfrm>
            <a:off x="731838" y="4365065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--since=5m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199" y="472394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재 시작된 경우 전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로그 확인</a:t>
            </a:r>
            <a:endParaRPr lang="en-US" altLang="ko-KR" sz="1400" dirty="0" smtClean="0"/>
          </a:p>
        </p:txBody>
      </p:sp>
      <p:sp>
        <p:nvSpPr>
          <p:cNvPr id="17" name="TextBox 20"/>
          <p:cNvSpPr txBox="1"/>
          <p:nvPr/>
        </p:nvSpPr>
        <p:spPr>
          <a:xfrm>
            <a:off x="731838" y="5031717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--previous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199" y="540075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최근 </a:t>
            </a:r>
            <a:r>
              <a:rPr lang="en-US" altLang="ko-KR" sz="1400" dirty="0" smtClean="0"/>
              <a:t>N</a:t>
            </a:r>
            <a:r>
              <a:rPr lang="ko-KR" altLang="en-US" sz="1400" dirty="0" smtClean="0"/>
              <a:t>줄 로그 조회</a:t>
            </a:r>
            <a:endParaRPr lang="en-US" altLang="ko-KR" sz="14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731838" y="5708529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--tail=N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422266"/>
            <a:ext cx="10558463" cy="96533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731838" y="1421380"/>
            <a:ext cx="201612" cy="9662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31838" y="2387600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>
                <a:solidFill>
                  <a:schemeClr val="bg1"/>
                </a:solidFill>
              </a:rPr>
              <a:t>   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6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3. Kubernetes Dashboard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9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Kubernetes Dashboard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Dashboard </a:t>
            </a:r>
            <a:r>
              <a:rPr lang="ko-KR" altLang="en-US" sz="1400" dirty="0" smtClean="0"/>
              <a:t>설치 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사용 방법은 아래와 같이 </a:t>
            </a:r>
            <a:r>
              <a:rPr lang="en-US" altLang="ko-KR" sz="1400" dirty="0"/>
              <a:t>2</a:t>
            </a:r>
            <a:r>
              <a:rPr lang="ko-KR" altLang="en-US" sz="1400" dirty="0" smtClean="0"/>
              <a:t>가지로 분류할 수 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en-US" altLang="ko-KR" sz="1400" b="1" i="1" dirty="0" smtClean="0"/>
              <a:t>1. </a:t>
            </a:r>
            <a:r>
              <a:rPr lang="en-US" altLang="ko-KR" sz="1400" b="1" i="1" dirty="0" err="1" smtClean="0"/>
              <a:t>Kube</a:t>
            </a:r>
            <a:r>
              <a:rPr lang="en-US" altLang="ko-KR" sz="1400" b="1" i="1" dirty="0" smtClean="0"/>
              <a:t> </a:t>
            </a:r>
            <a:r>
              <a:rPr lang="en-US" altLang="ko-KR" sz="1400" b="1" i="1" dirty="0" err="1" smtClean="0"/>
              <a:t>APIServer</a:t>
            </a:r>
            <a:r>
              <a:rPr lang="en-US" altLang="ko-KR" sz="1400" b="1" i="1" dirty="0" smtClean="0"/>
              <a:t> </a:t>
            </a:r>
            <a:r>
              <a:rPr lang="ko-KR" altLang="en-US" sz="1400" b="1" i="1" dirty="0" smtClean="0"/>
              <a:t>활용   </a:t>
            </a:r>
            <a:r>
              <a:rPr lang="en-US" altLang="ko-KR" sz="1400" b="1" i="1" dirty="0"/>
              <a:t>2</a:t>
            </a:r>
            <a:r>
              <a:rPr lang="en-US" altLang="ko-KR" sz="1400" b="1" i="1" dirty="0" smtClean="0"/>
              <a:t>. </a:t>
            </a:r>
            <a:r>
              <a:rPr lang="en-US" altLang="ko-KR" sz="1400" b="1" i="1" dirty="0" err="1" smtClean="0"/>
              <a:t>NodePort</a:t>
            </a:r>
            <a:r>
              <a:rPr lang="en-US" altLang="ko-KR" sz="1400" b="1" i="1" dirty="0" smtClean="0"/>
              <a:t> </a:t>
            </a:r>
            <a:r>
              <a:rPr lang="ko-KR" altLang="en-US" sz="1400" b="1" i="1" dirty="0" smtClean="0"/>
              <a:t>사용 </a:t>
            </a:r>
            <a:endParaRPr lang="en-US" altLang="ko-KR" sz="1400" b="1" i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11199" y="140878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[Kubernetes Dashboard </a:t>
            </a:r>
            <a:r>
              <a:rPr lang="ko-KR" altLang="en-US" sz="1400" b="1" dirty="0" smtClean="0"/>
              <a:t>설치 방법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8" name="TextBox 20"/>
          <p:cNvSpPr txBox="1"/>
          <p:nvPr/>
        </p:nvSpPr>
        <p:spPr>
          <a:xfrm>
            <a:off x="731838" y="2341887"/>
            <a:ext cx="1072832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wget</a:t>
            </a:r>
            <a:r>
              <a:rPr lang="en-US" altLang="ko-KR" sz="1200" dirty="0">
                <a:solidFill>
                  <a:schemeClr val="bg1"/>
                </a:solidFill>
              </a:rPr>
              <a:t> https://</a:t>
            </a:r>
            <a:r>
              <a:rPr lang="en-US" altLang="ko-KR" sz="1200" dirty="0" smtClean="0">
                <a:solidFill>
                  <a:schemeClr val="bg1"/>
                </a:solidFill>
              </a:rPr>
              <a:t>raw.githubusercontent.com/kubernetes/dashboard/v2.7.0/aio/deploy/recommended.yaml		# </a:t>
            </a:r>
            <a:r>
              <a:rPr lang="ko-KR" altLang="en-US" sz="1200" dirty="0" smtClean="0">
                <a:solidFill>
                  <a:schemeClr val="bg1"/>
                </a:solidFill>
              </a:rPr>
              <a:t>참고 용도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2025-03-04 00:40:28 (129 MB/s) - ‘</a:t>
            </a:r>
            <a:r>
              <a:rPr lang="en-US" altLang="ko-KR" sz="1200" dirty="0" err="1">
                <a:solidFill>
                  <a:schemeClr val="bg1"/>
                </a:solidFill>
              </a:rPr>
              <a:t>recommended.yaml</a:t>
            </a:r>
            <a:r>
              <a:rPr lang="en-US" altLang="ko-KR" sz="1200" dirty="0">
                <a:solidFill>
                  <a:schemeClr val="bg1"/>
                </a:solidFill>
              </a:rPr>
              <a:t>’ saved [</a:t>
            </a:r>
            <a:r>
              <a:rPr lang="en-US" altLang="ko-KR" sz="1200" dirty="0" smtClean="0">
                <a:solidFill>
                  <a:schemeClr val="bg1"/>
                </a:solidFill>
              </a:rPr>
              <a:t>7621/7621]  		#  ‘Kubernetes Dashboard’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Yaml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다운로드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2429" y="1734430"/>
            <a:ext cx="985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Kubernetes Dashboard 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다운로드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- </a:t>
            </a:r>
            <a:r>
              <a:rPr lang="ko-KR" altLang="en-US" sz="1400" dirty="0" smtClean="0"/>
              <a:t>해당 </a:t>
            </a:r>
            <a:r>
              <a:rPr lang="en-US" altLang="ko-KR" sz="1400" dirty="0" err="1"/>
              <a:t>Yaml</a:t>
            </a:r>
            <a:r>
              <a:rPr lang="ko-KR" altLang="en-US" sz="1400" dirty="0"/>
              <a:t>은 기존에 </a:t>
            </a:r>
            <a:r>
              <a:rPr lang="ko-KR" altLang="en-US" sz="1400" dirty="0" smtClean="0"/>
              <a:t>미리 다운 받아</a:t>
            </a:r>
            <a:r>
              <a:rPr lang="en-US" altLang="ko-KR" sz="1400" dirty="0" smtClean="0"/>
              <a:t>, ‘1-recommended.yaml’</a:t>
            </a:r>
            <a:r>
              <a:rPr lang="ko-KR" altLang="en-US" sz="1400" dirty="0" smtClean="0"/>
              <a:t>로 이름 변경해 두었다</a:t>
            </a:r>
            <a:r>
              <a:rPr lang="en-US" altLang="ko-KR" sz="1400" dirty="0" smtClean="0"/>
              <a:t>.</a:t>
            </a:r>
            <a:endParaRPr lang="en-US" altLang="ko-KR" sz="1400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711199" y="348307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en-US" altLang="ko-KR" sz="1400" b="1" dirty="0" err="1" smtClean="0"/>
              <a:t>ServiceAccount</a:t>
            </a:r>
            <a:r>
              <a:rPr lang="en-US" altLang="ko-KR" sz="1400" b="1" dirty="0" smtClean="0"/>
              <a:t>, Cluster </a:t>
            </a:r>
            <a:r>
              <a:rPr lang="ko-KR" altLang="en-US" sz="1400" b="1" dirty="0" smtClean="0"/>
              <a:t>관리 권한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인증 </a:t>
            </a:r>
            <a:r>
              <a:rPr lang="en-US" altLang="ko-KR" sz="1400" b="1" dirty="0" smtClean="0"/>
              <a:t>Token </a:t>
            </a:r>
            <a:r>
              <a:rPr lang="ko-KR" altLang="en-US" sz="1400" b="1" dirty="0" smtClean="0"/>
              <a:t>생성 </a:t>
            </a:r>
            <a:r>
              <a:rPr lang="en-US" altLang="ko-KR" sz="1400" b="1" dirty="0" smtClean="0"/>
              <a:t>– ‘</a:t>
            </a:r>
            <a:r>
              <a:rPr lang="en-US" altLang="ko-KR" sz="1400" b="1" dirty="0" err="1" smtClean="0"/>
              <a:t>Kube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APIServer</a:t>
            </a:r>
            <a:r>
              <a:rPr lang="en-US" altLang="ko-KR" sz="1400" b="1" dirty="0" smtClean="0"/>
              <a:t>, </a:t>
            </a:r>
            <a:r>
              <a:rPr lang="en-US" altLang="ko-KR" sz="1400" b="1" dirty="0" err="1" smtClean="0"/>
              <a:t>NodePort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공통으로 사용</a:t>
            </a:r>
            <a:r>
              <a:rPr lang="en-US" altLang="ko-KR" sz="1400" b="1" dirty="0" smtClean="0"/>
              <a:t>]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742429" y="4627265"/>
            <a:ext cx="3286961" cy="1293073"/>
            <a:chOff x="7119940" y="1061699"/>
            <a:chExt cx="3286961" cy="1293073"/>
          </a:xfrm>
        </p:grpSpPr>
        <p:sp>
          <p:nvSpPr>
            <p:cNvPr id="16" name="TextBox 11"/>
            <p:cNvSpPr txBox="1"/>
            <p:nvPr/>
          </p:nvSpPr>
          <p:spPr>
            <a:xfrm>
              <a:off x="7119941" y="1339109"/>
              <a:ext cx="3286960" cy="1015663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ServiceAccount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admin-user</a:t>
              </a:r>
            </a:p>
            <a:p>
              <a:r>
                <a:rPr lang="en-US" altLang="ko-KR" sz="1200" dirty="0"/>
                <a:t>  namespace: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-dashboard</a:t>
              </a: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7119940" y="1061699"/>
              <a:ext cx="1551094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2-serviceaccount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11199" y="381296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Dashboard</a:t>
            </a:r>
            <a:r>
              <a:rPr lang="ko-KR" altLang="en-US" sz="1400" dirty="0" smtClean="0"/>
              <a:t>에서는 </a:t>
            </a:r>
            <a:r>
              <a:rPr lang="en-US" altLang="ko-KR" sz="1400" dirty="0" smtClean="0"/>
              <a:t>Token</a:t>
            </a:r>
            <a:r>
              <a:rPr lang="ko-KR" altLang="en-US" sz="1400" dirty="0" smtClean="0"/>
              <a:t>을 통한 사용자 인증 과정이 필요하여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아래와 같은 과정을 진행한다</a:t>
            </a:r>
            <a:r>
              <a:rPr lang="en-US" altLang="ko-KR" sz="1400" dirty="0" smtClean="0"/>
              <a:t>.</a:t>
            </a:r>
            <a:endParaRPr lang="en-US" altLang="ko-KR" sz="1400" b="1" i="1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711199" y="427438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</a:t>
            </a:r>
            <a:r>
              <a:rPr lang="en-US" altLang="ko-KR" sz="1400" dirty="0" err="1" smtClean="0"/>
              <a:t>ServiceAccount</a:t>
            </a:r>
            <a:r>
              <a:rPr lang="en-US" altLang="ko-KR" sz="1400" dirty="0" smtClean="0"/>
              <a:t>’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endParaRPr lang="en-US" altLang="ko-KR" sz="1400" b="1" i="1" dirty="0" smtClean="0"/>
          </a:p>
        </p:txBody>
      </p:sp>
    </p:spTree>
    <p:extLst>
      <p:ext uri="{BB962C8B-B14F-4D97-AF65-F5344CB8AC3E}">
        <p14:creationId xmlns:p14="http://schemas.microsoft.com/office/powerpoint/2010/main" val="264059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746181" y="800100"/>
            <a:ext cx="4693675" cy="2585734"/>
            <a:chOff x="7119939" y="1061699"/>
            <a:chExt cx="4693675" cy="2585734"/>
          </a:xfrm>
        </p:grpSpPr>
        <p:sp>
          <p:nvSpPr>
            <p:cNvPr id="19" name="TextBox 11"/>
            <p:cNvSpPr txBox="1"/>
            <p:nvPr/>
          </p:nvSpPr>
          <p:spPr>
            <a:xfrm>
              <a:off x="7119939" y="1339109"/>
              <a:ext cx="4693675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ClusterRoleBinding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admin-user</a:t>
              </a:r>
            </a:p>
            <a:p>
              <a:r>
                <a:rPr lang="en-US" altLang="ko-KR" sz="1200" dirty="0" err="1"/>
                <a:t>roleRef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  <a:p>
              <a:r>
                <a:rPr lang="en-US" altLang="ko-KR" sz="1200" dirty="0"/>
                <a:t>  kind: </a:t>
              </a:r>
              <a:r>
                <a:rPr lang="en-US" altLang="ko-KR" sz="1200" dirty="0" err="1"/>
                <a:t>ClusterRole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cluster-admin	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해당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ClusterRole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을 바인딩한다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.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subjects:</a:t>
              </a:r>
            </a:p>
            <a:p>
              <a:r>
                <a:rPr lang="en-US" altLang="ko-KR" sz="1200" dirty="0"/>
                <a:t>  - kind: </a:t>
              </a:r>
              <a:r>
                <a:rPr lang="en-US" altLang="ko-KR" sz="1200" dirty="0" err="1"/>
                <a:t>ServiceAccount</a:t>
              </a:r>
              <a:endParaRPr lang="en-US" altLang="ko-KR" sz="1200" dirty="0"/>
            </a:p>
            <a:p>
              <a:r>
                <a:rPr lang="en-US" altLang="ko-KR" sz="1200" dirty="0"/>
                <a:t>    name: admin-user</a:t>
              </a:r>
            </a:p>
            <a:p>
              <a:r>
                <a:rPr lang="en-US" altLang="ko-KR" sz="1200" dirty="0"/>
                <a:t>    namespace: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-dashboard</a:t>
              </a:r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7119940" y="1061699"/>
              <a:ext cx="1824522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3-cluster_role_binding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6182339" y="813297"/>
            <a:ext cx="4694400" cy="1847070"/>
            <a:chOff x="7119939" y="1061699"/>
            <a:chExt cx="4694400" cy="1847070"/>
          </a:xfrm>
        </p:grpSpPr>
        <p:sp>
          <p:nvSpPr>
            <p:cNvPr id="22" name="TextBox 11"/>
            <p:cNvSpPr txBox="1"/>
            <p:nvPr/>
          </p:nvSpPr>
          <p:spPr>
            <a:xfrm>
              <a:off x="7119939" y="1339109"/>
              <a:ext cx="4694400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admin-user-token</a:t>
              </a:r>
              <a:r>
                <a:rPr lang="en-US" altLang="ko-KR" sz="1200" dirty="0" smtClean="0"/>
                <a:t>	      </a:t>
              </a:r>
              <a:endParaRPr lang="en-US" altLang="ko-KR" sz="1200" dirty="0"/>
            </a:p>
            <a:p>
              <a:r>
                <a:rPr lang="en-US" altLang="ko-KR" sz="1200" dirty="0"/>
                <a:t>  namespace: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-dashboard</a:t>
              </a:r>
            </a:p>
            <a:p>
              <a:r>
                <a:rPr lang="en-US" altLang="ko-KR" sz="1200" dirty="0"/>
                <a:t>  annotations:</a:t>
              </a:r>
            </a:p>
            <a:p>
              <a:r>
                <a:rPr lang="en-US" altLang="ko-KR" sz="1200" dirty="0"/>
                <a:t>    kubernetes.io/service-account.name: "admin-user"</a:t>
              </a:r>
            </a:p>
            <a:p>
              <a:r>
                <a:rPr lang="en-US" altLang="ko-KR" sz="1200" dirty="0"/>
                <a:t>type: kubernetes.io/service-account-token</a:t>
              </a:r>
            </a:p>
          </p:txBody>
        </p:sp>
        <p:sp>
          <p:nvSpPr>
            <p:cNvPr id="23" name="TextBox 3"/>
            <p:cNvSpPr txBox="1"/>
            <p:nvPr/>
          </p:nvSpPr>
          <p:spPr>
            <a:xfrm>
              <a:off x="7119939" y="1061699"/>
              <a:ext cx="205760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4-admin-user-secret.yaml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11199" y="47746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</a:t>
            </a:r>
            <a:r>
              <a:rPr lang="en-US" altLang="ko-KR" sz="1400" dirty="0" err="1">
                <a:solidFill>
                  <a:srgbClr val="333333"/>
                </a:solidFill>
                <a:cs typeface="Pretendard SemiBold" panose="02000703000000020004" pitchFamily="50" charset="-127"/>
              </a:rPr>
              <a:t>ClusterRoleBinding</a:t>
            </a:r>
            <a:r>
              <a:rPr lang="en-US" altLang="ko-KR" sz="1400" dirty="0" smtClean="0"/>
              <a:t>’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endParaRPr lang="en-US" altLang="ko-KR" sz="1400" i="1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6147357" y="47746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‘Token’ </a:t>
            </a:r>
            <a:r>
              <a:rPr lang="en-US" altLang="ko-KR" sz="1400" dirty="0" err="1" smtClean="0"/>
              <a:t>Yaml</a:t>
            </a:r>
            <a:endParaRPr lang="en-US" altLang="ko-KR" sz="1400" i="1" dirty="0" smtClean="0"/>
          </a:p>
        </p:txBody>
      </p:sp>
      <p:sp>
        <p:nvSpPr>
          <p:cNvPr id="29" name="TextBox 5"/>
          <p:cNvSpPr txBox="1"/>
          <p:nvPr/>
        </p:nvSpPr>
        <p:spPr>
          <a:xfrm>
            <a:off x="746181" y="4080356"/>
            <a:ext cx="10713982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smtClean="0">
                <a:solidFill>
                  <a:schemeClr val="bg1"/>
                </a:solidFill>
              </a:rPr>
              <a:t>secret admin-user-token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smtClean="0">
                <a:solidFill>
                  <a:schemeClr val="bg1"/>
                </a:solidFill>
              </a:rPr>
              <a:t>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-dashboard -o </a:t>
            </a:r>
            <a:r>
              <a:rPr lang="en-US" altLang="ko-KR" sz="1200" dirty="0" err="1">
                <a:solidFill>
                  <a:schemeClr val="bg1"/>
                </a:solidFill>
              </a:rPr>
              <a:t>jsonpath</a:t>
            </a:r>
            <a:r>
              <a:rPr lang="en-US" altLang="ko-KR" sz="1200" dirty="0">
                <a:solidFill>
                  <a:schemeClr val="bg1"/>
                </a:solidFill>
              </a:rPr>
              <a:t>="{.</a:t>
            </a:r>
            <a:r>
              <a:rPr lang="en-US" altLang="ko-KR" sz="1200" dirty="0" err="1">
                <a:solidFill>
                  <a:schemeClr val="bg1"/>
                </a:solidFill>
              </a:rPr>
              <a:t>data.token</a:t>
            </a:r>
            <a:r>
              <a:rPr lang="en-US" altLang="ko-KR" sz="1200" dirty="0">
                <a:solidFill>
                  <a:schemeClr val="bg1"/>
                </a:solidFill>
              </a:rPr>
              <a:t>}" | base64 -</a:t>
            </a:r>
            <a:r>
              <a:rPr lang="en-US" altLang="ko-KR" sz="1200" dirty="0" smtClean="0">
                <a:solidFill>
                  <a:schemeClr val="bg1"/>
                </a:solidFill>
              </a:rPr>
              <a:t>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eyJhbGciOiJSUzI1NiIsImtpZCI6IjBHSFcwVDZnMlJ6YkYyX3l3UHBwb2hsc3FGYjcyUTlFa2RGOTl6UG9lU3MifQ.eyJpc3MiOiJrdWJlcm5ldGVzL3NlcnZpY2Vh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  <a:r>
              <a:rPr lang="en-US" altLang="ko-KR" sz="1200" dirty="0">
                <a:solidFill>
                  <a:schemeClr val="bg1"/>
                </a:solidFill>
              </a:rPr>
              <a:t> 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>
                <a:solidFill>
                  <a:schemeClr val="bg1"/>
                </a:solidFill>
              </a:rPr>
              <a:t>)		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# </a:t>
            </a:r>
            <a:r>
              <a:rPr lang="en-US" altLang="ko-KR" sz="1200" dirty="0">
                <a:solidFill>
                  <a:schemeClr val="bg1"/>
                </a:solidFill>
              </a:rPr>
              <a:t>Token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6181" y="3789363"/>
            <a:ext cx="6543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Token </a:t>
            </a:r>
            <a:r>
              <a:rPr lang="ko-KR" altLang="en-US" sz="1200" dirty="0" smtClean="0"/>
              <a:t>확인 방법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416835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199" y="48486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방법 </a:t>
            </a:r>
            <a:r>
              <a:rPr lang="en-US" altLang="ko-KR" sz="1400" b="1" dirty="0" smtClean="0"/>
              <a:t>1. </a:t>
            </a:r>
            <a:r>
              <a:rPr lang="en-US" altLang="ko-KR" sz="1400" b="1" dirty="0" err="1" smtClean="0"/>
              <a:t>Kube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APIServer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사용 방법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29" y="81050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인증서 파일 생성</a:t>
            </a:r>
            <a:endParaRPr lang="en-US" altLang="ko-KR" sz="1400" b="1" i="1" dirty="0"/>
          </a:p>
        </p:txBody>
      </p:sp>
      <p:sp>
        <p:nvSpPr>
          <p:cNvPr id="18" name="TextBox 20"/>
          <p:cNvSpPr txBox="1"/>
          <p:nvPr/>
        </p:nvSpPr>
        <p:spPr>
          <a:xfrm>
            <a:off x="731838" y="2421785"/>
            <a:ext cx="10728325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openssl</a:t>
            </a:r>
            <a:r>
              <a:rPr lang="en-US" altLang="ko-KR" sz="1200" dirty="0">
                <a:solidFill>
                  <a:schemeClr val="bg1"/>
                </a:solidFill>
              </a:rPr>
              <a:t> pkcs12 -export -</a:t>
            </a:r>
            <a:r>
              <a:rPr lang="en-US" altLang="ko-KR" sz="1200" dirty="0" err="1">
                <a:solidFill>
                  <a:schemeClr val="bg1"/>
                </a:solidFill>
              </a:rPr>
              <a:t>clcerts</a:t>
            </a:r>
            <a:r>
              <a:rPr lang="en-US" altLang="ko-KR" sz="1200" dirty="0">
                <a:solidFill>
                  <a:schemeClr val="bg1"/>
                </a:solidFill>
              </a:rPr>
              <a:t> -</a:t>
            </a:r>
            <a:r>
              <a:rPr lang="en-US" altLang="ko-KR" sz="1200" dirty="0" err="1">
                <a:solidFill>
                  <a:schemeClr val="bg1"/>
                </a:solidFill>
              </a:rPr>
              <a:t>inkey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kubecfg.key</a:t>
            </a:r>
            <a:r>
              <a:rPr lang="en-US" altLang="ko-KR" sz="1200" dirty="0">
                <a:solidFill>
                  <a:schemeClr val="bg1"/>
                </a:solidFill>
              </a:rPr>
              <a:t> -in kubecfg.crt -out kubecfg.p12 -name "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-admin“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Warning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en-US" altLang="ko-KR" sz="1200" dirty="0" err="1">
                <a:solidFill>
                  <a:schemeClr val="bg1"/>
                </a:solidFill>
              </a:rPr>
              <a:t>clcerts</a:t>
            </a:r>
            <a:r>
              <a:rPr lang="en-US" altLang="ko-KR" sz="1200" dirty="0">
                <a:solidFill>
                  <a:schemeClr val="bg1"/>
                </a:solidFill>
              </a:rPr>
              <a:t> option ignored with -export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Enter </a:t>
            </a:r>
            <a:r>
              <a:rPr lang="en-US" altLang="ko-KR" sz="1200" dirty="0">
                <a:solidFill>
                  <a:schemeClr val="bg1"/>
                </a:solidFill>
              </a:rPr>
              <a:t>Export Password</a:t>
            </a:r>
            <a:r>
              <a:rPr lang="en-US" altLang="ko-KR" sz="1200" dirty="0" smtClean="0">
                <a:solidFill>
                  <a:schemeClr val="bg1"/>
                </a:solidFill>
              </a:rPr>
              <a:t>:			# ‘password’ </a:t>
            </a:r>
            <a:r>
              <a:rPr lang="ko-KR" altLang="en-US" sz="1200" dirty="0" smtClean="0">
                <a:solidFill>
                  <a:schemeClr val="bg1"/>
                </a:solidFill>
              </a:rPr>
              <a:t>를 입력하였다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Verifying </a:t>
            </a:r>
            <a:r>
              <a:rPr lang="en-US" altLang="ko-KR" sz="1200" dirty="0">
                <a:solidFill>
                  <a:schemeClr val="bg1"/>
                </a:solidFill>
              </a:rPr>
              <a:t>- Enter Export Password</a:t>
            </a:r>
            <a:r>
              <a:rPr lang="en-US" altLang="ko-KR" sz="1200" dirty="0" smtClean="0">
                <a:solidFill>
                  <a:schemeClr val="bg1"/>
                </a:solidFill>
              </a:rPr>
              <a:t>:		# </a:t>
            </a:r>
            <a:r>
              <a:rPr lang="ko-KR" altLang="en-US" sz="1200" dirty="0" smtClean="0">
                <a:solidFill>
                  <a:schemeClr val="bg1"/>
                </a:solidFill>
              </a:rPr>
              <a:t>동일하게 </a:t>
            </a:r>
            <a:r>
              <a:rPr lang="en-US" altLang="ko-KR" sz="1200" dirty="0">
                <a:solidFill>
                  <a:schemeClr val="bg1"/>
                </a:solidFill>
              </a:rPr>
              <a:t>‘password’ </a:t>
            </a:r>
            <a:r>
              <a:rPr lang="ko-KR" altLang="en-US" sz="1200" dirty="0">
                <a:solidFill>
                  <a:schemeClr val="bg1"/>
                </a:solidFill>
              </a:rPr>
              <a:t>를 입력하였다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29" y="210007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Key</a:t>
            </a:r>
            <a:r>
              <a:rPr lang="ko-KR" altLang="en-US" sz="1400" dirty="0"/>
              <a:t>를 포함한 </a:t>
            </a:r>
            <a:r>
              <a:rPr lang="en-US" altLang="ko-KR" sz="1400" dirty="0"/>
              <a:t>p12 </a:t>
            </a:r>
            <a:r>
              <a:rPr lang="ko-KR" altLang="en-US" sz="1400" dirty="0"/>
              <a:t>인증서 생성</a:t>
            </a:r>
            <a:endParaRPr lang="en-US" altLang="ko-KR" sz="1400" b="1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720724" y="379739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‘kubecfg.crt’</a:t>
            </a:r>
            <a:r>
              <a:rPr lang="ko-KR" altLang="en-US" sz="1400" dirty="0" smtClean="0"/>
              <a:t>와 </a:t>
            </a:r>
            <a:r>
              <a:rPr lang="en-US" altLang="ko-KR" sz="1400" dirty="0"/>
              <a:t>‘kubecfg.p12’</a:t>
            </a:r>
            <a:r>
              <a:rPr lang="en-US" altLang="ko-KR" sz="1400" dirty="0" smtClean="0"/>
              <a:t> </a:t>
            </a:r>
            <a:r>
              <a:rPr lang="ko-KR" altLang="en-US" sz="1400" dirty="0"/>
              <a:t>파일은 클라이언트</a:t>
            </a:r>
            <a:r>
              <a:rPr lang="en-US" altLang="ko-KR" sz="1400" dirty="0"/>
              <a:t>PC</a:t>
            </a:r>
            <a:r>
              <a:rPr lang="ko-KR" altLang="en-US" sz="1400" dirty="0"/>
              <a:t>에 다운로드</a:t>
            </a:r>
            <a:endParaRPr lang="en-US" altLang="ko-KR" sz="1400" b="1" i="1" dirty="0"/>
          </a:p>
        </p:txBody>
      </p:sp>
      <p:sp>
        <p:nvSpPr>
          <p:cNvPr id="25" name="직사각형 24"/>
          <p:cNvSpPr/>
          <p:nvPr/>
        </p:nvSpPr>
        <p:spPr>
          <a:xfrm>
            <a:off x="5918544" y="2455019"/>
            <a:ext cx="882305" cy="2268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211327"/>
            <a:ext cx="6230219" cy="8383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429" y="1106120"/>
            <a:ext cx="9857564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‘.</a:t>
            </a: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/</a:t>
            </a:r>
            <a:r>
              <a:rPr lang="en-US" altLang="ko-KR" sz="1400" dirty="0" err="1" smtClean="0"/>
              <a:t>config</a:t>
            </a:r>
            <a:r>
              <a:rPr lang="en-US" altLang="ko-KR" sz="1400" dirty="0" smtClean="0"/>
              <a:t>’ </a:t>
            </a:r>
            <a:r>
              <a:rPr lang="ko-KR" altLang="en-US" sz="1400" dirty="0"/>
              <a:t>파일의 </a:t>
            </a:r>
            <a:r>
              <a:rPr lang="en-US" altLang="ko-KR" sz="1400" dirty="0" smtClean="0"/>
              <a:t>‘client certificate’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‘client key’</a:t>
            </a:r>
            <a:r>
              <a:rPr lang="ko-KR" altLang="en-US" sz="1400" dirty="0" smtClean="0"/>
              <a:t>를 추출해서 </a:t>
            </a:r>
            <a:r>
              <a:rPr lang="en-US" altLang="ko-KR" sz="1400" dirty="0" smtClean="0"/>
              <a:t>‘kubecfg.crt’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‘</a:t>
            </a:r>
            <a:r>
              <a:rPr lang="en-US" altLang="ko-KR" sz="1400" dirty="0" err="1" smtClean="0"/>
              <a:t>kubecfg.key</a:t>
            </a:r>
            <a:r>
              <a:rPr lang="en-US" altLang="ko-KR" sz="1400" dirty="0" smtClean="0"/>
              <a:t>’ </a:t>
            </a:r>
            <a:r>
              <a:rPr lang="ko-KR" altLang="en-US" sz="1400" dirty="0"/>
              <a:t>파일 </a:t>
            </a:r>
            <a:r>
              <a:rPr lang="ko-KR" altLang="en-US" sz="1400" dirty="0" smtClean="0"/>
              <a:t>각각 생성</a:t>
            </a:r>
            <a:endParaRPr lang="en-US" altLang="ko-KR" sz="1400" dirty="0" smtClean="0"/>
          </a:p>
        </p:txBody>
      </p:sp>
      <p:sp>
        <p:nvSpPr>
          <p:cNvPr id="28" name="TextBox 5"/>
          <p:cNvSpPr txBox="1"/>
          <p:nvPr/>
        </p:nvSpPr>
        <p:spPr>
          <a:xfrm>
            <a:off x="746181" y="1453763"/>
            <a:ext cx="10713982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grep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'client-certificate-data' /root/.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| head -n 1 | </a:t>
            </a:r>
            <a:r>
              <a:rPr lang="en-US" altLang="ko-KR" sz="1200" dirty="0" err="1">
                <a:solidFill>
                  <a:schemeClr val="bg1"/>
                </a:solidFill>
              </a:rPr>
              <a:t>awk</a:t>
            </a:r>
            <a:r>
              <a:rPr lang="en-US" altLang="ko-KR" sz="1200" dirty="0">
                <a:solidFill>
                  <a:schemeClr val="bg1"/>
                </a:solidFill>
              </a:rPr>
              <a:t> '{print $2}' | base64 -d &gt;&gt; kubecfg.crt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grep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'client-key-data' /root/.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| head -n 1 | </a:t>
            </a:r>
            <a:r>
              <a:rPr lang="en-US" altLang="ko-KR" sz="1200" dirty="0" err="1">
                <a:solidFill>
                  <a:schemeClr val="bg1"/>
                </a:solidFill>
              </a:rPr>
              <a:t>awk</a:t>
            </a:r>
            <a:r>
              <a:rPr lang="en-US" altLang="ko-KR" sz="1200" dirty="0">
                <a:solidFill>
                  <a:schemeClr val="bg1"/>
                </a:solidFill>
              </a:rPr>
              <a:t> '{print $2}' | base64 -d &gt;&gt; </a:t>
            </a:r>
            <a:r>
              <a:rPr lang="en-US" altLang="ko-KR" sz="1200" dirty="0" err="1">
                <a:solidFill>
                  <a:schemeClr val="bg1"/>
                </a:solidFill>
              </a:rPr>
              <a:t>kubecfg.key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334710" y="1485948"/>
            <a:ext cx="818689" cy="1927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906314" y="1678928"/>
            <a:ext cx="847036" cy="2077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07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42429" y="47713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/>
              <a:t>다운받은 인증서</a:t>
            </a:r>
            <a:r>
              <a:rPr lang="en-US" altLang="ko-KR" sz="1400" dirty="0" smtClean="0"/>
              <a:t>(kubecfg.crt, kubecfg.p12)</a:t>
            </a:r>
            <a:r>
              <a:rPr lang="ko-KR" altLang="en-US" sz="1400" dirty="0"/>
              <a:t>를 클라이언트 </a:t>
            </a:r>
            <a:r>
              <a:rPr lang="en-US" altLang="ko-KR" sz="1400" dirty="0"/>
              <a:t>PC</a:t>
            </a:r>
            <a:r>
              <a:rPr lang="ko-KR" altLang="en-US" sz="1400" dirty="0"/>
              <a:t>에 설치</a:t>
            </a:r>
            <a:endParaRPr lang="en-US" altLang="ko-KR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742429" y="108770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u="sng" dirty="0" smtClean="0"/>
              <a:t>1. kubecfg.crt </a:t>
            </a:r>
            <a:r>
              <a:rPr lang="ko-KR" altLang="en-US" sz="1400" i="1" u="sng" dirty="0" smtClean="0"/>
              <a:t>설치</a:t>
            </a:r>
            <a:endParaRPr lang="en-US" altLang="ko-KR" sz="1400" i="1" u="sng" dirty="0"/>
          </a:p>
        </p:txBody>
      </p:sp>
      <p:grpSp>
        <p:nvGrpSpPr>
          <p:cNvPr id="29" name="그룹 28"/>
          <p:cNvGrpSpPr/>
          <p:nvPr/>
        </p:nvGrpSpPr>
        <p:grpSpPr>
          <a:xfrm>
            <a:off x="986769" y="1866516"/>
            <a:ext cx="10729842" cy="2703790"/>
            <a:chOff x="986769" y="1721553"/>
            <a:chExt cx="10729842" cy="2703790"/>
          </a:xfrm>
        </p:grpSpPr>
        <p:cxnSp>
          <p:nvCxnSpPr>
            <p:cNvPr id="4" name="직선 화살표 연결선 3"/>
            <p:cNvCxnSpPr/>
            <p:nvPr/>
          </p:nvCxnSpPr>
          <p:spPr>
            <a:xfrm>
              <a:off x="3454067" y="3073448"/>
              <a:ext cx="540000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>
              <a:off x="7314994" y="3073353"/>
              <a:ext cx="540867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그룹 22"/>
            <p:cNvGrpSpPr>
              <a:grpSpLocks noChangeAspect="1"/>
            </p:cNvGrpSpPr>
            <p:nvPr/>
          </p:nvGrpSpPr>
          <p:grpSpPr>
            <a:xfrm>
              <a:off x="4226978" y="1721553"/>
              <a:ext cx="2855105" cy="2703600"/>
              <a:chOff x="4067916" y="1862843"/>
              <a:chExt cx="3287009" cy="3112585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67916" y="1862843"/>
                <a:ext cx="3287009" cy="3112585"/>
              </a:xfrm>
              <a:prstGeom prst="rect">
                <a:avLst/>
              </a:prstGeom>
            </p:spPr>
          </p:pic>
          <p:sp>
            <p:nvSpPr>
              <p:cNvPr id="20" name="직사각형 19"/>
              <p:cNvSpPr/>
              <p:nvPr/>
            </p:nvSpPr>
            <p:spPr>
              <a:xfrm>
                <a:off x="6424679" y="4806637"/>
                <a:ext cx="433321" cy="14974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4" name="그룹 23"/>
            <p:cNvGrpSpPr>
              <a:grpSpLocks noChangeAspect="1"/>
            </p:cNvGrpSpPr>
            <p:nvPr/>
          </p:nvGrpSpPr>
          <p:grpSpPr>
            <a:xfrm>
              <a:off x="8088772" y="1721553"/>
              <a:ext cx="2854061" cy="2703600"/>
              <a:chOff x="8119659" y="1862844"/>
              <a:chExt cx="3285807" cy="3112585"/>
            </a:xfrm>
          </p:grpSpPr>
          <p:pic>
            <p:nvPicPr>
              <p:cNvPr id="7" name="그림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9659" y="1862844"/>
                <a:ext cx="3285807" cy="3112585"/>
              </a:xfrm>
              <a:prstGeom prst="rect">
                <a:avLst/>
              </a:prstGeom>
            </p:spPr>
          </p:pic>
          <p:sp>
            <p:nvSpPr>
              <p:cNvPr id="21" name="직사각형 20"/>
              <p:cNvSpPr/>
              <p:nvPr/>
            </p:nvSpPr>
            <p:spPr>
              <a:xfrm>
                <a:off x="10482329" y="4794453"/>
                <a:ext cx="433321" cy="14974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>
              <a:off x="986769" y="1721553"/>
              <a:ext cx="2234387" cy="2703790"/>
              <a:chOff x="837892" y="1123070"/>
              <a:chExt cx="2238684" cy="2822479"/>
            </a:xfrm>
          </p:grpSpPr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892" y="1123070"/>
                <a:ext cx="2238684" cy="2822479"/>
              </a:xfrm>
              <a:prstGeom prst="rect">
                <a:avLst/>
              </a:prstGeom>
            </p:spPr>
          </p:pic>
          <p:sp>
            <p:nvSpPr>
              <p:cNvPr id="27" name="직사각형 26"/>
              <p:cNvSpPr/>
              <p:nvPr/>
            </p:nvSpPr>
            <p:spPr>
              <a:xfrm>
                <a:off x="1784695" y="3350369"/>
                <a:ext cx="596556" cy="19293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8" name="직선 화살표 연결선 27"/>
            <p:cNvCxnSpPr/>
            <p:nvPr/>
          </p:nvCxnSpPr>
          <p:spPr>
            <a:xfrm>
              <a:off x="11175744" y="3042950"/>
              <a:ext cx="540867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632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31837" y="315496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u="sng" dirty="0" smtClean="0"/>
              <a:t>2. kubecfg.p12 </a:t>
            </a:r>
            <a:r>
              <a:rPr lang="ko-KR" altLang="en-US" sz="1400" i="1" u="sng" dirty="0" smtClean="0"/>
              <a:t>설치</a:t>
            </a:r>
            <a:endParaRPr lang="en-US" altLang="ko-KR" sz="1400" i="1" u="sng" dirty="0"/>
          </a:p>
        </p:txBody>
      </p:sp>
      <p:grpSp>
        <p:nvGrpSpPr>
          <p:cNvPr id="20" name="그룹 19"/>
          <p:cNvGrpSpPr/>
          <p:nvPr/>
        </p:nvGrpSpPr>
        <p:grpSpPr>
          <a:xfrm>
            <a:off x="742429" y="309900"/>
            <a:ext cx="6240115" cy="2703600"/>
            <a:chOff x="742429" y="55900"/>
            <a:chExt cx="6240115" cy="270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3909" y="717041"/>
              <a:ext cx="2038635" cy="1381318"/>
            </a:xfrm>
            <a:prstGeom prst="rect">
              <a:avLst/>
            </a:prstGeom>
          </p:spPr>
        </p:pic>
        <p:cxnSp>
          <p:nvCxnSpPr>
            <p:cNvPr id="13" name="직선 화살표 연결선 12"/>
            <p:cNvCxnSpPr/>
            <p:nvPr/>
          </p:nvCxnSpPr>
          <p:spPr>
            <a:xfrm>
              <a:off x="3997722" y="1407700"/>
              <a:ext cx="540000" cy="20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그룹 5"/>
            <p:cNvGrpSpPr>
              <a:grpSpLocks noChangeAspect="1"/>
            </p:cNvGrpSpPr>
            <p:nvPr/>
          </p:nvGrpSpPr>
          <p:grpSpPr>
            <a:xfrm>
              <a:off x="742429" y="55900"/>
              <a:ext cx="2849106" cy="2703600"/>
              <a:chOff x="742429" y="55900"/>
              <a:chExt cx="3281594" cy="3114000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429" y="55900"/>
                <a:ext cx="3281594" cy="3114000"/>
              </a:xfrm>
              <a:prstGeom prst="rect">
                <a:avLst/>
              </a:prstGeom>
            </p:spPr>
          </p:pic>
          <p:sp>
            <p:nvSpPr>
              <p:cNvPr id="18" name="직사각형 17"/>
              <p:cNvSpPr/>
              <p:nvPr/>
            </p:nvSpPr>
            <p:spPr>
              <a:xfrm>
                <a:off x="3138187" y="2985632"/>
                <a:ext cx="433321" cy="14974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22" name="직선 화살표 연결선 21"/>
          <p:cNvCxnSpPr/>
          <p:nvPr/>
        </p:nvCxnSpPr>
        <p:spPr>
          <a:xfrm>
            <a:off x="3795621" y="4882111"/>
            <a:ext cx="54000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7550929" y="4877418"/>
            <a:ext cx="54086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11256963" y="4903031"/>
            <a:ext cx="54086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/>
          <p:cNvGrpSpPr/>
          <p:nvPr/>
        </p:nvGrpSpPr>
        <p:grpSpPr>
          <a:xfrm>
            <a:off x="748725" y="3525618"/>
            <a:ext cx="2873757" cy="2703600"/>
            <a:chOff x="812225" y="3525618"/>
            <a:chExt cx="2873757" cy="2703600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225" y="3525618"/>
              <a:ext cx="2873757" cy="2703600"/>
            </a:xfrm>
            <a:prstGeom prst="rect">
              <a:avLst/>
            </a:prstGeom>
          </p:spPr>
        </p:pic>
        <p:sp>
          <p:nvSpPr>
            <p:cNvPr id="32" name="직사각형 31"/>
            <p:cNvSpPr/>
            <p:nvPr/>
          </p:nvSpPr>
          <p:spPr>
            <a:xfrm>
              <a:off x="2882839" y="6091591"/>
              <a:ext cx="376213" cy="1300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4508760" y="3525618"/>
            <a:ext cx="2869030" cy="2703600"/>
            <a:chOff x="4506548" y="3525618"/>
            <a:chExt cx="2869030" cy="2703600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06548" y="3525618"/>
              <a:ext cx="2869030" cy="2703600"/>
            </a:xfrm>
            <a:prstGeom prst="rect">
              <a:avLst/>
            </a:prstGeom>
          </p:spPr>
        </p:pic>
        <p:sp>
          <p:nvSpPr>
            <p:cNvPr id="34" name="직사각형 33"/>
            <p:cNvSpPr/>
            <p:nvPr/>
          </p:nvSpPr>
          <p:spPr>
            <a:xfrm>
              <a:off x="6570856" y="6078890"/>
              <a:ext cx="376213" cy="1300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8264934" y="3525618"/>
            <a:ext cx="3436391" cy="2703600"/>
            <a:chOff x="8582434" y="3525618"/>
            <a:chExt cx="3436391" cy="2703600"/>
          </a:xfrm>
        </p:grpSpPr>
        <p:grpSp>
          <p:nvGrpSpPr>
            <p:cNvPr id="37" name="그룹 36"/>
            <p:cNvGrpSpPr/>
            <p:nvPr/>
          </p:nvGrpSpPr>
          <p:grpSpPr>
            <a:xfrm>
              <a:off x="8582434" y="3525618"/>
              <a:ext cx="2863743" cy="2703600"/>
              <a:chOff x="8582434" y="3525618"/>
              <a:chExt cx="2863743" cy="2703600"/>
            </a:xfrm>
          </p:grpSpPr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82434" y="3525618"/>
                <a:ext cx="2863743" cy="2703600"/>
              </a:xfrm>
              <a:prstGeom prst="rect">
                <a:avLst/>
              </a:prstGeom>
            </p:spPr>
          </p:pic>
          <p:sp>
            <p:nvSpPr>
              <p:cNvPr id="35" name="직사각형 34"/>
              <p:cNvSpPr/>
              <p:nvPr/>
            </p:nvSpPr>
            <p:spPr>
              <a:xfrm>
                <a:off x="10627501" y="6066707"/>
                <a:ext cx="376213" cy="130007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8973961" y="4649387"/>
                <a:ext cx="1511159" cy="15121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9" name="직사각형 28"/>
            <p:cNvSpPr/>
            <p:nvPr/>
          </p:nvSpPr>
          <p:spPr>
            <a:xfrm>
              <a:off x="9026164" y="4298799"/>
              <a:ext cx="2992661" cy="5004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0000"/>
                  </a:solidFill>
                </a:rPr>
                <a:t>‘kubecfg.p12’ </a:t>
              </a:r>
              <a:r>
                <a:rPr lang="ko-KR" altLang="en-US" sz="1000" b="1" dirty="0" smtClean="0">
                  <a:solidFill>
                    <a:srgbClr val="FF0000"/>
                  </a:solidFill>
                </a:rPr>
                <a:t>생성할 때</a:t>
              </a:r>
              <a:r>
                <a:rPr lang="en-US" altLang="ko-KR" sz="1000" b="1" dirty="0" smtClean="0">
                  <a:solidFill>
                    <a:srgbClr val="FF0000"/>
                  </a:solidFill>
                </a:rPr>
                <a:t>,</a:t>
              </a:r>
              <a:r>
                <a:rPr lang="ko-KR" altLang="en-US" sz="1000" b="1" dirty="0" smtClean="0">
                  <a:solidFill>
                    <a:srgbClr val="FF0000"/>
                  </a:solidFill>
                </a:rPr>
                <a:t> 입력한 </a:t>
              </a:r>
              <a:r>
                <a:rPr lang="en-US" altLang="ko-KR" sz="1000" b="1" dirty="0" smtClean="0">
                  <a:solidFill>
                    <a:srgbClr val="FF0000"/>
                  </a:solidFill>
                </a:rPr>
                <a:t>password </a:t>
              </a:r>
              <a:r>
                <a:rPr lang="ko-KR" altLang="en-US" sz="1000" b="1" dirty="0" smtClean="0">
                  <a:solidFill>
                    <a:srgbClr val="FF0000"/>
                  </a:solidFill>
                </a:rPr>
                <a:t>입력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812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738" y="971041"/>
            <a:ext cx="2038635" cy="1381318"/>
          </a:xfrm>
          <a:prstGeom prst="rect">
            <a:avLst/>
          </a:prstGeom>
        </p:spPr>
      </p:pic>
      <p:cxnSp>
        <p:nvCxnSpPr>
          <p:cNvPr id="13" name="직선 화살표 연결선 12"/>
          <p:cNvCxnSpPr/>
          <p:nvPr/>
        </p:nvCxnSpPr>
        <p:spPr>
          <a:xfrm>
            <a:off x="3997722" y="1661700"/>
            <a:ext cx="540000" cy="200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30" y="309900"/>
            <a:ext cx="2879097" cy="27036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917" y="309900"/>
            <a:ext cx="2840431" cy="2703600"/>
          </a:xfrm>
          <a:prstGeom prst="rect">
            <a:avLst/>
          </a:prstGeom>
        </p:spPr>
      </p:pic>
      <p:cxnSp>
        <p:nvCxnSpPr>
          <p:cNvPr id="27" name="직선 화살표 연결선 26"/>
          <p:cNvCxnSpPr/>
          <p:nvPr/>
        </p:nvCxnSpPr>
        <p:spPr>
          <a:xfrm>
            <a:off x="8130543" y="1661700"/>
            <a:ext cx="540000" cy="200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836734" y="2867806"/>
            <a:ext cx="376213" cy="1300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6991220" y="2859867"/>
            <a:ext cx="376213" cy="1300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20"/>
          <p:cNvSpPr txBox="1"/>
          <p:nvPr/>
        </p:nvSpPr>
        <p:spPr>
          <a:xfrm>
            <a:off x="731838" y="3546222"/>
            <a:ext cx="1072832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smtClean="0">
                <a:solidFill>
                  <a:schemeClr val="bg1"/>
                </a:solidFill>
              </a:rPr>
              <a:t>1-recommended.yaml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2429" y="322869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Kubernetes Dashboard </a:t>
            </a:r>
            <a:r>
              <a:rPr lang="ko-KR" altLang="en-US" sz="1400" dirty="0" smtClean="0"/>
              <a:t> 기동</a:t>
            </a:r>
            <a:endParaRPr lang="en-US" altLang="ko-KR" sz="1400" b="1" i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308" y="3789363"/>
            <a:ext cx="10478856" cy="2466471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731838" y="3765517"/>
            <a:ext cx="249470" cy="249031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52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42429" y="64161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Kubernetes Dashboard </a:t>
            </a:r>
            <a:r>
              <a:rPr lang="ko-KR" altLang="en-US" sz="1400" dirty="0" smtClean="0"/>
              <a:t> 접속</a:t>
            </a:r>
            <a:endParaRPr lang="en-US" altLang="ko-KR" sz="1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742429" y="973234"/>
            <a:ext cx="9857564" cy="108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접속 </a:t>
            </a:r>
            <a:r>
              <a:rPr lang="en-US" altLang="ko-KR" sz="1400" dirty="0"/>
              <a:t>URL: </a:t>
            </a:r>
            <a:r>
              <a:rPr lang="en-US" altLang="ko-KR" sz="1400" dirty="0">
                <a:hlinkClick r:id="rId3"/>
              </a:rPr>
              <a:t>https://192.168.53.21:6443/api/v1/namespaces/kubernetes-dashboard/services/https:kubernetes-dashboard:/proxy/#/</a:t>
            </a:r>
            <a:r>
              <a:rPr lang="en-US" altLang="ko-KR" sz="1400" dirty="0" smtClean="0">
                <a:hlinkClick r:id="rId3"/>
              </a:rPr>
              <a:t>login</a:t>
            </a:r>
            <a:endParaRPr lang="en-US" altLang="ko-KR" sz="1400" dirty="0"/>
          </a:p>
          <a:p>
            <a:pPr>
              <a:lnSpc>
                <a:spcPct val="120000"/>
              </a:lnSpc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인증서 선택 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확인 버튼 클릭</a:t>
            </a:r>
            <a:endParaRPr lang="en-US" altLang="ko-KR" sz="1400" dirty="0" smtClean="0"/>
          </a:p>
          <a:p>
            <a:endParaRPr lang="en-US" altLang="ko-KR" sz="1400" dirty="0" smtClean="0"/>
          </a:p>
        </p:txBody>
      </p:sp>
      <p:grpSp>
        <p:nvGrpSpPr>
          <p:cNvPr id="7" name="그룹 6"/>
          <p:cNvGrpSpPr/>
          <p:nvPr/>
        </p:nvGrpSpPr>
        <p:grpSpPr>
          <a:xfrm>
            <a:off x="732641" y="1947529"/>
            <a:ext cx="8439501" cy="4096429"/>
            <a:chOff x="1922600" y="1616944"/>
            <a:chExt cx="7497221" cy="3639058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2600" y="1616944"/>
              <a:ext cx="7497221" cy="3639058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6656683" y="4398735"/>
              <a:ext cx="981902" cy="4074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867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42429" y="50779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Token </a:t>
            </a:r>
            <a:r>
              <a:rPr lang="ko-KR" altLang="en-US" sz="1400" dirty="0" smtClean="0"/>
              <a:t>입력</a:t>
            </a:r>
            <a:endParaRPr lang="en-US" altLang="ko-KR" sz="1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742429" y="839420"/>
            <a:ext cx="9857564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앞에서 생성한 인증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9" name="TextBox 5"/>
          <p:cNvSpPr txBox="1"/>
          <p:nvPr/>
        </p:nvSpPr>
        <p:spPr>
          <a:xfrm>
            <a:off x="746181" y="1236799"/>
            <a:ext cx="10713982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smtClean="0">
                <a:solidFill>
                  <a:schemeClr val="bg1"/>
                </a:solidFill>
              </a:rPr>
              <a:t>secret admin-user-token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smtClean="0">
                <a:solidFill>
                  <a:schemeClr val="bg1"/>
                </a:solidFill>
              </a:rPr>
              <a:t>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-dashboard -o </a:t>
            </a:r>
            <a:r>
              <a:rPr lang="en-US" altLang="ko-KR" sz="1200" dirty="0" err="1">
                <a:solidFill>
                  <a:schemeClr val="bg1"/>
                </a:solidFill>
              </a:rPr>
              <a:t>jsonpath</a:t>
            </a:r>
            <a:r>
              <a:rPr lang="en-US" altLang="ko-KR" sz="1200" dirty="0">
                <a:solidFill>
                  <a:schemeClr val="bg1"/>
                </a:solidFill>
              </a:rPr>
              <a:t>="{.</a:t>
            </a:r>
            <a:r>
              <a:rPr lang="en-US" altLang="ko-KR" sz="1200" dirty="0" err="1">
                <a:solidFill>
                  <a:schemeClr val="bg1"/>
                </a:solidFill>
              </a:rPr>
              <a:t>data.token</a:t>
            </a:r>
            <a:r>
              <a:rPr lang="en-US" altLang="ko-KR" sz="1200" dirty="0">
                <a:solidFill>
                  <a:schemeClr val="bg1"/>
                </a:solidFill>
              </a:rPr>
              <a:t>}" | base64 -</a:t>
            </a:r>
            <a:r>
              <a:rPr lang="en-US" altLang="ko-KR" sz="1200" dirty="0" smtClean="0">
                <a:solidFill>
                  <a:schemeClr val="bg1"/>
                </a:solidFill>
              </a:rPr>
              <a:t>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eyJhbGciOiJSUzI1NiIsImtpZCI6IjBHSFcwVDZnMlJ6YkYyX3l3UHBwb2hsc3FGYjcyUTlFa2RGOTl6UG9lU3MifQ.eyJpc3MiOiJrdWJlcm5ldGVzL3NlcnZpY2Vh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  <a:r>
              <a:rPr lang="en-US" altLang="ko-KR" sz="1200" dirty="0">
                <a:solidFill>
                  <a:schemeClr val="bg1"/>
                </a:solidFill>
              </a:rPr>
              <a:t> 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>
                <a:solidFill>
                  <a:schemeClr val="bg1"/>
                </a:solidFill>
              </a:rPr>
              <a:t>)		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# </a:t>
            </a:r>
            <a:r>
              <a:rPr lang="ko-KR" altLang="en-US" sz="1200" dirty="0" smtClean="0">
                <a:solidFill>
                  <a:schemeClr val="bg1"/>
                </a:solidFill>
              </a:rPr>
              <a:t>전체 </a:t>
            </a:r>
            <a:r>
              <a:rPr lang="en-US" altLang="ko-KR" sz="1200" dirty="0" smtClean="0">
                <a:solidFill>
                  <a:schemeClr val="bg1"/>
                </a:solidFill>
              </a:rPr>
              <a:t>Token</a:t>
            </a:r>
            <a:r>
              <a:rPr lang="ko-KR" altLang="en-US" sz="1200" dirty="0" smtClean="0">
                <a:solidFill>
                  <a:schemeClr val="bg1"/>
                </a:solidFill>
              </a:rPr>
              <a:t> 모두 복사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0368" y="1615868"/>
            <a:ext cx="10281212" cy="424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731838" y="2992167"/>
            <a:ext cx="9340414" cy="3273723"/>
            <a:chOff x="731838" y="2992167"/>
            <a:chExt cx="9340414" cy="327372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838" y="2992167"/>
              <a:ext cx="9340414" cy="3273723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1055861" y="5013272"/>
              <a:ext cx="8712607" cy="4248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96027" y="5702655"/>
              <a:ext cx="620540" cy="3859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31838" y="2534469"/>
            <a:ext cx="9857564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Kubernetes Dashboard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입력 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로그인</a:t>
            </a:r>
            <a:endParaRPr lang="en-US" altLang="ko-KR" sz="1400" dirty="0" smtClean="0"/>
          </a:p>
        </p:txBody>
      </p:sp>
      <p:cxnSp>
        <p:nvCxnSpPr>
          <p:cNvPr id="5" name="직선 화살표 연결선 4"/>
          <p:cNvCxnSpPr/>
          <p:nvPr/>
        </p:nvCxnSpPr>
        <p:spPr>
          <a:xfrm flipH="1">
            <a:off x="5402045" y="2040674"/>
            <a:ext cx="708929" cy="29725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56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42429" y="50779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Dashboard </a:t>
            </a:r>
            <a:r>
              <a:rPr lang="ko-KR" altLang="en-US" sz="1400" dirty="0" smtClean="0"/>
              <a:t>정상 로그인 화면</a:t>
            </a:r>
            <a:endParaRPr lang="en-US" altLang="ko-KR" sz="1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946397"/>
            <a:ext cx="9778357" cy="47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4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199" y="48486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방법 </a:t>
            </a:r>
            <a:r>
              <a:rPr lang="en-US" altLang="ko-KR" sz="1400" b="1" dirty="0"/>
              <a:t>2</a:t>
            </a:r>
            <a:r>
              <a:rPr lang="en-US" altLang="ko-KR" sz="1400" b="1" dirty="0" smtClean="0"/>
              <a:t>. Node Port </a:t>
            </a:r>
            <a:r>
              <a:rPr lang="ko-KR" altLang="en-US" sz="1400" b="1" dirty="0" smtClean="0"/>
              <a:t>사용 방법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29" y="81050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기존의 </a:t>
            </a:r>
            <a:r>
              <a:rPr lang="en-US" altLang="ko-KR" sz="1400" dirty="0" smtClean="0"/>
              <a:t>‘Kubernetes Dashboard’ </a:t>
            </a:r>
            <a:r>
              <a:rPr lang="en-US" altLang="ko-KR" sz="1400" dirty="0" err="1" smtClean="0"/>
              <a:t>Yaml</a:t>
            </a:r>
            <a:r>
              <a:rPr lang="ko-KR" altLang="en-US" sz="1400" dirty="0" smtClean="0"/>
              <a:t>에 </a:t>
            </a:r>
            <a:r>
              <a:rPr lang="en-US" altLang="ko-KR" sz="1400" dirty="0" err="1" smtClean="0"/>
              <a:t>NodePort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 추가</a:t>
            </a:r>
            <a:endParaRPr lang="en-US" altLang="ko-KR" sz="1400"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742429" y="108253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ko-KR" altLang="en-US" sz="1400" dirty="0" smtClean="0"/>
              <a:t> 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해당 설정을 추가해서</a:t>
            </a:r>
            <a:r>
              <a:rPr lang="en-US" altLang="ko-KR" sz="1400" dirty="0" smtClean="0"/>
              <a:t> ‘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5-recommended-nodeport.yaml</a:t>
            </a:r>
            <a:r>
              <a:rPr lang="en-US" altLang="ko-KR" sz="1400" dirty="0" smtClean="0"/>
              <a:t>’</a:t>
            </a:r>
            <a:r>
              <a:rPr lang="ko-KR" altLang="en-US" sz="1400" dirty="0" smtClean="0"/>
              <a:t>을 미리 </a:t>
            </a:r>
            <a:r>
              <a:rPr lang="ko-KR" altLang="en-US" sz="1400" dirty="0" err="1" smtClean="0"/>
              <a:t>생성해두었으며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아래에서는 설정 부분만 확인한다</a:t>
            </a:r>
            <a:r>
              <a:rPr lang="en-US" altLang="ko-KR" sz="1400" dirty="0" smtClean="0"/>
              <a:t>.</a:t>
            </a:r>
            <a:endParaRPr lang="en-US" altLang="ko-KR" sz="1400" b="1" i="1" dirty="0"/>
          </a:p>
        </p:txBody>
      </p:sp>
      <p:grpSp>
        <p:nvGrpSpPr>
          <p:cNvPr id="14" name="그룹 13"/>
          <p:cNvGrpSpPr/>
          <p:nvPr/>
        </p:nvGrpSpPr>
        <p:grpSpPr>
          <a:xfrm>
            <a:off x="746181" y="1446871"/>
            <a:ext cx="4693675" cy="3139732"/>
            <a:chOff x="7119939" y="1061699"/>
            <a:chExt cx="4693675" cy="3139732"/>
          </a:xfrm>
        </p:grpSpPr>
        <p:sp>
          <p:nvSpPr>
            <p:cNvPr id="15" name="TextBox 11"/>
            <p:cNvSpPr txBox="1"/>
            <p:nvPr/>
          </p:nvSpPr>
          <p:spPr>
            <a:xfrm>
              <a:off x="7119939" y="1339109"/>
              <a:ext cx="4693675" cy="286232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/>
                <a:t>…</a:t>
              </a:r>
            </a:p>
            <a:p>
              <a:r>
                <a:rPr lang="en-US" altLang="ko-KR" sz="1200" dirty="0" smtClean="0"/>
                <a:t>kind</a:t>
              </a:r>
              <a:r>
                <a:rPr lang="en-US" altLang="ko-KR" sz="1200" dirty="0"/>
                <a:t>: Service</a:t>
              </a:r>
            </a:p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k8s-app: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-dashboard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-dashboard</a:t>
              </a:r>
            </a:p>
            <a:p>
              <a:r>
                <a:rPr lang="en-US" altLang="ko-KR" sz="1200" dirty="0"/>
                <a:t>  namespace: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-dashboard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type: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NodePort</a:t>
              </a:r>
              <a:r>
                <a:rPr lang="en-US" altLang="ko-KR" sz="1200" dirty="0">
                  <a:solidFill>
                    <a:srgbClr val="FF0000"/>
                  </a:solidFill>
                </a:rPr>
                <a:t>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NodePort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설정</a:t>
              </a:r>
            </a:p>
            <a:p>
              <a:r>
                <a:rPr lang="ko-KR" altLang="en-US" sz="1200" dirty="0"/>
                <a:t>  </a:t>
              </a:r>
              <a:r>
                <a:rPr lang="en-US" altLang="ko-KR" sz="1200" dirty="0"/>
                <a:t>ports:</a:t>
              </a:r>
            </a:p>
            <a:p>
              <a:r>
                <a:rPr lang="en-US" altLang="ko-KR" sz="1200" dirty="0"/>
                <a:t>    - port: 443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targetPort</a:t>
              </a:r>
              <a:r>
                <a:rPr lang="en-US" altLang="ko-KR" sz="1200" dirty="0"/>
                <a:t>: 8443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nodePort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31000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NodePort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설정</a:t>
              </a:r>
            </a:p>
            <a:p>
              <a:r>
                <a:rPr lang="en-US" altLang="ko-KR" sz="1200" b="1" dirty="0" smtClean="0"/>
                <a:t>… 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6" name="TextBox 3"/>
            <p:cNvSpPr txBox="1"/>
            <p:nvPr/>
          </p:nvSpPr>
          <p:spPr>
            <a:xfrm>
              <a:off x="7119939" y="1061699"/>
              <a:ext cx="258803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5-recommended-nodeport.yaml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11200" y="4703203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NodePort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26" name="TextBox 20"/>
          <p:cNvSpPr txBox="1"/>
          <p:nvPr/>
        </p:nvSpPr>
        <p:spPr>
          <a:xfrm>
            <a:off x="751649" y="5010980"/>
            <a:ext cx="1067506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svc -n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-dashboard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TYPE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CLUSTER-IP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EXTERNAL-IP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PORT(S)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AGE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dashboard-metrics-scraper      </a:t>
            </a:r>
            <a:r>
              <a:rPr lang="en-US" altLang="ko-KR" sz="1200" dirty="0" err="1">
                <a:solidFill>
                  <a:schemeClr val="bg1"/>
                </a:solidFill>
              </a:rPr>
              <a:t>ClusterIP</a:t>
            </a:r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10.103.253.26      &lt;</a:t>
            </a:r>
            <a:r>
              <a:rPr lang="en-US" altLang="ko-KR" sz="1200" dirty="0">
                <a:solidFill>
                  <a:schemeClr val="bg1"/>
                </a:solidFill>
              </a:rPr>
              <a:t>none&gt;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8000/TCP            4s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-dashboard        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NodePort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10.98.240.103      &lt;</a:t>
            </a:r>
            <a:r>
              <a:rPr lang="en-US" altLang="ko-KR" sz="1200" dirty="0">
                <a:solidFill>
                  <a:schemeClr val="bg1"/>
                </a:solidFill>
              </a:rPr>
              <a:t>none&gt;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443:31000/TCP      4s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637667" y="5593602"/>
            <a:ext cx="1096633" cy="2293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33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42429" y="29553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Kubernetes Dashboard </a:t>
            </a:r>
            <a:r>
              <a:rPr lang="ko-KR" altLang="en-US" sz="1400" dirty="0" smtClean="0"/>
              <a:t> 접속 후</a:t>
            </a:r>
            <a:r>
              <a:rPr lang="en-US" altLang="ko-KR" sz="1400" dirty="0" smtClean="0"/>
              <a:t>, Token </a:t>
            </a:r>
            <a:r>
              <a:rPr lang="ko-KR" altLang="en-US" sz="1400" dirty="0" smtClean="0"/>
              <a:t>입력</a:t>
            </a:r>
            <a:endParaRPr lang="en-US" altLang="ko-KR" sz="1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742429" y="627159"/>
            <a:ext cx="9857564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접속 </a:t>
            </a:r>
            <a:r>
              <a:rPr lang="en-US" altLang="ko-KR" sz="1400" dirty="0"/>
              <a:t>URL: </a:t>
            </a:r>
            <a:r>
              <a:rPr lang="en-US" altLang="ko-KR" sz="1400" dirty="0">
                <a:hlinkClick r:id="rId3"/>
              </a:rPr>
              <a:t>https://192.168.53.21:31000/#/</a:t>
            </a:r>
            <a:r>
              <a:rPr lang="en-US" altLang="ko-KR" sz="1400" dirty="0" smtClean="0">
                <a:hlinkClick r:id="rId3"/>
              </a:rPr>
              <a:t>login</a:t>
            </a:r>
            <a:endParaRPr lang="en-US" altLang="ko-KR" sz="14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42429" y="979120"/>
            <a:ext cx="9857564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앞에서 생성한 인증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10" name="TextBox 5"/>
          <p:cNvSpPr txBox="1"/>
          <p:nvPr/>
        </p:nvSpPr>
        <p:spPr>
          <a:xfrm>
            <a:off x="746181" y="1312999"/>
            <a:ext cx="10713982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smtClean="0">
                <a:solidFill>
                  <a:schemeClr val="bg1"/>
                </a:solidFill>
              </a:rPr>
              <a:t>secret admin-user-token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smtClean="0">
                <a:solidFill>
                  <a:schemeClr val="bg1"/>
                </a:solidFill>
              </a:rPr>
              <a:t>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-dashboard -o </a:t>
            </a:r>
            <a:r>
              <a:rPr lang="en-US" altLang="ko-KR" sz="1200" dirty="0" err="1">
                <a:solidFill>
                  <a:schemeClr val="bg1"/>
                </a:solidFill>
              </a:rPr>
              <a:t>jsonpath</a:t>
            </a:r>
            <a:r>
              <a:rPr lang="en-US" altLang="ko-KR" sz="1200" dirty="0">
                <a:solidFill>
                  <a:schemeClr val="bg1"/>
                </a:solidFill>
              </a:rPr>
              <a:t>="{.</a:t>
            </a:r>
            <a:r>
              <a:rPr lang="en-US" altLang="ko-KR" sz="1200" dirty="0" err="1">
                <a:solidFill>
                  <a:schemeClr val="bg1"/>
                </a:solidFill>
              </a:rPr>
              <a:t>data.token</a:t>
            </a:r>
            <a:r>
              <a:rPr lang="en-US" altLang="ko-KR" sz="1200" dirty="0">
                <a:solidFill>
                  <a:schemeClr val="bg1"/>
                </a:solidFill>
              </a:rPr>
              <a:t>}" | base64 -</a:t>
            </a:r>
            <a:r>
              <a:rPr lang="en-US" altLang="ko-KR" sz="1200" dirty="0" smtClean="0">
                <a:solidFill>
                  <a:schemeClr val="bg1"/>
                </a:solidFill>
              </a:rPr>
              <a:t>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eyJhbGciOiJSUzI1NiIsImtpZCI6IjBHSFcwVDZnMlJ6YkYyX3l3UHBwb2hsc3FGYjcyUTlFa2RGOTl6UG9lU3MifQ.eyJpc3MiOiJrdWJlcm5ldGVzL3NlcnZpY2Vh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  <a:r>
              <a:rPr lang="en-US" altLang="ko-KR" sz="1200" dirty="0">
                <a:solidFill>
                  <a:schemeClr val="bg1"/>
                </a:solidFill>
              </a:rPr>
              <a:t> 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>
                <a:solidFill>
                  <a:schemeClr val="bg1"/>
                </a:solidFill>
              </a:rPr>
              <a:t>)		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# </a:t>
            </a:r>
            <a:r>
              <a:rPr lang="ko-KR" altLang="en-US" sz="1200" dirty="0" smtClean="0">
                <a:solidFill>
                  <a:schemeClr val="bg1"/>
                </a:solidFill>
              </a:rPr>
              <a:t>전체 </a:t>
            </a:r>
            <a:r>
              <a:rPr lang="en-US" altLang="ko-KR" sz="1200" dirty="0" smtClean="0">
                <a:solidFill>
                  <a:schemeClr val="bg1"/>
                </a:solidFill>
              </a:rPr>
              <a:t>Token</a:t>
            </a:r>
            <a:r>
              <a:rPr lang="ko-KR" altLang="en-US" sz="1200" dirty="0" smtClean="0">
                <a:solidFill>
                  <a:schemeClr val="bg1"/>
                </a:solidFill>
              </a:rPr>
              <a:t> 모두 복사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0368" y="1692068"/>
            <a:ext cx="10281212" cy="424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31838" y="2620194"/>
            <a:ext cx="9857564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- Kubernetes Dashboard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입력 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로그인</a:t>
            </a:r>
            <a:endParaRPr lang="en-US" altLang="ko-KR" sz="1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3025013"/>
            <a:ext cx="9614140" cy="327240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1122536" y="5051372"/>
            <a:ext cx="8850139" cy="424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24601" y="5750280"/>
            <a:ext cx="647023" cy="3859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/>
          <p:cNvCxnSpPr/>
          <p:nvPr/>
        </p:nvCxnSpPr>
        <p:spPr>
          <a:xfrm flipH="1">
            <a:off x="5402046" y="2116874"/>
            <a:ext cx="693954" cy="29344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1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42429" y="50779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Dashboard </a:t>
            </a:r>
            <a:r>
              <a:rPr lang="ko-KR" altLang="en-US" sz="1400" dirty="0" smtClean="0"/>
              <a:t>정상 로그인 화면</a:t>
            </a:r>
            <a:endParaRPr lang="en-US" altLang="ko-KR" sz="14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29" y="985442"/>
            <a:ext cx="9910831" cy="47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1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23571</TotalTime>
  <Words>1280</Words>
  <Application>Microsoft Office PowerPoint</Application>
  <PresentationFormat>와이드스크린</PresentationFormat>
  <Paragraphs>257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Pretendard SemiBold</vt:lpstr>
      <vt:lpstr>Univers LT Std 85 XBlk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611</cp:revision>
  <dcterms:created xsi:type="dcterms:W3CDTF">2022-09-15T01:21:24Z</dcterms:created>
  <dcterms:modified xsi:type="dcterms:W3CDTF">2025-03-05T01:28:19Z</dcterms:modified>
</cp:coreProperties>
</file>