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0" r:id="rId2"/>
    <p:sldId id="426" r:id="rId3"/>
    <p:sldId id="414" r:id="rId4"/>
    <p:sldId id="395" r:id="rId5"/>
    <p:sldId id="417" r:id="rId6"/>
    <p:sldId id="418" r:id="rId7"/>
    <p:sldId id="419" r:id="rId8"/>
    <p:sldId id="420" r:id="rId9"/>
    <p:sldId id="421" r:id="rId10"/>
    <p:sldId id="422" r:id="rId11"/>
    <p:sldId id="424" r:id="rId12"/>
    <p:sldId id="423" r:id="rId13"/>
    <p:sldId id="425" r:id="rId14"/>
    <p:sldId id="30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426"/>
            <p14:sldId id="414"/>
            <p14:sldId id="395"/>
            <p14:sldId id="417"/>
            <p14:sldId id="418"/>
            <p14:sldId id="419"/>
            <p14:sldId id="420"/>
            <p14:sldId id="421"/>
            <p14:sldId id="422"/>
            <p14:sldId id="424"/>
            <p14:sldId id="423"/>
            <p14:sldId id="425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73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6EF"/>
    <a:srgbClr val="7D9EBB"/>
    <a:srgbClr val="171C2C"/>
    <a:srgbClr val="0232AE"/>
    <a:srgbClr val="BACDFE"/>
    <a:srgbClr val="333333"/>
    <a:srgbClr val="95BCF0"/>
    <a:srgbClr val="09E6E1"/>
    <a:srgbClr val="12F6F6"/>
    <a:srgbClr val="10B7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9" autoAdjust="0"/>
    <p:restoredTop sz="85229" autoAdjust="0"/>
  </p:normalViewPr>
  <p:slideViewPr>
    <p:cSldViewPr snapToGrid="0">
      <p:cViewPr varScale="1">
        <p:scale>
          <a:sx n="97" d="100"/>
          <a:sy n="97" d="100"/>
        </p:scale>
        <p:origin x="1170" y="90"/>
      </p:cViewPr>
      <p:guideLst>
        <p:guide orient="horz" pos="414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073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758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initContainer</a:t>
            </a:r>
            <a:r>
              <a:rPr lang="en-US" altLang="ko-KR" sz="1200" dirty="0" smtClean="0"/>
              <a:t> data </a:t>
            </a:r>
            <a:r>
              <a:rPr lang="ko-KR" altLang="en-US" sz="1200" dirty="0" smtClean="0"/>
              <a:t>디렉터리와 </a:t>
            </a:r>
            <a:r>
              <a:rPr lang="en-US" altLang="ko-KR" sz="1200" dirty="0" err="1" smtClean="0"/>
              <a:t>nginx</a:t>
            </a:r>
            <a:r>
              <a:rPr lang="en-US" altLang="ko-KR" sz="1200" dirty="0" smtClean="0"/>
              <a:t> opt </a:t>
            </a:r>
            <a:r>
              <a:rPr lang="ko-KR" altLang="en-US" sz="1200" dirty="0" smtClean="0"/>
              <a:t>디렉터리가 공유됨을 확인해보자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637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076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initContainer</a:t>
            </a:r>
            <a:r>
              <a:rPr lang="en-US" altLang="ko-KR" sz="1200" dirty="0" smtClean="0"/>
              <a:t> data </a:t>
            </a:r>
            <a:r>
              <a:rPr lang="ko-KR" altLang="en-US" sz="1200" dirty="0" smtClean="0"/>
              <a:t>디렉터리와 </a:t>
            </a:r>
            <a:r>
              <a:rPr lang="en-US" altLang="ko-KR" sz="1200" dirty="0" err="1" smtClean="0"/>
              <a:t>nginx</a:t>
            </a:r>
            <a:r>
              <a:rPr lang="en-US" altLang="ko-KR" sz="1200" dirty="0" smtClean="0"/>
              <a:t> opt </a:t>
            </a:r>
            <a:r>
              <a:rPr lang="ko-KR" altLang="en-US" sz="1200" dirty="0" smtClean="0"/>
              <a:t>디렉터리가 공유됨을 확인해보자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957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771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initContainer</a:t>
            </a:r>
            <a:r>
              <a:rPr lang="en-US" altLang="ko-KR" sz="1200" dirty="0" smtClean="0"/>
              <a:t> data </a:t>
            </a:r>
            <a:r>
              <a:rPr lang="ko-KR" altLang="en-US" sz="1200" dirty="0" smtClean="0"/>
              <a:t>디렉터리와 </a:t>
            </a:r>
            <a:r>
              <a:rPr lang="en-US" altLang="ko-KR" sz="1200" dirty="0" err="1" smtClean="0"/>
              <a:t>nginx</a:t>
            </a:r>
            <a:r>
              <a:rPr lang="en-US" altLang="ko-KR" sz="1200" dirty="0" smtClean="0"/>
              <a:t> opt </a:t>
            </a:r>
            <a:r>
              <a:rPr lang="ko-KR" altLang="en-US" sz="1200" dirty="0" smtClean="0"/>
              <a:t>디렉터리가 공유됨을 확인해보자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598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initContainer</a:t>
            </a:r>
            <a:r>
              <a:rPr lang="en-US" altLang="ko-KR" sz="1200" dirty="0" smtClean="0"/>
              <a:t> data </a:t>
            </a:r>
            <a:r>
              <a:rPr lang="ko-KR" altLang="en-US" sz="1200" dirty="0" smtClean="0"/>
              <a:t>디렉터리와 </a:t>
            </a:r>
            <a:r>
              <a:rPr lang="en-US" altLang="ko-KR" sz="1200" dirty="0" err="1" smtClean="0"/>
              <a:t>nginx</a:t>
            </a:r>
            <a:r>
              <a:rPr lang="en-US" altLang="ko-KR" sz="1200" dirty="0" smtClean="0"/>
              <a:t> opt </a:t>
            </a:r>
            <a:r>
              <a:rPr lang="ko-KR" altLang="en-US" sz="1200" dirty="0" smtClean="0"/>
              <a:t>디렉터리가 공유됨을 확인해보자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264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454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1. </a:t>
            </a:r>
            <a:r>
              <a:rPr lang="ko-KR" altLang="en-US" b="1" dirty="0" smtClean="0"/>
              <a:t>특정 노드의 디스크를 직접 활용해야 할 때</a:t>
            </a:r>
          </a:p>
          <a:p>
            <a:r>
              <a:rPr lang="ko-KR" altLang="en-US" dirty="0" smtClean="0"/>
              <a:t>로컬 디스크</a:t>
            </a:r>
            <a:r>
              <a:rPr lang="en-US" altLang="ko-KR" dirty="0" smtClean="0"/>
              <a:t>(SATA, SSD, </a:t>
            </a:r>
            <a:r>
              <a:rPr lang="en-US" altLang="ko-KR" dirty="0" err="1" smtClean="0"/>
              <a:t>NVMe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직접 사용할 때</a:t>
            </a:r>
          </a:p>
          <a:p>
            <a:r>
              <a:rPr lang="ko-KR" altLang="en-US" dirty="0" smtClean="0"/>
              <a:t>데이터가 특정 노드에 종속되도록 할 때</a:t>
            </a:r>
            <a:endParaRPr lang="en-US" altLang="ko-KR" dirty="0" smtClean="0"/>
          </a:p>
          <a:p>
            <a:endParaRPr lang="ko-KR" altLang="en-US" dirty="0" smtClean="0"/>
          </a:p>
          <a:p>
            <a:r>
              <a:rPr lang="ko-KR" altLang="en-US" dirty="0" smtClean="0"/>
              <a:t>📌 </a:t>
            </a:r>
            <a:r>
              <a:rPr lang="ko-KR" altLang="en-US" b="1" dirty="0" smtClean="0"/>
              <a:t>예제</a:t>
            </a:r>
            <a:r>
              <a:rPr lang="en-US" altLang="ko-KR" b="1" dirty="0" smtClean="0"/>
              <a:t>:</a:t>
            </a:r>
            <a:r>
              <a:rPr lang="ko-KR" altLang="en-US" dirty="0" smtClean="0"/>
              <a:t> 데이터베이스</a:t>
            </a:r>
            <a:r>
              <a:rPr lang="en-US" altLang="ko-KR" dirty="0" smtClean="0"/>
              <a:t>(</a:t>
            </a:r>
            <a:r>
              <a:rPr lang="ko-KR" altLang="en-US" dirty="0" smtClean="0"/>
              <a:t>예</a:t>
            </a:r>
            <a:r>
              <a:rPr lang="en-US" altLang="ko-KR" dirty="0" smtClean="0"/>
              <a:t>: MySQL, PostgreSQL, MongoDB)</a:t>
            </a:r>
            <a:r>
              <a:rPr lang="ko-KR" altLang="en-US" dirty="0" smtClean="0"/>
              <a:t>처럼 </a:t>
            </a:r>
            <a:r>
              <a:rPr lang="ko-KR" altLang="en-US" b="1" dirty="0" smtClean="0"/>
              <a:t>고성능 스토리지가 필요한 경우</a:t>
            </a:r>
            <a:endParaRPr lang="ko-KR" altLang="en-US" dirty="0" smtClean="0"/>
          </a:p>
          <a:p>
            <a:r>
              <a:rPr lang="ko-KR" altLang="en-US" b="1" dirty="0" smtClean="0"/>
              <a:t>로컬 스토리지 사용 시 이점</a:t>
            </a:r>
            <a:r>
              <a:rPr lang="en-US" altLang="ko-KR" b="1" dirty="0" smtClean="0"/>
              <a:t>:</a:t>
            </a:r>
            <a:endParaRPr lang="ko-KR" altLang="en-US" dirty="0" smtClean="0"/>
          </a:p>
          <a:p>
            <a:r>
              <a:rPr lang="ko-KR" altLang="en-US" dirty="0" smtClean="0"/>
              <a:t>네트워크 </a:t>
            </a:r>
            <a:r>
              <a:rPr lang="ko-KR" altLang="en-US" dirty="0" err="1" smtClean="0"/>
              <a:t>레이턴시</a:t>
            </a:r>
            <a:r>
              <a:rPr lang="ko-KR" altLang="en-US" dirty="0" smtClean="0"/>
              <a:t> 없음</a:t>
            </a:r>
          </a:p>
          <a:p>
            <a:r>
              <a:rPr lang="en-US" altLang="ko-KR" dirty="0" smtClean="0"/>
              <a:t>SSD/</a:t>
            </a:r>
            <a:r>
              <a:rPr lang="en-US" altLang="ko-KR" dirty="0" err="1" smtClean="0"/>
              <a:t>NVMe</a:t>
            </a:r>
            <a:r>
              <a:rPr lang="ko-KR" altLang="en-US" dirty="0" smtClean="0"/>
              <a:t>의 고속 읽기</a:t>
            </a:r>
            <a:r>
              <a:rPr lang="en-US" altLang="ko-KR" dirty="0" smtClean="0"/>
              <a:t>·</a:t>
            </a:r>
            <a:r>
              <a:rPr lang="ko-KR" altLang="en-US" dirty="0" smtClean="0"/>
              <a:t>쓰기 성능 활용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262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989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initContainer</a:t>
            </a:r>
            <a:r>
              <a:rPr lang="en-US" altLang="ko-KR" sz="1200" dirty="0" smtClean="0"/>
              <a:t> data </a:t>
            </a:r>
            <a:r>
              <a:rPr lang="ko-KR" altLang="en-US" sz="1200" dirty="0" smtClean="0"/>
              <a:t>디렉터리와 </a:t>
            </a:r>
            <a:r>
              <a:rPr lang="en-US" altLang="ko-KR" sz="1200" dirty="0" err="1" smtClean="0"/>
              <a:t>nginx</a:t>
            </a:r>
            <a:r>
              <a:rPr lang="en-US" altLang="ko-KR" sz="1200" dirty="0" smtClean="0"/>
              <a:t> opt </a:t>
            </a:r>
            <a:r>
              <a:rPr lang="ko-KR" altLang="en-US" sz="1200" dirty="0" smtClean="0"/>
              <a:t>디렉터리가 공유됨을 확인해보자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365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2025.02.27.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ko-KR" altLang="en-US" sz="6000" b="1" dirty="0" err="1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실</a:t>
            </a:r>
            <a:r>
              <a:rPr lang="ko-KR" altLang="en-US" sz="6000" b="1" dirty="0" err="1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습자료</a:t>
            </a:r>
            <a:r>
              <a:rPr lang="en-US" altLang="ko-KR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 06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실습 자료 참고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URL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715450"/>
            <a:ext cx="5689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</a:t>
            </a:r>
          </a:p>
          <a:p>
            <a:pPr marL="180000">
              <a:spcBef>
                <a:spcPts val="600"/>
              </a:spcBef>
            </a:pPr>
            <a:r>
              <a:rPr lang="en-US" altLang="ko-KR" sz="1200" dirty="0"/>
              <a:t>https://</a:t>
            </a:r>
            <a:r>
              <a:rPr lang="en-US" altLang="ko-KR" sz="1200" dirty="0" smtClean="0"/>
              <a:t>github.com/Dev-HyperFrame/education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1284837"/>
            <a:ext cx="568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 다운로드</a:t>
            </a:r>
          </a:p>
        </p:txBody>
      </p:sp>
      <p:sp>
        <p:nvSpPr>
          <p:cNvPr id="14" name="TextBox 3"/>
          <p:cNvSpPr txBox="1"/>
          <p:nvPr/>
        </p:nvSpPr>
        <p:spPr>
          <a:xfrm>
            <a:off x="963561" y="1592614"/>
            <a:ext cx="1060455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git</a:t>
            </a:r>
            <a:r>
              <a:rPr lang="en-US" altLang="ko-KR" sz="1200" dirty="0">
                <a:solidFill>
                  <a:schemeClr val="bg1"/>
                </a:solidFill>
              </a:rPr>
              <a:t> clone https://github.com/Dev-HyperFrame/education.git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763" y="1969215"/>
            <a:ext cx="568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Docker hub URL</a:t>
            </a:r>
          </a:p>
          <a:p>
            <a:r>
              <a:rPr lang="en-US" altLang="ko-KR" sz="1400" b="1" dirty="0" smtClean="0"/>
              <a:t>   </a:t>
            </a:r>
            <a:r>
              <a:rPr lang="en-US" altLang="ko-KR" sz="1200" dirty="0"/>
              <a:t>https://</a:t>
            </a:r>
            <a:r>
              <a:rPr lang="en-US" altLang="ko-KR" sz="1200" dirty="0" smtClean="0"/>
              <a:t>hub.docker.com/repositories/josunghwan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531724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1. </a:t>
            </a:r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EmptyDir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144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EmptyDir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 smtClean="0"/>
              <a:t>같은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내 여러 컨테이너가 공유 가능한 디렉터리 생성</a:t>
            </a:r>
            <a:endParaRPr lang="en-US" altLang="ko-KR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03578" y="1013941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6731595" y="715450"/>
            <a:ext cx="4467361" cy="4616649"/>
            <a:chOff x="783079" y="1349279"/>
            <a:chExt cx="4467361" cy="4616649"/>
          </a:xfrm>
        </p:grpSpPr>
        <p:sp>
          <p:nvSpPr>
            <p:cNvPr id="12" name="TextBox 3"/>
            <p:cNvSpPr txBox="1"/>
            <p:nvPr/>
          </p:nvSpPr>
          <p:spPr>
            <a:xfrm>
              <a:off x="783080" y="1626278"/>
              <a:ext cx="4467360" cy="433965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run: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nginx-emptydir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initContainers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busybox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err="1"/>
                <a:t>busybox</a:t>
              </a:r>
              <a:endParaRPr lang="en-US" altLang="ko-KR" sz="1200" dirty="0"/>
            </a:p>
            <a:p>
              <a:r>
                <a:rPr lang="en-US" altLang="ko-KR" sz="1200" dirty="0"/>
                <a:t>    command: [ "/bin/</a:t>
              </a:r>
              <a:r>
                <a:rPr lang="en-US" altLang="ko-KR" sz="1200" dirty="0" err="1"/>
                <a:t>sh</a:t>
              </a:r>
              <a:r>
                <a:rPr lang="en-US" altLang="ko-KR" sz="1200" dirty="0"/>
                <a:t>", "-c", "echo Hello &gt; /data/test.txt" ]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empty-</a:t>
              </a:r>
              <a:r>
                <a:rPr lang="en-US" altLang="ko-KR" sz="1200" dirty="0" err="1"/>
                <a:t>dir</a:t>
              </a:r>
              <a:endParaRPr lang="en-US" altLang="ko-KR" sz="1200" dirty="0"/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/data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err="1" smtClean="0"/>
                <a:t>nginx-emptydir</a:t>
              </a:r>
              <a:endParaRPr lang="en-US" altLang="ko-KR" sz="1200" dirty="0"/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empty-</a:t>
              </a:r>
              <a:r>
                <a:rPr lang="en-US" altLang="ko-KR" sz="1200" dirty="0" err="1"/>
                <a:t>dir</a:t>
              </a:r>
              <a:endParaRPr lang="en-US" altLang="ko-KR" sz="1200" dirty="0"/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/opt</a:t>
              </a:r>
            </a:p>
            <a:p>
              <a:r>
                <a:rPr lang="en-US" altLang="ko-KR" sz="1200" dirty="0"/>
                <a:t>  volumes:</a:t>
              </a:r>
            </a:p>
            <a:p>
              <a:r>
                <a:rPr lang="en-US" altLang="ko-KR" sz="1200" dirty="0"/>
                <a:t>  - name: empty-</a:t>
              </a:r>
              <a:r>
                <a:rPr lang="en-US" altLang="ko-KR" sz="1200" dirty="0" err="1"/>
                <a:t>dir</a:t>
              </a:r>
              <a:endParaRPr lang="en-US" altLang="ko-KR" sz="1200" dirty="0"/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emptyDir</a:t>
              </a:r>
              <a:r>
                <a:rPr lang="en-US" altLang="ko-KR" sz="1200" dirty="0"/>
                <a:t>: {}</a:t>
              </a:r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783079" y="1349279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1-emptydir.yaml</a:t>
              </a:r>
            </a:p>
          </p:txBody>
        </p:sp>
      </p:grpSp>
      <p:sp>
        <p:nvSpPr>
          <p:cNvPr id="15" name="TextBox 3"/>
          <p:cNvSpPr txBox="1"/>
          <p:nvPr/>
        </p:nvSpPr>
        <p:spPr>
          <a:xfrm>
            <a:off x="753028" y="1315551"/>
            <a:ext cx="583458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1-emptydir.yaml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578" y="1637842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Nginx </a:t>
            </a:r>
            <a:r>
              <a:rPr lang="ko-KR" altLang="en-US" sz="1400" dirty="0" smtClean="0"/>
              <a:t>컨테이너에서 </a:t>
            </a:r>
            <a:r>
              <a:rPr lang="en-US" altLang="ko-KR" sz="1400" dirty="0" smtClean="0"/>
              <a:t>test.txt </a:t>
            </a:r>
            <a:r>
              <a:rPr lang="ko-KR" altLang="en-US" sz="1400" dirty="0" smtClean="0"/>
              <a:t>파일 존재 확인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8" y="1939452"/>
            <a:ext cx="5834585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-c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-- cat /</a:t>
            </a:r>
            <a:r>
              <a:rPr lang="en-US" altLang="ko-KR" sz="1200" dirty="0" smtClean="0">
                <a:solidFill>
                  <a:schemeClr val="bg1"/>
                </a:solidFill>
              </a:rPr>
              <a:t>opt/test.txt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Hello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211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2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. </a:t>
            </a:r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HostPath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441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HostPath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 smtClean="0"/>
              <a:t>각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Path </a:t>
            </a:r>
            <a:r>
              <a:rPr lang="ko-KR" altLang="en-US" sz="1400" dirty="0" smtClean="0"/>
              <a:t>사용</a:t>
            </a:r>
            <a:r>
              <a:rPr lang="en-US" altLang="ko-KR" sz="1400" dirty="0" smtClean="0"/>
              <a:t>, Node</a:t>
            </a:r>
            <a:r>
              <a:rPr lang="ko-KR" altLang="en-US" sz="1400" dirty="0" smtClean="0"/>
              <a:t>에 있는 </a:t>
            </a:r>
            <a:r>
              <a:rPr lang="en-US" altLang="ko-KR" sz="1400" dirty="0" smtClean="0"/>
              <a:t>Volume </a:t>
            </a:r>
            <a:r>
              <a:rPr lang="ko-KR" altLang="en-US" sz="1400" dirty="0" smtClean="0"/>
              <a:t>데이터를 저장</a:t>
            </a:r>
            <a:endParaRPr lang="en-US" altLang="ko-KR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03578" y="1013941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6948717" y="794108"/>
            <a:ext cx="4467361" cy="4062651"/>
            <a:chOff x="783079" y="1349279"/>
            <a:chExt cx="4467361" cy="4062651"/>
          </a:xfrm>
        </p:grpSpPr>
        <p:sp>
          <p:nvSpPr>
            <p:cNvPr id="12" name="TextBox 3"/>
            <p:cNvSpPr txBox="1"/>
            <p:nvPr/>
          </p:nvSpPr>
          <p:spPr>
            <a:xfrm>
              <a:off x="783080" y="1626278"/>
              <a:ext cx="4467360" cy="378565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run: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nginx-hostpath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nodeSelector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kubernetes.io/hostname: k8sedu-node01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err="1" smtClean="0"/>
                <a:t>nginx-hostpath</a:t>
              </a:r>
              <a:endParaRPr lang="en-US" altLang="ko-KR" sz="1200" dirty="0"/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node-</a:t>
              </a:r>
              <a:r>
                <a:rPr lang="en-US" altLang="ko-KR" sz="1200" dirty="0" err="1"/>
                <a:t>dir</a:t>
              </a:r>
              <a:endParaRPr lang="en-US" altLang="ko-KR" sz="1200" dirty="0"/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/opt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/>
                <a:t>volumes:</a:t>
              </a:r>
            </a:p>
            <a:p>
              <a:r>
                <a:rPr lang="en-US" altLang="ko-KR" sz="1200" dirty="0"/>
                <a:t>  - name: node-</a:t>
              </a:r>
              <a:r>
                <a:rPr lang="en-US" altLang="ko-KR" sz="1200" dirty="0" err="1"/>
                <a:t>dir</a:t>
              </a:r>
              <a:endParaRPr lang="en-US" altLang="ko-KR" sz="1200" dirty="0"/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hostPath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path: /test</a:t>
              </a:r>
            </a:p>
            <a:p>
              <a:r>
                <a:rPr lang="en-US" altLang="ko-KR" sz="1200" dirty="0"/>
                <a:t>      type: </a:t>
              </a:r>
              <a:r>
                <a:rPr lang="en-US" altLang="ko-KR" sz="1200" dirty="0" err="1"/>
                <a:t>DirectoryOrCreate</a:t>
              </a:r>
              <a:endParaRPr lang="en-US" altLang="ko-KR" sz="1200" dirty="0"/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783079" y="1349279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2-hostpath.yaml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TextBox 3"/>
          <p:cNvSpPr txBox="1"/>
          <p:nvPr/>
        </p:nvSpPr>
        <p:spPr>
          <a:xfrm>
            <a:off x="753028" y="1315551"/>
            <a:ext cx="59785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2-hostpath.yaml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578" y="1637842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Nginx </a:t>
            </a:r>
            <a:r>
              <a:rPr lang="ko-KR" altLang="en-US" sz="1400" dirty="0" smtClean="0"/>
              <a:t>컨테이너 안에 </a:t>
            </a:r>
            <a:r>
              <a:rPr lang="en-US" altLang="ko-KR" sz="1400" dirty="0" smtClean="0"/>
              <a:t>/opt </a:t>
            </a:r>
            <a:r>
              <a:rPr lang="ko-KR" altLang="en-US" sz="1400" dirty="0" smtClean="0"/>
              <a:t>디렉터리에 파일 쓰기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8" y="1939452"/>
            <a:ext cx="59785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err="1">
                <a:solidFill>
                  <a:schemeClr val="bg1"/>
                </a:solidFill>
              </a:rPr>
              <a:t>nginx-hostpath</a:t>
            </a:r>
            <a:r>
              <a:rPr lang="en-US" altLang="ko-KR" sz="1200" dirty="0">
                <a:solidFill>
                  <a:schemeClr val="bg1"/>
                </a:solidFill>
              </a:rPr>
              <a:t> -- </a:t>
            </a:r>
            <a:r>
              <a:rPr lang="en-US" altLang="ko-KR" sz="1200" dirty="0" err="1">
                <a:solidFill>
                  <a:schemeClr val="bg1"/>
                </a:solidFill>
              </a:rPr>
              <a:t>sh</a:t>
            </a:r>
            <a:r>
              <a:rPr lang="en-US" altLang="ko-KR" sz="1200" dirty="0">
                <a:solidFill>
                  <a:schemeClr val="bg1"/>
                </a:solidFill>
              </a:rPr>
              <a:t> -c 'echo "hello </a:t>
            </a:r>
            <a:r>
              <a:rPr lang="en-US" altLang="ko-KR" sz="1200" dirty="0" err="1">
                <a:solidFill>
                  <a:schemeClr val="bg1"/>
                </a:solidFill>
              </a:rPr>
              <a:t>hostpath</a:t>
            </a:r>
            <a:r>
              <a:rPr lang="en-US" altLang="ko-KR" sz="1200" dirty="0">
                <a:solidFill>
                  <a:schemeClr val="bg1"/>
                </a:solidFill>
              </a:rPr>
              <a:t>" &gt;&gt; /opt/hello.txt</a:t>
            </a:r>
            <a:r>
              <a:rPr lang="en-US" altLang="ko-KR" sz="1200" dirty="0" smtClean="0">
                <a:solidFill>
                  <a:schemeClr val="bg1"/>
                </a:solidFill>
              </a:rPr>
              <a:t>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578" y="2271575"/>
            <a:ext cx="6028017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k</a:t>
            </a:r>
            <a:r>
              <a:rPr lang="en-US" altLang="ko-KR" sz="1200" dirty="0" smtClean="0"/>
              <a:t>8sedu-node01 </a:t>
            </a:r>
            <a:r>
              <a:rPr lang="ko-KR" altLang="en-US" sz="1200" dirty="0" smtClean="0"/>
              <a:t>서버에 접속하여 </a:t>
            </a:r>
            <a:r>
              <a:rPr lang="en-US" altLang="ko-KR" sz="1200" dirty="0" smtClean="0"/>
              <a:t>/test </a:t>
            </a:r>
            <a:r>
              <a:rPr lang="ko-KR" altLang="en-US" sz="1200" dirty="0" smtClean="0"/>
              <a:t>디렉터리에 파일 생성 확인</a:t>
            </a:r>
            <a:endParaRPr lang="en-US" altLang="ko-KR" sz="1200" dirty="0"/>
          </a:p>
        </p:txBody>
      </p:sp>
      <p:sp>
        <p:nvSpPr>
          <p:cNvPr id="16" name="TextBox 3"/>
          <p:cNvSpPr txBox="1"/>
          <p:nvPr/>
        </p:nvSpPr>
        <p:spPr>
          <a:xfrm>
            <a:off x="753028" y="2573185"/>
            <a:ext cx="597856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cd /test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ls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h</a:t>
            </a:r>
            <a:r>
              <a:rPr lang="en-US" altLang="ko-KR" sz="1200" dirty="0" smtClean="0">
                <a:solidFill>
                  <a:schemeClr val="bg1"/>
                </a:solidFill>
              </a:rPr>
              <a:t>ello.txt</a:t>
            </a:r>
          </a:p>
        </p:txBody>
      </p:sp>
    </p:spTree>
    <p:extLst>
      <p:ext uri="{BB962C8B-B14F-4D97-AF65-F5344CB8AC3E}">
        <p14:creationId xmlns:p14="http://schemas.microsoft.com/office/powerpoint/2010/main" val="3661323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3. PV/PVC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99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PV/PVC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550278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PV/PVC</a:t>
            </a:r>
            <a:r>
              <a:rPr lang="ko-KR" altLang="en-US" sz="1400" dirty="0" smtClean="0"/>
              <a:t>를 활용한 </a:t>
            </a:r>
            <a:r>
              <a:rPr lang="en-US" altLang="ko-KR" sz="1400" dirty="0" smtClean="0"/>
              <a:t>Volume </a:t>
            </a:r>
            <a:r>
              <a:rPr lang="ko-KR" altLang="en-US" sz="1400" dirty="0" smtClean="0"/>
              <a:t>연결</a:t>
            </a:r>
            <a:endParaRPr lang="en-US" altLang="ko-KR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03578" y="1013941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PersistentVolume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grpSp>
        <p:nvGrpSpPr>
          <p:cNvPr id="3" name="그룹 2"/>
          <p:cNvGrpSpPr/>
          <p:nvPr/>
        </p:nvGrpSpPr>
        <p:grpSpPr>
          <a:xfrm>
            <a:off x="6368614" y="676978"/>
            <a:ext cx="5479257" cy="3139321"/>
            <a:chOff x="6948717" y="794108"/>
            <a:chExt cx="5479257" cy="3139321"/>
          </a:xfrm>
        </p:grpSpPr>
        <p:sp>
          <p:nvSpPr>
            <p:cNvPr id="12" name="TextBox 3"/>
            <p:cNvSpPr txBox="1"/>
            <p:nvPr/>
          </p:nvSpPr>
          <p:spPr>
            <a:xfrm>
              <a:off x="6948718" y="1071107"/>
              <a:ext cx="5479256" cy="286232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PersistentVolume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pv</a:t>
              </a:r>
              <a:r>
                <a:rPr lang="en-US" altLang="ko-KR" sz="1200" dirty="0"/>
                <a:t>-test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capacity:</a:t>
              </a:r>
            </a:p>
            <a:p>
              <a:r>
                <a:rPr lang="en-US" altLang="ko-KR" sz="1200" dirty="0"/>
                <a:t>    storage: 2G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accessModes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- </a:t>
              </a:r>
              <a:r>
                <a:rPr lang="en-US" altLang="ko-KR" sz="1200" dirty="0" err="1"/>
                <a:t>ReadWriteOnce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storageClassName</a:t>
              </a:r>
              <a:r>
                <a:rPr lang="en-US" altLang="ko-KR" sz="1200" dirty="0"/>
                <a:t>: manual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persistentVolumeReclaimPolicy</a:t>
              </a:r>
              <a:r>
                <a:rPr lang="en-US" altLang="ko-KR" sz="1200" dirty="0"/>
                <a:t>: Delete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hostPath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path: /</a:t>
              </a:r>
              <a:r>
                <a:rPr lang="en-US" altLang="ko-KR" sz="1200" dirty="0" smtClean="0"/>
                <a:t>test</a:t>
              </a:r>
            </a:p>
            <a:p>
              <a:endParaRPr lang="en-US" altLang="ko-KR" sz="1200" dirty="0" smtClean="0"/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6948717" y="794108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3-pv.yaml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TextBox 3"/>
          <p:cNvSpPr txBox="1"/>
          <p:nvPr/>
        </p:nvSpPr>
        <p:spPr>
          <a:xfrm>
            <a:off x="753028" y="1315551"/>
            <a:ext cx="546095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3-pv.yaml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578" y="1637842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PersistentVolumeClaim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8" y="1939452"/>
            <a:ext cx="546095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3-pvc.yaml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578" y="2271575"/>
            <a:ext cx="6028017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PV, PVC Bound </a:t>
            </a:r>
            <a:r>
              <a:rPr lang="ko-KR" altLang="en-US" sz="1200" dirty="0" smtClean="0"/>
              <a:t>확인</a:t>
            </a:r>
            <a:endParaRPr lang="en-US" altLang="ko-KR" sz="1200" dirty="0"/>
          </a:p>
        </p:txBody>
      </p:sp>
      <p:sp>
        <p:nvSpPr>
          <p:cNvPr id="16" name="TextBox 3"/>
          <p:cNvSpPr txBox="1"/>
          <p:nvPr/>
        </p:nvSpPr>
        <p:spPr>
          <a:xfrm>
            <a:off x="753028" y="2573185"/>
            <a:ext cx="546095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pv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CAPACITY   ACCESS MODES   RECLAIM POLICY   </a:t>
            </a:r>
            <a:r>
              <a:rPr lang="en-US" altLang="ko-KR" sz="1200" dirty="0" smtClean="0">
                <a:solidFill>
                  <a:schemeClr val="bg1"/>
                </a:solidFill>
              </a:rPr>
              <a:t>STATUS …(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err="1">
                <a:solidFill>
                  <a:schemeClr val="bg1"/>
                </a:solidFill>
              </a:rPr>
              <a:t>pv</a:t>
            </a:r>
            <a:r>
              <a:rPr lang="en-US" altLang="ko-KR" sz="1200" dirty="0">
                <a:solidFill>
                  <a:schemeClr val="bg1"/>
                </a:solidFill>
              </a:rPr>
              <a:t>-test   </a:t>
            </a:r>
            <a:r>
              <a:rPr lang="en-US" altLang="ko-KR" sz="1200" dirty="0" smtClean="0">
                <a:solidFill>
                  <a:schemeClr val="bg1"/>
                </a:solidFill>
              </a:rPr>
              <a:t>  2G             RWO                 Delete                Bound  …(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6368614" y="3871423"/>
            <a:ext cx="5479257" cy="2400657"/>
            <a:chOff x="6948717" y="794108"/>
            <a:chExt cx="5479257" cy="2400657"/>
          </a:xfrm>
        </p:grpSpPr>
        <p:sp>
          <p:nvSpPr>
            <p:cNvPr id="20" name="TextBox 3"/>
            <p:cNvSpPr txBox="1"/>
            <p:nvPr/>
          </p:nvSpPr>
          <p:spPr>
            <a:xfrm>
              <a:off x="6948718" y="1071107"/>
              <a:ext cx="5479256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PersistentVolumeClaim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pvc</a:t>
              </a:r>
              <a:r>
                <a:rPr lang="en-US" altLang="ko-KR" sz="1200" dirty="0"/>
                <a:t>-test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accessModes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- </a:t>
              </a:r>
              <a:r>
                <a:rPr lang="en-US" altLang="ko-KR" sz="1200" dirty="0" err="1"/>
                <a:t>ReadWriteOnce</a:t>
              </a:r>
              <a:endParaRPr lang="en-US" altLang="ko-KR" sz="1200" dirty="0"/>
            </a:p>
            <a:p>
              <a:r>
                <a:rPr lang="en-US" altLang="ko-KR" sz="1200" dirty="0"/>
                <a:t>  resources:</a:t>
              </a:r>
            </a:p>
            <a:p>
              <a:r>
                <a:rPr lang="en-US" altLang="ko-KR" sz="1200" dirty="0"/>
                <a:t>    requests:</a:t>
              </a:r>
            </a:p>
            <a:p>
              <a:r>
                <a:rPr lang="en-US" altLang="ko-KR" sz="1200" dirty="0"/>
                <a:t>      storage: 1G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storageClassName</a:t>
              </a:r>
              <a:r>
                <a:rPr lang="en-US" altLang="ko-KR" sz="1200" dirty="0"/>
                <a:t>: "manual</a:t>
              </a:r>
              <a:r>
                <a:rPr lang="en-US" altLang="ko-KR" sz="1200" dirty="0" smtClean="0"/>
                <a:t>"</a:t>
              </a:r>
              <a:endParaRPr lang="en-US" altLang="ko-KR" sz="1200" dirty="0"/>
            </a:p>
          </p:txBody>
        </p:sp>
        <p:sp>
          <p:nvSpPr>
            <p:cNvPr id="21" name="TextBox 3"/>
            <p:cNvSpPr txBox="1"/>
            <p:nvPr/>
          </p:nvSpPr>
          <p:spPr>
            <a:xfrm>
              <a:off x="6948717" y="794108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3-pvc.yaml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5024284" y="2630384"/>
            <a:ext cx="589935" cy="577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3"/>
          <p:cNvSpPr txBox="1"/>
          <p:nvPr/>
        </p:nvSpPr>
        <p:spPr>
          <a:xfrm>
            <a:off x="753028" y="3312286"/>
            <a:ext cx="546095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pvc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STATUS   VOLUME    CAPACITY   ACCESS MODES </a:t>
            </a:r>
            <a:r>
              <a:rPr lang="en-US" altLang="ko-KR" sz="1200" dirty="0" smtClean="0">
                <a:solidFill>
                  <a:schemeClr val="bg1"/>
                </a:solidFill>
              </a:rPr>
              <a:t>…(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err="1">
                <a:solidFill>
                  <a:schemeClr val="bg1"/>
                </a:solidFill>
              </a:rPr>
              <a:t>pvc</a:t>
            </a:r>
            <a:r>
              <a:rPr lang="en-US" altLang="ko-KR" sz="1200" dirty="0">
                <a:solidFill>
                  <a:schemeClr val="bg1"/>
                </a:solidFill>
              </a:rPr>
              <a:t>-test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Bound    </a:t>
            </a:r>
            <a:r>
              <a:rPr lang="en-US" altLang="ko-KR" sz="1200" dirty="0" err="1">
                <a:solidFill>
                  <a:schemeClr val="bg1"/>
                </a:solidFill>
              </a:rPr>
              <a:t>pv</a:t>
            </a:r>
            <a:r>
              <a:rPr lang="en-US" altLang="ko-KR" sz="1200" dirty="0">
                <a:solidFill>
                  <a:schemeClr val="bg1"/>
                </a:solidFill>
              </a:rPr>
              <a:t>-test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2G            RWO …(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612804" y="3544784"/>
            <a:ext cx="589935" cy="4138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865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PV/PVC - Pod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생성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550278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Pod /opt </a:t>
            </a:r>
            <a:r>
              <a:rPr lang="ko-KR" altLang="en-US" sz="1400" dirty="0" smtClean="0"/>
              <a:t>디렉터리와 </a:t>
            </a:r>
            <a:r>
              <a:rPr lang="en-US" altLang="ko-KR" sz="1400" dirty="0" smtClean="0"/>
              <a:t>node01</a:t>
            </a:r>
            <a:r>
              <a:rPr lang="ko-KR" altLang="en-US" sz="1400" dirty="0" smtClean="0"/>
              <a:t>번에 </a:t>
            </a:r>
            <a:r>
              <a:rPr lang="en-US" altLang="ko-KR" sz="1400" dirty="0" smtClean="0"/>
              <a:t>/test </a:t>
            </a:r>
            <a:r>
              <a:rPr lang="ko-KR" altLang="en-US" sz="1400" dirty="0" smtClean="0"/>
              <a:t>디렉터리 연동 확인</a:t>
            </a:r>
            <a:endParaRPr lang="en-US" altLang="ko-KR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03578" y="1013941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nginx-pvc</a:t>
            </a:r>
            <a:r>
              <a:rPr lang="en-US" altLang="ko-KR" sz="1400" dirty="0" smtClean="0"/>
              <a:t> pod opt </a:t>
            </a:r>
            <a:r>
              <a:rPr lang="ko-KR" altLang="en-US" sz="1400" dirty="0" smtClean="0"/>
              <a:t>디렉터리에 </a:t>
            </a:r>
            <a:r>
              <a:rPr lang="en-US" altLang="ko-KR" sz="1400" dirty="0" smtClean="0"/>
              <a:t>hello.txt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grpSp>
        <p:nvGrpSpPr>
          <p:cNvPr id="3" name="그룹 2"/>
          <p:cNvGrpSpPr/>
          <p:nvPr/>
        </p:nvGrpSpPr>
        <p:grpSpPr>
          <a:xfrm>
            <a:off x="7591371" y="676978"/>
            <a:ext cx="4201063" cy="3877985"/>
            <a:chOff x="6948717" y="794108"/>
            <a:chExt cx="5479257" cy="3877985"/>
          </a:xfrm>
        </p:grpSpPr>
        <p:sp>
          <p:nvSpPr>
            <p:cNvPr id="12" name="TextBox 3"/>
            <p:cNvSpPr txBox="1"/>
            <p:nvPr/>
          </p:nvSpPr>
          <p:spPr>
            <a:xfrm>
              <a:off x="6948718" y="1071107"/>
              <a:ext cx="5479256" cy="3600986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run: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nginx-pvc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nodeSelector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kubernetes.io/hostname: k8sedu-node01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err="1"/>
                <a:t>nginx-pvc</a:t>
              </a:r>
              <a:endParaRPr lang="en-US" altLang="ko-KR" sz="1200" dirty="0"/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pv</a:t>
              </a:r>
              <a:r>
                <a:rPr lang="en-US" altLang="ko-KR" sz="1200" dirty="0"/>
                <a:t>-storage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/opt</a:t>
              </a:r>
            </a:p>
            <a:p>
              <a:r>
                <a:rPr lang="en-US" altLang="ko-KR" sz="1200" dirty="0"/>
                <a:t>  volumes: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pv</a:t>
              </a:r>
              <a:r>
                <a:rPr lang="en-US" altLang="ko-KR" sz="1200" dirty="0"/>
                <a:t>-storage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persistentVolumeClaim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claimName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pvc</a:t>
              </a:r>
              <a:r>
                <a:rPr lang="en-US" altLang="ko-KR" sz="1200" dirty="0"/>
                <a:t>-test</a:t>
              </a:r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6948717" y="794108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3-pod.yaml</a:t>
              </a:r>
            </a:p>
          </p:txBody>
        </p:sp>
      </p:grpSp>
      <p:sp>
        <p:nvSpPr>
          <p:cNvPr id="15" name="TextBox 3"/>
          <p:cNvSpPr txBox="1"/>
          <p:nvPr/>
        </p:nvSpPr>
        <p:spPr>
          <a:xfrm>
            <a:off x="753028" y="1315551"/>
            <a:ext cx="59785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err="1">
                <a:solidFill>
                  <a:schemeClr val="bg1"/>
                </a:solidFill>
              </a:rPr>
              <a:t>nginx-pvc</a:t>
            </a:r>
            <a:r>
              <a:rPr lang="en-US" altLang="ko-KR" sz="1200" dirty="0">
                <a:solidFill>
                  <a:schemeClr val="bg1"/>
                </a:solidFill>
              </a:rPr>
              <a:t> -- </a:t>
            </a:r>
            <a:r>
              <a:rPr lang="en-US" altLang="ko-KR" sz="1200" dirty="0" err="1">
                <a:solidFill>
                  <a:schemeClr val="bg1"/>
                </a:solidFill>
              </a:rPr>
              <a:t>sh</a:t>
            </a:r>
            <a:r>
              <a:rPr lang="en-US" altLang="ko-KR" sz="1200" dirty="0">
                <a:solidFill>
                  <a:schemeClr val="bg1"/>
                </a:solidFill>
              </a:rPr>
              <a:t> -c 'echo "hello 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" &gt;&gt; /opt/hello.txt'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578" y="1637842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Node01</a:t>
            </a:r>
            <a:r>
              <a:rPr lang="ko-KR" altLang="en-US" sz="1400" dirty="0" smtClean="0"/>
              <a:t>번 </a:t>
            </a:r>
            <a:r>
              <a:rPr lang="en-US" altLang="ko-KR" sz="1400" dirty="0" smtClean="0"/>
              <a:t>test </a:t>
            </a:r>
            <a:r>
              <a:rPr lang="ko-KR" altLang="en-US" sz="1400" dirty="0" smtClean="0"/>
              <a:t>디렉터리에서 </a:t>
            </a:r>
            <a:r>
              <a:rPr lang="en-US" altLang="ko-KR" sz="1400" dirty="0" smtClean="0"/>
              <a:t>hello.txt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8" y="1939452"/>
            <a:ext cx="597856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>
                <a:solidFill>
                  <a:schemeClr val="bg1"/>
                </a:solidFill>
              </a:rPr>
              <a:t>cat </a:t>
            </a:r>
            <a:r>
              <a:rPr lang="en-US" altLang="ko-KR" sz="1200" dirty="0" smtClean="0">
                <a:solidFill>
                  <a:schemeClr val="bg1"/>
                </a:solidFill>
              </a:rPr>
              <a:t>hello.txt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hello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635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4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. </a:t>
            </a:r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StorageClass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689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StorageClass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550278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 smtClean="0"/>
              <a:t>스토리지 </a:t>
            </a:r>
            <a:r>
              <a:rPr lang="ko-KR" altLang="en-US" sz="1400" dirty="0" err="1" smtClean="0"/>
              <a:t>프로비저닝</a:t>
            </a:r>
            <a:r>
              <a:rPr lang="ko-KR" altLang="en-US" sz="1400" dirty="0" smtClean="0"/>
              <a:t> 방식을 정의하는 리소스</a:t>
            </a:r>
            <a:endParaRPr lang="en-US" altLang="ko-KR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03578" y="1013941"/>
            <a:ext cx="602801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Local </a:t>
            </a:r>
            <a:r>
              <a:rPr lang="en-US" altLang="ko-KR" sz="1400" dirty="0" err="1" smtClean="0"/>
              <a:t>StorageClass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grpSp>
        <p:nvGrpSpPr>
          <p:cNvPr id="3" name="그룹 2"/>
          <p:cNvGrpSpPr/>
          <p:nvPr/>
        </p:nvGrpSpPr>
        <p:grpSpPr>
          <a:xfrm>
            <a:off x="6142472" y="4541056"/>
            <a:ext cx="5479257" cy="1661994"/>
            <a:chOff x="6948717" y="794108"/>
            <a:chExt cx="5479257" cy="1661994"/>
          </a:xfrm>
        </p:grpSpPr>
        <p:sp>
          <p:nvSpPr>
            <p:cNvPr id="12" name="TextBox 3"/>
            <p:cNvSpPr txBox="1"/>
            <p:nvPr/>
          </p:nvSpPr>
          <p:spPr>
            <a:xfrm>
              <a:off x="6948718" y="1071107"/>
              <a:ext cx="5479256" cy="1384995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storage.k8s.io/v1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StorageClass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local-storage</a:t>
              </a:r>
            </a:p>
            <a:p>
              <a:r>
                <a:rPr lang="en-US" altLang="ko-KR" sz="1200" dirty="0" err="1"/>
                <a:t>provisioner</a:t>
              </a:r>
              <a:r>
                <a:rPr lang="en-US" altLang="ko-KR" sz="1200" dirty="0"/>
                <a:t>: kubernetes.io/no-</a:t>
              </a:r>
              <a:r>
                <a:rPr lang="en-US" altLang="ko-KR" sz="1200" dirty="0" err="1"/>
                <a:t>provisioner</a:t>
              </a:r>
              <a:endParaRPr lang="en-US" altLang="ko-KR" sz="1200" dirty="0"/>
            </a:p>
            <a:p>
              <a:r>
                <a:rPr lang="en-US" altLang="ko-KR" sz="1200" dirty="0" err="1"/>
                <a:t>volumeBindingMode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WaitForFirstConsumer</a:t>
              </a:r>
              <a:endParaRPr lang="en-US" altLang="ko-KR" sz="1200" dirty="0"/>
            </a:p>
            <a:p>
              <a:r>
                <a:rPr lang="en-US" altLang="ko-KR" sz="1200" dirty="0" err="1"/>
                <a:t>reclaimPolicy</a:t>
              </a:r>
              <a:r>
                <a:rPr lang="en-US" altLang="ko-KR" sz="1200" dirty="0"/>
                <a:t>: Delete</a:t>
              </a:r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6948717" y="794108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4-sc.yaml</a:t>
              </a:r>
            </a:p>
          </p:txBody>
        </p:sp>
      </p:grpSp>
      <p:sp>
        <p:nvSpPr>
          <p:cNvPr id="15" name="TextBox 3"/>
          <p:cNvSpPr txBox="1"/>
          <p:nvPr/>
        </p:nvSpPr>
        <p:spPr>
          <a:xfrm>
            <a:off x="753028" y="1315551"/>
            <a:ext cx="546095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4-sc.yaml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578" y="1637842"/>
            <a:ext cx="602801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StorageClass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 확인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7" y="1939452"/>
            <a:ext cx="975765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storageclass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PROVISIONER                    RECLAIMPOLICY   VOLUMEBINDINGMODE      ALLOWVOLUMEEXPANSION   AGE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local-storage   kubernetes.io/no-</a:t>
            </a:r>
            <a:r>
              <a:rPr lang="en-US" altLang="ko-KR" sz="1200" dirty="0" err="1">
                <a:solidFill>
                  <a:schemeClr val="bg1"/>
                </a:solidFill>
              </a:rPr>
              <a:t>provisioner</a:t>
            </a:r>
            <a:r>
              <a:rPr lang="en-US" altLang="ko-KR" sz="1200" dirty="0">
                <a:solidFill>
                  <a:schemeClr val="bg1"/>
                </a:solidFill>
              </a:rPr>
              <a:t>   Delete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</a:t>
            </a:r>
            <a:r>
              <a:rPr lang="en-US" altLang="ko-KR" sz="1200" dirty="0" err="1">
                <a:solidFill>
                  <a:schemeClr val="bg1"/>
                </a:solidFill>
              </a:rPr>
              <a:t>WaitForFirstConsumer</a:t>
            </a:r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false                                 54m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3027" y="2656456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생성한 </a:t>
            </a:r>
            <a:r>
              <a:rPr lang="en-US" altLang="ko-KR" sz="1400" dirty="0" err="1" smtClean="0"/>
              <a:t>StorageClass</a:t>
            </a:r>
            <a:r>
              <a:rPr lang="en-US" altLang="ko-KR" sz="1400" dirty="0" smtClean="0"/>
              <a:t> Default</a:t>
            </a:r>
            <a:r>
              <a:rPr lang="ko-KR" altLang="en-US" sz="1400" dirty="0" smtClean="0"/>
              <a:t>로 설정</a:t>
            </a:r>
            <a:endParaRPr lang="en-US" altLang="ko-KR" sz="1200" dirty="0"/>
          </a:p>
        </p:txBody>
      </p:sp>
      <p:sp>
        <p:nvSpPr>
          <p:cNvPr id="25" name="TextBox 3"/>
          <p:cNvSpPr txBox="1"/>
          <p:nvPr/>
        </p:nvSpPr>
        <p:spPr>
          <a:xfrm>
            <a:off x="753028" y="2997489"/>
            <a:ext cx="975765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patch </a:t>
            </a:r>
            <a:r>
              <a:rPr lang="en-US" altLang="ko-KR" sz="1200" dirty="0" err="1">
                <a:solidFill>
                  <a:schemeClr val="bg1"/>
                </a:solidFill>
              </a:rPr>
              <a:t>storageclass</a:t>
            </a:r>
            <a:r>
              <a:rPr lang="en-US" altLang="ko-KR" sz="1200" dirty="0">
                <a:solidFill>
                  <a:schemeClr val="bg1"/>
                </a:solidFill>
              </a:rPr>
              <a:t> &lt;storage-class-name&gt; </a:t>
            </a:r>
            <a:r>
              <a:rPr lang="en-US" altLang="ko-KR" sz="1200" dirty="0" smtClean="0">
                <a:solidFill>
                  <a:schemeClr val="bg1"/>
                </a:solidFill>
              </a:rPr>
              <a:t>-</a:t>
            </a:r>
            <a:r>
              <a:rPr lang="en-US" altLang="ko-KR" sz="1200" dirty="0">
                <a:solidFill>
                  <a:schemeClr val="bg1"/>
                </a:solidFill>
              </a:rPr>
              <a:t>p '{"metadata": {"annotations":{"storageclass.kubernetes.io/</a:t>
            </a:r>
            <a:r>
              <a:rPr lang="en-US" altLang="ko-KR" sz="1200" dirty="0" err="1">
                <a:solidFill>
                  <a:schemeClr val="bg1"/>
                </a:solidFill>
              </a:rPr>
              <a:t>is-default-class":"true</a:t>
            </a:r>
            <a:r>
              <a:rPr lang="en-US" altLang="ko-KR" sz="1200" dirty="0" smtClean="0">
                <a:solidFill>
                  <a:schemeClr val="bg1"/>
                </a:solidFill>
              </a:rPr>
              <a:t>"}}}'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3027" y="3348953"/>
            <a:ext cx="602801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생성한 </a:t>
            </a:r>
            <a:r>
              <a:rPr lang="en-US" altLang="ko-KR" sz="1400" dirty="0" err="1" smtClean="0"/>
              <a:t>StorageClass</a:t>
            </a:r>
            <a:r>
              <a:rPr lang="en-US" altLang="ko-KR" sz="1400" dirty="0" smtClean="0"/>
              <a:t> Default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적용 확인</a:t>
            </a:r>
            <a:endParaRPr lang="en-US" altLang="ko-KR" sz="1200" dirty="0"/>
          </a:p>
        </p:txBody>
      </p:sp>
      <p:sp>
        <p:nvSpPr>
          <p:cNvPr id="27" name="TextBox 3"/>
          <p:cNvSpPr txBox="1"/>
          <p:nvPr/>
        </p:nvSpPr>
        <p:spPr>
          <a:xfrm>
            <a:off x="753028" y="3668676"/>
            <a:ext cx="9757656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storageclass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PROVISIONER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RECLAIMPOLICY   VOLUMEBINDINGMODE      ALLOWVOLUMEEXPANSION   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local-storage(Default)   </a:t>
            </a:r>
            <a:r>
              <a:rPr lang="en-US" altLang="ko-KR" sz="1200" dirty="0">
                <a:solidFill>
                  <a:schemeClr val="bg1"/>
                </a:solidFill>
              </a:rPr>
              <a:t>kubernetes.io/no-</a:t>
            </a:r>
            <a:r>
              <a:rPr lang="en-US" altLang="ko-KR" sz="1200" dirty="0" err="1">
                <a:solidFill>
                  <a:schemeClr val="bg1"/>
                </a:solidFill>
              </a:rPr>
              <a:t>provisioner</a:t>
            </a:r>
            <a:r>
              <a:rPr lang="en-US" altLang="ko-KR" sz="1200" dirty="0">
                <a:solidFill>
                  <a:schemeClr val="bg1"/>
                </a:solidFill>
              </a:rPr>
              <a:t>   Delete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WaitForFirstConsumer</a:t>
            </a:r>
            <a:r>
              <a:rPr lang="en-US" altLang="ko-KR" sz="1200" dirty="0">
                <a:solidFill>
                  <a:schemeClr val="bg1"/>
                </a:solidFill>
              </a:rPr>
              <a:t>        false                                 54m</a:t>
            </a:r>
          </a:p>
        </p:txBody>
      </p:sp>
    </p:spTree>
    <p:extLst>
      <p:ext uri="{BB962C8B-B14F-4D97-AF65-F5344CB8AC3E}">
        <p14:creationId xmlns:p14="http://schemas.microsoft.com/office/powerpoint/2010/main" val="2875773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StorageClass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550278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 smtClean="0"/>
              <a:t>스토리지 </a:t>
            </a:r>
            <a:r>
              <a:rPr lang="ko-KR" altLang="en-US" sz="1400" dirty="0" err="1" smtClean="0"/>
              <a:t>프로비저닝</a:t>
            </a:r>
            <a:r>
              <a:rPr lang="ko-KR" altLang="en-US" sz="1400" dirty="0" smtClean="0"/>
              <a:t> 방식을 정의하는 리소스</a:t>
            </a:r>
            <a:endParaRPr lang="en-US" altLang="ko-KR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03578" y="1013941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PersistentVolume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grpSp>
        <p:nvGrpSpPr>
          <p:cNvPr id="3" name="그룹 2"/>
          <p:cNvGrpSpPr/>
          <p:nvPr/>
        </p:nvGrpSpPr>
        <p:grpSpPr>
          <a:xfrm>
            <a:off x="6368614" y="676978"/>
            <a:ext cx="5479257" cy="3139321"/>
            <a:chOff x="6948717" y="794108"/>
            <a:chExt cx="5479257" cy="3139321"/>
          </a:xfrm>
        </p:grpSpPr>
        <p:sp>
          <p:nvSpPr>
            <p:cNvPr id="12" name="TextBox 3"/>
            <p:cNvSpPr txBox="1"/>
            <p:nvPr/>
          </p:nvSpPr>
          <p:spPr>
            <a:xfrm>
              <a:off x="6948718" y="1071107"/>
              <a:ext cx="5479256" cy="286232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PersistentVolume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pv</a:t>
              </a:r>
              <a:r>
                <a:rPr lang="en-US" altLang="ko-KR" sz="1200" dirty="0"/>
                <a:t>-</a:t>
              </a:r>
              <a:r>
                <a:rPr lang="en-US" altLang="ko-KR" sz="1200" dirty="0" err="1" smtClean="0"/>
                <a:t>sc</a:t>
              </a:r>
              <a:r>
                <a:rPr lang="en-US" altLang="ko-KR" sz="1200" dirty="0" smtClean="0"/>
                <a:t>-test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capacity:</a:t>
              </a:r>
            </a:p>
            <a:p>
              <a:r>
                <a:rPr lang="en-US" altLang="ko-KR" sz="1200" dirty="0"/>
                <a:t>    storage: 2G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accessModes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- </a:t>
              </a:r>
              <a:r>
                <a:rPr lang="en-US" altLang="ko-KR" sz="1200" dirty="0" err="1"/>
                <a:t>ReadWriteOnce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storageClassName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local-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stroage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persistentVolumeReclaimPolicy</a:t>
              </a:r>
              <a:r>
                <a:rPr lang="en-US" altLang="ko-KR" sz="1200" dirty="0"/>
                <a:t>: Delete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smtClean="0"/>
                <a:t>local:</a:t>
              </a:r>
              <a:endParaRPr lang="en-US" altLang="ko-KR" sz="1200" dirty="0"/>
            </a:p>
            <a:p>
              <a:r>
                <a:rPr lang="en-US" altLang="ko-KR" sz="1200" dirty="0"/>
                <a:t>    path: /</a:t>
              </a:r>
              <a:r>
                <a:rPr lang="en-US" altLang="ko-KR" sz="1200" dirty="0" smtClean="0"/>
                <a:t>test</a:t>
              </a:r>
            </a:p>
            <a:p>
              <a:endParaRPr lang="en-US" altLang="ko-KR" sz="1200" dirty="0" smtClean="0"/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6948717" y="794108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3-pv.yaml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TextBox 3"/>
          <p:cNvSpPr txBox="1"/>
          <p:nvPr/>
        </p:nvSpPr>
        <p:spPr>
          <a:xfrm>
            <a:off x="753028" y="1315551"/>
            <a:ext cx="546095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4-pv.yaml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578" y="1637842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PersistentVolumeClaim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53028" y="1939452"/>
            <a:ext cx="546095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4-pvc.yaml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578" y="2271575"/>
            <a:ext cx="6028017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PV, PVC Bound </a:t>
            </a:r>
            <a:r>
              <a:rPr lang="ko-KR" altLang="en-US" sz="1200" dirty="0" smtClean="0"/>
              <a:t>확인</a:t>
            </a:r>
            <a:endParaRPr lang="en-US" altLang="ko-KR" sz="1200" dirty="0"/>
          </a:p>
        </p:txBody>
      </p:sp>
      <p:sp>
        <p:nvSpPr>
          <p:cNvPr id="16" name="TextBox 3"/>
          <p:cNvSpPr txBox="1"/>
          <p:nvPr/>
        </p:nvSpPr>
        <p:spPr>
          <a:xfrm>
            <a:off x="753028" y="2573185"/>
            <a:ext cx="546095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pv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CAPACITY   ACCESS MODES   RECLAIM POLICY   </a:t>
            </a:r>
            <a:r>
              <a:rPr lang="en-US" altLang="ko-KR" sz="1200" dirty="0" smtClean="0">
                <a:solidFill>
                  <a:schemeClr val="bg1"/>
                </a:solidFill>
              </a:rPr>
              <a:t>STATUS …(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err="1">
                <a:solidFill>
                  <a:schemeClr val="bg1"/>
                </a:solidFill>
              </a:rPr>
              <a:t>pv</a:t>
            </a:r>
            <a:r>
              <a:rPr lang="en-US" altLang="ko-KR" sz="1200" dirty="0">
                <a:solidFill>
                  <a:schemeClr val="bg1"/>
                </a:solidFill>
              </a:rPr>
              <a:t>-test   </a:t>
            </a:r>
            <a:r>
              <a:rPr lang="en-US" altLang="ko-KR" sz="1200" dirty="0" smtClean="0">
                <a:solidFill>
                  <a:schemeClr val="bg1"/>
                </a:solidFill>
              </a:rPr>
              <a:t>  2G             RWO                 Delete                Bound  …(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6368614" y="3871423"/>
            <a:ext cx="5479257" cy="2400657"/>
            <a:chOff x="6948717" y="794108"/>
            <a:chExt cx="5479257" cy="2400657"/>
          </a:xfrm>
        </p:grpSpPr>
        <p:sp>
          <p:nvSpPr>
            <p:cNvPr id="20" name="TextBox 3"/>
            <p:cNvSpPr txBox="1"/>
            <p:nvPr/>
          </p:nvSpPr>
          <p:spPr>
            <a:xfrm>
              <a:off x="6948718" y="1071107"/>
              <a:ext cx="5479256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PersistentVolumeClaim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pvc</a:t>
              </a:r>
              <a:r>
                <a:rPr lang="en-US" altLang="ko-KR" sz="1200" dirty="0" smtClean="0"/>
                <a:t>-</a:t>
              </a:r>
              <a:r>
                <a:rPr lang="en-US" altLang="ko-KR" sz="1200" dirty="0" err="1" smtClean="0"/>
                <a:t>sc</a:t>
              </a:r>
              <a:r>
                <a:rPr lang="en-US" altLang="ko-KR" sz="1200" dirty="0" smtClean="0"/>
                <a:t>-test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accessModes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- </a:t>
              </a:r>
              <a:r>
                <a:rPr lang="en-US" altLang="ko-KR" sz="1200" dirty="0" err="1"/>
                <a:t>ReadWriteOnce</a:t>
              </a:r>
              <a:endParaRPr lang="en-US" altLang="ko-KR" sz="1200" dirty="0"/>
            </a:p>
            <a:p>
              <a:r>
                <a:rPr lang="en-US" altLang="ko-KR" sz="1200" dirty="0"/>
                <a:t>  resources:</a:t>
              </a:r>
            </a:p>
            <a:p>
              <a:r>
                <a:rPr lang="en-US" altLang="ko-KR" sz="1200" dirty="0"/>
                <a:t>    requests:</a:t>
              </a:r>
            </a:p>
            <a:p>
              <a:r>
                <a:rPr lang="en-US" altLang="ko-KR" sz="1200" dirty="0"/>
                <a:t>      storage: 1G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storageClassName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“local-storage"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3"/>
            <p:cNvSpPr txBox="1"/>
            <p:nvPr/>
          </p:nvSpPr>
          <p:spPr>
            <a:xfrm>
              <a:off x="6948717" y="794108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3-pvc.yaml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5024284" y="2630384"/>
            <a:ext cx="589935" cy="577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3"/>
          <p:cNvSpPr txBox="1"/>
          <p:nvPr/>
        </p:nvSpPr>
        <p:spPr>
          <a:xfrm>
            <a:off x="753028" y="3312286"/>
            <a:ext cx="553961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pvc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STATUS </a:t>
            </a:r>
            <a:r>
              <a:rPr lang="en-US" altLang="ko-KR" sz="1200" dirty="0" smtClean="0">
                <a:solidFill>
                  <a:schemeClr val="bg1"/>
                </a:solidFill>
              </a:rPr>
              <a:t> VOLUME  CAPACITY ACCESS </a:t>
            </a:r>
            <a:r>
              <a:rPr lang="en-US" altLang="ko-KR" sz="1200" dirty="0">
                <a:solidFill>
                  <a:schemeClr val="bg1"/>
                </a:solidFill>
              </a:rPr>
              <a:t>MODES  </a:t>
            </a:r>
            <a:r>
              <a:rPr lang="en-US" altLang="ko-KR" sz="1200" dirty="0" smtClean="0">
                <a:solidFill>
                  <a:schemeClr val="bg1"/>
                </a:solidFill>
              </a:rPr>
              <a:t>STORAGECLASS</a:t>
            </a:r>
          </a:p>
          <a:p>
            <a:r>
              <a:rPr lang="en-US" altLang="ko-KR" sz="1200" dirty="0" err="1" smtClean="0">
                <a:solidFill>
                  <a:schemeClr val="bg1"/>
                </a:solidFill>
              </a:rPr>
              <a:t>pvc</a:t>
            </a:r>
            <a:r>
              <a:rPr lang="en-US" altLang="ko-KR" sz="1200" dirty="0" smtClean="0">
                <a:solidFill>
                  <a:schemeClr val="bg1"/>
                </a:solidFill>
              </a:rPr>
              <a:t>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sc</a:t>
            </a:r>
            <a:r>
              <a:rPr lang="en-US" altLang="ko-KR" sz="1200" dirty="0" smtClean="0">
                <a:solidFill>
                  <a:schemeClr val="bg1"/>
                </a:solidFill>
              </a:rPr>
              <a:t>-test   Pending                                                    local-storage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720959" y="3522354"/>
            <a:ext cx="668280" cy="4138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005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PV/PVC - Pod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생성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550278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smtClean="0"/>
              <a:t>Pod /opt </a:t>
            </a:r>
            <a:r>
              <a:rPr lang="ko-KR" altLang="en-US" sz="1400" dirty="0" smtClean="0"/>
              <a:t>디렉터리와 </a:t>
            </a:r>
            <a:r>
              <a:rPr lang="en-US" altLang="ko-KR" sz="1400" dirty="0" smtClean="0"/>
              <a:t>node01</a:t>
            </a:r>
            <a:r>
              <a:rPr lang="ko-KR" altLang="en-US" sz="1400" dirty="0" smtClean="0"/>
              <a:t>번에 </a:t>
            </a:r>
            <a:r>
              <a:rPr lang="en-US" altLang="ko-KR" sz="1400" dirty="0" smtClean="0"/>
              <a:t>/test </a:t>
            </a:r>
            <a:r>
              <a:rPr lang="ko-KR" altLang="en-US" sz="1400" dirty="0" smtClean="0"/>
              <a:t>디렉터리 연동 확인</a:t>
            </a:r>
            <a:endParaRPr lang="en-US" altLang="ko-KR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11200" y="1987332"/>
            <a:ext cx="602801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Nginx-</a:t>
            </a:r>
            <a:r>
              <a:rPr lang="en-US" altLang="ko-KR" sz="1400" dirty="0" err="1" smtClean="0"/>
              <a:t>sc</a:t>
            </a:r>
            <a:r>
              <a:rPr lang="en-US" altLang="ko-KR" sz="1400" dirty="0" smtClean="0"/>
              <a:t>-</a:t>
            </a:r>
            <a:r>
              <a:rPr lang="en-US" altLang="ko-KR" sz="1400" dirty="0" err="1" smtClean="0"/>
              <a:t>pvc</a:t>
            </a:r>
            <a:r>
              <a:rPr lang="en-US" altLang="ko-KR" sz="1400" dirty="0" smtClean="0"/>
              <a:t> pod opt </a:t>
            </a:r>
            <a:r>
              <a:rPr lang="ko-KR" altLang="en-US" sz="1400" dirty="0" smtClean="0"/>
              <a:t>디렉터리에 </a:t>
            </a:r>
            <a:r>
              <a:rPr lang="en-US" altLang="ko-KR" sz="1400" dirty="0" smtClean="0"/>
              <a:t>hello2.txt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grpSp>
        <p:nvGrpSpPr>
          <p:cNvPr id="3" name="그룹 2"/>
          <p:cNvGrpSpPr/>
          <p:nvPr/>
        </p:nvGrpSpPr>
        <p:grpSpPr>
          <a:xfrm>
            <a:off x="7591371" y="676978"/>
            <a:ext cx="4201063" cy="3877985"/>
            <a:chOff x="6948717" y="794108"/>
            <a:chExt cx="5479257" cy="3877985"/>
          </a:xfrm>
        </p:grpSpPr>
        <p:sp>
          <p:nvSpPr>
            <p:cNvPr id="12" name="TextBox 3"/>
            <p:cNvSpPr txBox="1"/>
            <p:nvPr/>
          </p:nvSpPr>
          <p:spPr>
            <a:xfrm>
              <a:off x="6948718" y="1071107"/>
              <a:ext cx="5479256" cy="3600986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run: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nginx-sc-pvc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nodeSelector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kubernetes.io/hostname: k8sedu-node01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err="1" smtClean="0"/>
                <a:t>nginx-sc-pvc</a:t>
              </a:r>
              <a:endParaRPr lang="en-US" altLang="ko-KR" sz="1200" dirty="0"/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pv</a:t>
              </a:r>
              <a:r>
                <a:rPr lang="en-US" altLang="ko-KR" sz="1200" dirty="0"/>
                <a:t>-storage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/opt</a:t>
              </a:r>
            </a:p>
            <a:p>
              <a:r>
                <a:rPr lang="en-US" altLang="ko-KR" sz="1200" dirty="0"/>
                <a:t>  volumes: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pv</a:t>
              </a:r>
              <a:r>
                <a:rPr lang="en-US" altLang="ko-KR" sz="1200" dirty="0"/>
                <a:t>-storage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persistentVolumeClaim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claimName</a:t>
              </a:r>
              <a:r>
                <a:rPr lang="en-US" altLang="ko-KR" sz="1200" dirty="0"/>
                <a:t>: </a:t>
              </a:r>
              <a:r>
                <a:rPr lang="en-US" altLang="ko-KR" sz="1200" dirty="0" err="1" smtClean="0"/>
                <a:t>pvc</a:t>
              </a:r>
              <a:r>
                <a:rPr lang="en-US" altLang="ko-KR" sz="1200" dirty="0" smtClean="0"/>
                <a:t>-</a:t>
              </a:r>
              <a:r>
                <a:rPr lang="en-US" altLang="ko-KR" sz="1200" dirty="0" err="1" smtClean="0"/>
                <a:t>sc</a:t>
              </a:r>
              <a:r>
                <a:rPr lang="en-US" altLang="ko-KR" sz="1200" dirty="0" smtClean="0"/>
                <a:t>-test</a:t>
              </a:r>
              <a:endParaRPr lang="en-US" altLang="ko-KR" sz="1200" dirty="0"/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6948717" y="794108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4-pod.yaml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TextBox 3"/>
          <p:cNvSpPr txBox="1"/>
          <p:nvPr/>
        </p:nvSpPr>
        <p:spPr>
          <a:xfrm>
            <a:off x="760650" y="2288942"/>
            <a:ext cx="597856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err="1">
                <a:solidFill>
                  <a:schemeClr val="bg1"/>
                </a:solidFill>
              </a:rPr>
              <a:t>nginx-pvc</a:t>
            </a:r>
            <a:r>
              <a:rPr lang="en-US" altLang="ko-KR" sz="1200" dirty="0">
                <a:solidFill>
                  <a:schemeClr val="bg1"/>
                </a:solidFill>
              </a:rPr>
              <a:t> -- </a:t>
            </a:r>
            <a:r>
              <a:rPr lang="en-US" altLang="ko-KR" sz="1200" dirty="0" err="1">
                <a:solidFill>
                  <a:schemeClr val="bg1"/>
                </a:solidFill>
              </a:rPr>
              <a:t>sh</a:t>
            </a:r>
            <a:r>
              <a:rPr lang="en-US" altLang="ko-KR" sz="1200" dirty="0">
                <a:solidFill>
                  <a:schemeClr val="bg1"/>
                </a:solidFill>
              </a:rPr>
              <a:t> -c 'echo "hello 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" &gt;&gt; /</a:t>
            </a:r>
            <a:r>
              <a:rPr lang="en-US" altLang="ko-KR" sz="1200" dirty="0" smtClean="0">
                <a:solidFill>
                  <a:schemeClr val="bg1"/>
                </a:solidFill>
              </a:rPr>
              <a:t>opt/hello2.txt</a:t>
            </a:r>
            <a:r>
              <a:rPr lang="en-US" altLang="ko-KR" sz="1200" dirty="0">
                <a:solidFill>
                  <a:schemeClr val="bg1"/>
                </a:solidFill>
              </a:rPr>
              <a:t>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2611233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Node01</a:t>
            </a:r>
            <a:r>
              <a:rPr lang="ko-KR" altLang="en-US" sz="1400" dirty="0" smtClean="0"/>
              <a:t>번 </a:t>
            </a:r>
            <a:r>
              <a:rPr lang="en-US" altLang="ko-KR" sz="1400" dirty="0" smtClean="0"/>
              <a:t>test </a:t>
            </a:r>
            <a:r>
              <a:rPr lang="ko-KR" altLang="en-US" sz="1400" dirty="0" smtClean="0"/>
              <a:t>디렉터리에서 </a:t>
            </a:r>
            <a:r>
              <a:rPr lang="en-US" altLang="ko-KR" sz="1400" dirty="0" smtClean="0"/>
              <a:t>hello.txt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18" name="TextBox 3"/>
          <p:cNvSpPr txBox="1"/>
          <p:nvPr/>
        </p:nvSpPr>
        <p:spPr>
          <a:xfrm>
            <a:off x="760650" y="2912843"/>
            <a:ext cx="597856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>
                <a:solidFill>
                  <a:schemeClr val="bg1"/>
                </a:solidFill>
              </a:rPr>
              <a:t>cat </a:t>
            </a:r>
            <a:r>
              <a:rPr lang="en-US" altLang="ko-KR" sz="1200" dirty="0" smtClean="0">
                <a:solidFill>
                  <a:schemeClr val="bg1"/>
                </a:solidFill>
              </a:rPr>
              <a:t>hello2.txt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hello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200" y="1014947"/>
            <a:ext cx="602801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 시 </a:t>
            </a:r>
            <a:r>
              <a:rPr lang="en-US" altLang="ko-KR" sz="1400" dirty="0" smtClean="0"/>
              <a:t>PVC Bound</a:t>
            </a:r>
            <a:r>
              <a:rPr lang="ko-KR" altLang="en-US" sz="1400" dirty="0" smtClean="0"/>
              <a:t>됨 확인</a:t>
            </a:r>
            <a:endParaRPr lang="en-US" altLang="ko-KR" sz="1200" dirty="0"/>
          </a:p>
        </p:txBody>
      </p:sp>
      <p:sp>
        <p:nvSpPr>
          <p:cNvPr id="16" name="TextBox 3"/>
          <p:cNvSpPr txBox="1"/>
          <p:nvPr/>
        </p:nvSpPr>
        <p:spPr>
          <a:xfrm>
            <a:off x="760650" y="1316557"/>
            <a:ext cx="597856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pvc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STATUS  VOLUME  CAPACITY ACCESS MODES  STORAGECLASS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pvc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err="1">
                <a:solidFill>
                  <a:schemeClr val="bg1"/>
                </a:solidFill>
              </a:rPr>
              <a:t>sc</a:t>
            </a:r>
            <a:r>
              <a:rPr lang="en-US" altLang="ko-KR" sz="1200" dirty="0">
                <a:solidFill>
                  <a:schemeClr val="bg1"/>
                </a:solidFill>
              </a:rPr>
              <a:t>-test    Bound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pv</a:t>
            </a:r>
            <a:r>
              <a:rPr lang="en-US" altLang="ko-KR" sz="1200" dirty="0" smtClean="0">
                <a:solidFill>
                  <a:schemeClr val="bg1"/>
                </a:solidFill>
              </a:rPr>
              <a:t>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sc</a:t>
            </a:r>
            <a:r>
              <a:rPr lang="en-US" altLang="ko-KR" sz="1200" dirty="0" smtClean="0">
                <a:solidFill>
                  <a:schemeClr val="bg1"/>
                </a:solidFill>
              </a:rPr>
              <a:t>-test  2G         </a:t>
            </a:r>
            <a:r>
              <a:rPr lang="en-US" altLang="ko-KR" sz="1200" dirty="0">
                <a:solidFill>
                  <a:schemeClr val="bg1"/>
                </a:solidFill>
              </a:rPr>
              <a:t>RWO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local-storage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750455" y="1533832"/>
            <a:ext cx="668280" cy="403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124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23883</TotalTime>
  <Words>1148</Words>
  <Application>Microsoft Office PowerPoint</Application>
  <PresentationFormat>와이드스크린</PresentationFormat>
  <Paragraphs>274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452</cp:revision>
  <dcterms:created xsi:type="dcterms:W3CDTF">2022-09-15T01:21:24Z</dcterms:created>
  <dcterms:modified xsi:type="dcterms:W3CDTF">2025-03-05T01:28:11Z</dcterms:modified>
</cp:coreProperties>
</file>