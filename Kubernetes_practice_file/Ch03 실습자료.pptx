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70" r:id="rId2"/>
    <p:sldId id="450" r:id="rId3"/>
    <p:sldId id="446" r:id="rId4"/>
    <p:sldId id="429" r:id="rId5"/>
    <p:sldId id="428" r:id="rId6"/>
    <p:sldId id="411" r:id="rId7"/>
    <p:sldId id="430" r:id="rId8"/>
    <p:sldId id="447" r:id="rId9"/>
    <p:sldId id="366" r:id="rId10"/>
    <p:sldId id="448" r:id="rId11"/>
    <p:sldId id="395" r:id="rId12"/>
    <p:sldId id="418" r:id="rId13"/>
    <p:sldId id="431" r:id="rId14"/>
    <p:sldId id="432" r:id="rId15"/>
    <p:sldId id="433" r:id="rId16"/>
    <p:sldId id="438" r:id="rId17"/>
    <p:sldId id="435" r:id="rId18"/>
    <p:sldId id="436" r:id="rId19"/>
    <p:sldId id="437" r:id="rId20"/>
    <p:sldId id="449" r:id="rId21"/>
    <p:sldId id="441" r:id="rId22"/>
    <p:sldId id="442" r:id="rId23"/>
    <p:sldId id="443" r:id="rId24"/>
    <p:sldId id="444" r:id="rId25"/>
    <p:sldId id="445" r:id="rId26"/>
    <p:sldId id="308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450"/>
            <p14:sldId id="446"/>
            <p14:sldId id="429"/>
            <p14:sldId id="428"/>
            <p14:sldId id="411"/>
            <p14:sldId id="430"/>
            <p14:sldId id="447"/>
            <p14:sldId id="366"/>
            <p14:sldId id="448"/>
            <p14:sldId id="395"/>
            <p14:sldId id="418"/>
            <p14:sldId id="431"/>
            <p14:sldId id="432"/>
            <p14:sldId id="433"/>
            <p14:sldId id="438"/>
            <p14:sldId id="435"/>
            <p14:sldId id="436"/>
            <p14:sldId id="437"/>
            <p14:sldId id="449"/>
            <p14:sldId id="441"/>
            <p14:sldId id="442"/>
            <p14:sldId id="443"/>
            <p14:sldId id="444"/>
            <p14:sldId id="445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7219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4" orient="horz" pos="2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E0E3"/>
    <a:srgbClr val="5B9BD5"/>
    <a:srgbClr val="85C8CD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326" autoAdjust="0"/>
  </p:normalViewPr>
  <p:slideViewPr>
    <p:cSldViewPr snapToGrid="0">
      <p:cViewPr varScale="1">
        <p:scale>
          <a:sx n="90" d="100"/>
          <a:sy n="90" d="100"/>
        </p:scale>
        <p:origin x="1332" y="96"/>
      </p:cViewPr>
      <p:guideLst>
        <p:guide orient="horz" pos="572"/>
        <p:guide pos="7219"/>
        <p:guide pos="483"/>
        <p:guide orient="horz" pos="2795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167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29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938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kubectl</a:t>
            </a:r>
            <a:r>
              <a:rPr lang="en-US" altLang="ko-KR" sz="1200" dirty="0" smtClean="0"/>
              <a:t> patch deployment rollout-</a:t>
            </a:r>
            <a:r>
              <a:rPr lang="en-US" altLang="ko-KR" sz="1200" dirty="0" err="1" smtClean="0"/>
              <a:t>nginx</a:t>
            </a:r>
            <a:r>
              <a:rPr lang="en-US" altLang="ko-KR" sz="1200" dirty="0" smtClean="0"/>
              <a:t> -p ‘{"spec": {"replicas": 3}}‘  </a:t>
            </a:r>
            <a:r>
              <a:rPr lang="ko-KR" altLang="en-US" sz="1200" dirty="0" smtClean="0"/>
              <a:t>명령어 후</a:t>
            </a:r>
            <a:r>
              <a:rPr lang="en-US" altLang="ko-KR" sz="1200" dirty="0" smtClean="0"/>
              <a:t>, 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&gt;</a:t>
            </a:r>
            <a:r>
              <a:rPr lang="ko-KR" altLang="en-US" sz="1200" dirty="0" smtClean="0"/>
              <a:t>이 나오는 경우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작은 따옴표</a:t>
            </a:r>
            <a:r>
              <a:rPr lang="ko-KR" altLang="en-US" sz="1200" baseline="0" dirty="0" smtClean="0"/>
              <a:t> 수정</a:t>
            </a:r>
            <a:r>
              <a:rPr lang="en-US" altLang="ko-KR" sz="1200" dirty="0" smtClean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40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776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28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Rollout Restart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 사유</a:t>
            </a:r>
            <a:r>
              <a:rPr lang="ko-KR" alt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넣는 방법</a:t>
            </a:r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 restart deployment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rollout-</a:t>
            </a:r>
            <a:r>
              <a:rPr lang="en-US" altLang="ko-K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nginx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--record=</a:t>
            </a:r>
            <a:r>
              <a:rPr lang="ko-KR" alt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변경이유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894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005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Command</a:t>
            </a:r>
            <a:r>
              <a:rPr lang="ko-KR" altLang="en-US" sz="1200" dirty="0" smtClean="0"/>
              <a:t>는 </a:t>
            </a:r>
            <a:r>
              <a:rPr lang="en-US" altLang="ko-KR" sz="1200" dirty="0" err="1" smtClean="0"/>
              <a:t>Dockerfile</a:t>
            </a:r>
            <a:r>
              <a:rPr lang="ko-KR" altLang="en-US" sz="1200" dirty="0" smtClean="0"/>
              <a:t>에서 </a:t>
            </a:r>
            <a:r>
              <a:rPr lang="en-US" altLang="ko-KR" sz="1200" dirty="0" err="1" smtClean="0"/>
              <a:t>EntryPoint</a:t>
            </a:r>
            <a:r>
              <a:rPr lang="ko-KR" altLang="en-US" sz="1200" dirty="0" smtClean="0"/>
              <a:t>에 해당된다</a:t>
            </a:r>
            <a:r>
              <a:rPr lang="en-US" altLang="ko-KR" sz="1200" dirty="0" smtClean="0"/>
              <a:t>.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실행할 명령어를 정의하는 부분</a:t>
            </a:r>
            <a:endParaRPr lang="en-US" altLang="ko-KR" sz="1200" baseline="0" dirty="0" smtClean="0"/>
          </a:p>
          <a:p>
            <a:r>
              <a:rPr lang="en-US" altLang="ko-KR" sz="1200" baseline="0" dirty="0" smtClean="0"/>
              <a:t>Argument</a:t>
            </a:r>
            <a:r>
              <a:rPr lang="ko-KR" altLang="en-US" sz="1200" baseline="0" dirty="0" smtClean="0"/>
              <a:t>는 명령어에 실행될 </a:t>
            </a:r>
            <a:r>
              <a:rPr lang="ko-KR" altLang="en-US" sz="1200" baseline="0" dirty="0" err="1" smtClean="0"/>
              <a:t>파라메터를</a:t>
            </a:r>
            <a:r>
              <a:rPr lang="ko-KR" altLang="en-US" sz="1200" baseline="0" dirty="0" smtClean="0"/>
              <a:t> 정의하는 부분이다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smtClean="0"/>
              <a:t>보통 프로세스를 실행 시킬 때는 </a:t>
            </a:r>
            <a:r>
              <a:rPr lang="en-US" altLang="ko-KR" sz="1200" baseline="0" dirty="0" err="1" smtClean="0"/>
              <a:t>nginx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nginx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바이너리 실행 파일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WebtoB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wsboot</a:t>
            </a:r>
            <a:r>
              <a:rPr lang="ko-KR" altLang="en-US" sz="1200" baseline="0" dirty="0" smtClean="0"/>
              <a:t>를 사용한다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이미지를 만들 때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Dockerfile</a:t>
            </a:r>
            <a:r>
              <a:rPr lang="ko-KR" altLang="en-US" sz="1200" baseline="0" dirty="0" smtClean="0"/>
              <a:t>에서는 마지막에 프로세스를 기동 하는 </a:t>
            </a:r>
            <a:r>
              <a:rPr lang="en-US" altLang="ko-KR" sz="1200" baseline="0" dirty="0" err="1" smtClean="0"/>
              <a:t>nginx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wsboot</a:t>
            </a:r>
            <a:r>
              <a:rPr lang="ko-KR" altLang="en-US" sz="1200" baseline="0" dirty="0" smtClean="0"/>
              <a:t>같은 명령어를 입력한다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smtClean="0"/>
              <a:t>간단한 예제를 들면 아래 </a:t>
            </a:r>
            <a:r>
              <a:rPr lang="en-US" altLang="ko-KR" sz="1200" baseline="0" dirty="0" err="1" smtClean="0"/>
              <a:t>Dockerfile</a:t>
            </a:r>
            <a:r>
              <a:rPr lang="ko-KR" altLang="en-US" sz="1200" baseline="0" dirty="0" smtClean="0"/>
              <a:t>은 </a:t>
            </a:r>
            <a:r>
              <a:rPr lang="en-US" altLang="ko-KR" sz="1200" baseline="0" dirty="0" smtClean="0"/>
              <a:t>sleep </a:t>
            </a:r>
            <a:r>
              <a:rPr lang="ko-KR" altLang="en-US" sz="1200" baseline="0" dirty="0" smtClean="0"/>
              <a:t>명령어를 실행하는 예시이다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sz="1200" baseline="0" dirty="0" err="1" smtClean="0"/>
              <a:t>Entrypoint</a:t>
            </a:r>
            <a:r>
              <a:rPr lang="ko-KR" altLang="en-US" sz="1200" baseline="0" dirty="0" smtClean="0"/>
              <a:t>없이 </a:t>
            </a:r>
            <a:r>
              <a:rPr lang="en-US" altLang="ko-KR" sz="1200" baseline="0" dirty="0" smtClean="0"/>
              <a:t>CMD</a:t>
            </a:r>
            <a:r>
              <a:rPr lang="ko-KR" altLang="en-US" sz="1200" baseline="0" dirty="0" smtClean="0"/>
              <a:t>만 </a:t>
            </a:r>
            <a:r>
              <a:rPr lang="ko-KR" altLang="en-US" sz="1200" baseline="0" dirty="0" err="1" smtClean="0"/>
              <a:t>쓸경우</a:t>
            </a:r>
            <a:r>
              <a:rPr lang="ko-KR" altLang="en-US" sz="1200" baseline="0" dirty="0" smtClean="0"/>
              <a:t> 아래와 같이 작성할 수도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err="1" smtClean="0"/>
              <a:t>도커</a:t>
            </a:r>
            <a:r>
              <a:rPr lang="ko-KR" altLang="en-US" sz="1200" baseline="0" dirty="0" smtClean="0"/>
              <a:t> 파일에서 엔트리포인트는 </a:t>
            </a:r>
            <a:r>
              <a:rPr lang="en-US" altLang="ko-KR" sz="1200" baseline="0" dirty="0" err="1" smtClean="0"/>
              <a:t>yaml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smtClean="0"/>
              <a:t>command, </a:t>
            </a:r>
            <a:r>
              <a:rPr lang="en-US" altLang="ko-KR" sz="1200" baseline="0" dirty="0" err="1" smtClean="0"/>
              <a:t>cmd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args</a:t>
            </a:r>
            <a:r>
              <a:rPr lang="ko-KR" altLang="en-US" sz="1200" baseline="0" dirty="0" smtClean="0"/>
              <a:t>에 해당된다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엔트리포인트 없이 사용하는 경우 </a:t>
            </a:r>
            <a:r>
              <a:rPr lang="en-US" altLang="ko-KR" sz="1200" baseline="0" dirty="0" smtClean="0"/>
              <a:t>CMD</a:t>
            </a:r>
            <a:r>
              <a:rPr lang="ko-KR" altLang="en-US" sz="1200" baseline="0" dirty="0" smtClean="0"/>
              <a:t>에서 다 명령어를 날릴 수도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744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381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16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263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41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WebtoB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err="1" smtClean="0"/>
              <a:t>설정파일인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err="1" smtClean="0"/>
              <a:t>http.m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파일을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으로 등록하여</a:t>
            </a:r>
            <a:endParaRPr lang="en-US" altLang="ko-KR" sz="1200" baseline="0" dirty="0" smtClean="0"/>
          </a:p>
          <a:p>
            <a:r>
              <a:rPr lang="ko-KR" altLang="en-US" sz="1200" baseline="0" dirty="0" smtClean="0"/>
              <a:t>이미지내 </a:t>
            </a:r>
            <a:r>
              <a:rPr lang="en-US" altLang="ko-KR" sz="1200" baseline="0" dirty="0" smtClean="0"/>
              <a:t>WebtoB </a:t>
            </a:r>
            <a:r>
              <a:rPr lang="ko-KR" altLang="en-US" sz="1200" baseline="0" dirty="0" smtClean="0"/>
              <a:t>설정 파일에 생성 할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259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081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749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161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224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990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99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93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2843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4596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44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실습자료</a:t>
            </a:r>
            <a:r>
              <a:rPr lang="ko-KR" alt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</a:t>
            </a:r>
            <a:r>
              <a:rPr lang="en-US" altLang="ko-KR" sz="6000" b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03</a:t>
            </a:r>
            <a:endParaRPr lang="en-US" sz="6000" b="1" dirty="0" smtClean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3304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rollout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08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Resource </a:t>
            </a:r>
            <a:r>
              <a:rPr lang="en-US" altLang="ko-KR" sz="1600" b="1" dirty="0"/>
              <a:t>Update Methods</a:t>
            </a:r>
            <a:r>
              <a:rPr lang="en-US" altLang="ko-KR" sz="1600" dirty="0"/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Update Methods</a:t>
            </a:r>
            <a:r>
              <a:rPr lang="ko-KR" altLang="en-US" sz="1400" dirty="0" smtClean="0"/>
              <a:t>로 </a:t>
            </a:r>
            <a:r>
              <a:rPr lang="en-US" altLang="ko-KR" sz="1400" dirty="0" smtClean="0"/>
              <a:t>‘edit, patch, replace, apply, set image’</a:t>
            </a:r>
            <a:r>
              <a:rPr lang="ko-KR" altLang="en-US" sz="1400" dirty="0" smtClean="0"/>
              <a:t>가 있다</a:t>
            </a:r>
            <a:r>
              <a:rPr lang="en-US" altLang="ko-KR" sz="1400" dirty="0" smtClean="0"/>
              <a:t>. </a:t>
            </a:r>
            <a:endParaRPr lang="en-US" altLang="ko-KR" sz="1200" dirty="0"/>
          </a:p>
        </p:txBody>
      </p:sp>
      <p:sp>
        <p:nvSpPr>
          <p:cNvPr id="48" name="TextBox 5"/>
          <p:cNvSpPr txBox="1"/>
          <p:nvPr/>
        </p:nvSpPr>
        <p:spPr>
          <a:xfrm>
            <a:off x="5161223" y="2090919"/>
            <a:ext cx="690954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edit deployment 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11199" y="1525583"/>
            <a:ext cx="4350599" cy="4247317"/>
            <a:chOff x="7600397" y="1003344"/>
            <a:chExt cx="4350599" cy="4247317"/>
          </a:xfrm>
        </p:grpSpPr>
        <p:sp>
          <p:nvSpPr>
            <p:cNvPr id="9" name="TextBox 3"/>
            <p:cNvSpPr txBox="1"/>
            <p:nvPr/>
          </p:nvSpPr>
          <p:spPr>
            <a:xfrm>
              <a:off x="7600397" y="1280343"/>
              <a:ext cx="4350599" cy="397031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Deployment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rollout-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rollout-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replicas: 2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Pod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수</a:t>
              </a:r>
            </a:p>
            <a:p>
              <a:r>
                <a:rPr lang="ko-KR" altLang="en-US" sz="1200" dirty="0"/>
                <a:t>  </a:t>
              </a:r>
              <a:r>
                <a:rPr lang="en-US" altLang="ko-KR" sz="1200" dirty="0"/>
                <a:t>strategy: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Update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전략 설정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 </a:t>
              </a:r>
            </a:p>
            <a:p>
              <a:r>
                <a:rPr lang="ko-KR" altLang="en-US" sz="1200" dirty="0" smtClean="0"/>
                <a:t>    </a:t>
              </a:r>
              <a:r>
                <a:rPr lang="en-US" altLang="ko-KR" sz="1200" dirty="0"/>
                <a:t>type: </a:t>
              </a:r>
              <a:r>
                <a:rPr lang="en-US" altLang="ko-KR" sz="1200" dirty="0" err="1"/>
                <a:t>RollingUpdate</a:t>
              </a:r>
              <a:r>
                <a:rPr lang="en-US" altLang="ko-KR" sz="1200" dirty="0"/>
                <a:t>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Recreate or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RollingUpdate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설정</a:t>
              </a:r>
            </a:p>
            <a:p>
              <a:r>
                <a:rPr lang="ko-KR" altLang="en-US" sz="1200" dirty="0"/>
                <a:t>  </a:t>
              </a:r>
              <a:r>
                <a:rPr lang="en-US" altLang="ko-KR" sz="1200" dirty="0" err="1"/>
                <a:t>minReadySeconds</a:t>
              </a:r>
              <a:r>
                <a:rPr lang="en-US" altLang="ko-KR" sz="1200" dirty="0"/>
                <a:t>: 10</a:t>
              </a:r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rollout-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  image: nginx:1.26.3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imagePullPolicy</a:t>
              </a:r>
              <a:r>
                <a:rPr lang="en-US" altLang="ko-KR" sz="1200" dirty="0"/>
                <a:t>: Always</a:t>
              </a:r>
            </a:p>
          </p:txBody>
        </p:sp>
        <p:sp>
          <p:nvSpPr>
            <p:cNvPr id="11" name="TextBox 3"/>
            <p:cNvSpPr txBox="1"/>
            <p:nvPr/>
          </p:nvSpPr>
          <p:spPr>
            <a:xfrm>
              <a:off x="7600397" y="1003344"/>
              <a:ext cx="15223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deployments.yaml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068780" y="1454392"/>
            <a:ext cx="664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1. Edit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11199" y="112174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테스트에 사용되는 </a:t>
            </a:r>
            <a:r>
              <a:rPr lang="en-US" altLang="ko-KR" sz="1400" dirty="0" smtClean="0"/>
              <a:t>Pod</a:t>
            </a:r>
            <a:endParaRPr lang="en-US" altLang="ko-KR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068780" y="1763735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실시간 </a:t>
            </a:r>
            <a:r>
              <a:rPr lang="en-US" altLang="ko-KR" sz="1400" dirty="0"/>
              <a:t>YAML </a:t>
            </a:r>
            <a:r>
              <a:rPr lang="ko-KR" altLang="en-US" sz="1400" dirty="0"/>
              <a:t>파일 수정</a:t>
            </a:r>
            <a:r>
              <a:rPr lang="en-US" altLang="ko-KR" sz="1400" dirty="0"/>
              <a:t>. </a:t>
            </a:r>
            <a:r>
              <a:rPr lang="ko-KR" altLang="en-US" sz="1400" dirty="0"/>
              <a:t>편집기에서 </a:t>
            </a:r>
            <a:r>
              <a:rPr lang="en-US" altLang="ko-KR" sz="1400" dirty="0" err="1"/>
              <a:t>yaml</a:t>
            </a:r>
            <a:r>
              <a:rPr lang="en-US" altLang="ko-KR" sz="1400" dirty="0"/>
              <a:t> </a:t>
            </a:r>
            <a:r>
              <a:rPr lang="ko-KR" altLang="en-US" sz="1400" dirty="0"/>
              <a:t>내용 수정 </a:t>
            </a:r>
            <a:r>
              <a:rPr lang="ko-KR" altLang="en-US" sz="1400" dirty="0" smtClean="0"/>
              <a:t>후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저장 시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변경 사항 </a:t>
            </a:r>
            <a:r>
              <a:rPr lang="ko-KR" altLang="en-US" sz="1400" dirty="0" smtClean="0"/>
              <a:t>적용</a:t>
            </a:r>
            <a:r>
              <a:rPr lang="en-US" altLang="ko-KR" sz="1400" dirty="0" smtClean="0"/>
              <a:t>. </a:t>
            </a:r>
            <a:endParaRPr lang="en-US" altLang="ko-KR" sz="1200" dirty="0"/>
          </a:p>
        </p:txBody>
      </p:sp>
      <p:sp>
        <p:nvSpPr>
          <p:cNvPr id="17" name="TextBox 5"/>
          <p:cNvSpPr txBox="1"/>
          <p:nvPr/>
        </p:nvSpPr>
        <p:spPr>
          <a:xfrm>
            <a:off x="5161223" y="3106734"/>
            <a:ext cx="690954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patch deployment 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-p '{"spec": {"replicas": 3}}'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150" dirty="0" smtClean="0">
                <a:solidFill>
                  <a:schemeClr val="bg1"/>
                </a:solidFill>
              </a:rPr>
              <a:t># </a:t>
            </a:r>
            <a:r>
              <a:rPr lang="en-US" altLang="ko-KR" sz="1150" dirty="0" err="1">
                <a:solidFill>
                  <a:schemeClr val="bg1"/>
                </a:solidFill>
              </a:rPr>
              <a:t>Relicas</a:t>
            </a:r>
            <a:r>
              <a:rPr lang="en-US" altLang="ko-KR" sz="1150" dirty="0">
                <a:solidFill>
                  <a:schemeClr val="bg1"/>
                </a:solidFill>
              </a:rPr>
              <a:t> ‘2 -&gt; 3’ </a:t>
            </a:r>
            <a:r>
              <a:rPr lang="ko-KR" altLang="en-US" sz="1150" dirty="0">
                <a:solidFill>
                  <a:schemeClr val="bg1"/>
                </a:solidFill>
              </a:rPr>
              <a:t>으로 수정</a:t>
            </a:r>
            <a:endParaRPr lang="en-US" altLang="ko-KR" sz="11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68780" y="2452579"/>
            <a:ext cx="664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2. Patch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5068780" y="2761922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부분적으로 </a:t>
            </a:r>
            <a:r>
              <a:rPr lang="ko-KR" altLang="en-US" sz="1400" dirty="0"/>
              <a:t>특정 필드만 수정할 때 </a:t>
            </a:r>
            <a:r>
              <a:rPr lang="ko-KR" altLang="en-US" sz="1400" dirty="0" smtClean="0"/>
              <a:t>사용한다</a:t>
            </a:r>
            <a:r>
              <a:rPr lang="en-US" altLang="ko-KR" sz="1400" dirty="0" smtClean="0"/>
              <a:t>. </a:t>
            </a:r>
            <a:endParaRPr lang="en-US" altLang="ko-KR" sz="1200" dirty="0"/>
          </a:p>
        </p:txBody>
      </p:sp>
      <p:sp>
        <p:nvSpPr>
          <p:cNvPr id="20" name="TextBox 5"/>
          <p:cNvSpPr txBox="1"/>
          <p:nvPr/>
        </p:nvSpPr>
        <p:spPr>
          <a:xfrm>
            <a:off x="5161223" y="3802345"/>
            <a:ext cx="6909549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pods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NAME 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RESTARTS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rollout-nginx-bb778dcc9-89hjc    </a:t>
            </a:r>
            <a:r>
              <a:rPr lang="en-US" altLang="ko-KR" sz="1200" dirty="0">
                <a:solidFill>
                  <a:schemeClr val="bg1"/>
                </a:solidFill>
              </a:rPr>
              <a:t>1/1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Running    </a:t>
            </a:r>
            <a:r>
              <a:rPr lang="en-US" altLang="ko-KR" sz="1200" dirty="0">
                <a:solidFill>
                  <a:schemeClr val="bg1"/>
                </a:solidFill>
              </a:rPr>
              <a:t>0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32m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rollout-nginx-bb778dcc9-ddhx8   </a:t>
            </a:r>
            <a:r>
              <a:rPr lang="en-US" altLang="ko-KR" sz="1200" dirty="0">
                <a:solidFill>
                  <a:schemeClr val="bg1"/>
                </a:solidFill>
              </a:rPr>
              <a:t>1/1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Running    0               32m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rollout-nginx-bb778dcc9-ppclf     1/1       </a:t>
            </a:r>
            <a:r>
              <a:rPr lang="en-US" altLang="ko-KR" sz="1200" dirty="0">
                <a:solidFill>
                  <a:schemeClr val="bg1"/>
                </a:solidFill>
              </a:rPr>
              <a:t>Running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0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12s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새로 추가된 것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68780" y="3457533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29" name="직사각형 28"/>
          <p:cNvSpPr/>
          <p:nvPr/>
        </p:nvSpPr>
        <p:spPr>
          <a:xfrm>
            <a:off x="5343524" y="4225714"/>
            <a:ext cx="2314575" cy="5641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0029825" y="4566224"/>
            <a:ext cx="346076" cy="223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5"/>
          <p:cNvSpPr txBox="1"/>
          <p:nvPr/>
        </p:nvSpPr>
        <p:spPr>
          <a:xfrm>
            <a:off x="5153320" y="5912682"/>
            <a:ext cx="69174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replace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deployments.yaml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61798" y="5278623"/>
            <a:ext cx="664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3. Replace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5061798" y="5567870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YAML </a:t>
            </a:r>
            <a:r>
              <a:rPr lang="ko-KR" altLang="en-US" sz="1400" dirty="0"/>
              <a:t>파일을 수정한 후</a:t>
            </a:r>
            <a:r>
              <a:rPr lang="en-US" altLang="ko-KR" sz="1400" dirty="0"/>
              <a:t>, </a:t>
            </a:r>
            <a:r>
              <a:rPr lang="ko-KR" altLang="en-US" sz="1400" b="1" dirty="0"/>
              <a:t>통째로 덮어쓴다</a:t>
            </a:r>
            <a:r>
              <a:rPr lang="en-US" altLang="ko-KR" sz="1400" b="1" dirty="0"/>
              <a:t>. </a:t>
            </a:r>
            <a:r>
              <a:rPr lang="en-US" altLang="ko-KR" sz="1400" dirty="0" smtClean="0"/>
              <a:t>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53027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5"/>
          <p:cNvSpPr txBox="1"/>
          <p:nvPr/>
        </p:nvSpPr>
        <p:spPr>
          <a:xfrm>
            <a:off x="761627" y="1352587"/>
            <a:ext cx="1069853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replace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deployments.yaml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0106" y="698432"/>
            <a:ext cx="664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4. Apply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670106" y="1007775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YAML</a:t>
            </a:r>
            <a:r>
              <a:rPr lang="ko-KR" altLang="en-US" sz="1400" dirty="0"/>
              <a:t>에서 </a:t>
            </a:r>
            <a:r>
              <a:rPr lang="ko-KR" altLang="en-US" sz="1400" b="1" dirty="0"/>
              <a:t>변경된 내용만 </a:t>
            </a:r>
            <a:r>
              <a:rPr lang="ko-KR" altLang="en-US" sz="1400" dirty="0"/>
              <a:t>적용된다</a:t>
            </a:r>
            <a:r>
              <a:rPr lang="en-US" altLang="ko-KR" sz="1400" dirty="0"/>
              <a:t>. </a:t>
            </a:r>
            <a:endParaRPr lang="en-US" altLang="ko-KR" sz="1200" dirty="0"/>
          </a:p>
        </p:txBody>
      </p:sp>
      <p:sp>
        <p:nvSpPr>
          <p:cNvPr id="26" name="TextBox 5"/>
          <p:cNvSpPr txBox="1"/>
          <p:nvPr/>
        </p:nvSpPr>
        <p:spPr>
          <a:xfrm>
            <a:off x="767345" y="2458157"/>
            <a:ext cx="10692818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set image deployment/rollout-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=nginx:1.27.4		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deployment.apps</a:t>
            </a:r>
            <a:r>
              <a:rPr lang="en-US" altLang="ko-KR" sz="1200" dirty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image </a:t>
            </a:r>
            <a:r>
              <a:rPr lang="en-US" altLang="ko-KR" sz="1200" dirty="0" smtClean="0">
                <a:solidFill>
                  <a:schemeClr val="bg1"/>
                </a:solidFill>
              </a:rPr>
              <a:t>updated		</a:t>
            </a:r>
            <a:r>
              <a:rPr lang="en-US" altLang="ko-KR" sz="1200" dirty="0">
                <a:solidFill>
                  <a:schemeClr val="bg1"/>
                </a:solidFill>
              </a:rPr>
              <a:t># ‘nginx:1.26.3’</a:t>
            </a:r>
            <a:r>
              <a:rPr lang="ko-KR" altLang="en-US" sz="1200" dirty="0">
                <a:solidFill>
                  <a:schemeClr val="bg1"/>
                </a:solidFill>
              </a:rPr>
              <a:t>에서 </a:t>
            </a:r>
            <a:r>
              <a:rPr lang="en-US" altLang="ko-KR" sz="1200" dirty="0">
                <a:solidFill>
                  <a:schemeClr val="bg1"/>
                </a:solidFill>
              </a:rPr>
              <a:t>‘nginx:1.27.4’ </a:t>
            </a:r>
            <a:r>
              <a:rPr lang="ko-KR" altLang="en-US" sz="1200" dirty="0">
                <a:solidFill>
                  <a:schemeClr val="bg1"/>
                </a:solidFill>
              </a:rPr>
              <a:t>이미지로 </a:t>
            </a:r>
            <a:r>
              <a:rPr lang="ko-KR" altLang="en-US" sz="1200" dirty="0" smtClean="0">
                <a:solidFill>
                  <a:schemeClr val="bg1"/>
                </a:solidFill>
              </a:rPr>
              <a:t>변경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124" y="1816702"/>
            <a:ext cx="6647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5. Set image </a:t>
            </a:r>
            <a:r>
              <a:rPr lang="ko-KR" altLang="en-US" sz="1400" dirty="0" smtClean="0"/>
              <a:t>예시</a:t>
            </a:r>
            <a:endParaRPr lang="en-US" altLang="ko-KR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663124" y="2126045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Pod</a:t>
            </a:r>
            <a:r>
              <a:rPr lang="ko-KR" altLang="en-US" sz="1400" dirty="0"/>
              <a:t>의 컨테이너 이미지만 변경할 때 사용 </a:t>
            </a:r>
            <a:endParaRPr lang="en-US" altLang="ko-KR" sz="1200" dirty="0"/>
          </a:p>
        </p:txBody>
      </p:sp>
      <p:sp>
        <p:nvSpPr>
          <p:cNvPr id="29" name="TextBox 5"/>
          <p:cNvSpPr txBox="1"/>
          <p:nvPr/>
        </p:nvSpPr>
        <p:spPr>
          <a:xfrm>
            <a:off x="761627" y="3294299"/>
            <a:ext cx="10692818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pods rollout-nginx-bb778dcc9-89hjc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Containers: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Container ID:   cri-o://3cf2c3db632471a890123e967acd215360282533dd9cd6d373e3ab0faabeaf94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Image: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nginx:1.27.4 	# </a:t>
            </a:r>
            <a:r>
              <a:rPr lang="ko-KR" altLang="en-US" sz="1200" dirty="0" smtClean="0">
                <a:solidFill>
                  <a:schemeClr val="bg1"/>
                </a:solidFill>
              </a:rPr>
              <a:t>이미지 변경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  <a:r>
              <a:rPr lang="en-US" altLang="ko-KR" sz="1200" dirty="0" smtClean="0">
                <a:solidFill>
                  <a:schemeClr val="bg1"/>
                </a:solidFill>
              </a:rPr>
              <a:t>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406" y="2962187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 상세 정보 확인</a:t>
            </a:r>
            <a:endParaRPr lang="en-US" altLang="ko-KR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2032981" y="4229801"/>
            <a:ext cx="884786" cy="2236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5"/>
          <p:cNvSpPr txBox="1"/>
          <p:nvPr/>
        </p:nvSpPr>
        <p:spPr>
          <a:xfrm>
            <a:off x="774327" y="5090957"/>
            <a:ext cx="10692818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history deployment 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REVISION    </a:t>
            </a:r>
            <a:r>
              <a:rPr lang="en-US" altLang="ko-KR" sz="1200" dirty="0">
                <a:solidFill>
                  <a:schemeClr val="bg1"/>
                </a:solidFill>
              </a:rPr>
              <a:t>CHANGE-CAUSE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1               &lt;</a:t>
            </a:r>
            <a:r>
              <a:rPr lang="en-US" altLang="ko-KR" sz="1200" dirty="0">
                <a:solidFill>
                  <a:schemeClr val="bg1"/>
                </a:solidFill>
              </a:rPr>
              <a:t>none&gt;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2               &lt;</a:t>
            </a:r>
            <a:r>
              <a:rPr lang="en-US" altLang="ko-KR" sz="1200" dirty="0">
                <a:solidFill>
                  <a:schemeClr val="bg1"/>
                </a:solidFill>
              </a:rPr>
              <a:t>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# ‘</a:t>
            </a:r>
            <a:r>
              <a:rPr lang="ko-KR" altLang="en-US" sz="1200" dirty="0" smtClean="0">
                <a:solidFill>
                  <a:schemeClr val="bg1"/>
                </a:solidFill>
              </a:rPr>
              <a:t>이미지 변경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</a:t>
            </a:r>
            <a:r>
              <a:rPr lang="en-US" altLang="ko-KR" sz="1200" dirty="0" smtClean="0">
                <a:solidFill>
                  <a:schemeClr val="bg1"/>
                </a:solidFill>
              </a:rPr>
              <a:t>REVISION 2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0106" y="4758845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Upgrade </a:t>
            </a:r>
            <a:r>
              <a:rPr lang="ko-KR" altLang="en-US" sz="1400" dirty="0" smtClean="0"/>
              <a:t>확인 방법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이미지가 변경되는 경우</a:t>
            </a:r>
            <a:r>
              <a:rPr lang="en-US" altLang="ko-KR" sz="1400" dirty="0" smtClean="0"/>
              <a:t>, Upgrade </a:t>
            </a:r>
            <a:r>
              <a:rPr lang="ko-KR" altLang="en-US" sz="1400" dirty="0" smtClean="0"/>
              <a:t>발생</a:t>
            </a:r>
            <a:endParaRPr lang="en-US" altLang="ko-KR" sz="1200" dirty="0"/>
          </a:p>
        </p:txBody>
      </p:sp>
      <p:sp>
        <p:nvSpPr>
          <p:cNvPr id="41" name="직사각형 40"/>
          <p:cNvSpPr/>
          <p:nvPr/>
        </p:nvSpPr>
        <p:spPr>
          <a:xfrm>
            <a:off x="976012" y="5663651"/>
            <a:ext cx="1541045" cy="39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34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Rollout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110924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Controller </a:t>
            </a:r>
            <a:r>
              <a:rPr lang="ko-KR" altLang="en-US" sz="1400" dirty="0" err="1" smtClean="0"/>
              <a:t>재시작</a:t>
            </a:r>
            <a:endParaRPr lang="en-US" altLang="ko-KR" sz="1200" dirty="0"/>
          </a:p>
        </p:txBody>
      </p:sp>
      <p:sp>
        <p:nvSpPr>
          <p:cNvPr id="48" name="TextBox 5"/>
          <p:cNvSpPr txBox="1"/>
          <p:nvPr/>
        </p:nvSpPr>
        <p:spPr>
          <a:xfrm>
            <a:off x="766764" y="1417020"/>
            <a:ext cx="1069340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 deployment 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restarted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1199" y="328662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50" name="TextBox 5"/>
          <p:cNvSpPr txBox="1"/>
          <p:nvPr/>
        </p:nvSpPr>
        <p:spPr>
          <a:xfrm>
            <a:off x="766764" y="3594404"/>
            <a:ext cx="10693399" cy="267765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rollout status deployment 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out of 3 new replicas have been updated</a:t>
            </a:r>
            <a:r>
              <a:rPr lang="en-US" altLang="ko-KR" sz="1200" dirty="0" smtClean="0">
                <a:solidFill>
                  <a:schemeClr val="bg1"/>
                </a:solidFill>
              </a:rPr>
              <a:t>...	   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RollingUpdate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방식 의미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2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2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2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2 out of 3 new replicas have been updated...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old replicas are pending termination...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old replicas are pending termination...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Waiting </a:t>
            </a:r>
            <a:r>
              <a:rPr lang="en-US" altLang="ko-KR" sz="1200" dirty="0">
                <a:solidFill>
                  <a:schemeClr val="bg1"/>
                </a:solidFill>
              </a:rPr>
              <a:t>for deployment "rollout-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" rollout to finish: 1 old replicas are pending termination...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deployment "rollout-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" </a:t>
            </a:r>
            <a:r>
              <a:rPr lang="en-US" altLang="ko-KR" sz="1200" dirty="0" smtClean="0">
                <a:solidFill>
                  <a:srgbClr val="00B050"/>
                </a:solidFill>
              </a:rPr>
              <a:t>successfully</a:t>
            </a:r>
            <a:r>
              <a:rPr lang="en-US" altLang="ko-KR" sz="1200" dirty="0" smtClean="0">
                <a:solidFill>
                  <a:schemeClr val="bg1"/>
                </a:solidFill>
              </a:rPr>
              <a:t> rolled out    	# Rollout </a:t>
            </a:r>
            <a:r>
              <a:rPr lang="ko-KR" altLang="en-US" sz="1200" dirty="0" smtClean="0">
                <a:solidFill>
                  <a:schemeClr val="bg1"/>
                </a:solidFill>
              </a:rPr>
              <a:t>동작 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‘Deployment </a:t>
            </a:r>
            <a:r>
              <a:rPr lang="en-US" altLang="ko-KR" sz="1200" dirty="0">
                <a:solidFill>
                  <a:schemeClr val="bg1"/>
                </a:solidFill>
              </a:rPr>
              <a:t>Controller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재시작</a:t>
            </a:r>
            <a:r>
              <a:rPr lang="en-US" altLang="ko-KR" sz="1200" dirty="0" smtClean="0">
                <a:solidFill>
                  <a:schemeClr val="bg1"/>
                </a:solidFill>
              </a:rPr>
              <a:t>’ </a:t>
            </a:r>
            <a:r>
              <a:rPr lang="ko-KR" altLang="en-US" sz="1200" dirty="0" smtClean="0">
                <a:solidFill>
                  <a:schemeClr val="bg1"/>
                </a:solidFill>
              </a:rPr>
              <a:t>이후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일정 시간이 지난 뒤 </a:t>
            </a:r>
            <a:r>
              <a:rPr lang="en-US" altLang="ko-KR" sz="1200" dirty="0" smtClean="0">
                <a:solidFill>
                  <a:schemeClr val="bg1"/>
                </a:solidFill>
              </a:rPr>
              <a:t>Rollout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상태를 확인하는 경우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마지막 줄만 표시된다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65348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해당 과정은 </a:t>
            </a:r>
            <a:r>
              <a:rPr lang="en-US" altLang="ko-KR" sz="1400" b="1" dirty="0" smtClean="0"/>
              <a:t>‘1. </a:t>
            </a:r>
            <a:r>
              <a:rPr lang="ko-KR" altLang="en-US" sz="1400" b="1" dirty="0" smtClean="0"/>
              <a:t>리소스 수정</a:t>
            </a:r>
            <a:r>
              <a:rPr lang="en-US" altLang="ko-KR" sz="1400" b="1" dirty="0" smtClean="0"/>
              <a:t>’ </a:t>
            </a:r>
            <a:r>
              <a:rPr lang="ko-KR" altLang="en-US" sz="1400" b="1" dirty="0" smtClean="0"/>
              <a:t>의 테스트 후</a:t>
            </a:r>
            <a:r>
              <a:rPr lang="en-US" altLang="ko-KR" sz="1400" b="1" dirty="0" smtClean="0"/>
              <a:t>,</a:t>
            </a:r>
            <a:r>
              <a:rPr lang="ko-KR" altLang="en-US" sz="1400" b="1" dirty="0" smtClean="0"/>
              <a:t> 연속</a:t>
            </a:r>
            <a:r>
              <a:rPr lang="ko-KR" altLang="en-US" sz="1400" dirty="0" smtClean="0"/>
              <a:t>으로 진행한다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991989" y="3804360"/>
            <a:ext cx="7125769" cy="1848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711199" y="191341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9" name="TextBox 5"/>
          <p:cNvSpPr txBox="1"/>
          <p:nvPr/>
        </p:nvSpPr>
        <p:spPr>
          <a:xfrm>
            <a:off x="766764" y="2221187"/>
            <a:ext cx="10693399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 get </a:t>
            </a:r>
            <a:r>
              <a:rPr lang="en-US" altLang="ko-KR" sz="1200" dirty="0" err="1">
                <a:solidFill>
                  <a:schemeClr val="bg1"/>
                </a:solidFill>
              </a:rPr>
              <a:t>replicasets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NAME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DESIRED   CURRENT   READY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rollout-nginx-5fcc9f7c45     0             </a:t>
            </a:r>
            <a:r>
              <a:rPr lang="en-US" altLang="ko-KR" sz="1200" dirty="0">
                <a:solidFill>
                  <a:schemeClr val="bg1"/>
                </a:solidFill>
              </a:rPr>
              <a:t>0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</a:t>
            </a:r>
            <a:r>
              <a:rPr lang="en-US" altLang="ko-KR" sz="1200" dirty="0">
                <a:solidFill>
                  <a:schemeClr val="bg1"/>
                </a:solidFill>
              </a:rPr>
              <a:t>0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8m42s  	# Image </a:t>
            </a:r>
            <a:r>
              <a:rPr lang="ko-KR" altLang="en-US" sz="1200" dirty="0" smtClean="0">
                <a:solidFill>
                  <a:schemeClr val="bg1"/>
                </a:solidFill>
              </a:rPr>
              <a:t>변경으로 인해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비활성화된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rollout-nginx-bb778dcc9     0             0              0         7m11s	# Rollout Restart</a:t>
            </a:r>
            <a:r>
              <a:rPr lang="ko-KR" altLang="en-US" sz="1200" dirty="0" smtClean="0">
                <a:solidFill>
                  <a:schemeClr val="bg1"/>
                </a:solidFill>
              </a:rPr>
              <a:t>로 인해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비활성화된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Replicaset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rollout-nginx-cf79c4d4b      </a:t>
            </a:r>
            <a:r>
              <a:rPr lang="en-US" altLang="ko-KR" sz="1200" dirty="0">
                <a:solidFill>
                  <a:schemeClr val="bg1"/>
                </a:solidFill>
              </a:rPr>
              <a:t>3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3              3         3m32s  	# Rollout Restart</a:t>
            </a:r>
            <a:r>
              <a:rPr lang="ko-KR" altLang="en-US" sz="1200" dirty="0" smtClean="0">
                <a:solidFill>
                  <a:schemeClr val="bg1"/>
                </a:solidFill>
              </a:rPr>
              <a:t>로 인해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새로 생성된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Replicasset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89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721031" y="414767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Rollback</a:t>
            </a:r>
            <a:endParaRPr lang="en-US" altLang="ko-KR" sz="1200" dirty="0"/>
          </a:p>
        </p:txBody>
      </p:sp>
      <p:sp>
        <p:nvSpPr>
          <p:cNvPr id="56" name="TextBox 5"/>
          <p:cNvSpPr txBox="1"/>
          <p:nvPr/>
        </p:nvSpPr>
        <p:spPr>
          <a:xfrm>
            <a:off x="766764" y="4455450"/>
            <a:ext cx="10703232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undo deployment 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	# </a:t>
            </a:r>
            <a:r>
              <a:rPr lang="ko-KR" altLang="en-US" sz="1200" dirty="0">
                <a:solidFill>
                  <a:schemeClr val="bg1"/>
                </a:solidFill>
              </a:rPr>
              <a:t>배포된 </a:t>
            </a:r>
            <a:r>
              <a:rPr lang="en-US" altLang="ko-KR" sz="1200" dirty="0">
                <a:solidFill>
                  <a:schemeClr val="bg1"/>
                </a:solidFill>
              </a:rPr>
              <a:t>Deployment</a:t>
            </a:r>
            <a:r>
              <a:rPr lang="ko-KR" altLang="en-US" sz="1200" dirty="0">
                <a:solidFill>
                  <a:schemeClr val="bg1"/>
                </a:solidFill>
              </a:rPr>
              <a:t>를 바로 이전 버전으로 </a:t>
            </a:r>
            <a:r>
              <a:rPr lang="ko-KR" altLang="en-US" sz="1200" dirty="0" smtClean="0">
                <a:solidFill>
                  <a:schemeClr val="bg1"/>
                </a:solidFill>
              </a:rPr>
              <a:t>롤백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deployment.apps</a:t>
            </a:r>
            <a:r>
              <a:rPr lang="en-US" altLang="ko-KR" sz="1200" dirty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rolled back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undo deployment 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--to-revision=2 </a:t>
            </a:r>
            <a:r>
              <a:rPr lang="en-US" altLang="ko-KR" sz="1200" dirty="0" smtClean="0">
                <a:solidFill>
                  <a:schemeClr val="bg1"/>
                </a:solidFill>
              </a:rPr>
              <a:t>	    # </a:t>
            </a:r>
            <a:r>
              <a:rPr lang="ko-KR" altLang="en-US" sz="1200" dirty="0" smtClean="0">
                <a:solidFill>
                  <a:schemeClr val="bg1"/>
                </a:solidFill>
              </a:rPr>
              <a:t>특정 버전으로 </a:t>
            </a:r>
            <a:r>
              <a:rPr lang="en-US" altLang="ko-KR" sz="1200" dirty="0" smtClean="0">
                <a:solidFill>
                  <a:schemeClr val="bg1"/>
                </a:solidFill>
              </a:rPr>
              <a:t>rollback</a:t>
            </a:r>
            <a:r>
              <a:rPr lang="ko-KR" altLang="en-US" sz="1200" dirty="0" smtClean="0">
                <a:solidFill>
                  <a:schemeClr val="bg1"/>
                </a:solidFill>
              </a:rPr>
              <a:t>도 가능하다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261830" y="5032881"/>
            <a:ext cx="1113342" cy="2339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11199" y="95478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이력 확인</a:t>
            </a:r>
            <a:endParaRPr lang="en-US" altLang="ko-KR" sz="1200" dirty="0"/>
          </a:p>
        </p:txBody>
      </p:sp>
      <p:sp>
        <p:nvSpPr>
          <p:cNvPr id="15" name="TextBox 5"/>
          <p:cNvSpPr txBox="1"/>
          <p:nvPr/>
        </p:nvSpPr>
        <p:spPr>
          <a:xfrm>
            <a:off x="766764" y="1256765"/>
            <a:ext cx="10693400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history deployment rollout-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deployment.apps</a:t>
            </a:r>
            <a:r>
              <a:rPr lang="en-US" altLang="ko-KR" sz="1200" dirty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REVISION    CHANGE-CAUSE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1               &lt;none&gt;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2               &lt;none&gt;	# </a:t>
            </a:r>
            <a:r>
              <a:rPr lang="en-US" altLang="ko-KR" sz="1200" dirty="0" smtClean="0">
                <a:solidFill>
                  <a:schemeClr val="bg1"/>
                </a:solidFill>
              </a:rPr>
              <a:t>‘</a:t>
            </a:r>
            <a:r>
              <a:rPr lang="ko-KR" altLang="en-US" sz="1200" dirty="0" smtClean="0">
                <a:solidFill>
                  <a:schemeClr val="bg1"/>
                </a:solidFill>
              </a:rPr>
              <a:t>이미지 변경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</a:t>
            </a:r>
            <a:r>
              <a:rPr lang="en-US" altLang="ko-KR" sz="1200" dirty="0">
                <a:solidFill>
                  <a:schemeClr val="bg1"/>
                </a:solidFill>
              </a:rPr>
              <a:t>REVISION 2 </a:t>
            </a:r>
            <a:r>
              <a:rPr lang="ko-KR" altLang="en-US" sz="1200" dirty="0">
                <a:solidFill>
                  <a:schemeClr val="bg1"/>
                </a:solidFill>
              </a:rPr>
              <a:t>생성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3               </a:t>
            </a:r>
            <a:r>
              <a:rPr lang="en-US" altLang="ko-KR" sz="1200" dirty="0">
                <a:solidFill>
                  <a:schemeClr val="bg1"/>
                </a:solidFill>
              </a:rPr>
              <a:t>&lt;none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    # ‘Rollout restart’</a:t>
            </a:r>
            <a:r>
              <a:rPr lang="ko-KR" altLang="en-US" sz="1200" dirty="0" smtClean="0">
                <a:solidFill>
                  <a:schemeClr val="bg1"/>
                </a:solidFill>
              </a:rPr>
              <a:t>로 </a:t>
            </a:r>
            <a:r>
              <a:rPr lang="en-US" altLang="ko-KR" sz="1200" dirty="0" smtClean="0">
                <a:solidFill>
                  <a:schemeClr val="bg1"/>
                </a:solidFill>
              </a:rPr>
              <a:t>REVISION 3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1031" y="254784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기존의 </a:t>
            </a:r>
            <a:r>
              <a:rPr lang="en-US" altLang="ko-KR" sz="1400" dirty="0" smtClean="0"/>
              <a:t>Rollout</a:t>
            </a:r>
            <a:r>
              <a:rPr lang="ko-KR" altLang="en-US" sz="1400" dirty="0" smtClean="0"/>
              <a:t>에</a:t>
            </a:r>
            <a:r>
              <a:rPr lang="en-US" altLang="ko-KR" sz="1400" dirty="0" smtClean="0"/>
              <a:t> ‘</a:t>
            </a:r>
            <a:r>
              <a:rPr lang="ko-KR" altLang="en-US" sz="1400" dirty="0" smtClean="0"/>
              <a:t>변경 이유</a:t>
            </a:r>
            <a:r>
              <a:rPr lang="en-US" altLang="ko-KR" sz="1400" dirty="0" smtClean="0"/>
              <a:t>’</a:t>
            </a:r>
            <a:r>
              <a:rPr lang="ko-KR" altLang="en-US" sz="1400" dirty="0" smtClean="0"/>
              <a:t> 추가</a:t>
            </a:r>
            <a:endParaRPr lang="en-US" altLang="ko-KR" sz="1200" dirty="0"/>
          </a:p>
        </p:txBody>
      </p:sp>
      <p:sp>
        <p:nvSpPr>
          <p:cNvPr id="17" name="TextBox 5"/>
          <p:cNvSpPr txBox="1"/>
          <p:nvPr/>
        </p:nvSpPr>
        <p:spPr>
          <a:xfrm>
            <a:off x="766764" y="2849827"/>
            <a:ext cx="10703232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annotate deployment 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kubernetes.io/change-cause="Rollout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restart“	   # </a:t>
            </a:r>
            <a:r>
              <a:rPr lang="ko-KR" altLang="en-US" sz="1200" dirty="0" smtClean="0">
                <a:solidFill>
                  <a:schemeClr val="bg1"/>
                </a:solidFill>
              </a:rPr>
              <a:t>가장 최신의 </a:t>
            </a:r>
            <a:r>
              <a:rPr lang="en-US" altLang="ko-KR" sz="1200" dirty="0" smtClean="0">
                <a:solidFill>
                  <a:schemeClr val="bg1"/>
                </a:solidFill>
              </a:rPr>
              <a:t>REVISION</a:t>
            </a:r>
            <a:r>
              <a:rPr lang="ko-KR" altLang="en-US" sz="1200" dirty="0" smtClean="0">
                <a:solidFill>
                  <a:schemeClr val="bg1"/>
                </a:solidFill>
              </a:rPr>
              <a:t>에 변경 이유 추가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deployment.apps</a:t>
            </a:r>
            <a:r>
              <a:rPr lang="en-US" altLang="ko-KR" sz="1200" dirty="0">
                <a:solidFill>
                  <a:schemeClr val="bg1"/>
                </a:solidFill>
              </a:rPr>
              <a:t>/rollout-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REVISION    CHANGE-CAUSE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1               &lt;none&gt;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2               &lt;none&gt;	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3              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    # ‘</a:t>
            </a:r>
            <a:r>
              <a:rPr lang="ko-KR" altLang="en-US" sz="1200" dirty="0" smtClean="0">
                <a:solidFill>
                  <a:schemeClr val="bg1"/>
                </a:solidFill>
              </a:rPr>
              <a:t>변경 이유</a:t>
            </a:r>
            <a:r>
              <a:rPr lang="en-US" altLang="ko-KR" sz="1200" dirty="0" smtClean="0">
                <a:solidFill>
                  <a:schemeClr val="bg1"/>
                </a:solidFill>
              </a:rPr>
              <a:t>’ </a:t>
            </a:r>
            <a:r>
              <a:rPr lang="ko-KR" altLang="en-US" sz="1200" dirty="0" smtClean="0">
                <a:solidFill>
                  <a:schemeClr val="bg1"/>
                </a:solidFill>
              </a:rPr>
              <a:t>추가 됨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887033" y="3798597"/>
            <a:ext cx="1039600" cy="182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50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Command &amp; Argument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09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Command &amp; Argument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이미지가 실행될 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실행하는 명령어를 설정할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18" name="그룹 17"/>
          <p:cNvGrpSpPr/>
          <p:nvPr/>
        </p:nvGrpSpPr>
        <p:grpSpPr>
          <a:xfrm>
            <a:off x="777874" y="1040347"/>
            <a:ext cx="4882226" cy="2392878"/>
            <a:chOff x="6889898" y="1020092"/>
            <a:chExt cx="4882226" cy="2392878"/>
          </a:xfrm>
        </p:grpSpPr>
        <p:sp>
          <p:nvSpPr>
            <p:cNvPr id="16" name="TextBox 3"/>
            <p:cNvSpPr txBox="1"/>
            <p:nvPr/>
          </p:nvSpPr>
          <p:spPr>
            <a:xfrm>
              <a:off x="6889898" y="1289312"/>
              <a:ext cx="4882226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command-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command: ["/bin/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sh</a:t>
              </a:r>
              <a:r>
                <a:rPr lang="en-US" altLang="ko-KR" sz="1200" dirty="0">
                  <a:solidFill>
                    <a:srgbClr val="FF0000"/>
                  </a:solidFill>
                </a:rPr>
                <a:t>", "-c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"]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명령어 설정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args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["echo 'Hello, Kubernetes!' &amp;&amp;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env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"]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restartPolicy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Never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컨테이너 종료 후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, </a:t>
              </a:r>
              <a:r>
                <a:rPr lang="ko-KR" altLang="en-US" sz="1200" b="1" dirty="0" err="1" smtClean="0">
                  <a:solidFill>
                    <a:srgbClr val="FF0000"/>
                  </a:solidFill>
                </a:rPr>
                <a:t>재기동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 방지 설정</a:t>
              </a:r>
              <a:r>
                <a:rPr lang="ko-KR" altLang="en-US" sz="1200" b="1" dirty="0" smtClean="0"/>
                <a:t> </a:t>
              </a:r>
              <a:endParaRPr lang="en-US" altLang="ko-KR" sz="1200" b="1" dirty="0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889898" y="1020092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" name="TextBox 5"/>
          <p:cNvSpPr txBox="1"/>
          <p:nvPr/>
        </p:nvSpPr>
        <p:spPr>
          <a:xfrm>
            <a:off x="766763" y="3783271"/>
            <a:ext cx="1069340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command-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Hello, 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!		# </a:t>
            </a:r>
            <a:r>
              <a:rPr lang="ko-KR" altLang="en-US" sz="1200" dirty="0" smtClean="0">
                <a:solidFill>
                  <a:schemeClr val="bg1"/>
                </a:solidFill>
              </a:rPr>
              <a:t>명령어 실행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KUBERNETES_PORT=tcp://10.96.0.1:443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0106" y="3438459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Log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30" name="TextBox 5"/>
          <p:cNvSpPr txBox="1"/>
          <p:nvPr/>
        </p:nvSpPr>
        <p:spPr>
          <a:xfrm>
            <a:off x="766764" y="4988898"/>
            <a:ext cx="10693399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logs command-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-w	# ‘-w’ </a:t>
            </a:r>
            <a:r>
              <a:rPr lang="ko-KR" altLang="en-US" sz="1200" dirty="0" smtClean="0">
                <a:solidFill>
                  <a:schemeClr val="bg1"/>
                </a:solidFill>
              </a:rPr>
              <a:t>옵션은 </a:t>
            </a:r>
            <a:r>
              <a:rPr lang="en-US" altLang="ko-KR" sz="1200" dirty="0" smtClean="0">
                <a:solidFill>
                  <a:schemeClr val="bg1"/>
                </a:solidFill>
              </a:rPr>
              <a:t>pod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상태를 실시간으로 모니터링 하기 위한 옵션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READY    </a:t>
            </a:r>
            <a:r>
              <a:rPr lang="en-US" altLang="ko-KR" sz="1200" dirty="0">
                <a:solidFill>
                  <a:schemeClr val="bg1"/>
                </a:solidFill>
              </a:rPr>
              <a:t>STATUS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 RESTARTS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command-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0/1        </a:t>
            </a:r>
            <a:r>
              <a:rPr lang="en-US" altLang="ko-KR" sz="1200" dirty="0" err="1">
                <a:solidFill>
                  <a:schemeClr val="bg1"/>
                </a:solidFill>
              </a:rPr>
              <a:t>ContainerCreating</a:t>
            </a:r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0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  0s	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command-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0/1        Completed             0               3s	# Container </a:t>
            </a:r>
            <a:r>
              <a:rPr lang="ko-KR" altLang="en-US" sz="1200" dirty="0" smtClean="0">
                <a:solidFill>
                  <a:schemeClr val="bg1"/>
                </a:solidFill>
              </a:rPr>
              <a:t>내에서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명령어가 실행되어서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en-US" altLang="ko-KR" sz="1200" dirty="0" smtClean="0">
                <a:solidFill>
                  <a:schemeClr val="bg1"/>
                </a:solidFill>
              </a:rPr>
              <a:t>Completed</a:t>
            </a:r>
            <a:r>
              <a:rPr lang="ko-KR" altLang="en-US" sz="1200" dirty="0" smtClean="0">
                <a:solidFill>
                  <a:schemeClr val="bg1"/>
                </a:solidFill>
              </a:rPr>
              <a:t>로 바뀐 것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명령어가 실행된 후</a:t>
            </a:r>
            <a:r>
              <a:rPr lang="en-US" altLang="ko-KR" sz="1200" dirty="0" smtClean="0">
                <a:solidFill>
                  <a:schemeClr val="bg1"/>
                </a:solidFill>
              </a:rPr>
              <a:t>, Container</a:t>
            </a:r>
            <a:r>
              <a:rPr lang="ko-KR" altLang="en-US" sz="1200" dirty="0" smtClean="0">
                <a:solidFill>
                  <a:schemeClr val="bg1"/>
                </a:solidFill>
              </a:rPr>
              <a:t>는 종료된다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5325" y="4644086"/>
            <a:ext cx="6749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실시간 상태 확인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Environment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432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Environment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99529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방법 </a:t>
            </a:r>
            <a:r>
              <a:rPr lang="en-US" altLang="ko-KR" sz="1400" b="1" dirty="0" smtClean="0"/>
              <a:t>1. </a:t>
            </a:r>
            <a:r>
              <a:rPr lang="en-US" altLang="ko-KR" sz="1400" b="1" dirty="0" err="1" smtClean="0"/>
              <a:t>Yaml</a:t>
            </a:r>
            <a:r>
              <a:rPr lang="ko-KR" altLang="en-US" sz="1400" b="1" dirty="0" smtClean="0"/>
              <a:t>에 직접 기입</a:t>
            </a:r>
            <a:r>
              <a:rPr lang="en-US" altLang="ko-KR" sz="1400" b="1" dirty="0" smtClean="0"/>
              <a:t>]</a:t>
            </a:r>
            <a:endParaRPr lang="en-US" altLang="ko-KR" sz="1400" b="1" dirty="0"/>
          </a:p>
        </p:txBody>
      </p:sp>
      <p:grpSp>
        <p:nvGrpSpPr>
          <p:cNvPr id="26" name="그룹 25"/>
          <p:cNvGrpSpPr/>
          <p:nvPr/>
        </p:nvGrpSpPr>
        <p:grpSpPr>
          <a:xfrm>
            <a:off x="781049" y="1351834"/>
            <a:ext cx="4753937" cy="3693319"/>
            <a:chOff x="6368901" y="1495806"/>
            <a:chExt cx="4753937" cy="3693319"/>
          </a:xfrm>
        </p:grpSpPr>
        <p:sp>
          <p:nvSpPr>
            <p:cNvPr id="27" name="TextBox 3"/>
            <p:cNvSpPr txBox="1"/>
            <p:nvPr/>
          </p:nvSpPr>
          <p:spPr>
            <a:xfrm>
              <a:off x="6368903" y="1772805"/>
              <a:ext cx="4753935" cy="341632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-sample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 smtClean="0"/>
                <a:t>josunghwan</a:t>
              </a:r>
              <a:r>
                <a:rPr lang="en-US" altLang="ko-KR" sz="1200" dirty="0" smtClean="0"/>
                <a:t>/env_sample:v01	 	  </a:t>
              </a:r>
              <a:endParaRPr lang="en-US" altLang="ko-KR" sz="1200" dirty="0"/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env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Yaml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에 직접 기입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 name: SAMPLE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value: sample test value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Never</a:t>
              </a:r>
            </a:p>
            <a:p>
              <a:r>
                <a:rPr lang="en-US" altLang="ko-KR" sz="1200" dirty="0" err="1"/>
                <a:t>imagePullSecrets</a:t>
              </a:r>
              <a:r>
                <a:rPr lang="en-US" altLang="ko-KR" sz="1200" dirty="0" smtClean="0"/>
                <a:t>: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	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이거는 다시 확인 필요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smtClean="0"/>
                <a:t>harbor</a:t>
              </a:r>
              <a:endParaRPr lang="en-US" altLang="ko-KR" sz="1200" dirty="0"/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368901" y="1495806"/>
              <a:ext cx="211100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1-env_config_sample.yaml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691589" y="1351834"/>
            <a:ext cx="4753936" cy="2954655"/>
            <a:chOff x="6368902" y="1495806"/>
            <a:chExt cx="4753936" cy="2954655"/>
          </a:xfrm>
        </p:grpSpPr>
        <p:sp>
          <p:nvSpPr>
            <p:cNvPr id="12" name="TextBox 3"/>
            <p:cNvSpPr txBox="1"/>
            <p:nvPr/>
          </p:nvSpPr>
          <p:spPr>
            <a:xfrm>
              <a:off x="6368903" y="1772805"/>
              <a:ext cx="4753935" cy="267765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/>
                <a:t>public class </a:t>
              </a:r>
              <a:r>
                <a:rPr lang="en-US" altLang="ko-KR" sz="1200" dirty="0" err="1"/>
                <a:t>EnvSample</a:t>
              </a:r>
              <a:r>
                <a:rPr lang="en-US" altLang="ko-KR" sz="1200" dirty="0"/>
                <a:t> {</a:t>
              </a:r>
            </a:p>
            <a:p>
              <a:r>
                <a:rPr lang="en-US" altLang="ko-KR" sz="1200" dirty="0"/>
                <a:t>  public static void main(String[] </a:t>
              </a:r>
              <a:r>
                <a:rPr lang="en-US" altLang="ko-KR" sz="1200" dirty="0" err="1"/>
                <a:t>args</a:t>
              </a:r>
              <a:r>
                <a:rPr lang="en-US" altLang="ko-KR" sz="1200" dirty="0"/>
                <a:t>){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String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sample_env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=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System.getenv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("SAMPLE");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System.out.println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sample_env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);</a:t>
              </a:r>
            </a:p>
            <a:p>
              <a:r>
                <a:rPr lang="en-US" altLang="ko-KR" sz="1200" dirty="0"/>
                <a:t>        try {</a:t>
              </a:r>
            </a:p>
            <a:p>
              <a:r>
                <a:rPr lang="en-US" altLang="ko-KR" sz="1200" dirty="0"/>
                <a:t>            // 60</a:t>
              </a:r>
              <a:r>
                <a:rPr lang="ko-KR" altLang="en-US" sz="1200" dirty="0"/>
                <a:t>초</a:t>
              </a:r>
              <a:r>
                <a:rPr lang="en-US" altLang="ko-KR" sz="1200" dirty="0"/>
                <a:t>(60000ms) </a:t>
              </a:r>
              <a:r>
                <a:rPr lang="ko-KR" altLang="en-US" sz="1200" dirty="0"/>
                <a:t>동안 대기</a:t>
              </a:r>
            </a:p>
            <a:p>
              <a:r>
                <a:rPr lang="ko-KR" altLang="en-US" sz="1200" dirty="0"/>
                <a:t>            </a:t>
              </a:r>
              <a:r>
                <a:rPr lang="en-US" altLang="ko-KR" sz="1200" dirty="0" err="1"/>
                <a:t>Thread.sleep</a:t>
              </a:r>
              <a:r>
                <a:rPr lang="en-US" altLang="ko-KR" sz="1200" dirty="0"/>
                <a:t>(60000);</a:t>
              </a:r>
            </a:p>
            <a:p>
              <a:r>
                <a:rPr lang="en-US" altLang="ko-KR" sz="1200" dirty="0"/>
                <a:t>        } catch (</a:t>
              </a:r>
              <a:r>
                <a:rPr lang="en-US" altLang="ko-KR" sz="1200" dirty="0" err="1"/>
                <a:t>InterruptedException</a:t>
              </a:r>
              <a:r>
                <a:rPr lang="en-US" altLang="ko-KR" sz="1200" dirty="0"/>
                <a:t> e) {</a:t>
              </a:r>
            </a:p>
            <a:p>
              <a:r>
                <a:rPr lang="en-US" altLang="ko-KR" sz="1200" dirty="0"/>
                <a:t>            </a:t>
              </a:r>
              <a:r>
                <a:rPr lang="en-US" altLang="ko-KR" sz="1200" dirty="0" err="1"/>
                <a:t>e.printStackTrace</a:t>
              </a:r>
              <a:r>
                <a:rPr lang="en-US" altLang="ko-KR" sz="1200" dirty="0"/>
                <a:t>();</a:t>
              </a:r>
            </a:p>
            <a:p>
              <a:r>
                <a:rPr lang="en-US" altLang="ko-KR" sz="1200" dirty="0"/>
                <a:t>        }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  }</a:t>
              </a:r>
            </a:p>
            <a:p>
              <a:r>
                <a:rPr lang="en-US" altLang="ko-KR" sz="1200" dirty="0" smtClean="0"/>
                <a:t>}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>
                  <a:solidFill>
                    <a:sysClr val="windowText" lastClr="000000"/>
                  </a:solidFill>
                </a:rPr>
                <a:t>e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nv_sample.java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4" name="직선 화살표 연결선 13"/>
          <p:cNvCxnSpPr>
            <a:endCxn id="13" idx="1"/>
          </p:cNvCxnSpPr>
          <p:nvPr/>
        </p:nvCxnSpPr>
        <p:spPr>
          <a:xfrm flipV="1">
            <a:off x="3657600" y="1490334"/>
            <a:ext cx="3033989" cy="19150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248986" y="2773546"/>
            <a:ext cx="2286000" cy="257175"/>
          </a:xfrm>
          <a:prstGeom prst="rect">
            <a:avLst/>
          </a:prstGeom>
          <a:solidFill>
            <a:srgbClr val="BBE0E3"/>
          </a:solidFill>
          <a:ln>
            <a:solidFill>
              <a:srgbClr val="BBE0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rgbClr val="FF0000"/>
                </a:solidFill>
              </a:rPr>
              <a:t>해당 파일을 이미지로 만든 것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199" y="6392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 </a:t>
            </a:r>
            <a:r>
              <a:rPr lang="ko-KR" altLang="en-US" sz="1400" dirty="0" smtClean="0"/>
              <a:t>환경 변수는 </a:t>
            </a:r>
            <a:r>
              <a:rPr lang="en-US" altLang="ko-KR" sz="1400" dirty="0" smtClean="0"/>
              <a:t>‘</a:t>
            </a: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에 직접 기입</a:t>
            </a:r>
            <a:r>
              <a:rPr lang="en-US" altLang="ko-KR" sz="1400" dirty="0" smtClean="0"/>
              <a:t>’, ‘</a:t>
            </a: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’, ‘Secret’</a:t>
            </a:r>
            <a:r>
              <a:rPr lang="ko-KR" altLang="en-US" sz="1400" dirty="0" smtClean="0"/>
              <a:t>을 통해 설정할 수 있다</a:t>
            </a:r>
            <a:r>
              <a:rPr lang="en-US" altLang="ko-KR" sz="1400" dirty="0" smtClean="0"/>
              <a:t>.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 </a:t>
            </a:r>
            <a:endParaRPr lang="en-US" altLang="ko-KR" sz="1200" dirty="0"/>
          </a:p>
        </p:txBody>
      </p:sp>
      <p:sp>
        <p:nvSpPr>
          <p:cNvPr id="21" name="TextBox 5"/>
          <p:cNvSpPr txBox="1"/>
          <p:nvPr/>
        </p:nvSpPr>
        <p:spPr>
          <a:xfrm>
            <a:off x="766763" y="5443224"/>
            <a:ext cx="106934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logs </a:t>
            </a:r>
            <a:r>
              <a:rPr lang="en-US" altLang="ko-KR" sz="1200" dirty="0" smtClean="0">
                <a:solidFill>
                  <a:schemeClr val="bg1"/>
                </a:solidFill>
              </a:rPr>
              <a:t>env-config-pod01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sample test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512939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환경 변수 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105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1199" y="6773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1. </a:t>
            </a:r>
            <a:r>
              <a:rPr lang="en-US" altLang="ko-KR" sz="1400" b="1" dirty="0" err="1" smtClean="0"/>
              <a:t>ConfigMap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생성</a:t>
            </a:r>
            <a:endParaRPr lang="en-US" altLang="ko-KR" sz="1400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768349" y="2659949"/>
            <a:ext cx="4753936" cy="1846659"/>
            <a:chOff x="6569739" y="1173154"/>
            <a:chExt cx="4753936" cy="1846659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env-config</a:t>
              </a:r>
              <a:endParaRPr lang="en-US" altLang="ko-KR" sz="1200" dirty="0"/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SAMPLE: sample test value</a:t>
              </a:r>
            </a:p>
            <a:p>
              <a:r>
                <a:rPr lang="en-US" altLang="ko-KR" sz="1200" dirty="0"/>
                <a:t>  APP_MODE: prod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2-env_config.yaml</a:t>
              </a: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766763" y="1469174"/>
            <a:ext cx="106934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en-US" altLang="ko-KR" sz="1200" dirty="0">
                <a:solidFill>
                  <a:schemeClr val="bg1"/>
                </a:solidFill>
              </a:rPr>
              <a:t>‘--from-literal’ </a:t>
            </a:r>
            <a:r>
              <a:rPr lang="ko-KR" altLang="en-US" sz="1200" dirty="0">
                <a:solidFill>
                  <a:schemeClr val="bg1"/>
                </a:solidFill>
              </a:rPr>
              <a:t>옵션을 통해 직접 </a:t>
            </a:r>
            <a:r>
              <a:rPr lang="en-US" altLang="ko-KR" sz="1200" dirty="0" smtClean="0">
                <a:solidFill>
                  <a:schemeClr val="bg1"/>
                </a:solidFill>
              </a:rPr>
              <a:t>‘Key-Value’ </a:t>
            </a:r>
            <a:r>
              <a:rPr lang="ko-KR" altLang="en-US" sz="1200" dirty="0">
                <a:solidFill>
                  <a:schemeClr val="bg1"/>
                </a:solidFill>
              </a:rPr>
              <a:t>값 추가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</a:t>
            </a:r>
            <a:r>
              <a:rPr lang="en-US" altLang="ko-KR" sz="1200" dirty="0" err="1">
                <a:solidFill>
                  <a:schemeClr val="bg1"/>
                </a:solidFill>
              </a:rPr>
              <a:t>configmap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env</a:t>
            </a:r>
            <a:r>
              <a:rPr lang="en-US" altLang="ko-KR" sz="1200" dirty="0">
                <a:solidFill>
                  <a:schemeClr val="bg1"/>
                </a:solidFill>
              </a:rPr>
              <a:t>-sample-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--</a:t>
            </a:r>
            <a:r>
              <a:rPr lang="en-US" altLang="ko-KR" sz="1200" dirty="0">
                <a:solidFill>
                  <a:schemeClr val="bg1"/>
                </a:solidFill>
              </a:rPr>
              <a:t>from-literal='SAMPLE=sample test value'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from-literal=APP_MODE=prod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configmap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r>
              <a:rPr lang="en-US" altLang="ko-KR" sz="1200" dirty="0" smtClean="0">
                <a:solidFill>
                  <a:schemeClr val="bg1"/>
                </a:solidFill>
              </a:rPr>
              <a:t>-sample-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created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ConfigMap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782637" y="5038944"/>
            <a:ext cx="1067752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configmap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DATA    AGE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env</a:t>
            </a:r>
            <a:r>
              <a:rPr lang="en-US" altLang="ko-KR" sz="1200" dirty="0">
                <a:solidFill>
                  <a:schemeClr val="bg1"/>
                </a:solidFill>
              </a:rPr>
              <a:t>-sample-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  2        4m59s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ConfigMap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4725113"/>
            <a:ext cx="5891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711199" y="3802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방법 </a:t>
            </a:r>
            <a:r>
              <a:rPr lang="en-US" altLang="ko-KR" sz="1400" b="1" dirty="0" smtClean="0"/>
              <a:t>2. </a:t>
            </a:r>
            <a:r>
              <a:rPr lang="en-US" altLang="ko-KR" sz="1400" b="1" dirty="0" err="1" smtClean="0"/>
              <a:t>ConfigMap</a:t>
            </a:r>
            <a:r>
              <a:rPr lang="en-US" altLang="ko-KR" sz="1400" b="1" dirty="0" smtClean="0"/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199" y="114339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Kubectl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명령어로 </a:t>
            </a: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r>
              <a:rPr lang="en-US" altLang="ko-KR" sz="1400" dirty="0" smtClean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199" y="234165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형식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98832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11199" y="3802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2. </a:t>
            </a:r>
            <a:r>
              <a:rPr lang="en-US" altLang="ko-KR" sz="1400" b="1" dirty="0" err="1"/>
              <a:t>ConfigMap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적용</a:t>
            </a:r>
            <a:endParaRPr lang="en-US" altLang="ko-KR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711199" y="74323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i="1" dirty="0" smtClean="0"/>
              <a:t>&lt;</a:t>
            </a:r>
            <a:r>
              <a:rPr lang="en-US" altLang="ko-KR" sz="1400" b="1" dirty="0" err="1"/>
              <a:t>envFrom</a:t>
            </a:r>
            <a:r>
              <a:rPr lang="ko-KR" altLang="en-US" sz="1400" b="1" dirty="0"/>
              <a:t>을 사용</a:t>
            </a:r>
            <a:r>
              <a:rPr lang="en-US" altLang="ko-KR" sz="1400" b="1" i="1" dirty="0" smtClean="0"/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199" y="106609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해당 방법은 </a:t>
            </a: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전체를 </a:t>
            </a:r>
            <a:r>
              <a:rPr lang="ko-KR" altLang="en-US" sz="1400" dirty="0" smtClean="0"/>
              <a:t>환경 변수로 불러온다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6849052" y="1482114"/>
            <a:ext cx="4753937" cy="1846659"/>
            <a:chOff x="6569738" y="1173154"/>
            <a:chExt cx="4753937" cy="1846659"/>
          </a:xfrm>
        </p:grpSpPr>
        <p:sp>
          <p:nvSpPr>
            <p:cNvPr id="17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 smtClean="0"/>
                <a:t>: v1</a:t>
              </a:r>
            </a:p>
            <a:p>
              <a:r>
                <a:rPr lang="en-US" altLang="ko-KR" sz="1200" dirty="0" smtClean="0"/>
                <a:t>kind: </a:t>
              </a:r>
              <a:r>
                <a:rPr lang="en-US" altLang="ko-KR" sz="1200" dirty="0" err="1" smtClean="0"/>
                <a:t>ConfigMap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metadata:</a:t>
              </a:r>
            </a:p>
            <a:p>
              <a:r>
                <a:rPr lang="en-US" altLang="ko-KR" sz="1200" dirty="0" smtClean="0"/>
                <a:t>  name: </a:t>
              </a:r>
              <a:r>
                <a:rPr lang="en-US" altLang="ko-KR" sz="1200" dirty="0" err="1" smtClean="0"/>
                <a:t>env-config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  namespace: default</a:t>
              </a:r>
            </a:p>
            <a:p>
              <a:r>
                <a:rPr lang="en-US" altLang="ko-KR" sz="1200" dirty="0" smtClean="0"/>
                <a:t>data:</a:t>
              </a:r>
            </a:p>
            <a:p>
              <a:r>
                <a:rPr lang="en-US" altLang="ko-KR" sz="1200" dirty="0" smtClean="0"/>
                <a:t>  SAMPLE: sample test value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smtClean="0"/>
                <a:t>APP_MODE: prod</a:t>
              </a:r>
              <a:endParaRPr lang="en-US" altLang="ko-KR" sz="1200" dirty="0"/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569738" y="1173154"/>
              <a:ext cx="154003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2-env_config.yaml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77861" y="1443642"/>
            <a:ext cx="4753937" cy="3323987"/>
            <a:chOff x="6569738" y="1173154"/>
            <a:chExt cx="4753937" cy="3323987"/>
          </a:xfrm>
        </p:grpSpPr>
        <p:sp>
          <p:nvSpPr>
            <p:cNvPr id="24" name="TextBox 3"/>
            <p:cNvSpPr txBox="1"/>
            <p:nvPr/>
          </p:nvSpPr>
          <p:spPr>
            <a:xfrm>
              <a:off x="6569740" y="1450153"/>
              <a:ext cx="4753935" cy="304698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smtClean="0"/>
                <a:t>env-config-pod01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env-config-pod01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/env_sample:v01	 	  </a:t>
              </a:r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	    #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configMapRef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name: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env-config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Never</a:t>
              </a:r>
              <a:endParaRPr lang="en-US" altLang="ko-KR" sz="1200" dirty="0"/>
            </a:p>
          </p:txBody>
        </p:sp>
        <p:sp>
          <p:nvSpPr>
            <p:cNvPr id="29" name="TextBox 3"/>
            <p:cNvSpPr txBox="1"/>
            <p:nvPr/>
          </p:nvSpPr>
          <p:spPr>
            <a:xfrm>
              <a:off x="6569738" y="1173154"/>
              <a:ext cx="225241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3-env_config_envfrom.yaml</a:t>
              </a: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1319417" y="4141935"/>
            <a:ext cx="1339700" cy="20934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6977827" y="2339969"/>
            <a:ext cx="1314835" cy="2102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>
            <a:stCxn id="30" idx="3"/>
            <a:endCxn id="31" idx="1"/>
          </p:cNvCxnSpPr>
          <p:nvPr/>
        </p:nvCxnSpPr>
        <p:spPr>
          <a:xfrm flipV="1">
            <a:off x="2659117" y="2445079"/>
            <a:ext cx="4318710" cy="180153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/>
          <p:cNvSpPr txBox="1"/>
          <p:nvPr/>
        </p:nvSpPr>
        <p:spPr>
          <a:xfrm>
            <a:off x="766763" y="5190980"/>
            <a:ext cx="10693400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smtClean="0">
                <a:solidFill>
                  <a:schemeClr val="bg1"/>
                </a:solidFill>
              </a:rPr>
              <a:t>env-config-pod01 --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APP_MODE=prod		</a:t>
            </a:r>
            <a:r>
              <a:rPr lang="en-US" altLang="ko-KR" sz="1200" dirty="0">
                <a:solidFill>
                  <a:schemeClr val="bg1"/>
                </a:solidFill>
              </a:rPr>
              <a:t> # </a:t>
            </a:r>
            <a:r>
              <a:rPr lang="en-US" altLang="ko-KR" sz="1200" dirty="0" smtClean="0">
                <a:solidFill>
                  <a:schemeClr val="bg1"/>
                </a:solidFill>
              </a:rPr>
              <a:t>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env_config.yaml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 기재된 환경 변수 모두 불러옴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SAMPLE=sample test value	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87714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환경 변수 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8826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11199" y="2597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i="1" dirty="0" smtClean="0"/>
              <a:t>&lt;</a:t>
            </a:r>
            <a:r>
              <a:rPr lang="en-US" altLang="ko-KR" sz="1400" b="1" dirty="0" err="1"/>
              <a:t>configMapKeyRef</a:t>
            </a:r>
            <a:r>
              <a:rPr lang="ko-KR" altLang="en-US" sz="1400" b="1" dirty="0" smtClean="0"/>
              <a:t>을 </a:t>
            </a:r>
            <a:r>
              <a:rPr lang="ko-KR" altLang="en-US" sz="1400" b="1" dirty="0"/>
              <a:t>사용</a:t>
            </a:r>
            <a:r>
              <a:rPr lang="en-US" altLang="ko-KR" sz="1400" b="1" i="1" dirty="0" smtClean="0"/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199" y="58261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해당 방법은 </a:t>
            </a: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의 환경 변수 중</a:t>
            </a:r>
            <a:r>
              <a:rPr lang="en-US" altLang="ko-KR" sz="1400" dirty="0" smtClean="0"/>
              <a:t>, </a:t>
            </a:r>
            <a:r>
              <a:rPr lang="ko-KR" altLang="en-US" sz="1400" dirty="0"/>
              <a:t>특정 </a:t>
            </a:r>
            <a:r>
              <a:rPr lang="en-US" altLang="ko-KR" sz="1400" dirty="0" smtClean="0"/>
              <a:t>Key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Value</a:t>
            </a:r>
            <a:r>
              <a:rPr lang="ko-KR" altLang="en-US" sz="1400" dirty="0" smtClean="0"/>
              <a:t>값만 </a:t>
            </a:r>
            <a:r>
              <a:rPr lang="ko-KR" altLang="en-US" sz="1400" dirty="0"/>
              <a:t>환경 변수로 </a:t>
            </a:r>
            <a:r>
              <a:rPr lang="ko-KR" altLang="en-US" sz="1400" dirty="0" smtClean="0"/>
              <a:t> 불러온다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6701906" y="1061699"/>
            <a:ext cx="4753937" cy="1846659"/>
            <a:chOff x="6569738" y="1173154"/>
            <a:chExt cx="4753937" cy="1846659"/>
          </a:xfrm>
        </p:grpSpPr>
        <p:sp>
          <p:nvSpPr>
            <p:cNvPr id="20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env-config</a:t>
              </a:r>
              <a:endParaRPr lang="en-US" altLang="ko-KR" sz="1200" dirty="0"/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SAMPLE: sample test value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APP_MODE: prod</a:t>
              </a:r>
            </a:p>
          </p:txBody>
        </p:sp>
        <p:sp>
          <p:nvSpPr>
            <p:cNvPr id="22" name="TextBox 3"/>
            <p:cNvSpPr txBox="1"/>
            <p:nvPr/>
          </p:nvSpPr>
          <p:spPr>
            <a:xfrm>
              <a:off x="6569738" y="1173154"/>
              <a:ext cx="152769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2-env_config.yaml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67350" y="1023227"/>
            <a:ext cx="4881525" cy="3877985"/>
            <a:chOff x="6569739" y="1173154"/>
            <a:chExt cx="4881525" cy="3877985"/>
          </a:xfrm>
        </p:grpSpPr>
        <p:sp>
          <p:nvSpPr>
            <p:cNvPr id="26" name="TextBox 3"/>
            <p:cNvSpPr txBox="1"/>
            <p:nvPr/>
          </p:nvSpPr>
          <p:spPr>
            <a:xfrm>
              <a:off x="6569740" y="1450153"/>
              <a:ext cx="4881524" cy="360098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smtClean="0"/>
                <a:t>env-config-pod02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env-config-pod02</a:t>
              </a:r>
            </a:p>
            <a:p>
              <a:r>
                <a:rPr lang="en-US" altLang="ko-KR" sz="1200" dirty="0" smtClean="0"/>
                <a:t>spec:</a:t>
              </a:r>
            </a:p>
            <a:p>
              <a:r>
                <a:rPr lang="en-US" altLang="ko-KR" sz="1200" dirty="0" smtClean="0"/>
                <a:t>  containers:</a:t>
              </a:r>
            </a:p>
            <a:p>
              <a:r>
                <a:rPr lang="en-US" altLang="ko-KR" sz="1200" dirty="0" smtClean="0"/>
                <a:t>  - image: </a:t>
              </a:r>
              <a:r>
                <a:rPr lang="en-US" altLang="ko-KR" sz="1200" dirty="0" err="1" smtClean="0"/>
                <a:t>josunghwan</a:t>
              </a:r>
              <a:r>
                <a:rPr lang="en-US" altLang="ko-KR" sz="1200" dirty="0" smtClean="0"/>
                <a:t>/env_sample:v01	 	  </a:t>
              </a:r>
            </a:p>
            <a:p>
              <a:r>
                <a:rPr lang="en-US" altLang="ko-KR" sz="1200" dirty="0" smtClean="0"/>
                <a:t>    name: test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name: TEST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환경 변수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Key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설정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valueFrom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configMapKeyRef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환경 변수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Value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설정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name: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env-config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key: SAMPLE	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해당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Key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Value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가져온다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.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Never</a:t>
              </a:r>
              <a:endParaRPr lang="en-US" altLang="ko-KR" sz="1200" dirty="0"/>
            </a:p>
          </p:txBody>
        </p:sp>
        <p:sp>
          <p:nvSpPr>
            <p:cNvPr id="2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4-env_config_keyref.yaml</a:t>
              </a:r>
            </a:p>
          </p:txBody>
        </p:sp>
      </p:grpSp>
      <p:sp>
        <p:nvSpPr>
          <p:cNvPr id="28" name="직사각형 27"/>
          <p:cNvSpPr/>
          <p:nvPr/>
        </p:nvSpPr>
        <p:spPr>
          <a:xfrm>
            <a:off x="6830681" y="1919554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>
            <a:stCxn id="34" idx="3"/>
            <a:endCxn id="28" idx="1"/>
          </p:cNvCxnSpPr>
          <p:nvPr/>
        </p:nvCxnSpPr>
        <p:spPr>
          <a:xfrm flipV="1">
            <a:off x="2659117" y="2031195"/>
            <a:ext cx="4171564" cy="226710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1345328" y="4109545"/>
            <a:ext cx="1313789" cy="37751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5"/>
          <p:cNvSpPr txBox="1"/>
          <p:nvPr/>
        </p:nvSpPr>
        <p:spPr>
          <a:xfrm>
            <a:off x="766763" y="5306590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smtClean="0">
                <a:solidFill>
                  <a:schemeClr val="bg1"/>
                </a:solidFill>
              </a:rPr>
              <a:t>env-config-pod02 --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b="1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TEST=sample test </a:t>
            </a:r>
            <a:r>
              <a:rPr lang="en-US" altLang="ko-KR" sz="1200" dirty="0" smtClean="0">
                <a:solidFill>
                  <a:schemeClr val="bg1"/>
                </a:solidFill>
              </a:rPr>
              <a:t>value 	# </a:t>
            </a:r>
            <a:r>
              <a:rPr lang="en-US" altLang="ko-KR" sz="1200" dirty="0">
                <a:solidFill>
                  <a:schemeClr val="bg1"/>
                </a:solidFill>
              </a:rPr>
              <a:t>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env_config.yaml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</a:rPr>
              <a:t>‘SAMPLE’ Key</a:t>
            </a:r>
            <a:r>
              <a:rPr lang="ko-KR" altLang="en-US" sz="1200" dirty="0" smtClean="0">
                <a:solidFill>
                  <a:schemeClr val="bg1"/>
                </a:solidFill>
              </a:rPr>
              <a:t>에 </a:t>
            </a:r>
            <a:r>
              <a:rPr lang="ko-KR" altLang="en-US" sz="1200" dirty="0">
                <a:solidFill>
                  <a:schemeClr val="bg1"/>
                </a:solidFill>
              </a:rPr>
              <a:t>기재된 </a:t>
            </a:r>
            <a:r>
              <a:rPr lang="en-US" altLang="ko-KR" sz="1200" dirty="0" smtClean="0">
                <a:solidFill>
                  <a:schemeClr val="bg1"/>
                </a:solidFill>
              </a:rPr>
              <a:t>Value</a:t>
            </a:r>
            <a:r>
              <a:rPr lang="ko-KR" altLang="en-US" sz="1200" dirty="0" smtClean="0">
                <a:solidFill>
                  <a:schemeClr val="bg1"/>
                </a:solidFill>
              </a:rPr>
              <a:t>값만 불러옴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5" y="499275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환경 변수 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2521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11199" y="2597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&lt;</a:t>
            </a:r>
            <a:r>
              <a:rPr lang="ko-KR" altLang="en-US" sz="1400" b="1" dirty="0" smtClean="0"/>
              <a:t>이미지 내</a:t>
            </a:r>
            <a:r>
              <a:rPr lang="en-US" altLang="ko-KR" sz="1400" b="1" dirty="0" smtClean="0"/>
              <a:t>, </a:t>
            </a:r>
            <a:r>
              <a:rPr lang="en-US" altLang="ko-KR" sz="1400" b="1" dirty="0" err="1" smtClean="0"/>
              <a:t>Config</a:t>
            </a:r>
            <a:r>
              <a:rPr lang="en-US" altLang="ko-KR" sz="1400" b="1" dirty="0" smtClean="0"/>
              <a:t> File</a:t>
            </a:r>
            <a:r>
              <a:rPr lang="ko-KR" altLang="en-US" sz="1400" b="1" dirty="0" smtClean="0"/>
              <a:t> 생성</a:t>
            </a:r>
            <a:r>
              <a:rPr lang="en-US" altLang="ko-KR" sz="1400" b="1" dirty="0" smtClean="0"/>
              <a:t>&gt;</a:t>
            </a:r>
          </a:p>
        </p:txBody>
      </p:sp>
      <p:sp>
        <p:nvSpPr>
          <p:cNvPr id="35" name="TextBox 5"/>
          <p:cNvSpPr txBox="1"/>
          <p:nvPr/>
        </p:nvSpPr>
        <p:spPr>
          <a:xfrm>
            <a:off x="766763" y="4770563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smtClean="0">
                <a:solidFill>
                  <a:schemeClr val="bg1"/>
                </a:solidFill>
              </a:rPr>
              <a:t>env-config-pod03 </a:t>
            </a:r>
            <a:r>
              <a:rPr lang="en-US" altLang="ko-KR" sz="1200" dirty="0">
                <a:solidFill>
                  <a:schemeClr val="bg1"/>
                </a:solidFill>
              </a:rPr>
              <a:t>-c test -- cat 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http.m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*DOMAIN		# </a:t>
            </a:r>
            <a:r>
              <a:rPr lang="ko-KR" altLang="en-US" sz="1200" dirty="0" smtClean="0">
                <a:solidFill>
                  <a:schemeClr val="bg1"/>
                </a:solidFill>
              </a:rPr>
              <a:t>해당 경로에 </a:t>
            </a:r>
            <a:r>
              <a:rPr lang="en-US" altLang="ko-KR" sz="1200" dirty="0" smtClean="0">
                <a:solidFill>
                  <a:schemeClr val="bg1"/>
                </a:solidFill>
              </a:rPr>
              <a:t>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http.m</a:t>
            </a:r>
            <a:r>
              <a:rPr lang="en-US" altLang="ko-KR" sz="1200" dirty="0" smtClean="0">
                <a:solidFill>
                  <a:schemeClr val="bg1"/>
                </a:solidFill>
              </a:rPr>
              <a:t>’ </a:t>
            </a:r>
            <a:r>
              <a:rPr lang="ko-KR" altLang="en-US" sz="1200" dirty="0" smtClean="0">
                <a:solidFill>
                  <a:schemeClr val="bg1"/>
                </a:solidFill>
              </a:rPr>
              <a:t>파일 정상 생성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webtob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5325" y="445673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Container </a:t>
            </a:r>
            <a:r>
              <a:rPr lang="ko-KR" altLang="en-US" sz="1400" dirty="0" smtClean="0"/>
              <a:t>내에 </a:t>
            </a: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생성 확인</a:t>
            </a:r>
            <a:endParaRPr lang="en-US" altLang="ko-KR" sz="14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777859" y="739450"/>
            <a:ext cx="4753936" cy="3508653"/>
            <a:chOff x="6569739" y="1173154"/>
            <a:chExt cx="4753936" cy="3508653"/>
          </a:xfrm>
        </p:grpSpPr>
        <p:sp>
          <p:nvSpPr>
            <p:cNvPr id="21" name="TextBox 3"/>
            <p:cNvSpPr txBox="1"/>
            <p:nvPr/>
          </p:nvSpPr>
          <p:spPr>
            <a:xfrm>
              <a:off x="6569740" y="1450153"/>
              <a:ext cx="4753935" cy="323165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smtClean="0"/>
                <a:t>env-config-pod03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env-config-pod03</a:t>
              </a:r>
              <a:endParaRPr lang="en-US" altLang="ko-KR" sz="1200" dirty="0"/>
            </a:p>
            <a:p>
              <a:r>
                <a:rPr lang="en-US" altLang="ko-KR" sz="1200" dirty="0"/>
                <a:t>spec: 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/env_sample:v01</a:t>
              </a:r>
            </a:p>
            <a:p>
              <a:r>
                <a:rPr lang="en-US" altLang="ko-KR" sz="1200" dirty="0"/>
                <a:t>      name: test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volumeMounts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- name: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webtob</a:t>
              </a:r>
              <a:r>
                <a:rPr lang="en-US" altLang="ko-KR" sz="1200" dirty="0">
                  <a:solidFill>
                    <a:srgbClr val="FF0000"/>
                  </a:solidFill>
                </a:rPr>
                <a:t>-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config</a:t>
              </a:r>
              <a:r>
                <a:rPr lang="en-US" altLang="ko-KR" sz="1200" dirty="0">
                  <a:solidFill>
                    <a:srgbClr val="FF0000"/>
                  </a:solidFill>
                </a:rPr>
                <a:t>-path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mountPath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/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home/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webtob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/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config</a:t>
              </a:r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#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파일 생성 경로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volumes: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- </a:t>
              </a:r>
              <a:r>
                <a:rPr lang="en-US" altLang="ko-KR" sz="1200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webtob</a:t>
              </a:r>
              <a:r>
                <a:rPr lang="en-US" altLang="ko-KR" sz="1200" dirty="0">
                  <a:solidFill>
                    <a:srgbClr val="FF0000"/>
                  </a:solidFill>
                </a:rPr>
                <a:t>-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config</a:t>
              </a:r>
              <a:r>
                <a:rPr lang="en-US" altLang="ko-KR" sz="1200" dirty="0">
                  <a:solidFill>
                    <a:srgbClr val="FF0000"/>
                  </a:solidFill>
                </a:rPr>
                <a:t>-path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configMap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name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config-webtob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3"/>
            <p:cNvSpPr txBox="1"/>
            <p:nvPr/>
          </p:nvSpPr>
          <p:spPr>
            <a:xfrm>
              <a:off x="6569739" y="1173154"/>
              <a:ext cx="181648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5-env_config_file.yaml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6692215" y="749960"/>
            <a:ext cx="4753936" cy="2031325"/>
            <a:chOff x="6569739" y="1173154"/>
            <a:chExt cx="4753936" cy="2031325"/>
          </a:xfrm>
        </p:grpSpPr>
        <p:sp>
          <p:nvSpPr>
            <p:cNvPr id="29" name="TextBox 3"/>
            <p:cNvSpPr txBox="1"/>
            <p:nvPr/>
          </p:nvSpPr>
          <p:spPr>
            <a:xfrm>
              <a:off x="6569740" y="1450153"/>
              <a:ext cx="4753935" cy="175432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config-webtob</a:t>
              </a:r>
              <a:endParaRPr lang="en-US" altLang="ko-KR" sz="1200" dirty="0"/>
            </a:p>
            <a:p>
              <a:r>
                <a:rPr lang="en-US" altLang="ko-KR" sz="1200" dirty="0" smtClean="0"/>
                <a:t>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http.m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|-	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‘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http.m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’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이라는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File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설정 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*DOMAIN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webtob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5-webtob_config.yaml</a:t>
              </a: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6820988" y="1623964"/>
            <a:ext cx="1587287" cy="19432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>
            <a:stCxn id="37" idx="3"/>
            <a:endCxn id="31" idx="1"/>
          </p:cNvCxnSpPr>
          <p:nvPr/>
        </p:nvCxnSpPr>
        <p:spPr>
          <a:xfrm flipV="1">
            <a:off x="3159947" y="1721127"/>
            <a:ext cx="3661041" cy="212509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932429" y="3457906"/>
            <a:ext cx="2227518" cy="7766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06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1199" y="6773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1. Secret </a:t>
            </a:r>
            <a:r>
              <a:rPr lang="ko-KR" altLang="en-US" sz="1400" b="1" dirty="0" smtClean="0"/>
              <a:t>생성</a:t>
            </a:r>
            <a:endParaRPr lang="en-US" altLang="ko-KR" sz="1400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768349" y="2659949"/>
            <a:ext cx="4753936" cy="1846659"/>
            <a:chOff x="6569739" y="1173154"/>
            <a:chExt cx="4753936" cy="1846659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-secret</a:t>
              </a:r>
              <a:endParaRPr lang="en-US" altLang="ko-KR" sz="1200" dirty="0"/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data: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Value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에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Base64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로 인코딩한 값을 넣어줘야 한다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DB_NAME: c2FtcGxl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# sample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Base64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값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DB_PASSWORD: cGFzc3dvcmQ=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password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Base64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값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6-env_secret.yaml</a:t>
              </a: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766763" y="1469174"/>
            <a:ext cx="106934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en-US" altLang="ko-KR" sz="1200" dirty="0">
                <a:solidFill>
                  <a:schemeClr val="bg1"/>
                </a:solidFill>
              </a:rPr>
              <a:t>‘--from-literal’ </a:t>
            </a:r>
            <a:r>
              <a:rPr lang="ko-KR" altLang="en-US" sz="1200" dirty="0">
                <a:solidFill>
                  <a:schemeClr val="bg1"/>
                </a:solidFill>
              </a:rPr>
              <a:t>옵션을 통해 직접 </a:t>
            </a:r>
            <a:r>
              <a:rPr lang="en-US" altLang="ko-KR" sz="1200" dirty="0" smtClean="0">
                <a:solidFill>
                  <a:schemeClr val="bg1"/>
                </a:solidFill>
              </a:rPr>
              <a:t>‘Key-Value’ </a:t>
            </a:r>
            <a:r>
              <a:rPr lang="ko-KR" altLang="en-US" sz="1200" dirty="0">
                <a:solidFill>
                  <a:schemeClr val="bg1"/>
                </a:solidFill>
              </a:rPr>
              <a:t>값 추가</a:t>
            </a:r>
            <a:r>
              <a:rPr lang="en-US" altLang="ko-KR" sz="1200" dirty="0">
                <a:solidFill>
                  <a:schemeClr val="bg1"/>
                </a:solidFill>
              </a:rPr>
              <a:t>  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secret generic sample-secret --from-literal=DB_NAME=sample --from-literal=DB_PASSWORD=password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secret/sample-secret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created	# Secret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782637" y="5049451"/>
            <a:ext cx="1067752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 get secret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</a:t>
            </a:r>
            <a:r>
              <a:rPr lang="en-US" altLang="ko-KR" sz="1200" dirty="0">
                <a:solidFill>
                  <a:schemeClr val="bg1"/>
                </a:solidFill>
              </a:rPr>
              <a:t>TYPE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DATA  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sample-secret     Opaque    </a:t>
            </a:r>
            <a:r>
              <a:rPr lang="en-US" altLang="ko-KR" sz="1200" dirty="0">
                <a:solidFill>
                  <a:schemeClr val="bg1"/>
                </a:solidFill>
              </a:rPr>
              <a:t>2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39s	# Secret  </a:t>
            </a:r>
            <a:r>
              <a:rPr lang="ko-KR" altLang="en-US" sz="1200" dirty="0" smtClean="0">
                <a:solidFill>
                  <a:schemeClr val="bg1"/>
                </a:solidFill>
              </a:rPr>
              <a:t>생성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4735620"/>
            <a:ext cx="5891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확인</a:t>
            </a:r>
            <a:endParaRPr lang="en-US" altLang="ko-K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711199" y="3802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방법 </a:t>
            </a:r>
            <a:r>
              <a:rPr lang="en-US" altLang="ko-KR" sz="1400" b="1" dirty="0" smtClean="0"/>
              <a:t>3. Secret]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199" y="114339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Kubectl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명령어로 </a:t>
            </a: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생성</a:t>
            </a:r>
            <a:r>
              <a:rPr lang="en-US" altLang="ko-KR" sz="1400" dirty="0" smtClean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199" y="234165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생성된 </a:t>
            </a: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의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형식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67220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711199" y="3802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2. Secret </a:t>
            </a:r>
            <a:r>
              <a:rPr lang="ko-KR" altLang="en-US" sz="1400" b="1" dirty="0" smtClean="0"/>
              <a:t>적용</a:t>
            </a:r>
            <a:endParaRPr lang="en-US" altLang="ko-KR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711199" y="74323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i="1" dirty="0" smtClean="0"/>
              <a:t>&lt;</a:t>
            </a:r>
            <a:r>
              <a:rPr lang="en-US" altLang="ko-KR" sz="1400" b="1" dirty="0" err="1"/>
              <a:t>envFrom</a:t>
            </a:r>
            <a:r>
              <a:rPr lang="ko-KR" altLang="en-US" sz="1400" b="1" dirty="0"/>
              <a:t>을 사용</a:t>
            </a:r>
            <a:r>
              <a:rPr lang="en-US" altLang="ko-KR" sz="1400" b="1" i="1" dirty="0" smtClean="0"/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199" y="106609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해당 방법은 </a:t>
            </a:r>
            <a:r>
              <a:rPr lang="en-US" altLang="ko-KR" sz="1400" dirty="0" smtClean="0"/>
              <a:t>Secret </a:t>
            </a:r>
            <a:r>
              <a:rPr lang="ko-KR" altLang="en-US" sz="1400" dirty="0"/>
              <a:t>전체를 </a:t>
            </a:r>
            <a:r>
              <a:rPr lang="ko-KR" altLang="en-US" sz="1400" dirty="0" smtClean="0"/>
              <a:t>환경 변수로 불러온다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6849053" y="1482114"/>
            <a:ext cx="4611110" cy="1846659"/>
            <a:chOff x="6569739" y="1173154"/>
            <a:chExt cx="4611110" cy="1846659"/>
          </a:xfrm>
        </p:grpSpPr>
        <p:sp>
          <p:nvSpPr>
            <p:cNvPr id="17" name="TextBox 3"/>
            <p:cNvSpPr txBox="1"/>
            <p:nvPr/>
          </p:nvSpPr>
          <p:spPr>
            <a:xfrm>
              <a:off x="6569740" y="1450153"/>
              <a:ext cx="4611109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</a:t>
              </a:r>
              <a:r>
                <a:rPr lang="en-US" altLang="ko-KR" sz="1200" dirty="0" err="1"/>
                <a:t>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-secret</a:t>
              </a:r>
              <a:endParaRPr lang="en-US" altLang="ko-KR" sz="1200" dirty="0"/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data: </a:t>
              </a:r>
              <a:endParaRPr lang="en-US" altLang="ko-KR" sz="1200" dirty="0" smtClean="0"/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DB_NAME: c2FtcGxl  </a:t>
              </a:r>
              <a:r>
                <a:rPr lang="en-US" altLang="ko-KR" sz="1200" b="1" dirty="0" smtClean="0"/>
                <a:t> # sample</a:t>
              </a:r>
              <a:r>
                <a:rPr lang="ko-KR" altLang="en-US" sz="1200" b="1" dirty="0" smtClean="0"/>
                <a:t>의 </a:t>
              </a:r>
              <a:r>
                <a:rPr lang="en-US" altLang="ko-KR" sz="1200" b="1" dirty="0" smtClean="0"/>
                <a:t>Base64</a:t>
              </a:r>
              <a:r>
                <a:rPr lang="ko-KR" altLang="en-US" sz="1200" b="1" dirty="0" smtClean="0"/>
                <a:t>값</a:t>
              </a:r>
              <a:endParaRPr lang="en-US" altLang="ko-KR" sz="1200" b="1" dirty="0" smtClean="0"/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/>
                <a:t>DB_PASSWORD: cGFzc3dvcmQ</a:t>
              </a:r>
              <a:r>
                <a:rPr lang="en-US" altLang="ko-KR" sz="1200" dirty="0" smtClean="0"/>
                <a:t>=   </a:t>
              </a:r>
              <a:r>
                <a:rPr lang="en-US" altLang="ko-KR" sz="1200" b="1" dirty="0" smtClean="0"/>
                <a:t># password</a:t>
              </a:r>
              <a:r>
                <a:rPr lang="ko-KR" altLang="en-US" sz="1200" b="1" dirty="0" smtClean="0"/>
                <a:t>의 </a:t>
              </a:r>
              <a:r>
                <a:rPr lang="en-US" altLang="ko-KR" sz="1200" b="1" dirty="0" smtClean="0"/>
                <a:t>Base64</a:t>
              </a:r>
              <a:r>
                <a:rPr lang="ko-KR" altLang="en-US" sz="1200" b="1" dirty="0" smtClean="0"/>
                <a:t>값</a:t>
              </a:r>
              <a:endParaRPr lang="en-US" altLang="ko-KR" sz="1200" dirty="0"/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6-env_secret.yaml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77861" y="1443642"/>
            <a:ext cx="4753937" cy="3323987"/>
            <a:chOff x="6569738" y="1173154"/>
            <a:chExt cx="4753937" cy="3323987"/>
          </a:xfrm>
        </p:grpSpPr>
        <p:sp>
          <p:nvSpPr>
            <p:cNvPr id="24" name="TextBox 3"/>
            <p:cNvSpPr txBox="1"/>
            <p:nvPr/>
          </p:nvSpPr>
          <p:spPr>
            <a:xfrm>
              <a:off x="6569740" y="1450153"/>
              <a:ext cx="4753935" cy="304698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 smtClean="0"/>
                <a:t>: v1</a:t>
              </a:r>
            </a:p>
            <a:p>
              <a:r>
                <a:rPr lang="en-US" altLang="ko-KR" sz="1200" dirty="0" smtClean="0"/>
                <a:t>kind: Pod</a:t>
              </a:r>
            </a:p>
            <a:p>
              <a:r>
                <a:rPr lang="en-US" altLang="ko-KR" sz="1200" dirty="0" smtClean="0"/>
                <a:t>metadata:</a:t>
              </a: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creationTimestamp</a:t>
              </a:r>
              <a:r>
                <a:rPr lang="en-US" altLang="ko-KR" sz="1200" dirty="0" smtClean="0"/>
                <a:t>: null</a:t>
              </a:r>
            </a:p>
            <a:p>
              <a:r>
                <a:rPr lang="en-US" altLang="ko-KR" sz="1200" dirty="0" smtClean="0"/>
                <a:t>  labels:</a:t>
              </a:r>
            </a:p>
            <a:p>
              <a:r>
                <a:rPr lang="en-US" altLang="ko-KR" sz="1200" dirty="0" smtClean="0"/>
                <a:t>    app: env-secret-pod01</a:t>
              </a:r>
            </a:p>
            <a:p>
              <a:r>
                <a:rPr lang="en-US" altLang="ko-KR" sz="1200" dirty="0" smtClean="0"/>
                <a:t>  name: env-secret-pod01</a:t>
              </a:r>
            </a:p>
            <a:p>
              <a:r>
                <a:rPr lang="en-US" altLang="ko-KR" sz="1200" dirty="0" smtClean="0"/>
                <a:t>spec:</a:t>
              </a:r>
            </a:p>
            <a:p>
              <a:r>
                <a:rPr lang="en-US" altLang="ko-KR" sz="1200" dirty="0" smtClean="0"/>
                <a:t>  containers:</a:t>
              </a:r>
            </a:p>
            <a:p>
              <a:r>
                <a:rPr lang="en-US" altLang="ko-KR" sz="1200" dirty="0" smtClean="0"/>
                <a:t>  - image: </a:t>
              </a:r>
              <a:r>
                <a:rPr lang="en-US" altLang="ko-KR" sz="1200" dirty="0" err="1" smtClean="0"/>
                <a:t>josunghwan</a:t>
              </a:r>
              <a:r>
                <a:rPr lang="en-US" altLang="ko-KR" sz="1200" dirty="0" smtClean="0"/>
                <a:t>/env_sample:v01	 	  </a:t>
              </a:r>
            </a:p>
            <a:p>
              <a:r>
                <a:rPr lang="en-US" altLang="ko-KR" sz="1200" dirty="0" smtClean="0"/>
                <a:t>    name: test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	    #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    -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secretRef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name: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-secret</a:t>
              </a:r>
              <a:r>
                <a:rPr lang="en-US" altLang="ko-KR" sz="1200" dirty="0" smtClean="0"/>
                <a:t>  </a:t>
              </a: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dnsPolicy</a:t>
              </a:r>
              <a:r>
                <a:rPr lang="en-US" altLang="ko-KR" sz="1200" dirty="0" smtClean="0"/>
                <a:t>: </a:t>
              </a:r>
              <a:r>
                <a:rPr lang="en-US" altLang="ko-KR" sz="1200" dirty="0" err="1" smtClean="0"/>
                <a:t>ClusterFirst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restartPolicy</a:t>
              </a:r>
              <a:r>
                <a:rPr lang="en-US" altLang="ko-KR" sz="1200" dirty="0" smtClean="0"/>
                <a:t>: Never</a:t>
              </a:r>
              <a:endParaRPr lang="en-US" altLang="ko-KR" sz="1200" dirty="0"/>
            </a:p>
          </p:txBody>
        </p:sp>
        <p:sp>
          <p:nvSpPr>
            <p:cNvPr id="29" name="TextBox 3"/>
            <p:cNvSpPr txBox="1"/>
            <p:nvPr/>
          </p:nvSpPr>
          <p:spPr>
            <a:xfrm>
              <a:off x="6569738" y="1173154"/>
              <a:ext cx="220988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7-env_secret_envfrom.yaml</a:t>
              </a:r>
            </a:p>
          </p:txBody>
        </p:sp>
      </p:grpSp>
      <p:sp>
        <p:nvSpPr>
          <p:cNvPr id="30" name="직사각형 29"/>
          <p:cNvSpPr/>
          <p:nvPr/>
        </p:nvSpPr>
        <p:spPr>
          <a:xfrm>
            <a:off x="1266867" y="4169049"/>
            <a:ext cx="1339699" cy="16121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6977828" y="2339969"/>
            <a:ext cx="1283304" cy="21021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>
            <a:stCxn id="30" idx="3"/>
            <a:endCxn id="31" idx="1"/>
          </p:cNvCxnSpPr>
          <p:nvPr/>
        </p:nvCxnSpPr>
        <p:spPr>
          <a:xfrm flipV="1">
            <a:off x="2606566" y="2445079"/>
            <a:ext cx="4371262" cy="1804577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5"/>
          <p:cNvSpPr txBox="1"/>
          <p:nvPr/>
        </p:nvSpPr>
        <p:spPr>
          <a:xfrm>
            <a:off x="766763" y="5190980"/>
            <a:ext cx="10693400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smtClean="0">
                <a:solidFill>
                  <a:schemeClr val="bg1"/>
                </a:solidFill>
              </a:rPr>
              <a:t>env-secret-pod01 --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DB_PASSWORD=password</a:t>
            </a:r>
            <a:r>
              <a:rPr lang="en-US" altLang="ko-KR" sz="1200" dirty="0" smtClean="0">
                <a:solidFill>
                  <a:schemeClr val="bg1"/>
                </a:solidFill>
              </a:rPr>
              <a:t>		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env_secret.yaml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 기재된 환경 변수 모두 불러옴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DB_NAME=sample			</a:t>
            </a:r>
            <a:r>
              <a:rPr lang="en-US" altLang="ko-KR" sz="1200" dirty="0">
                <a:solidFill>
                  <a:schemeClr val="bg1"/>
                </a:solidFill>
              </a:rPr>
              <a:t># 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env_secret.yaml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에 있는 값이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디코딩되어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환경변수에</a:t>
            </a:r>
            <a:r>
              <a:rPr lang="ko-KR" altLang="en-US" sz="1200" dirty="0" smtClean="0">
                <a:solidFill>
                  <a:schemeClr val="bg1"/>
                </a:solidFill>
              </a:rPr>
              <a:t> 나타난다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 </a:t>
            </a:r>
            <a:r>
              <a:rPr lang="en-US" altLang="ko-KR" sz="1200" dirty="0" smtClean="0">
                <a:solidFill>
                  <a:schemeClr val="bg1"/>
                </a:solidFill>
              </a:rPr>
              <a:t>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87714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환경 변수 확인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9650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11199" y="2597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i="1" dirty="0" smtClean="0"/>
              <a:t>&lt;</a:t>
            </a:r>
            <a:r>
              <a:rPr lang="en-US" altLang="ko-KR" sz="1400" b="1" dirty="0" err="1" smtClean="0"/>
              <a:t>secretKeyRef</a:t>
            </a:r>
            <a:r>
              <a:rPr lang="ko-KR" altLang="en-US" sz="1400" b="1" dirty="0" smtClean="0"/>
              <a:t>을 </a:t>
            </a:r>
            <a:r>
              <a:rPr lang="ko-KR" altLang="en-US" sz="1400" b="1" dirty="0"/>
              <a:t>사용</a:t>
            </a:r>
            <a:r>
              <a:rPr lang="en-US" altLang="ko-KR" sz="1400" b="1" i="1" dirty="0" smtClean="0"/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199" y="58261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해당 방법은 </a:t>
            </a: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의 환경 변수 중</a:t>
            </a:r>
            <a:r>
              <a:rPr lang="en-US" altLang="ko-KR" sz="1400" dirty="0" smtClean="0"/>
              <a:t>, </a:t>
            </a:r>
            <a:r>
              <a:rPr lang="ko-KR" altLang="en-US" sz="1400" dirty="0"/>
              <a:t>특정 </a:t>
            </a:r>
            <a:r>
              <a:rPr lang="en-US" altLang="ko-KR" sz="1400" dirty="0" smtClean="0"/>
              <a:t>Key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Value</a:t>
            </a:r>
            <a:r>
              <a:rPr lang="ko-KR" altLang="en-US" sz="1400" dirty="0" smtClean="0"/>
              <a:t>값만 </a:t>
            </a:r>
            <a:r>
              <a:rPr lang="ko-KR" altLang="en-US" sz="1400" dirty="0"/>
              <a:t>환경 변수로 </a:t>
            </a:r>
            <a:r>
              <a:rPr lang="ko-KR" altLang="en-US" sz="1400" dirty="0" smtClean="0"/>
              <a:t> 불러온다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767350" y="1023227"/>
            <a:ext cx="4881525" cy="3877985"/>
            <a:chOff x="6569739" y="1173154"/>
            <a:chExt cx="4881525" cy="3877985"/>
          </a:xfrm>
        </p:grpSpPr>
        <p:sp>
          <p:nvSpPr>
            <p:cNvPr id="26" name="TextBox 3"/>
            <p:cNvSpPr txBox="1"/>
            <p:nvPr/>
          </p:nvSpPr>
          <p:spPr>
            <a:xfrm>
              <a:off x="6569740" y="1450153"/>
              <a:ext cx="4881524" cy="360098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 smtClean="0"/>
                <a:t>: v1</a:t>
              </a:r>
            </a:p>
            <a:p>
              <a:r>
                <a:rPr lang="en-US" altLang="ko-KR" sz="1200" dirty="0" smtClean="0"/>
                <a:t>kind: Pod</a:t>
              </a:r>
            </a:p>
            <a:p>
              <a:r>
                <a:rPr lang="en-US" altLang="ko-KR" sz="1200" dirty="0" smtClean="0"/>
                <a:t>metadata:</a:t>
              </a: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creationTimestamp</a:t>
              </a:r>
              <a:r>
                <a:rPr lang="en-US" altLang="ko-KR" sz="1200" dirty="0" smtClean="0"/>
                <a:t>: null</a:t>
              </a:r>
            </a:p>
            <a:p>
              <a:r>
                <a:rPr lang="en-US" altLang="ko-KR" sz="1200" dirty="0" smtClean="0"/>
                <a:t>  labels:</a:t>
              </a:r>
            </a:p>
            <a:p>
              <a:r>
                <a:rPr lang="en-US" altLang="ko-KR" sz="1200" dirty="0" smtClean="0"/>
                <a:t>    app: env-secret-pod02</a:t>
              </a:r>
            </a:p>
            <a:p>
              <a:r>
                <a:rPr lang="en-US" altLang="ko-KR" sz="1200" dirty="0" smtClean="0"/>
                <a:t>  name: env-secret-pod02</a:t>
              </a:r>
            </a:p>
            <a:p>
              <a:r>
                <a:rPr lang="en-US" altLang="ko-KR" sz="1200" dirty="0" smtClean="0"/>
                <a:t>spec:</a:t>
              </a:r>
            </a:p>
            <a:p>
              <a:r>
                <a:rPr lang="en-US" altLang="ko-KR" sz="1200" dirty="0" smtClean="0"/>
                <a:t>  containers:</a:t>
              </a:r>
            </a:p>
            <a:p>
              <a:r>
                <a:rPr lang="en-US" altLang="ko-KR" sz="1200" dirty="0" smtClean="0"/>
                <a:t>  - image: </a:t>
              </a:r>
              <a:r>
                <a:rPr lang="en-US" altLang="ko-KR" sz="1200" dirty="0" err="1" smtClean="0"/>
                <a:t>josunghwan</a:t>
              </a:r>
              <a:r>
                <a:rPr lang="en-US" altLang="ko-KR" sz="1200" dirty="0" smtClean="0"/>
                <a:t>/env_sample:v01	 	  </a:t>
              </a:r>
            </a:p>
            <a:p>
              <a:r>
                <a:rPr lang="en-US" altLang="ko-KR" sz="1200" dirty="0" smtClean="0"/>
                <a:t>    name: test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- name: TEST_PASSWORD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환경 변수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Key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설정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valueFrom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secretKeyRef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         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환경 변수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Value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설정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     name: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-secret</a:t>
              </a: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     key: DB_PASSWORD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해당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Key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Value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값 가져온다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.</a:t>
              </a: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dnsPolicy</a:t>
              </a:r>
              <a:r>
                <a:rPr lang="en-US" altLang="ko-KR" sz="1200" dirty="0" smtClean="0"/>
                <a:t>: </a:t>
              </a:r>
              <a:r>
                <a:rPr lang="en-US" altLang="ko-KR" sz="1200" dirty="0" err="1" smtClean="0"/>
                <a:t>ClusterFirst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restartPolicy</a:t>
              </a:r>
              <a:r>
                <a:rPr lang="en-US" altLang="ko-KR" sz="1200" dirty="0" smtClean="0"/>
                <a:t>: Never</a:t>
              </a:r>
              <a:endParaRPr lang="en-US" altLang="ko-KR" sz="1200" dirty="0"/>
            </a:p>
          </p:txBody>
        </p:sp>
        <p:sp>
          <p:nvSpPr>
            <p:cNvPr id="2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8-env_secret_keyref.yaml</a:t>
              </a:r>
            </a:p>
          </p:txBody>
        </p:sp>
      </p:grpSp>
      <p:sp>
        <p:nvSpPr>
          <p:cNvPr id="34" name="직사각형 33"/>
          <p:cNvSpPr/>
          <p:nvPr/>
        </p:nvSpPr>
        <p:spPr>
          <a:xfrm>
            <a:off x="1366349" y="4109545"/>
            <a:ext cx="1443390" cy="37751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5"/>
          <p:cNvSpPr txBox="1"/>
          <p:nvPr/>
        </p:nvSpPr>
        <p:spPr>
          <a:xfrm>
            <a:off x="766763" y="5306590"/>
            <a:ext cx="106934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env-secret-pod02</a:t>
            </a:r>
            <a:r>
              <a:rPr lang="en-US" altLang="ko-KR" sz="1200" dirty="0" smtClean="0">
                <a:solidFill>
                  <a:schemeClr val="bg1"/>
                </a:solidFill>
              </a:rPr>
              <a:t> --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b="1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TEST_PASSWORD=password		# </a:t>
            </a:r>
            <a:r>
              <a:rPr lang="en-US" altLang="ko-KR" sz="1200" dirty="0">
                <a:solidFill>
                  <a:schemeClr val="bg1"/>
                </a:solidFill>
              </a:rPr>
              <a:t>‘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env_secret.yaml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</a:rPr>
              <a:t>‘DB_PASSWORD’ Key</a:t>
            </a:r>
            <a:r>
              <a:rPr lang="ko-KR" altLang="en-US" sz="1200" dirty="0" smtClean="0">
                <a:solidFill>
                  <a:schemeClr val="bg1"/>
                </a:solidFill>
              </a:rPr>
              <a:t>에 </a:t>
            </a:r>
            <a:r>
              <a:rPr lang="ko-KR" altLang="en-US" sz="1200" dirty="0">
                <a:solidFill>
                  <a:schemeClr val="bg1"/>
                </a:solidFill>
              </a:rPr>
              <a:t>기재된 </a:t>
            </a:r>
            <a:r>
              <a:rPr lang="en-US" altLang="ko-KR" sz="1200" dirty="0" smtClean="0">
                <a:solidFill>
                  <a:schemeClr val="bg1"/>
                </a:solidFill>
              </a:rPr>
              <a:t>Value</a:t>
            </a:r>
            <a:r>
              <a:rPr lang="ko-KR" altLang="en-US" sz="1200" dirty="0" smtClean="0">
                <a:solidFill>
                  <a:schemeClr val="bg1"/>
                </a:solidFill>
              </a:rPr>
              <a:t>값만 불러옴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… 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생략</a:t>
            </a:r>
            <a:r>
              <a:rPr lang="en-US" altLang="ko-KR" sz="1200" dirty="0">
                <a:solidFill>
                  <a:schemeClr val="bg1"/>
                </a:solidFill>
              </a:rPr>
              <a:t>) 	</a:t>
            </a:r>
            <a:r>
              <a:rPr lang="en-US" altLang="ko-KR" sz="1200" dirty="0" smtClean="0">
                <a:solidFill>
                  <a:schemeClr val="bg1"/>
                </a:solidFill>
              </a:rPr>
              <a:t>			</a:t>
            </a:r>
            <a:r>
              <a:rPr lang="en-US" altLang="ko-KR" sz="1200" dirty="0">
                <a:solidFill>
                  <a:schemeClr val="bg1"/>
                </a:solidFill>
              </a:rPr>
              <a:t># ‘</a:t>
            </a:r>
            <a:r>
              <a:rPr lang="en-US" altLang="ko-KR" sz="1200" dirty="0" err="1">
                <a:solidFill>
                  <a:schemeClr val="bg1"/>
                </a:solidFill>
              </a:rPr>
              <a:t>env_secret.yaml</a:t>
            </a:r>
            <a:r>
              <a:rPr lang="en-US" altLang="ko-KR" sz="1200" dirty="0">
                <a:solidFill>
                  <a:schemeClr val="bg1"/>
                </a:solidFill>
              </a:rPr>
              <a:t>’</a:t>
            </a:r>
            <a:r>
              <a:rPr lang="ko-KR" altLang="en-US" sz="1200" dirty="0">
                <a:solidFill>
                  <a:schemeClr val="bg1"/>
                </a:solidFill>
              </a:rPr>
              <a:t>에 있는 값이 </a:t>
            </a:r>
            <a:r>
              <a:rPr lang="ko-KR" altLang="en-US" sz="1200" dirty="0" err="1">
                <a:solidFill>
                  <a:schemeClr val="bg1"/>
                </a:solidFill>
              </a:rPr>
              <a:t>디코딩되어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환경변수에</a:t>
            </a:r>
            <a:r>
              <a:rPr lang="ko-KR" altLang="en-US" sz="1200" dirty="0">
                <a:solidFill>
                  <a:schemeClr val="bg1"/>
                </a:solidFill>
              </a:rPr>
              <a:t> 나타난다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5325" y="499275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환경 변수 확인</a:t>
            </a:r>
            <a:endParaRPr lang="en-US" altLang="ko-KR" sz="1400" dirty="0"/>
          </a:p>
        </p:txBody>
      </p:sp>
      <p:grpSp>
        <p:nvGrpSpPr>
          <p:cNvPr id="31" name="그룹 30"/>
          <p:cNvGrpSpPr/>
          <p:nvPr/>
        </p:nvGrpSpPr>
        <p:grpSpPr>
          <a:xfrm>
            <a:off x="6701907" y="1061699"/>
            <a:ext cx="4753936" cy="1846659"/>
            <a:chOff x="6569739" y="1173154"/>
            <a:chExt cx="4753936" cy="1846659"/>
          </a:xfrm>
        </p:grpSpPr>
        <p:sp>
          <p:nvSpPr>
            <p:cNvPr id="32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-secret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data: </a:t>
              </a:r>
            </a:p>
            <a:p>
              <a:r>
                <a:rPr lang="en-US" altLang="ko-KR" sz="1200" dirty="0"/>
                <a:t>  DB_NAME: c2FtcGxl  </a:t>
              </a:r>
              <a:r>
                <a:rPr lang="en-US" altLang="ko-KR" sz="1200" b="1" dirty="0"/>
                <a:t> # sample</a:t>
              </a:r>
              <a:r>
                <a:rPr lang="ko-KR" altLang="en-US" sz="1200" b="1" dirty="0"/>
                <a:t>의 </a:t>
              </a:r>
              <a:r>
                <a:rPr lang="en-US" altLang="ko-KR" sz="1200" b="1" dirty="0"/>
                <a:t>Base64</a:t>
              </a:r>
              <a:r>
                <a:rPr lang="ko-KR" altLang="en-US" sz="1200" b="1" dirty="0"/>
                <a:t>값</a:t>
              </a:r>
              <a:endParaRPr lang="en-US" altLang="ko-KR" sz="1200" b="1" dirty="0"/>
            </a:p>
            <a:p>
              <a:r>
                <a:rPr lang="en-US" altLang="ko-KR" sz="1200" dirty="0"/>
                <a:t>  DB_PASSWORD: cGFzc3dvcmQ=   </a:t>
              </a:r>
              <a:r>
                <a:rPr lang="en-US" altLang="ko-KR" sz="1200" b="1" dirty="0"/>
                <a:t># password</a:t>
              </a:r>
              <a:r>
                <a:rPr lang="ko-KR" altLang="en-US" sz="1200" b="1" dirty="0"/>
                <a:t>의 </a:t>
              </a:r>
              <a:r>
                <a:rPr lang="en-US" altLang="ko-KR" sz="1200" b="1" dirty="0"/>
                <a:t>Base64</a:t>
              </a:r>
              <a:r>
                <a:rPr lang="ko-KR" altLang="en-US" sz="1200" b="1" dirty="0"/>
                <a:t>값</a:t>
              </a:r>
              <a:endParaRPr lang="en-US" altLang="ko-KR" sz="1200" dirty="0"/>
            </a:p>
          </p:txBody>
        </p:sp>
        <p:sp>
          <p:nvSpPr>
            <p:cNvPr id="37" name="TextBox 3"/>
            <p:cNvSpPr txBox="1"/>
            <p:nvPr/>
          </p:nvSpPr>
          <p:spPr>
            <a:xfrm>
              <a:off x="6569739" y="1173154"/>
              <a:ext cx="150642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6-env_secret.yaml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8" name="직사각형 37"/>
          <p:cNvSpPr/>
          <p:nvPr/>
        </p:nvSpPr>
        <p:spPr>
          <a:xfrm>
            <a:off x="6851701" y="1930064"/>
            <a:ext cx="1267012" cy="19030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>
            <a:stCxn id="34" idx="3"/>
          </p:cNvCxnSpPr>
          <p:nvPr/>
        </p:nvCxnSpPr>
        <p:spPr>
          <a:xfrm flipV="1">
            <a:off x="2809739" y="2031195"/>
            <a:ext cx="4020942" cy="226710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02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711199" y="25976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/>
              <a:t>&lt;</a:t>
            </a:r>
            <a:r>
              <a:rPr lang="ko-KR" altLang="en-US" sz="1400" b="1" dirty="0" smtClean="0"/>
              <a:t>이미지 내</a:t>
            </a:r>
            <a:r>
              <a:rPr lang="en-US" altLang="ko-KR" sz="1400" b="1" dirty="0" smtClean="0"/>
              <a:t>, Secret </a:t>
            </a:r>
            <a:r>
              <a:rPr lang="ko-KR" altLang="en-US" sz="1400" b="1" dirty="0" smtClean="0"/>
              <a:t>파일 생성</a:t>
            </a:r>
            <a:r>
              <a:rPr lang="en-US" altLang="ko-KR" sz="1400" b="1" dirty="0" smtClean="0"/>
              <a:t>&gt;</a:t>
            </a:r>
          </a:p>
        </p:txBody>
      </p:sp>
      <p:sp>
        <p:nvSpPr>
          <p:cNvPr id="35" name="TextBox 5"/>
          <p:cNvSpPr txBox="1"/>
          <p:nvPr/>
        </p:nvSpPr>
        <p:spPr>
          <a:xfrm>
            <a:off x="766763" y="4764561"/>
            <a:ext cx="1069340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env-secret-pod03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-c test -- cat /</a:t>
            </a:r>
            <a:r>
              <a:rPr lang="en-US" altLang="ko-KR" sz="1200" dirty="0" smtClean="0">
                <a:solidFill>
                  <a:schemeClr val="bg1"/>
                </a:solidFill>
              </a:rPr>
              <a:t>home/secret/secret-data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DB_NAME=sample		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해당 경로에 </a:t>
            </a:r>
            <a:r>
              <a:rPr lang="en-US" altLang="ko-KR" sz="1200" dirty="0" smtClean="0">
                <a:solidFill>
                  <a:schemeClr val="bg1"/>
                </a:solidFill>
              </a:rPr>
              <a:t>‘secret-data’ </a:t>
            </a:r>
            <a:r>
              <a:rPr lang="ko-KR" altLang="en-US" sz="1200" dirty="0">
                <a:solidFill>
                  <a:schemeClr val="bg1"/>
                </a:solidFill>
              </a:rPr>
              <a:t>파일 정상 생성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 DB_PASSWORD=password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5325" y="445073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Container </a:t>
            </a:r>
            <a:r>
              <a:rPr lang="ko-KR" altLang="en-US" sz="1400" dirty="0" smtClean="0"/>
              <a:t>내에 </a:t>
            </a: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파일 생성 확인</a:t>
            </a:r>
            <a:endParaRPr lang="en-US" altLang="ko-KR" sz="1400" dirty="0"/>
          </a:p>
        </p:txBody>
      </p:sp>
      <p:grpSp>
        <p:nvGrpSpPr>
          <p:cNvPr id="17" name="그룹 16"/>
          <p:cNvGrpSpPr/>
          <p:nvPr/>
        </p:nvGrpSpPr>
        <p:grpSpPr>
          <a:xfrm>
            <a:off x="777859" y="739450"/>
            <a:ext cx="4753936" cy="3508653"/>
            <a:chOff x="6569739" y="1173154"/>
            <a:chExt cx="4753936" cy="3508653"/>
          </a:xfrm>
        </p:grpSpPr>
        <p:sp>
          <p:nvSpPr>
            <p:cNvPr id="21" name="TextBox 3"/>
            <p:cNvSpPr txBox="1"/>
            <p:nvPr/>
          </p:nvSpPr>
          <p:spPr>
            <a:xfrm>
              <a:off x="6569740" y="1450153"/>
              <a:ext cx="4753935" cy="323165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smtClean="0"/>
                <a:t>env-secret-pod03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env-secret-pod03</a:t>
              </a:r>
              <a:endParaRPr lang="en-US" altLang="ko-KR" sz="1200" dirty="0"/>
            </a:p>
            <a:p>
              <a:r>
                <a:rPr lang="en-US" altLang="ko-KR" sz="1200" dirty="0"/>
                <a:t>spec: 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/env_sample:v01</a:t>
              </a:r>
            </a:p>
            <a:p>
              <a:r>
                <a:rPr lang="en-US" altLang="ko-KR" sz="1200" dirty="0"/>
                <a:t>      name: test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volumeMounts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- 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secret-path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mountPath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/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home/secret  #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파일 생성 경로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volumes: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- </a:t>
              </a:r>
              <a:r>
                <a:rPr lang="en-US" altLang="ko-KR" sz="1200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secret-path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secret: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secretName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secret-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db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9-env_secret_file.yaml</a:t>
              </a: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6692215" y="749960"/>
            <a:ext cx="4753936" cy="1846659"/>
            <a:chOff x="6569739" y="1173154"/>
            <a:chExt cx="4753936" cy="1846659"/>
          </a:xfrm>
        </p:grpSpPr>
        <p:sp>
          <p:nvSpPr>
            <p:cNvPr id="29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secret-</a:t>
              </a:r>
              <a:r>
                <a:rPr lang="en-US" altLang="ko-KR" sz="1200" dirty="0" err="1"/>
                <a:t>db</a:t>
              </a:r>
              <a:endParaRPr lang="en-US" altLang="ko-KR" sz="1200" dirty="0"/>
            </a:p>
            <a:p>
              <a:r>
                <a:rPr lang="en-US" altLang="ko-KR" sz="1200" dirty="0" err="1"/>
                <a:t>stringData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secret-data: </a:t>
              </a:r>
              <a:r>
                <a:rPr lang="en-US" altLang="ko-KR" sz="1200" dirty="0"/>
                <a:t>|</a:t>
              </a:r>
            </a:p>
            <a:p>
              <a:r>
                <a:rPr lang="en-US" altLang="ko-KR" sz="1200" dirty="0"/>
                <a:t>    DB_NAME=sample</a:t>
              </a:r>
            </a:p>
            <a:p>
              <a:r>
                <a:rPr lang="en-US" altLang="ko-KR" sz="1200" dirty="0"/>
                <a:t>    DB_PASSWORD=password</a:t>
              </a:r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9-db_secret.yaml</a:t>
              </a: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6820989" y="1623964"/>
            <a:ext cx="1240445" cy="2153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/>
          <p:cNvCxnSpPr>
            <a:stCxn id="37" idx="3"/>
            <a:endCxn id="31" idx="1"/>
          </p:cNvCxnSpPr>
          <p:nvPr/>
        </p:nvCxnSpPr>
        <p:spPr>
          <a:xfrm flipV="1">
            <a:off x="3159947" y="1735605"/>
            <a:ext cx="3661042" cy="211062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932429" y="3457906"/>
            <a:ext cx="2227518" cy="77664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3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088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4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. Multi Container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27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Multi Container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[Multi Container]</a:t>
            </a:r>
            <a:r>
              <a:rPr lang="en-US" altLang="ko-KR" sz="1400" dirty="0" smtClean="0"/>
              <a:t> - 1</a:t>
            </a:r>
            <a:r>
              <a:rPr lang="ko-KR" altLang="en-US" sz="1400" dirty="0" smtClean="0"/>
              <a:t>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안에 주 컨테이너가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개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948102" y="1061699"/>
            <a:ext cx="4881526" cy="3323987"/>
            <a:chOff x="6569738" y="1173154"/>
            <a:chExt cx="4881526" cy="3323987"/>
          </a:xfrm>
        </p:grpSpPr>
        <p:sp>
          <p:nvSpPr>
            <p:cNvPr id="6" name="TextBox 3"/>
            <p:cNvSpPr txBox="1"/>
            <p:nvPr/>
          </p:nvSpPr>
          <p:spPr>
            <a:xfrm>
              <a:off x="6569740" y="1450153"/>
              <a:ext cx="4881524" cy="304698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multi-container-test  # Pod</a:t>
              </a:r>
              <a:r>
                <a:rPr lang="ko-KR" altLang="en-US" sz="1200" dirty="0"/>
                <a:t>의 이름 지정</a:t>
              </a:r>
            </a:p>
            <a:p>
              <a:r>
                <a:rPr lang="ko-KR" altLang="en-US" sz="1200" dirty="0"/>
                <a:t>  </a:t>
              </a:r>
              <a:r>
                <a:rPr lang="en-US" altLang="ko-KR" sz="1200" dirty="0"/>
                <a:t>labels:</a:t>
              </a:r>
            </a:p>
            <a:p>
              <a:r>
                <a:rPr lang="en-US" altLang="ko-KR" sz="1200" dirty="0"/>
                <a:t>    test: multi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nginx1  # </a:t>
              </a:r>
              <a:r>
                <a:rPr lang="ko-KR" altLang="en-US" sz="1200" dirty="0"/>
                <a:t>첫 번째 컨테이너</a:t>
              </a:r>
            </a:p>
            <a:p>
              <a:r>
                <a:rPr lang="ko-KR" altLang="en-US" sz="1200" dirty="0"/>
                <a:t>      </a:t>
              </a:r>
              <a:r>
                <a:rPr lang="en-US" altLang="ko-KR" sz="1200" dirty="0"/>
                <a:t>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smtClean="0"/>
                <a:t>nginx2 # </a:t>
              </a:r>
              <a:r>
                <a:rPr lang="ko-KR" altLang="en-US" sz="1200" dirty="0" smtClean="0"/>
                <a:t>두 번째 컨테이너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josunghwan</a:t>
              </a:r>
              <a:r>
                <a:rPr lang="en-US" altLang="ko-KR" sz="1200" dirty="0"/>
                <a:t>/nginx:v1</a:t>
              </a:r>
            </a:p>
            <a:p>
              <a:r>
                <a:rPr lang="en-US" altLang="ko-KR" sz="1200" dirty="0"/>
                <a:t>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8081</a:t>
              </a:r>
            </a:p>
          </p:txBody>
        </p:sp>
        <p:sp>
          <p:nvSpPr>
            <p:cNvPr id="7" name="TextBox 3"/>
            <p:cNvSpPr txBox="1"/>
            <p:nvPr/>
          </p:nvSpPr>
          <p:spPr>
            <a:xfrm>
              <a:off x="6569738" y="1173154"/>
              <a:ext cx="223132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1-multi-container.yaml</a:t>
              </a: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172200" y="1023227"/>
            <a:ext cx="4881526" cy="4247317"/>
            <a:chOff x="6569738" y="1173154"/>
            <a:chExt cx="4881526" cy="4247317"/>
          </a:xfrm>
        </p:grpSpPr>
        <p:sp>
          <p:nvSpPr>
            <p:cNvPr id="11" name="TextBox 3"/>
            <p:cNvSpPr txBox="1"/>
            <p:nvPr/>
          </p:nvSpPr>
          <p:spPr>
            <a:xfrm>
              <a:off x="6569740" y="1450153"/>
              <a:ext cx="4881524" cy="397031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Service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type: web-server</a:t>
              </a:r>
            </a:p>
            <a:p>
              <a:r>
                <a:rPr lang="en-US" altLang="ko-KR" sz="1200" dirty="0"/>
                <a:t>  name: multi-container-svc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internalTrafficPolicy</a:t>
              </a:r>
              <a:r>
                <a:rPr lang="en-US" altLang="ko-KR" sz="1200" dirty="0"/>
                <a:t>: Cluster</a:t>
              </a:r>
            </a:p>
            <a:p>
              <a:r>
                <a:rPr lang="en-US" altLang="ko-KR" sz="1200" dirty="0"/>
                <a:t>  ports:</a:t>
              </a:r>
            </a:p>
            <a:p>
              <a:r>
                <a:rPr lang="en-US" altLang="ko-KR" sz="1200" dirty="0"/>
                <a:t>  - port: 80</a:t>
              </a:r>
            </a:p>
            <a:p>
              <a:r>
                <a:rPr lang="en-US" altLang="ko-KR" sz="1200" dirty="0"/>
                <a:t>    protocol: TCP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targetPort</a:t>
              </a:r>
              <a:r>
                <a:rPr lang="en-US" altLang="ko-KR" sz="1200" dirty="0"/>
                <a:t>: 80</a:t>
              </a:r>
            </a:p>
            <a:p>
              <a:r>
                <a:rPr lang="en-US" altLang="ko-KR" sz="1200" dirty="0"/>
                <a:t>    name: nginx1</a:t>
              </a:r>
            </a:p>
            <a:p>
              <a:r>
                <a:rPr lang="en-US" altLang="ko-KR" sz="1200" dirty="0"/>
                <a:t>  - port: 8081</a:t>
              </a:r>
            </a:p>
            <a:p>
              <a:r>
                <a:rPr lang="en-US" altLang="ko-KR" sz="1200" dirty="0"/>
                <a:t>    protocol: TCP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targetPort</a:t>
              </a:r>
              <a:r>
                <a:rPr lang="en-US" altLang="ko-KR" sz="1200" dirty="0"/>
                <a:t>: 8081</a:t>
              </a:r>
            </a:p>
            <a:p>
              <a:r>
                <a:rPr lang="en-US" altLang="ko-KR" sz="1200" dirty="0"/>
                <a:t>    name: nginx2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test: multi</a:t>
              </a:r>
            </a:p>
            <a:p>
              <a:r>
                <a:rPr lang="en-US" altLang="ko-KR" sz="1200" dirty="0"/>
                <a:t>  type: </a:t>
              </a:r>
              <a:r>
                <a:rPr lang="en-US" altLang="ko-KR" sz="1200" dirty="0" err="1"/>
                <a:t>ClusterIP</a:t>
              </a:r>
              <a:endParaRPr lang="en-US" altLang="ko-KR" sz="1200" dirty="0"/>
            </a:p>
          </p:txBody>
        </p:sp>
        <p:sp>
          <p:nvSpPr>
            <p:cNvPr id="12" name="TextBox 3"/>
            <p:cNvSpPr txBox="1"/>
            <p:nvPr/>
          </p:nvSpPr>
          <p:spPr>
            <a:xfrm>
              <a:off x="6569738" y="1173154"/>
              <a:ext cx="223132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1-multi-container-svc.yaml</a:t>
              </a:r>
            </a:p>
          </p:txBody>
        </p:sp>
      </p:grpSp>
      <p:sp>
        <p:nvSpPr>
          <p:cNvPr id="13" name="TextBox 5"/>
          <p:cNvSpPr txBox="1"/>
          <p:nvPr/>
        </p:nvSpPr>
        <p:spPr>
          <a:xfrm>
            <a:off x="766763" y="5731899"/>
            <a:ext cx="1069340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1-multi-container.yaml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kubelct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1-multi-container-svc.yaml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5416108"/>
            <a:ext cx="5891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적용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7287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서비스 및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5" name="TextBox 5"/>
          <p:cNvSpPr txBox="1"/>
          <p:nvPr/>
        </p:nvSpPr>
        <p:spPr>
          <a:xfrm>
            <a:off x="939800" y="1023227"/>
            <a:ext cx="6843233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svc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            TYPE           CLUSTER-IP       EXTERNAL-IP     PORT(S)        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multi-container-svc     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ClusterIP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10.97.237.220    &lt;none&gt;          80/TCP,8081/TCP   1s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pods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                READY   STATUS    RESTARTS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multi-container-test              2/2       Running   </a:t>
            </a:r>
            <a:r>
              <a:rPr lang="en-US" altLang="ko-KR" sz="1200" dirty="0">
                <a:solidFill>
                  <a:schemeClr val="bg1"/>
                </a:solidFill>
              </a:rPr>
              <a:t>0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34m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200" y="2477046"/>
            <a:ext cx="1092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서비스 호출 확인</a:t>
            </a:r>
            <a:endParaRPr lang="en-US" altLang="ko-KR" sz="1400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80, 8081 </a:t>
            </a:r>
            <a:r>
              <a:rPr lang="ko-KR" altLang="en-US" sz="1200" dirty="0" smtClean="0"/>
              <a:t>서비스 호출 확인</a:t>
            </a:r>
            <a:endParaRPr lang="en-US" altLang="ko-KR" sz="1200" dirty="0"/>
          </a:p>
        </p:txBody>
      </p:sp>
      <p:sp>
        <p:nvSpPr>
          <p:cNvPr id="17" name="TextBox 5"/>
          <p:cNvSpPr txBox="1"/>
          <p:nvPr/>
        </p:nvSpPr>
        <p:spPr>
          <a:xfrm>
            <a:off x="939800" y="2969489"/>
            <a:ext cx="6843233" cy="212365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curl 10.97.237.220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&lt;h1&gt;Welcome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!&lt;/h1&gt;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&lt;p&gt;If you see this page, the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web server is successfully installed </a:t>
            </a:r>
            <a:r>
              <a:rPr lang="en-US" altLang="ko-KR" sz="1200" dirty="0" smtClean="0">
                <a:solidFill>
                  <a:schemeClr val="bg1"/>
                </a:solidFill>
              </a:rPr>
              <a:t>and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curl  10.97.237.220:8081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&lt;h1&gt;Welcome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!&lt;/h1&gt;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&lt;p&gt;If you see this page, the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web server is successfully installed and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909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[Sidecar Container]</a:t>
            </a:r>
            <a:r>
              <a:rPr lang="en-US" altLang="ko-KR" sz="1400" dirty="0" smtClean="0"/>
              <a:t> - </a:t>
            </a:r>
            <a:r>
              <a:rPr lang="ko-KR" altLang="en-US" sz="1400" dirty="0"/>
              <a:t>주</a:t>
            </a:r>
            <a:r>
              <a:rPr lang="en-US" altLang="ko-KR" sz="1400" dirty="0"/>
              <a:t> </a:t>
            </a:r>
            <a:r>
              <a:rPr lang="ko-KR" altLang="en-US" sz="1400" dirty="0"/>
              <a:t>컨테이너 로그 </a:t>
            </a:r>
            <a:r>
              <a:rPr lang="ko-KR" altLang="en-US" sz="1400" dirty="0" smtClean="0"/>
              <a:t>수집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1674" y="1046994"/>
            <a:ext cx="4881526" cy="4431983"/>
            <a:chOff x="6569738" y="1173154"/>
            <a:chExt cx="4881526" cy="4431983"/>
          </a:xfrm>
        </p:grpSpPr>
        <p:sp>
          <p:nvSpPr>
            <p:cNvPr id="6" name="TextBox 3"/>
            <p:cNvSpPr txBox="1"/>
            <p:nvPr/>
          </p:nvSpPr>
          <p:spPr>
            <a:xfrm>
              <a:off x="6569740" y="1450153"/>
              <a:ext cx="4881524" cy="415498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sidecar-container-pod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ports: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shared-logs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</a:t>
              </a:r>
              <a:r>
                <a:rPr lang="en-US" altLang="ko-KR" sz="1200" dirty="0" err="1"/>
                <a:t>var</a:t>
              </a:r>
              <a:r>
                <a:rPr lang="en-US" altLang="ko-KR" sz="1200" dirty="0"/>
                <a:t>/log/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- name: sidecar-logger</a:t>
              </a:r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command: ["</a:t>
              </a:r>
              <a:r>
                <a:rPr lang="en-US" altLang="ko-KR" sz="1200" dirty="0" err="1"/>
                <a:t>sh</a:t>
              </a:r>
              <a:r>
                <a:rPr lang="en-US" altLang="ko-KR" sz="1200" dirty="0"/>
                <a:t>", "-c", "tail -f /</a:t>
              </a:r>
              <a:r>
                <a:rPr lang="en-US" altLang="ko-KR" sz="1200" dirty="0" err="1"/>
                <a:t>var</a:t>
              </a:r>
              <a:r>
                <a:rPr lang="en-US" altLang="ko-KR" sz="1200" dirty="0"/>
                <a:t>/log/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/access.log"]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shared-logs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</a:t>
              </a:r>
              <a:r>
                <a:rPr lang="en-US" altLang="ko-KR" sz="1200" dirty="0" err="1"/>
                <a:t>var</a:t>
              </a:r>
              <a:r>
                <a:rPr lang="en-US" altLang="ko-KR" sz="1200" dirty="0"/>
                <a:t>/log/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volumes:</a:t>
              </a:r>
            </a:p>
            <a:p>
              <a:r>
                <a:rPr lang="en-US" altLang="ko-KR" sz="1200" dirty="0"/>
                <a:t>  - name: shared-logs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emptyDir</a:t>
              </a:r>
              <a:r>
                <a:rPr lang="en-US" altLang="ko-KR" sz="1200" dirty="0"/>
                <a:t>: {}</a:t>
              </a:r>
            </a:p>
          </p:txBody>
        </p:sp>
        <p:sp>
          <p:nvSpPr>
            <p:cNvPr id="7" name="TextBox 3"/>
            <p:cNvSpPr txBox="1"/>
            <p:nvPr/>
          </p:nvSpPr>
          <p:spPr>
            <a:xfrm>
              <a:off x="6569738" y="1173154"/>
              <a:ext cx="223132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2-sidecar-container.yaml</a:t>
              </a:r>
            </a:p>
          </p:txBody>
        </p:sp>
      </p:grpSp>
      <p:sp>
        <p:nvSpPr>
          <p:cNvPr id="13" name="TextBox 5"/>
          <p:cNvSpPr txBox="1"/>
          <p:nvPr/>
        </p:nvSpPr>
        <p:spPr>
          <a:xfrm>
            <a:off x="939800" y="1323993"/>
            <a:ext cx="565238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</a:t>
            </a:r>
            <a:r>
              <a:rPr lang="en-US" altLang="ko-KR" sz="1200" dirty="0">
                <a:solidFill>
                  <a:schemeClr val="bg1"/>
                </a:solidFill>
              </a:rPr>
              <a:t>2-sidecar-container.yaml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1655537"/>
            <a:ext cx="588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6" name="TextBox 5"/>
          <p:cNvSpPr txBox="1"/>
          <p:nvPr/>
        </p:nvSpPr>
        <p:spPr>
          <a:xfrm>
            <a:off x="939800" y="1953739"/>
            <a:ext cx="565238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-o wide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READY   </a:t>
            </a:r>
            <a:r>
              <a:rPr lang="en-US" altLang="ko-KR" sz="1200" dirty="0">
                <a:solidFill>
                  <a:schemeClr val="bg1"/>
                </a:solidFill>
              </a:rPr>
              <a:t>STATUS    RESTARTS   </a:t>
            </a:r>
            <a:r>
              <a:rPr lang="en-US" altLang="ko-KR" sz="1200" dirty="0" smtClean="0">
                <a:solidFill>
                  <a:schemeClr val="bg1"/>
                </a:solidFill>
              </a:rPr>
              <a:t>AGE    IP…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sidecar-container-pod     </a:t>
            </a:r>
            <a:r>
              <a:rPr lang="en-US" altLang="ko-KR" sz="1200" dirty="0" smtClean="0">
                <a:solidFill>
                  <a:schemeClr val="bg1"/>
                </a:solidFill>
              </a:rPr>
              <a:t>2/2       Running   </a:t>
            </a:r>
            <a:r>
              <a:rPr lang="en-US" altLang="ko-KR" sz="1200" dirty="0">
                <a:solidFill>
                  <a:schemeClr val="bg1"/>
                </a:solidFill>
              </a:rPr>
              <a:t>0             15m </a:t>
            </a:r>
            <a:r>
              <a:rPr lang="en-US" altLang="ko-KR" sz="1200" dirty="0" smtClean="0">
                <a:solidFill>
                  <a:schemeClr val="bg1"/>
                </a:solidFill>
              </a:rPr>
              <a:t>    10.244.0.80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200" y="2637694"/>
            <a:ext cx="588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Nginx </a:t>
            </a:r>
            <a:r>
              <a:rPr lang="ko-KR" altLang="en-US" sz="1400" dirty="0" smtClean="0"/>
              <a:t>서비스 호출</a:t>
            </a:r>
            <a:endParaRPr lang="en-US" altLang="ko-KR" sz="1200" dirty="0"/>
          </a:p>
        </p:txBody>
      </p:sp>
      <p:sp>
        <p:nvSpPr>
          <p:cNvPr id="18" name="TextBox 5"/>
          <p:cNvSpPr txBox="1"/>
          <p:nvPr/>
        </p:nvSpPr>
        <p:spPr>
          <a:xfrm>
            <a:off x="939800" y="2935896"/>
            <a:ext cx="5652386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>
                <a:solidFill>
                  <a:schemeClr val="bg1"/>
                </a:solidFill>
              </a:rPr>
              <a:t>curl </a:t>
            </a:r>
            <a:r>
              <a:rPr lang="en-US" altLang="ko-KR" sz="1200" dirty="0" smtClean="0">
                <a:solidFill>
                  <a:schemeClr val="bg1"/>
                </a:solidFill>
              </a:rPr>
              <a:t>10.244.0.80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&lt;h1&gt;Welcome to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!&lt;/h1&gt;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&lt;p&gt;If you see this page, the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 web server is successfully installed and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200" y="4000969"/>
            <a:ext cx="5880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로그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수집 컨테이너 로그 확인</a:t>
            </a:r>
            <a:endParaRPr lang="en-US" altLang="ko-KR" sz="1200" dirty="0"/>
          </a:p>
        </p:txBody>
      </p:sp>
      <p:sp>
        <p:nvSpPr>
          <p:cNvPr id="20" name="TextBox 5"/>
          <p:cNvSpPr txBox="1"/>
          <p:nvPr/>
        </p:nvSpPr>
        <p:spPr>
          <a:xfrm>
            <a:off x="939800" y="4299171"/>
            <a:ext cx="5652386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logs sidecar-container-pod -c sidecar-logger -f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192.168.53.21 - - [27/Feb/2025:00:51:32 +0000] "GET / HTTP/1.1" 200 615 "-" "curl/7.81.0" "-"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192.168.53.21 - - [27/Feb/2025:00:51:32 +0000] "GET / HTTP/1.1" 200 615 "-" "curl/7.81.0" "-"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192.168.53.21 - - [27/Feb/2025:00:51:33 +0000] "GET / HTTP/1.1" 200 615 "-" "curl/7.81.0" "-"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192.168.53.21 - - [27/Feb/2025:00:51:33 +0000] "GET / HTTP/1.1" 200 615 "-" "curl/7.81.0" "-"</a:t>
            </a:r>
          </a:p>
        </p:txBody>
      </p:sp>
    </p:spTree>
    <p:extLst>
      <p:ext uri="{BB962C8B-B14F-4D97-AF65-F5344CB8AC3E}">
        <p14:creationId xmlns:p14="http://schemas.microsoft.com/office/powerpoint/2010/main" val="371316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en-US" altLang="ko-KR" sz="1400" b="1" dirty="0" err="1" smtClean="0"/>
              <a:t>Init</a:t>
            </a:r>
            <a:r>
              <a:rPr lang="en-US" altLang="ko-KR" sz="1400" b="1" dirty="0" smtClean="0"/>
              <a:t> Container]</a:t>
            </a:r>
            <a:r>
              <a:rPr lang="en-US" altLang="ko-KR" sz="1400" dirty="0" smtClean="0"/>
              <a:t> – Pod </a:t>
            </a:r>
            <a:r>
              <a:rPr lang="ko-KR" altLang="en-US" sz="1400" dirty="0" smtClean="0"/>
              <a:t>환경 </a:t>
            </a:r>
            <a:r>
              <a:rPr lang="ko-KR" altLang="en-US" sz="1400" dirty="0" err="1" smtClean="0"/>
              <a:t>셋팅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WebtoB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환경 파일 </a:t>
            </a:r>
            <a:r>
              <a:rPr lang="en-US" altLang="ko-KR" sz="1400" dirty="0" err="1" smtClean="0"/>
              <a:t>http.m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Object</a:t>
            </a:r>
            <a:r>
              <a:rPr lang="ko-KR" altLang="en-US" sz="1400" dirty="0" smtClean="0"/>
              <a:t>로 생성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1674" y="1046994"/>
            <a:ext cx="4881526" cy="3877985"/>
            <a:chOff x="6569738" y="1173154"/>
            <a:chExt cx="4881526" cy="3877985"/>
          </a:xfrm>
        </p:grpSpPr>
        <p:sp>
          <p:nvSpPr>
            <p:cNvPr id="6" name="TextBox 3"/>
            <p:cNvSpPr txBox="1"/>
            <p:nvPr/>
          </p:nvSpPr>
          <p:spPr>
            <a:xfrm>
              <a:off x="6569740" y="1450153"/>
              <a:ext cx="4881524" cy="360098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cm-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oltp</a:t>
              </a:r>
              <a:endParaRPr lang="en-US" altLang="ko-KR" sz="1200" dirty="0"/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addonmanager.kubernetes.io/mode: Reconcile</a:t>
              </a:r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: |-</a:t>
              </a:r>
            </a:p>
            <a:p>
              <a:r>
                <a:rPr lang="en-US" altLang="ko-KR" sz="1200" dirty="0"/>
                <a:t>    *DOMAIN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endParaRPr lang="en-US" altLang="ko-KR" sz="1200" dirty="0"/>
            </a:p>
            <a:p>
              <a:r>
                <a:rPr lang="en-US" altLang="ko-KR" sz="1200" dirty="0"/>
                <a:t>    *NODE</a:t>
              </a:r>
            </a:p>
            <a:p>
              <a:r>
                <a:rPr lang="en-US" altLang="ko-KR" sz="1200" dirty="0"/>
                <a:t>    webtob1</a:t>
              </a:r>
            </a:p>
            <a:p>
              <a:r>
                <a:rPr lang="en-US" altLang="ko-KR" sz="1200" dirty="0"/>
                <a:t>          </a:t>
              </a:r>
              <a:r>
                <a:rPr lang="en-US" altLang="ko-KR" sz="1200" dirty="0" err="1"/>
                <a:t>WebtobDir</a:t>
              </a:r>
              <a:r>
                <a:rPr lang="en-US" altLang="ko-KR" sz="1200" dirty="0"/>
                <a:t>="/home/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",</a:t>
              </a:r>
            </a:p>
            <a:p>
              <a:r>
                <a:rPr lang="en-US" altLang="ko-KR" sz="1200" dirty="0"/>
                <a:t>          SHMKEY = 54000,</a:t>
              </a:r>
            </a:p>
            <a:p>
              <a:r>
                <a:rPr lang="en-US" altLang="ko-KR" sz="1200" dirty="0"/>
                <a:t>          </a:t>
              </a:r>
              <a:r>
                <a:rPr lang="en-US" altLang="ko-KR" sz="1200" dirty="0" err="1"/>
                <a:t>DocRoot</a:t>
              </a:r>
              <a:r>
                <a:rPr lang="en-US" altLang="ko-KR" sz="1200" dirty="0"/>
                <a:t>="/home/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",</a:t>
              </a:r>
            </a:p>
            <a:p>
              <a:r>
                <a:rPr lang="en-US" altLang="ko-KR" sz="1200" dirty="0"/>
                <a:t>          Port = "6060</a:t>
              </a:r>
              <a:r>
                <a:rPr lang="en-US" altLang="ko-KR" sz="1200" dirty="0" smtClean="0"/>
                <a:t>",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7" name="TextBox 3"/>
            <p:cNvSpPr txBox="1"/>
            <p:nvPr/>
          </p:nvSpPr>
          <p:spPr>
            <a:xfrm>
              <a:off x="6569738" y="1173154"/>
              <a:ext cx="223132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3-cm-webtob.yaml</a:t>
              </a:r>
            </a:p>
          </p:txBody>
        </p:sp>
      </p:grpSp>
      <p:sp>
        <p:nvSpPr>
          <p:cNvPr id="13" name="TextBox 5"/>
          <p:cNvSpPr txBox="1"/>
          <p:nvPr/>
        </p:nvSpPr>
        <p:spPr>
          <a:xfrm>
            <a:off x="939800" y="1323993"/>
            <a:ext cx="565238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3-cm-webtob.yaml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166779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 확인</a:t>
            </a:r>
            <a:endParaRPr lang="en-US" altLang="ko-KR" sz="1200" dirty="0"/>
          </a:p>
        </p:txBody>
      </p:sp>
      <p:sp>
        <p:nvSpPr>
          <p:cNvPr id="21" name="TextBox 5"/>
          <p:cNvSpPr txBox="1"/>
          <p:nvPr/>
        </p:nvSpPr>
        <p:spPr>
          <a:xfrm>
            <a:off x="939800" y="1975571"/>
            <a:ext cx="565238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configmap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   DATA   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cm-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          2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170m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1200" y="715450"/>
            <a:ext cx="1092200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en-US" altLang="ko-KR" sz="1400" b="1" dirty="0" err="1" smtClean="0"/>
              <a:t>Init</a:t>
            </a:r>
            <a:r>
              <a:rPr lang="en-US" altLang="ko-KR" sz="1400" b="1" dirty="0" smtClean="0"/>
              <a:t> Container]</a:t>
            </a:r>
            <a:r>
              <a:rPr lang="en-US" altLang="ko-KR" sz="1400" dirty="0" smtClean="0"/>
              <a:t> – Pod </a:t>
            </a:r>
            <a:r>
              <a:rPr lang="ko-KR" altLang="en-US" sz="1400" dirty="0" smtClean="0"/>
              <a:t>환경 </a:t>
            </a:r>
            <a:r>
              <a:rPr lang="ko-KR" altLang="en-US" sz="1400" dirty="0" err="1" smtClean="0"/>
              <a:t>셋팅</a:t>
            </a:r>
            <a:endParaRPr lang="en-US" altLang="ko-KR" sz="16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InitContainer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활용 하여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네 </a:t>
            </a:r>
            <a:r>
              <a:rPr lang="en-US" altLang="ko-KR" sz="1400" dirty="0" err="1" smtClean="0"/>
              <a:t>WebtoB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환경 파일 설정</a:t>
            </a:r>
            <a:endParaRPr lang="en-US" altLang="ko-KR" sz="1200" dirty="0"/>
          </a:p>
        </p:txBody>
      </p:sp>
      <p:grpSp>
        <p:nvGrpSpPr>
          <p:cNvPr id="5" name="그룹 4"/>
          <p:cNvGrpSpPr/>
          <p:nvPr/>
        </p:nvGrpSpPr>
        <p:grpSpPr>
          <a:xfrm>
            <a:off x="6751674" y="1046994"/>
            <a:ext cx="4881526" cy="4801314"/>
            <a:chOff x="6569738" y="1173154"/>
            <a:chExt cx="4881526" cy="4801314"/>
          </a:xfrm>
        </p:grpSpPr>
        <p:sp>
          <p:nvSpPr>
            <p:cNvPr id="6" name="TextBox 3"/>
            <p:cNvSpPr txBox="1"/>
            <p:nvPr/>
          </p:nvSpPr>
          <p:spPr>
            <a:xfrm>
              <a:off x="6569740" y="1450153"/>
              <a:ext cx="4881524" cy="452431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securityContext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runAsUser</a:t>
              </a:r>
              <a:r>
                <a:rPr lang="en-US" altLang="ko-KR" sz="1200" dirty="0"/>
                <a:t>: 0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fsGroup</a:t>
              </a:r>
              <a:r>
                <a:rPr lang="en-US" altLang="ko-KR" sz="1200" dirty="0"/>
                <a:t>: 0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initContainers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busybox</a:t>
              </a:r>
              <a:endParaRPr lang="en-US" altLang="ko-KR" sz="1200" dirty="0"/>
            </a:p>
            <a:p>
              <a:r>
                <a:rPr lang="en-US" altLang="ko-KR" sz="1200" dirty="0"/>
                <a:t>    command: ["bin/</a:t>
              </a:r>
              <a:r>
                <a:rPr lang="en-US" altLang="ko-KR" sz="1200" dirty="0" err="1"/>
                <a:t>sh</a:t>
              </a:r>
              <a:r>
                <a:rPr lang="en-US" altLang="ko-KR" sz="1200" dirty="0"/>
                <a:t>", "-c"]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args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cp</a:t>
              </a:r>
              <a:r>
                <a:rPr lang="en-US" altLang="ko-KR" sz="1200" dirty="0"/>
                <a:t> /data/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;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cp</a:t>
              </a:r>
              <a:r>
                <a:rPr lang="en-US" altLang="ko-KR" sz="1200" dirty="0"/>
                <a:t> /data/</a:t>
              </a:r>
              <a:r>
                <a:rPr lang="en-US" altLang="ko-KR" sz="1200" dirty="0" err="1"/>
                <a:t>mime.types</a:t>
              </a:r>
              <a:r>
                <a:rPr lang="en-US" altLang="ko-KR" sz="1200" dirty="0"/>
                <a:t>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mime.types</a:t>
              </a:r>
              <a:r>
                <a:rPr lang="en-US" altLang="ko-KR" sz="1200" dirty="0"/>
                <a:t>;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-path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webtob-config</a:t>
              </a:r>
              <a:endParaRPr lang="en-US" altLang="ko-KR" sz="1200" dirty="0"/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/data</a:t>
              </a:r>
            </a:p>
            <a:p>
              <a:endParaRPr lang="en-US" altLang="ko-KR" sz="1200" dirty="0" smtClean="0"/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7" name="TextBox 3"/>
            <p:cNvSpPr txBox="1"/>
            <p:nvPr/>
          </p:nvSpPr>
          <p:spPr>
            <a:xfrm>
              <a:off x="6569738" y="1173154"/>
              <a:ext cx="223132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3-init-container.yaml</a:t>
              </a:r>
            </a:p>
          </p:txBody>
        </p:sp>
      </p:grpSp>
      <p:sp>
        <p:nvSpPr>
          <p:cNvPr id="13" name="TextBox 5"/>
          <p:cNvSpPr txBox="1"/>
          <p:nvPr/>
        </p:nvSpPr>
        <p:spPr>
          <a:xfrm>
            <a:off x="939800" y="1323993"/>
            <a:ext cx="565238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-f 3-init-container.yaml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200" y="166779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생성한 </a:t>
            </a:r>
            <a:r>
              <a:rPr lang="en-US" altLang="ko-KR" sz="1400" dirty="0" err="1" smtClean="0"/>
              <a:t>http.m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파일이 </a:t>
            </a:r>
            <a:r>
              <a:rPr lang="en-US" altLang="ko-KR" sz="1400" dirty="0" err="1" smtClean="0"/>
              <a:t>WebtoB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Config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경로에 올라 갔는지 확인</a:t>
            </a:r>
            <a:endParaRPr lang="en-US" altLang="ko-KR" sz="1200" dirty="0"/>
          </a:p>
        </p:txBody>
      </p:sp>
      <p:sp>
        <p:nvSpPr>
          <p:cNvPr id="21" name="TextBox 5"/>
          <p:cNvSpPr txBox="1"/>
          <p:nvPr/>
        </p:nvSpPr>
        <p:spPr>
          <a:xfrm>
            <a:off x="939800" y="1975571"/>
            <a:ext cx="5652386" cy="39703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exec -it 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 -- cat /</a:t>
            </a:r>
            <a:r>
              <a:rPr lang="en-US" altLang="ko-KR" sz="1200" dirty="0" smtClean="0">
                <a:solidFill>
                  <a:schemeClr val="bg1"/>
                </a:solidFill>
              </a:rPr>
              <a:t>home/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webtob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http.m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*DOMAIN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endParaRPr lang="en-US" altLang="ko-KR" sz="1200" dirty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*NODE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webtob1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WebtobDir</a:t>
            </a:r>
            <a:r>
              <a:rPr lang="en-US" altLang="ko-KR" sz="1200" dirty="0">
                <a:solidFill>
                  <a:schemeClr val="bg1"/>
                </a:solidFill>
              </a:rPr>
              <a:t>="/home/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SHMKEY = 54000,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DocRoot</a:t>
            </a:r>
            <a:r>
              <a:rPr lang="en-US" altLang="ko-KR" sz="1200" dirty="0">
                <a:solidFill>
                  <a:schemeClr val="bg1"/>
                </a:solidFill>
              </a:rPr>
              <a:t>="/home/</a:t>
            </a:r>
            <a:r>
              <a:rPr lang="en-US" altLang="ko-KR" sz="1200" dirty="0" err="1">
                <a:solidFill>
                  <a:schemeClr val="bg1"/>
                </a:solidFill>
              </a:rPr>
              <a:t>webtob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Port = "6060",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Hth</a:t>
            </a:r>
            <a:r>
              <a:rPr lang="en-US" altLang="ko-KR" sz="1200" dirty="0">
                <a:solidFill>
                  <a:schemeClr val="bg1"/>
                </a:solidFill>
              </a:rPr>
              <a:t> = 1,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NODENAME = "$(NODENAME)",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ERRORDOCUMENT = "503",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# Options="IgnoreExpect100Continue",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# JSVPORT = 9900,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LOGGING = "</a:t>
            </a:r>
            <a:r>
              <a:rPr lang="en-US" altLang="ko-KR" sz="1200" dirty="0" err="1">
                <a:solidFill>
                  <a:schemeClr val="bg1"/>
                </a:solidFill>
              </a:rPr>
              <a:t>log_access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ERRORLOG = "</a:t>
            </a:r>
            <a:r>
              <a:rPr lang="en-US" altLang="ko-KR" sz="1200" dirty="0" err="1">
                <a:solidFill>
                  <a:schemeClr val="bg1"/>
                </a:solidFill>
              </a:rPr>
              <a:t>log_error</a:t>
            </a:r>
            <a:r>
              <a:rPr lang="en-US" altLang="ko-KR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SYSLOG = "syslog",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ServiceOrder</a:t>
            </a:r>
            <a:r>
              <a:rPr lang="en-US" altLang="ko-KR" sz="1200" dirty="0">
                <a:solidFill>
                  <a:schemeClr val="bg1"/>
                </a:solidFill>
              </a:rPr>
              <a:t> = "</a:t>
            </a:r>
            <a:r>
              <a:rPr lang="en-US" altLang="ko-KR" sz="1200" dirty="0" err="1">
                <a:solidFill>
                  <a:schemeClr val="bg1"/>
                </a:solidFill>
              </a:rPr>
              <a:t>ext,uri</a:t>
            </a:r>
            <a:r>
              <a:rPr lang="en-US" altLang="ko-KR" sz="12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546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29974</TotalTime>
  <Words>2635</Words>
  <Application>Microsoft Office PowerPoint</Application>
  <PresentationFormat>와이드스크린</PresentationFormat>
  <Paragraphs>679</Paragraphs>
  <Slides>26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470</cp:revision>
  <dcterms:created xsi:type="dcterms:W3CDTF">2022-09-15T01:21:24Z</dcterms:created>
  <dcterms:modified xsi:type="dcterms:W3CDTF">2025-03-05T01:27:52Z</dcterms:modified>
</cp:coreProperties>
</file>