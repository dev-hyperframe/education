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0" r:id="rId2"/>
    <p:sldId id="417" r:id="rId3"/>
    <p:sldId id="414" r:id="rId4"/>
    <p:sldId id="395" r:id="rId5"/>
    <p:sldId id="378" r:id="rId6"/>
    <p:sldId id="380" r:id="rId7"/>
    <p:sldId id="381" r:id="rId8"/>
    <p:sldId id="383" r:id="rId9"/>
    <p:sldId id="384" r:id="rId10"/>
    <p:sldId id="415" r:id="rId11"/>
    <p:sldId id="400" r:id="rId12"/>
    <p:sldId id="386" r:id="rId13"/>
    <p:sldId id="401" r:id="rId14"/>
    <p:sldId id="411" r:id="rId15"/>
    <p:sldId id="403" r:id="rId16"/>
    <p:sldId id="412" r:id="rId17"/>
    <p:sldId id="405" r:id="rId18"/>
    <p:sldId id="416" r:id="rId19"/>
    <p:sldId id="390" r:id="rId20"/>
    <p:sldId id="391" r:id="rId21"/>
    <p:sldId id="406" r:id="rId22"/>
    <p:sldId id="413" r:id="rId23"/>
    <p:sldId id="408" r:id="rId24"/>
    <p:sldId id="396" r:id="rId25"/>
    <p:sldId id="398" r:id="rId26"/>
    <p:sldId id="410" r:id="rId27"/>
    <p:sldId id="409" r:id="rId28"/>
    <p:sldId id="308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417"/>
            <p14:sldId id="414"/>
            <p14:sldId id="395"/>
            <p14:sldId id="378"/>
            <p14:sldId id="380"/>
            <p14:sldId id="381"/>
            <p14:sldId id="383"/>
            <p14:sldId id="384"/>
            <p14:sldId id="415"/>
            <p14:sldId id="400"/>
            <p14:sldId id="386"/>
            <p14:sldId id="401"/>
            <p14:sldId id="411"/>
            <p14:sldId id="403"/>
            <p14:sldId id="412"/>
            <p14:sldId id="405"/>
            <p14:sldId id="416"/>
            <p14:sldId id="390"/>
            <p14:sldId id="391"/>
            <p14:sldId id="406"/>
            <p14:sldId id="413"/>
            <p14:sldId id="408"/>
            <p14:sldId id="396"/>
            <p14:sldId id="398"/>
            <p14:sldId id="410"/>
            <p14:sldId id="409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7333" userDrawn="1">
          <p15:clr>
            <a:srgbClr val="A4A3A4"/>
          </p15:clr>
        </p15:guide>
        <p15:guide id="3" pos="483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6EF"/>
    <a:srgbClr val="7D9EBB"/>
    <a:srgbClr val="171C2C"/>
    <a:srgbClr val="0232AE"/>
    <a:srgbClr val="BACDFE"/>
    <a:srgbClr val="333333"/>
    <a:srgbClr val="95BCF0"/>
    <a:srgbClr val="09E6E1"/>
    <a:srgbClr val="12F6F6"/>
    <a:srgbClr val="10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9" autoAdjust="0"/>
    <p:restoredTop sz="85229" autoAdjust="0"/>
  </p:normalViewPr>
  <p:slideViewPr>
    <p:cSldViewPr snapToGrid="0">
      <p:cViewPr varScale="1">
        <p:scale>
          <a:sx n="97" d="100"/>
          <a:sy n="97" d="100"/>
        </p:scale>
        <p:origin x="1170" y="90"/>
      </p:cViewPr>
      <p:guideLst>
        <p:guide orient="horz" pos="414"/>
        <p:guide pos="7333"/>
        <p:guide pos="48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15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758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637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en-US" altLang="ko-KR" dirty="0" smtClean="0"/>
              <a:t>Pod </a:t>
            </a:r>
            <a:r>
              <a:rPr lang="ko-KR" altLang="en-US" dirty="0" smtClean="0"/>
              <a:t>생성시 </a:t>
            </a:r>
            <a:r>
              <a:rPr lang="en-US" altLang="ko-KR" dirty="0" smtClean="0"/>
              <a:t>default</a:t>
            </a:r>
            <a:r>
              <a:rPr lang="ko-KR" altLang="en-US" dirty="0" smtClean="0"/>
              <a:t>로 </a:t>
            </a:r>
            <a:r>
              <a:rPr lang="en-US" altLang="ko-KR" dirty="0" err="1" smtClean="0"/>
              <a:t>docker</a:t>
            </a:r>
            <a:r>
              <a:rPr lang="en-US" altLang="ko-KR" dirty="0" smtClean="0"/>
              <a:t> hub</a:t>
            </a:r>
            <a:r>
              <a:rPr lang="ko-KR" altLang="en-US" dirty="0" smtClean="0"/>
              <a:t>에 있는 이미지를 가지고 생성한다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183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238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674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266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562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839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279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82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48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71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695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347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855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772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 err="1" smtClean="0"/>
              <a:t>자원분리</a:t>
            </a:r>
            <a:endParaRPr lang="en-US" altLang="ko-KR" baseline="0" dirty="0" smtClean="0"/>
          </a:p>
          <a:p>
            <a:r>
              <a:rPr lang="ko-KR" altLang="en-US" baseline="0" dirty="0" smtClean="0"/>
              <a:t>개발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테스트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운영 </a:t>
            </a:r>
            <a:r>
              <a:rPr lang="ko-KR" altLang="en-US" baseline="0" dirty="0" err="1" smtClean="0"/>
              <a:t>환경별로</a:t>
            </a:r>
            <a:r>
              <a:rPr lang="ko-KR" altLang="en-US" baseline="0" dirty="0" smtClean="0"/>
              <a:t> 분리하여 환경 관리 가능하다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RBAC Role Based Access Control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439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034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744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smtClean="0"/>
              <a:t>HPA </a:t>
            </a:r>
            <a:r>
              <a:rPr lang="ko-KR" altLang="en-US" baseline="0" dirty="0" smtClean="0"/>
              <a:t>사용시 충돌 가능성이 있기 때문에 </a:t>
            </a:r>
            <a:r>
              <a:rPr lang="en-US" altLang="ko-KR" baseline="0" dirty="0" smtClean="0"/>
              <a:t>HPA</a:t>
            </a:r>
            <a:r>
              <a:rPr lang="ko-KR" altLang="en-US" baseline="0" dirty="0" smtClean="0"/>
              <a:t>를 사용하는 경우에는 </a:t>
            </a:r>
            <a:r>
              <a:rPr lang="en-US" altLang="ko-KR" baseline="0" dirty="0" err="1" smtClean="0"/>
              <a:t>LimitRange</a:t>
            </a:r>
            <a:r>
              <a:rPr lang="ko-KR" altLang="en-US" baseline="0" dirty="0" smtClean="0"/>
              <a:t>를 따로 설정하지 않는다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895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798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612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632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7194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baseline="0" dirty="0" err="1" smtClean="0"/>
              <a:t>ㅇ</a:t>
            </a:r>
            <a:r>
              <a:rPr lang="ko-KR" altLang="en-US" baseline="0" dirty="0" smtClean="0"/>
              <a:t> 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-proxy </a:t>
            </a:r>
            <a:r>
              <a:rPr lang="ko-KR" altLang="en-US" baseline="0" dirty="0" smtClean="0"/>
              <a:t>참고 </a:t>
            </a:r>
            <a:r>
              <a:rPr lang="en-US" altLang="ko-KR" baseline="0" dirty="0" smtClean="0"/>
              <a:t>URL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baseline="0" dirty="0" smtClean="0"/>
              <a:t>  - https://kubernetes.io/docs/reference/generated/kubectl/kubectl-commands#proxy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27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10.244.0.112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2025.02.25.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ko-KR" altLang="en-US" sz="6000" b="1" dirty="0" err="1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실</a:t>
            </a:r>
            <a:r>
              <a:rPr lang="ko-KR" alt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습자료</a:t>
            </a:r>
            <a:r>
              <a:rPr lang="en-US" altLang="ko-KR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 01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실습 자료 참고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URL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</a:t>
            </a:r>
          </a:p>
          <a:p>
            <a:pPr marL="180000">
              <a:spcBef>
                <a:spcPts val="600"/>
              </a:spcBef>
            </a:pPr>
            <a:r>
              <a:rPr lang="en-US" altLang="ko-KR" sz="1200" dirty="0"/>
              <a:t>https://</a:t>
            </a:r>
            <a:r>
              <a:rPr lang="en-US" altLang="ko-KR" sz="1200" dirty="0" smtClean="0"/>
              <a:t>github.com/Dev-HyperFrame/education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 다운로드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963561" y="1592614"/>
            <a:ext cx="106045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git</a:t>
            </a:r>
            <a:r>
              <a:rPr lang="en-US" altLang="ko-KR" sz="1200" dirty="0">
                <a:solidFill>
                  <a:schemeClr val="bg1"/>
                </a:solidFill>
              </a:rPr>
              <a:t> clone https://github.com/Dev-HyperFrame/education.git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763" y="19692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Docker hub URL</a:t>
            </a:r>
          </a:p>
          <a:p>
            <a:r>
              <a:rPr lang="en-US" altLang="ko-KR" sz="1400" b="1" dirty="0" smtClean="0"/>
              <a:t>   </a:t>
            </a:r>
            <a:r>
              <a:rPr lang="en-US" altLang="ko-KR" sz="1200" dirty="0"/>
              <a:t>https://</a:t>
            </a:r>
            <a:r>
              <a:rPr lang="en-US" altLang="ko-KR" sz="1200" dirty="0" smtClean="0"/>
              <a:t>hub.docker.com/repositories/josunghwan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22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Pod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44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Pod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생성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[</a:t>
            </a:r>
            <a:r>
              <a:rPr lang="ko-KR" altLang="en-US" sz="1400" dirty="0" smtClean="0"/>
              <a:t>방법 </a:t>
            </a:r>
            <a:r>
              <a:rPr lang="en-US" altLang="ko-KR" sz="1400" dirty="0" smtClean="0"/>
              <a:t>1.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이용한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</a:t>
            </a:r>
            <a:r>
              <a:rPr lang="en-US" altLang="ko-KR" sz="1400" dirty="0" smtClean="0"/>
              <a:t>]</a:t>
            </a:r>
          </a:p>
        </p:txBody>
      </p:sp>
      <p:sp>
        <p:nvSpPr>
          <p:cNvPr id="16" name="TextBox 3"/>
          <p:cNvSpPr txBox="1"/>
          <p:nvPr/>
        </p:nvSpPr>
        <p:spPr>
          <a:xfrm>
            <a:off x="753029" y="1393931"/>
            <a:ext cx="10838341" cy="2123658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 err="1" smtClean="0"/>
              <a:t>apiVersion</a:t>
            </a:r>
            <a:r>
              <a:rPr lang="en-US" altLang="ko-KR" sz="1200" dirty="0" smtClean="0"/>
              <a:t>: v1       </a:t>
            </a:r>
            <a:r>
              <a:rPr lang="en-US" altLang="ko-KR" sz="1200" dirty="0" smtClean="0">
                <a:solidFill>
                  <a:srgbClr val="FF0000"/>
                </a:solidFill>
              </a:rPr>
              <a:t>#Object</a:t>
            </a:r>
            <a:r>
              <a:rPr lang="ko-KR" altLang="en-US" sz="1200" dirty="0" smtClean="0">
                <a:solidFill>
                  <a:srgbClr val="FF0000"/>
                </a:solidFill>
              </a:rPr>
              <a:t>를 생성할 때 사용하는 </a:t>
            </a:r>
            <a:r>
              <a:rPr lang="en-US" altLang="ko-KR" sz="1200" dirty="0" smtClean="0">
                <a:solidFill>
                  <a:srgbClr val="FF0000"/>
                </a:solidFill>
              </a:rPr>
              <a:t>API Version</a:t>
            </a:r>
            <a:r>
              <a:rPr lang="ko-KR" altLang="en-US" sz="1200" dirty="0" smtClean="0">
                <a:solidFill>
                  <a:srgbClr val="FF0000"/>
                </a:solidFill>
              </a:rPr>
              <a:t>을 명시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algn="l"/>
            <a:r>
              <a:rPr lang="en-US" altLang="ko-KR" sz="1200" dirty="0" smtClean="0"/>
              <a:t>kind: Pod             </a:t>
            </a:r>
            <a:r>
              <a:rPr lang="en-US" altLang="ko-KR" sz="1200" dirty="0" smtClean="0">
                <a:solidFill>
                  <a:srgbClr val="FF0000"/>
                </a:solidFill>
              </a:rPr>
              <a:t>#</a:t>
            </a:r>
            <a:r>
              <a:rPr lang="ko-KR" altLang="en-US" sz="1200" dirty="0" smtClean="0">
                <a:solidFill>
                  <a:srgbClr val="FF0000"/>
                </a:solidFill>
              </a:rPr>
              <a:t>만들려고 하는 </a:t>
            </a:r>
            <a:r>
              <a:rPr lang="en-US" altLang="ko-KR" sz="1200" dirty="0" smtClean="0">
                <a:solidFill>
                  <a:srgbClr val="FF0000"/>
                </a:solidFill>
              </a:rPr>
              <a:t>Object </a:t>
            </a:r>
            <a:r>
              <a:rPr lang="ko-KR" altLang="en-US" sz="1200" dirty="0" smtClean="0">
                <a:solidFill>
                  <a:srgbClr val="FF0000"/>
                </a:solidFill>
              </a:rPr>
              <a:t>종류를 명시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algn="l"/>
            <a:r>
              <a:rPr lang="en-US" altLang="ko-KR" sz="1200" dirty="0" smtClean="0"/>
              <a:t>metadata:            </a:t>
            </a:r>
            <a:r>
              <a:rPr lang="en-US" altLang="ko-KR" sz="1200" dirty="0" smtClean="0">
                <a:solidFill>
                  <a:srgbClr val="FF0000"/>
                </a:solidFill>
              </a:rPr>
              <a:t>#</a:t>
            </a:r>
            <a:r>
              <a:rPr lang="ko-KR" altLang="en-US" sz="1200" dirty="0" smtClean="0">
                <a:solidFill>
                  <a:srgbClr val="FF0000"/>
                </a:solidFill>
              </a:rPr>
              <a:t>이름이나 </a:t>
            </a:r>
            <a:r>
              <a:rPr lang="en-US" altLang="ko-KR" sz="1200" dirty="0" smtClean="0">
                <a:solidFill>
                  <a:srgbClr val="FF0000"/>
                </a:solidFill>
              </a:rPr>
              <a:t>Label</a:t>
            </a:r>
            <a:r>
              <a:rPr lang="ko-KR" altLang="en-US" sz="1200" dirty="0" smtClean="0">
                <a:solidFill>
                  <a:srgbClr val="FF0000"/>
                </a:solidFill>
              </a:rPr>
              <a:t>을 명시한다</a:t>
            </a:r>
            <a:r>
              <a:rPr lang="en-US" altLang="ko-KR" sz="1200" dirty="0" smtClean="0">
                <a:solidFill>
                  <a:srgbClr val="FF0000"/>
                </a:solidFill>
              </a:rPr>
              <a:t>.</a:t>
            </a:r>
          </a:p>
          <a:p>
            <a:pPr algn="l"/>
            <a:r>
              <a:rPr lang="en-US" altLang="ko-KR" sz="1200" dirty="0" smtClean="0"/>
              <a:t>  name: pod-</a:t>
            </a:r>
            <a:r>
              <a:rPr lang="en-US" altLang="ko-KR" sz="1200" dirty="0" err="1" smtClean="0"/>
              <a:t>nginx</a:t>
            </a:r>
            <a:endParaRPr lang="en-US" altLang="ko-KR" sz="1200" dirty="0" smtClean="0"/>
          </a:p>
          <a:p>
            <a:pPr algn="l"/>
            <a:r>
              <a:rPr lang="en-US" altLang="ko-KR" sz="1200" dirty="0"/>
              <a:t> </a:t>
            </a:r>
            <a:r>
              <a:rPr lang="en-US" altLang="ko-KR" sz="1200" dirty="0" smtClean="0"/>
              <a:t> labels:</a:t>
            </a:r>
          </a:p>
          <a:p>
            <a:pPr algn="l"/>
            <a:r>
              <a:rPr lang="en-US" altLang="ko-KR" sz="1200" dirty="0" smtClean="0"/>
              <a:t>    app: pod-</a:t>
            </a:r>
            <a:r>
              <a:rPr lang="en-US" altLang="ko-KR" sz="1200" dirty="0" err="1" smtClean="0"/>
              <a:t>nginx</a:t>
            </a:r>
            <a:endParaRPr lang="en-US" altLang="ko-KR" sz="1200" dirty="0" smtClean="0"/>
          </a:p>
          <a:p>
            <a:pPr algn="l"/>
            <a:r>
              <a:rPr lang="en-US" altLang="ko-KR" sz="1200" dirty="0" smtClean="0"/>
              <a:t>    type: web-server</a:t>
            </a:r>
          </a:p>
          <a:p>
            <a:pPr algn="l"/>
            <a:r>
              <a:rPr lang="en-US" altLang="ko-KR" sz="1200" dirty="0" smtClean="0"/>
              <a:t>spec: </a:t>
            </a:r>
            <a:r>
              <a:rPr lang="en-US" altLang="ko-KR" sz="1200" dirty="0" smtClean="0">
                <a:solidFill>
                  <a:srgbClr val="FF0000"/>
                </a:solidFill>
              </a:rPr>
              <a:t>#</a:t>
            </a:r>
            <a:r>
              <a:rPr lang="ko-KR" altLang="en-US" sz="1200" dirty="0" smtClean="0">
                <a:solidFill>
                  <a:srgbClr val="FF0000"/>
                </a:solidFill>
              </a:rPr>
              <a:t>생성하려는 객체의 스펙을 작성하는 곳</a:t>
            </a:r>
            <a:r>
              <a:rPr lang="en-US" altLang="ko-KR" sz="1200" dirty="0" smtClean="0">
                <a:solidFill>
                  <a:srgbClr val="FF0000"/>
                </a:solidFill>
              </a:rPr>
              <a:t>. ‘-’</a:t>
            </a:r>
            <a:r>
              <a:rPr lang="ko-KR" altLang="en-US" sz="1200" dirty="0" smtClean="0">
                <a:solidFill>
                  <a:srgbClr val="FF0000"/>
                </a:solidFill>
              </a:rPr>
              <a:t>는 시작을 의미함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algn="l"/>
            <a:r>
              <a:rPr lang="en-US" altLang="ko-KR" sz="1200" dirty="0" smtClean="0"/>
              <a:t>  containers:</a:t>
            </a:r>
          </a:p>
          <a:p>
            <a:pPr algn="l"/>
            <a:r>
              <a:rPr lang="en-US" altLang="ko-KR" sz="1200" dirty="0" smtClean="0"/>
              <a:t>    - name: </a:t>
            </a:r>
            <a:r>
              <a:rPr lang="en-US" altLang="ko-KR" sz="1200" dirty="0" err="1" smtClean="0"/>
              <a:t>nginx</a:t>
            </a:r>
            <a:endParaRPr lang="en-US" altLang="ko-KR" sz="1200" dirty="0" smtClean="0"/>
          </a:p>
          <a:p>
            <a:pPr algn="l"/>
            <a:r>
              <a:rPr lang="en-US" altLang="ko-KR" sz="1200" dirty="0" smtClean="0"/>
              <a:t>      image: </a:t>
            </a:r>
            <a:r>
              <a:rPr lang="en-US" altLang="ko-KR" sz="1200" dirty="0" err="1" smtClean="0"/>
              <a:t>nginx</a:t>
            </a:r>
            <a:endParaRPr lang="en-US" altLang="ko-KR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703580" y="3563309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이용한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21" name="TextBox 3"/>
          <p:cNvSpPr txBox="1"/>
          <p:nvPr/>
        </p:nvSpPr>
        <p:spPr>
          <a:xfrm>
            <a:off x="745409" y="3894179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pod.yaml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pod/pod-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created	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3580" y="4401797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29" name="TextBox 3"/>
          <p:cNvSpPr txBox="1"/>
          <p:nvPr/>
        </p:nvSpPr>
        <p:spPr>
          <a:xfrm>
            <a:off x="745408" y="4709574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pods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READY    STATUS      RESTARTS 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1/1        Running     </a:t>
            </a:r>
            <a:r>
              <a:rPr lang="en-US" altLang="ko-KR" sz="1200" dirty="0">
                <a:solidFill>
                  <a:schemeClr val="bg1"/>
                </a:solidFill>
              </a:rPr>
              <a:t>0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10s    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1200" y="5396717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y</a:t>
            </a:r>
            <a:r>
              <a:rPr lang="en-US" altLang="ko-KR" sz="1400" dirty="0" err="1" smtClean="0"/>
              <a:t>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이용한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삭제</a:t>
            </a:r>
            <a:r>
              <a:rPr lang="en-US" altLang="ko-KR" sz="1400" dirty="0" smtClean="0"/>
              <a:t> </a:t>
            </a:r>
            <a:endParaRPr lang="en-US" altLang="ko-KR" sz="1200" dirty="0"/>
          </a:p>
        </p:txBody>
      </p:sp>
      <p:sp>
        <p:nvSpPr>
          <p:cNvPr id="33" name="TextBox 3"/>
          <p:cNvSpPr txBox="1"/>
          <p:nvPr/>
        </p:nvSpPr>
        <p:spPr>
          <a:xfrm>
            <a:off x="753029" y="5727587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pod.yaml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pod "pod-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deleted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3578" y="1063101"/>
            <a:ext cx="1092200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pod.yaml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 smtClean="0"/>
              <a:t>1-pod.yaml</a:t>
            </a:r>
            <a:r>
              <a:rPr lang="en-US" altLang="ko-KR" sz="1400" dirty="0"/>
              <a:t>)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80821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11200" y="100777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생성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1315551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run 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--image=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pod/pod-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created	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4581752"/>
            <a:ext cx="1092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생성하는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생성</a:t>
            </a:r>
            <a:endParaRPr lang="en-US" altLang="ko-KR" sz="1400" dirty="0" smtClean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b="1" dirty="0" smtClean="0">
                <a:solidFill>
                  <a:srgbClr val="FF0000"/>
                </a:solidFill>
              </a:rPr>
              <a:t>--dry-run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옵션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실제로 서버에 올리지 않고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클러스터로 보낼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object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를 미리 확인 할 수 있다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sp>
        <p:nvSpPr>
          <p:cNvPr id="15" name="TextBox 3"/>
          <p:cNvSpPr txBox="1"/>
          <p:nvPr/>
        </p:nvSpPr>
        <p:spPr>
          <a:xfrm>
            <a:off x="753028" y="5078370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run [POD_NAME] -image=[IMAGE_NAME</a:t>
            </a:r>
            <a:r>
              <a:rPr lang="en-US" altLang="ko-KR" sz="1200" dirty="0" smtClean="0">
                <a:solidFill>
                  <a:schemeClr val="bg1"/>
                </a:solidFill>
              </a:rPr>
              <a:t>] --</a:t>
            </a:r>
            <a:r>
              <a:rPr lang="en-US" altLang="ko-KR" sz="1200" dirty="0">
                <a:solidFill>
                  <a:schemeClr val="bg1"/>
                </a:solidFill>
              </a:rPr>
              <a:t>dry-run=client </a:t>
            </a:r>
            <a:r>
              <a:rPr lang="en-US" altLang="ko-KR" sz="1200" dirty="0" smtClean="0">
                <a:solidFill>
                  <a:schemeClr val="bg1"/>
                </a:solidFill>
              </a:rPr>
              <a:t>-o </a:t>
            </a:r>
            <a:r>
              <a:rPr lang="en-US" altLang="ko-KR" sz="1200" dirty="0" err="1">
                <a:solidFill>
                  <a:schemeClr val="bg1"/>
                </a:solidFill>
              </a:rPr>
              <a:t>yaml</a:t>
            </a:r>
            <a:r>
              <a:rPr lang="en-US" altLang="ko-KR" sz="1200" dirty="0">
                <a:solidFill>
                  <a:schemeClr val="bg1"/>
                </a:solidFill>
              </a:rPr>
              <a:t> &gt;&gt; </a:t>
            </a:r>
            <a:r>
              <a:rPr lang="en-US" altLang="ko-KR" sz="1200" dirty="0" smtClean="0">
                <a:solidFill>
                  <a:schemeClr val="bg1"/>
                </a:solidFill>
              </a:rPr>
              <a:t>[YAML_NAME]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</a:t>
            </a:r>
            <a:r>
              <a:rPr lang="en-US" altLang="ko-KR" sz="1200" dirty="0" smtClean="0">
                <a:solidFill>
                  <a:schemeClr val="bg1"/>
                </a:solidFill>
              </a:rPr>
              <a:t>x)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run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--image=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--dry-run=client </a:t>
            </a:r>
            <a:r>
              <a:rPr lang="en-US" altLang="ko-KR" sz="1200" dirty="0" smtClean="0">
                <a:solidFill>
                  <a:schemeClr val="bg1"/>
                </a:solidFill>
              </a:rPr>
              <a:t>-o </a:t>
            </a:r>
            <a:r>
              <a:rPr lang="en-US" altLang="ko-KR" sz="1200" dirty="0" err="1">
                <a:solidFill>
                  <a:schemeClr val="bg1"/>
                </a:solidFill>
              </a:rPr>
              <a:t>yaml</a:t>
            </a:r>
            <a:r>
              <a:rPr lang="en-US" altLang="ko-KR" sz="1200" dirty="0">
                <a:solidFill>
                  <a:schemeClr val="bg1"/>
                </a:solidFill>
              </a:rPr>
              <a:t> &gt;&gt;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9214" y="370465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22" name="TextBox 3"/>
          <p:cNvSpPr txBox="1"/>
          <p:nvPr/>
        </p:nvSpPr>
        <p:spPr>
          <a:xfrm>
            <a:off x="741042" y="4012431"/>
            <a:ext cx="10850327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delete pod 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pod “pod-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[</a:t>
            </a:r>
            <a:r>
              <a:rPr lang="ko-KR" altLang="en-US" sz="1400" dirty="0" smtClean="0"/>
              <a:t>방법 </a:t>
            </a:r>
            <a:r>
              <a:rPr lang="en-US" altLang="ko-KR" sz="1400" dirty="0" smtClean="0"/>
              <a:t>2. </a:t>
            </a:r>
            <a:r>
              <a:rPr lang="en-US" altLang="ko-KR" sz="1400" dirty="0" err="1"/>
              <a:t>kubectl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run </a:t>
            </a:r>
            <a:r>
              <a:rPr lang="ko-KR" altLang="en-US" sz="1400" dirty="0" smtClean="0"/>
              <a:t>명령어를 </a:t>
            </a:r>
            <a:r>
              <a:rPr lang="ko-KR" altLang="en-US" sz="1400" dirty="0"/>
              <a:t>통한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생성</a:t>
            </a:r>
            <a:r>
              <a:rPr lang="en-US" altLang="ko-KR" sz="1400" dirty="0" smtClean="0"/>
              <a:t>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325" y="179674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상세 정보 확인</a:t>
            </a:r>
            <a:endParaRPr lang="en-US" altLang="ko-KR" sz="1200" dirty="0"/>
          </a:p>
        </p:txBody>
      </p:sp>
      <p:sp>
        <p:nvSpPr>
          <p:cNvPr id="26" name="TextBox 3"/>
          <p:cNvSpPr txBox="1"/>
          <p:nvPr/>
        </p:nvSpPr>
        <p:spPr>
          <a:xfrm>
            <a:off x="737153" y="2104525"/>
            <a:ext cx="10854216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pod </a:t>
            </a:r>
            <a:r>
              <a:rPr lang="en-US" altLang="ko-KR" sz="1200" dirty="0" smtClean="0">
                <a:solidFill>
                  <a:schemeClr val="bg1"/>
                </a:solidFill>
              </a:rPr>
              <a:t>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</a:t>
            </a:r>
            <a:r>
              <a:rPr lang="en-US" altLang="ko-KR" sz="1200" dirty="0">
                <a:solidFill>
                  <a:schemeClr val="bg1"/>
                </a:solidFill>
              </a:rPr>
              <a:t>:             pod-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Namespace</a:t>
            </a:r>
            <a:r>
              <a:rPr lang="en-US" altLang="ko-KR" sz="1200" dirty="0">
                <a:solidFill>
                  <a:schemeClr val="bg1"/>
                </a:solidFill>
              </a:rPr>
              <a:t>:        default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Priority</a:t>
            </a:r>
            <a:r>
              <a:rPr lang="en-US" altLang="ko-KR" sz="1200" dirty="0">
                <a:solidFill>
                  <a:schemeClr val="bg1"/>
                </a:solidFill>
              </a:rPr>
              <a:t>:         0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Service </a:t>
            </a:r>
            <a:r>
              <a:rPr lang="en-US" altLang="ko-KR" sz="1200" dirty="0">
                <a:solidFill>
                  <a:schemeClr val="bg1"/>
                </a:solidFill>
              </a:rPr>
              <a:t>Account:  default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Node</a:t>
            </a:r>
            <a:r>
              <a:rPr lang="en-US" altLang="ko-KR" sz="1200" dirty="0">
                <a:solidFill>
                  <a:schemeClr val="bg1"/>
                </a:solidFill>
              </a:rPr>
              <a:t>:             k8sedu-node01/192.168.53.22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…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07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ReplicaSet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생성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 smtClean="0"/>
              <a:t>2-replicaset.yaml</a:t>
            </a:r>
            <a:r>
              <a:rPr lang="en-US" altLang="ko-KR" sz="1400" dirty="0"/>
              <a:t>)</a:t>
            </a:r>
            <a:endParaRPr lang="en-US" altLang="ko-KR" sz="1200" dirty="0"/>
          </a:p>
        </p:txBody>
      </p:sp>
      <p:sp>
        <p:nvSpPr>
          <p:cNvPr id="16" name="TextBox 3"/>
          <p:cNvSpPr txBox="1"/>
          <p:nvPr/>
        </p:nvSpPr>
        <p:spPr>
          <a:xfrm>
            <a:off x="753029" y="1061699"/>
            <a:ext cx="10838341" cy="3231654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apps/v1</a:t>
            </a:r>
          </a:p>
          <a:p>
            <a:r>
              <a:rPr lang="en-US" altLang="ko-KR" sz="1200" dirty="0"/>
              <a:t>kind: </a:t>
            </a:r>
            <a:r>
              <a:rPr lang="en-US" altLang="ko-KR" sz="1200" dirty="0" err="1"/>
              <a:t>ReplicaSet</a:t>
            </a:r>
            <a:endParaRPr lang="en-US" altLang="ko-KR" sz="1200" dirty="0"/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err="1" smtClean="0"/>
              <a:t>replicaset-nginx</a:t>
            </a:r>
            <a:endParaRPr lang="en-US" altLang="ko-KR" sz="1200" dirty="0" smtClean="0"/>
          </a:p>
          <a:p>
            <a:r>
              <a:rPr lang="en-US" altLang="ko-KR" sz="1200" dirty="0" smtClean="0"/>
              <a:t>spec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replicas: </a:t>
            </a:r>
            <a:r>
              <a:rPr lang="en-US" altLang="ko-KR" sz="1200" dirty="0" smtClean="0"/>
              <a:t>3 </a:t>
            </a:r>
            <a:r>
              <a:rPr lang="en-US" altLang="ko-KR" sz="1200" dirty="0" smtClean="0">
                <a:solidFill>
                  <a:srgbClr val="FF0000"/>
                </a:solidFill>
              </a:rPr>
              <a:t># </a:t>
            </a:r>
            <a:r>
              <a:rPr lang="ko-KR" altLang="en-US" sz="1200" dirty="0" smtClean="0">
                <a:solidFill>
                  <a:srgbClr val="FF0000"/>
                </a:solidFill>
              </a:rPr>
              <a:t>복제할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파드</a:t>
            </a:r>
            <a:r>
              <a:rPr lang="ko-KR" altLang="en-US" sz="1200" dirty="0" smtClean="0">
                <a:solidFill>
                  <a:srgbClr val="FF0000"/>
                </a:solidFill>
              </a:rPr>
              <a:t> 숫자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selector: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matchLabels</a:t>
            </a:r>
            <a:r>
              <a:rPr lang="en-US" altLang="ko-KR" sz="1200" dirty="0" smtClean="0"/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#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ReplicaController</a:t>
            </a:r>
            <a:r>
              <a:rPr lang="ko-KR" altLang="en-US" sz="1200" dirty="0" smtClean="0">
                <a:solidFill>
                  <a:srgbClr val="FF0000"/>
                </a:solidFill>
              </a:rPr>
              <a:t>에서는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matchLabels</a:t>
            </a:r>
            <a:r>
              <a:rPr lang="en-US" altLang="ko-KR" sz="1200" dirty="0" smtClean="0">
                <a:solidFill>
                  <a:srgbClr val="FF0000"/>
                </a:solidFill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</a:rPr>
              <a:t>부분이 없다</a:t>
            </a:r>
            <a:r>
              <a:rPr lang="en-US" altLang="ko-KR" sz="1200" dirty="0" smtClean="0">
                <a:solidFill>
                  <a:srgbClr val="FF0000"/>
                </a:solidFill>
              </a:rPr>
              <a:t>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  app: </a:t>
            </a:r>
            <a:r>
              <a:rPr lang="en-US" altLang="ko-KR" sz="1200" dirty="0" err="1"/>
              <a:t>replicaset-nginx</a:t>
            </a:r>
            <a:endParaRPr lang="en-US" altLang="ko-KR" sz="1200" dirty="0"/>
          </a:p>
          <a:p>
            <a:r>
              <a:rPr lang="en-US" altLang="ko-KR" sz="1200" dirty="0" smtClean="0"/>
              <a:t>template: </a:t>
            </a:r>
            <a:r>
              <a:rPr lang="en-US" altLang="ko-KR" sz="1200" dirty="0" smtClean="0">
                <a:solidFill>
                  <a:srgbClr val="FF0000"/>
                </a:solidFill>
              </a:rPr>
              <a:t># Template </a:t>
            </a:r>
            <a:r>
              <a:rPr lang="ko-KR" altLang="en-US" sz="1200" dirty="0" smtClean="0">
                <a:solidFill>
                  <a:srgbClr val="FF0000"/>
                </a:solidFill>
              </a:rPr>
              <a:t>안에는 </a:t>
            </a:r>
            <a:r>
              <a:rPr lang="en-US" altLang="ko-KR" sz="1200" dirty="0" smtClean="0">
                <a:solidFill>
                  <a:srgbClr val="FF0000"/>
                </a:solidFill>
              </a:rPr>
              <a:t>pod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yaml</a:t>
            </a:r>
            <a:r>
              <a:rPr lang="ko-KR" altLang="en-US" sz="1200" dirty="0" smtClean="0">
                <a:solidFill>
                  <a:srgbClr val="FF0000"/>
                </a:solidFill>
              </a:rPr>
              <a:t>에서 작성한 </a:t>
            </a:r>
            <a:r>
              <a:rPr lang="en-US" altLang="ko-KR" sz="1200" dirty="0" smtClean="0">
                <a:solidFill>
                  <a:srgbClr val="FF0000"/>
                </a:solidFill>
              </a:rPr>
              <a:t>spec </a:t>
            </a:r>
            <a:r>
              <a:rPr lang="ko-KR" altLang="en-US" sz="1200" dirty="0" smtClean="0">
                <a:solidFill>
                  <a:srgbClr val="FF0000"/>
                </a:solidFill>
              </a:rPr>
              <a:t>부분이 </a:t>
            </a:r>
            <a:r>
              <a:rPr lang="en-US" altLang="ko-KR" sz="1200" dirty="0" smtClean="0">
                <a:solidFill>
                  <a:srgbClr val="FF0000"/>
                </a:solidFill>
              </a:rPr>
              <a:t>metadata</a:t>
            </a:r>
            <a:r>
              <a:rPr lang="ko-KR" altLang="en-US" sz="1200" dirty="0" smtClean="0">
                <a:solidFill>
                  <a:srgbClr val="FF0000"/>
                </a:solidFill>
              </a:rPr>
              <a:t>에 들어간다</a:t>
            </a:r>
            <a:r>
              <a:rPr lang="en-US" altLang="ko-KR" sz="1200" dirty="0" smtClean="0">
                <a:solidFill>
                  <a:srgbClr val="FF0000"/>
                </a:solidFill>
              </a:rPr>
              <a:t>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metadata:</a:t>
            </a:r>
          </a:p>
          <a:p>
            <a:r>
              <a:rPr lang="en-US" altLang="ko-KR" sz="1200" dirty="0"/>
              <a:t>      labels:</a:t>
            </a:r>
          </a:p>
          <a:p>
            <a:r>
              <a:rPr lang="en-US" altLang="ko-KR" sz="1200" dirty="0"/>
              <a:t>        app: </a:t>
            </a:r>
            <a:r>
              <a:rPr lang="en-US" altLang="ko-KR" sz="1200" dirty="0" err="1" smtClean="0"/>
              <a:t>replicaset-nginx</a:t>
            </a:r>
            <a:endParaRPr lang="en-US" altLang="ko-KR" sz="1200" dirty="0" smtClean="0"/>
          </a:p>
          <a:p>
            <a:r>
              <a:rPr lang="en-US" altLang="ko-KR" sz="1200" dirty="0" smtClean="0"/>
              <a:t>    </a:t>
            </a:r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    containers:</a:t>
            </a:r>
          </a:p>
          <a:p>
            <a:r>
              <a:rPr lang="en-US" altLang="ko-KR" sz="1200" dirty="0"/>
              <a:t>        - name: </a:t>
            </a:r>
            <a:r>
              <a:rPr lang="en-US" altLang="ko-KR" sz="1200" dirty="0" err="1" smtClean="0"/>
              <a:t>nginx</a:t>
            </a:r>
            <a:endParaRPr lang="en-US" altLang="ko-KR" sz="1200" dirty="0" smtClean="0"/>
          </a:p>
          <a:p>
            <a:r>
              <a:rPr lang="en-US" altLang="ko-KR" sz="1200" dirty="0" smtClean="0"/>
              <a:t>          </a:t>
            </a:r>
            <a:r>
              <a:rPr lang="en-US" altLang="ko-KR" sz="1200" dirty="0"/>
              <a:t>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703580" y="433422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6" name="TextBox 3"/>
          <p:cNvSpPr txBox="1"/>
          <p:nvPr/>
        </p:nvSpPr>
        <p:spPr>
          <a:xfrm>
            <a:off x="745409" y="4665090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replicaset.apps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replicaset-nginx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created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3580" y="517270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10" name="TextBox 3"/>
          <p:cNvSpPr txBox="1"/>
          <p:nvPr/>
        </p:nvSpPr>
        <p:spPr>
          <a:xfrm>
            <a:off x="745408" y="5480485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NAME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DESIRED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CURRENT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READY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    3              3              </a:t>
            </a:r>
            <a:r>
              <a:rPr lang="en-US" altLang="ko-KR" sz="1200" dirty="0">
                <a:solidFill>
                  <a:schemeClr val="bg1"/>
                </a:solidFill>
              </a:rPr>
              <a:t>3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17s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98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11200" y="427793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4585707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delete </a:t>
            </a:r>
            <a:r>
              <a:rPr lang="en-US" altLang="ko-KR" sz="1200" dirty="0" err="1">
                <a:solidFill>
                  <a:schemeClr val="bg1"/>
                </a:solidFill>
              </a:rPr>
              <a:t>replicaset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"</a:t>
            </a:r>
            <a:r>
              <a:rPr lang="en-US" altLang="ko-KR" sz="1200" dirty="0" err="1">
                <a:solidFill>
                  <a:schemeClr val="bg1"/>
                </a:solidFill>
              </a:rPr>
              <a:t>replicaset-nginx</a:t>
            </a:r>
            <a:r>
              <a:rPr lang="en-US" altLang="ko-KR" sz="1200" dirty="0">
                <a:solidFill>
                  <a:schemeClr val="bg1"/>
                </a:solidFill>
              </a:rPr>
              <a:t>"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70693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r</a:t>
            </a:r>
            <a:r>
              <a:rPr lang="en-US" altLang="ko-KR" sz="1400" dirty="0" err="1" smtClean="0"/>
              <a:t>eplicaset.yaml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파일에서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수 변경 후 적용</a:t>
            </a:r>
            <a:endParaRPr lang="en-US" altLang="ko-KR" sz="1400" dirty="0" smtClean="0"/>
          </a:p>
        </p:txBody>
      </p:sp>
      <p:sp>
        <p:nvSpPr>
          <p:cNvPr id="15" name="TextBox 3"/>
          <p:cNvSpPr txBox="1"/>
          <p:nvPr/>
        </p:nvSpPr>
        <p:spPr>
          <a:xfrm>
            <a:off x="753028" y="1014709"/>
            <a:ext cx="10838341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replace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yaml</a:t>
            </a:r>
            <a:r>
              <a:rPr lang="ko-KR" altLang="en-US" sz="1200" dirty="0" smtClean="0">
                <a:solidFill>
                  <a:schemeClr val="bg1"/>
                </a:solidFill>
              </a:rPr>
              <a:t>에서 </a:t>
            </a:r>
            <a:r>
              <a:rPr lang="en-US" altLang="ko-KR" sz="1200" dirty="0" smtClean="0">
                <a:solidFill>
                  <a:schemeClr val="bg1"/>
                </a:solidFill>
              </a:rPr>
              <a:t>pod </a:t>
            </a:r>
            <a:r>
              <a:rPr lang="ko-KR" altLang="en-US" sz="1200" dirty="0" smtClean="0">
                <a:solidFill>
                  <a:schemeClr val="bg1"/>
                </a:solidFill>
              </a:rPr>
              <a:t>수 </a:t>
            </a:r>
            <a:r>
              <a:rPr lang="en-US" altLang="ko-KR" sz="1200" dirty="0" smtClean="0">
                <a:solidFill>
                  <a:schemeClr val="bg1"/>
                </a:solidFill>
              </a:rPr>
              <a:t>‘3-&gt; 6‘</a:t>
            </a:r>
            <a:r>
              <a:rPr lang="ko-KR" altLang="en-US" sz="1200" dirty="0" smtClean="0">
                <a:solidFill>
                  <a:schemeClr val="bg1"/>
                </a:solidFill>
              </a:rPr>
              <a:t>으로 변경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replaced	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smtClean="0">
                <a:solidFill>
                  <a:schemeClr val="bg1"/>
                </a:solidFill>
              </a:rPr>
              <a:t>n default		# </a:t>
            </a:r>
            <a:r>
              <a:rPr lang="ko-KR" altLang="en-US" sz="1200" dirty="0" smtClean="0">
                <a:solidFill>
                  <a:schemeClr val="bg1"/>
                </a:solidFill>
              </a:rPr>
              <a:t>변경사항 적용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DESIRED   CURRENT   READY   AGE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replicaset-nginx</a:t>
            </a:r>
            <a:r>
              <a:rPr lang="en-US" altLang="ko-KR" sz="1200" dirty="0">
                <a:solidFill>
                  <a:schemeClr val="bg1"/>
                </a:solidFill>
              </a:rPr>
              <a:t>   6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6              </a:t>
            </a:r>
            <a:r>
              <a:rPr lang="en-US" altLang="ko-KR" sz="1200" dirty="0">
                <a:solidFill>
                  <a:schemeClr val="bg1"/>
                </a:solidFill>
              </a:rPr>
              <a:t>5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9m25s	# 6</a:t>
            </a:r>
            <a:r>
              <a:rPr lang="ko-KR" altLang="en-US" sz="1200" dirty="0" smtClean="0">
                <a:solidFill>
                  <a:schemeClr val="bg1"/>
                </a:solidFill>
              </a:rPr>
              <a:t>으로 변경된 것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200" y="2280855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scale </a:t>
            </a:r>
            <a:r>
              <a:rPr lang="ko-KR" altLang="en-US" sz="1400" dirty="0" smtClean="0"/>
              <a:t>명령어 사용하여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수 변경</a:t>
            </a:r>
            <a:endParaRPr lang="en-US" altLang="ko-KR" sz="1200" dirty="0"/>
          </a:p>
        </p:txBody>
      </p:sp>
      <p:sp>
        <p:nvSpPr>
          <p:cNvPr id="22" name="TextBox 3"/>
          <p:cNvSpPr txBox="1"/>
          <p:nvPr/>
        </p:nvSpPr>
        <p:spPr>
          <a:xfrm>
            <a:off x="753028" y="2588632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scale --replicas=6 -f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yaml</a:t>
            </a:r>
            <a:r>
              <a:rPr lang="ko-KR" altLang="en-US" sz="1200" dirty="0" smtClean="0">
                <a:solidFill>
                  <a:schemeClr val="bg1"/>
                </a:solidFill>
              </a:rPr>
              <a:t>을 입력하여</a:t>
            </a:r>
            <a:r>
              <a:rPr lang="en-US" altLang="ko-KR" sz="1200" dirty="0" smtClean="0">
                <a:solidFill>
                  <a:schemeClr val="bg1"/>
                </a:solidFill>
              </a:rPr>
              <a:t>,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수 변경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replicaset.apps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replicaset-nginx</a:t>
            </a:r>
            <a:r>
              <a:rPr lang="en-US" altLang="ko-KR" sz="1200" dirty="0">
                <a:solidFill>
                  <a:schemeClr val="bg1"/>
                </a:solidFill>
              </a:rPr>
              <a:t> scaled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scale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replicas=6 </a:t>
            </a:r>
            <a:r>
              <a:rPr lang="en-US" altLang="ko-KR" sz="1200" dirty="0" err="1">
                <a:solidFill>
                  <a:schemeClr val="bg1"/>
                </a:solidFill>
              </a:rPr>
              <a:t>replicaset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replicaset-nginx</a:t>
            </a:r>
            <a:r>
              <a:rPr lang="en-US" altLang="ko-KR" sz="1200" dirty="0">
                <a:solidFill>
                  <a:schemeClr val="bg1"/>
                </a:solidFill>
              </a:rPr>
              <a:t>	# </a:t>
            </a:r>
            <a:r>
              <a:rPr lang="en-US" altLang="ko-KR" sz="1200" dirty="0" err="1">
                <a:solidFill>
                  <a:schemeClr val="bg1"/>
                </a:solidFill>
              </a:rPr>
              <a:t>Relicaset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명을 입력하여</a:t>
            </a:r>
            <a:r>
              <a:rPr lang="en-US" altLang="ko-KR" sz="1200" dirty="0">
                <a:solidFill>
                  <a:schemeClr val="bg1"/>
                </a:solidFill>
              </a:rPr>
              <a:t>, pod </a:t>
            </a:r>
            <a:r>
              <a:rPr lang="ko-KR" altLang="en-US" sz="1200" dirty="0">
                <a:solidFill>
                  <a:schemeClr val="bg1"/>
                </a:solidFill>
              </a:rPr>
              <a:t>수 </a:t>
            </a:r>
            <a:r>
              <a:rPr lang="ko-KR" altLang="en-US" sz="1200" dirty="0" smtClean="0">
                <a:solidFill>
                  <a:schemeClr val="bg1"/>
                </a:solidFill>
              </a:rPr>
              <a:t>변경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scaled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5325" y="364383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상세 정보 확인</a:t>
            </a:r>
            <a:endParaRPr lang="en-US" altLang="ko-KR" sz="1200" dirty="0"/>
          </a:p>
        </p:txBody>
      </p:sp>
      <p:sp>
        <p:nvSpPr>
          <p:cNvPr id="17" name="TextBox 3"/>
          <p:cNvSpPr txBox="1"/>
          <p:nvPr/>
        </p:nvSpPr>
        <p:spPr>
          <a:xfrm>
            <a:off x="737153" y="3951611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replicaset-nginx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753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Deployment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생성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 smtClean="0"/>
              <a:t>3-deployment.yaml</a:t>
            </a:r>
            <a:r>
              <a:rPr lang="en-US" altLang="ko-KR" sz="1400" dirty="0"/>
              <a:t>)</a:t>
            </a:r>
            <a:endParaRPr lang="en-US" altLang="ko-KR" sz="1200" dirty="0"/>
          </a:p>
        </p:txBody>
      </p:sp>
      <p:sp>
        <p:nvSpPr>
          <p:cNvPr id="16" name="TextBox 3"/>
          <p:cNvSpPr txBox="1"/>
          <p:nvPr/>
        </p:nvSpPr>
        <p:spPr>
          <a:xfrm>
            <a:off x="753029" y="1061699"/>
            <a:ext cx="10838341" cy="4339650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apps/v1</a:t>
            </a:r>
          </a:p>
          <a:p>
            <a:r>
              <a:rPr lang="en-US" altLang="ko-KR" sz="1200" dirty="0"/>
              <a:t>kind: Deployment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deployment-</a:t>
            </a:r>
            <a:r>
              <a:rPr lang="en-US" altLang="ko-KR" sz="1200" dirty="0" err="1" smtClean="0"/>
              <a:t>nginx</a:t>
            </a:r>
            <a:endParaRPr lang="en-US" altLang="ko-KR" sz="1200" dirty="0"/>
          </a:p>
          <a:p>
            <a:r>
              <a:rPr lang="en-US" altLang="ko-KR" sz="1200" dirty="0" smtClean="0"/>
              <a:t>Spec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selector: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matchLabels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app: deployment-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replicas: </a:t>
            </a:r>
            <a:r>
              <a:rPr lang="en-US" altLang="ko-KR" sz="1200" dirty="0" smtClean="0"/>
              <a:t>5 </a:t>
            </a:r>
            <a:r>
              <a:rPr lang="en-US" altLang="ko-KR" sz="1200" dirty="0" smtClean="0">
                <a:solidFill>
                  <a:srgbClr val="FF0000"/>
                </a:solidFill>
              </a:rPr>
              <a:t># Pod </a:t>
            </a:r>
            <a:r>
              <a:rPr lang="ko-KR" altLang="en-US" sz="1200" dirty="0" smtClean="0">
                <a:solidFill>
                  <a:srgbClr val="FF0000"/>
                </a:solidFill>
              </a:rPr>
              <a:t>수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strategy</a:t>
            </a:r>
            <a:r>
              <a:rPr lang="en-US" altLang="ko-KR" sz="1200" dirty="0" smtClean="0"/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# Update </a:t>
            </a:r>
            <a:r>
              <a:rPr lang="ko-KR" altLang="en-US" sz="1200" dirty="0" smtClean="0">
                <a:solidFill>
                  <a:srgbClr val="FF0000"/>
                </a:solidFill>
              </a:rPr>
              <a:t>전략 설정 부분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type: </a:t>
            </a:r>
            <a:r>
              <a:rPr lang="en-US" altLang="ko-KR" sz="1200" dirty="0" err="1" smtClean="0"/>
              <a:t>RollingUpdate</a:t>
            </a:r>
            <a:r>
              <a:rPr lang="en-US" altLang="ko-KR" sz="1200" dirty="0" smtClean="0"/>
              <a:t> </a:t>
            </a:r>
            <a:r>
              <a:rPr lang="en-US" altLang="ko-KR" sz="1200" dirty="0" smtClean="0">
                <a:solidFill>
                  <a:srgbClr val="FF0000"/>
                </a:solidFill>
              </a:rPr>
              <a:t># Recreate or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RollingUpdate</a:t>
            </a:r>
            <a:r>
              <a:rPr lang="en-US" altLang="ko-KR" sz="1200" dirty="0" smtClean="0">
                <a:solidFill>
                  <a:srgbClr val="FF0000"/>
                </a:solidFill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</a:rPr>
              <a:t>설정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</a:t>
            </a:r>
            <a:r>
              <a:rPr lang="en-US" altLang="ko-KR" sz="1200" dirty="0" err="1"/>
              <a:t>minReadySeconds</a:t>
            </a:r>
            <a:r>
              <a:rPr lang="en-US" altLang="ko-KR" sz="1200" dirty="0"/>
              <a:t>: 10</a:t>
            </a:r>
          </a:p>
          <a:p>
            <a:r>
              <a:rPr lang="en-US" altLang="ko-KR" sz="1200" dirty="0"/>
              <a:t>  template:</a:t>
            </a:r>
          </a:p>
          <a:p>
            <a:r>
              <a:rPr lang="en-US" altLang="ko-KR" sz="1200" dirty="0"/>
              <a:t>    metadata:</a:t>
            </a:r>
          </a:p>
          <a:p>
            <a:r>
              <a:rPr lang="en-US" altLang="ko-KR" sz="1200" dirty="0"/>
              <a:t>      labels:</a:t>
            </a:r>
          </a:p>
          <a:p>
            <a:r>
              <a:rPr lang="en-US" altLang="ko-KR" sz="1200" dirty="0"/>
              <a:t>        app: deployment-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spec:</a:t>
            </a:r>
          </a:p>
          <a:p>
            <a:r>
              <a:rPr lang="en-US" altLang="ko-KR" sz="1200" dirty="0"/>
              <a:t>      containers:</a:t>
            </a:r>
          </a:p>
          <a:p>
            <a:r>
              <a:rPr lang="en-US" altLang="ko-KR" sz="1200" dirty="0"/>
              <a:t>      - name: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    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imagePullPolicy</a:t>
            </a:r>
            <a:r>
              <a:rPr lang="en-US" altLang="ko-KR" sz="1200" dirty="0"/>
              <a:t>: Always</a:t>
            </a:r>
          </a:p>
          <a:p>
            <a:r>
              <a:rPr lang="en-US" altLang="ko-KR" sz="1200" dirty="0"/>
              <a:t>        ports:</a:t>
            </a:r>
          </a:p>
          <a:p>
            <a:r>
              <a:rPr lang="en-US" altLang="ko-KR" sz="1200" dirty="0"/>
              <a:t>        - </a:t>
            </a:r>
            <a:r>
              <a:rPr lang="en-US" altLang="ko-KR" sz="1200" dirty="0" err="1"/>
              <a:t>containerPort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80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702042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023227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deployment.apps</a:t>
            </a:r>
            <a:r>
              <a:rPr lang="en-US" altLang="ko-KR" sz="1200" dirty="0">
                <a:solidFill>
                  <a:schemeClr val="bg1"/>
                </a:solidFill>
              </a:rPr>
              <a:t>/deployment-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created</a:t>
            </a:r>
            <a:r>
              <a:rPr lang="en-US" altLang="ko-KR" sz="1200" dirty="0">
                <a:solidFill>
                  <a:schemeClr val="bg1"/>
                </a:solidFill>
              </a:rPr>
              <a:t> 	# </a:t>
            </a:r>
            <a:r>
              <a:rPr lang="en-US" altLang="ko-KR" sz="1200" dirty="0" smtClean="0">
                <a:solidFill>
                  <a:schemeClr val="bg1"/>
                </a:solidFill>
              </a:rPr>
              <a:t>Deployment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1533225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ko-KR" altLang="en-US" sz="1400" dirty="0" smtClean="0"/>
              <a:t>상태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1" name="TextBox 3"/>
          <p:cNvSpPr txBox="1"/>
          <p:nvPr/>
        </p:nvSpPr>
        <p:spPr>
          <a:xfrm>
            <a:off x="753028" y="1841002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deployment -n default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NAME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</a:t>
            </a:r>
            <a:r>
              <a:rPr lang="en-US" altLang="ko-KR" sz="1200" dirty="0">
                <a:solidFill>
                  <a:schemeClr val="bg1"/>
                </a:solidFill>
              </a:rPr>
              <a:t>READY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UP-TO-DATE </a:t>
            </a:r>
            <a:r>
              <a:rPr lang="en-US" altLang="ko-KR" sz="1200" dirty="0" smtClean="0">
                <a:solidFill>
                  <a:schemeClr val="bg1"/>
                </a:solidFill>
              </a:rPr>
              <a:t>   AVAILABLE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deployment-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5/5         5                  </a:t>
            </a:r>
            <a:r>
              <a:rPr lang="en-US" altLang="ko-KR" sz="1200" dirty="0">
                <a:solidFill>
                  <a:schemeClr val="bg1"/>
                </a:solidFill>
              </a:rPr>
              <a:t>5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102s	# Deployment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3177489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3485266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deployment deployment-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		# Deployment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"deployment-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5325" y="254339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ko-KR" altLang="en-US" sz="1400" dirty="0" smtClean="0"/>
              <a:t>상세 정보 확인</a:t>
            </a:r>
            <a:endParaRPr lang="en-US" altLang="ko-KR" sz="1200" dirty="0"/>
          </a:p>
        </p:txBody>
      </p:sp>
      <p:sp>
        <p:nvSpPr>
          <p:cNvPr id="15" name="TextBox 3"/>
          <p:cNvSpPr txBox="1"/>
          <p:nvPr/>
        </p:nvSpPr>
        <p:spPr>
          <a:xfrm>
            <a:off x="737153" y="285116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</a:t>
            </a:r>
            <a:r>
              <a:rPr lang="en-US" altLang="ko-KR" sz="1200" dirty="0" smtClean="0">
                <a:solidFill>
                  <a:schemeClr val="bg1"/>
                </a:solidFill>
              </a:rPr>
              <a:t>deployment </a:t>
            </a:r>
            <a:r>
              <a:rPr lang="en-US" altLang="ko-KR" sz="1200" dirty="0">
                <a:solidFill>
                  <a:schemeClr val="bg1"/>
                </a:solidFill>
              </a:rPr>
              <a:t>deployment-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968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Service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359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4006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Service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아이피는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재기동</a:t>
            </a:r>
            <a:r>
              <a:rPr lang="ko-KR" altLang="en-US" sz="1400" dirty="0"/>
              <a:t> 되면 항상 변하기 때문에 </a:t>
            </a:r>
            <a:r>
              <a:rPr lang="en-US" altLang="ko-KR" sz="1400" dirty="0"/>
              <a:t>Service</a:t>
            </a:r>
            <a:r>
              <a:rPr lang="ko-KR" altLang="en-US" sz="1400" dirty="0"/>
              <a:t>를 이용하여 요청을 보낸다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하나의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 </a:t>
            </a:r>
            <a:r>
              <a:rPr lang="en-US" altLang="ko-KR" sz="1400" dirty="0" err="1" smtClean="0"/>
              <a:t>ClusterIP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NodePort</a:t>
            </a:r>
            <a:r>
              <a:rPr lang="en-US" altLang="ko-KR" sz="1400" dirty="0"/>
              <a:t>, </a:t>
            </a:r>
            <a:r>
              <a:rPr lang="en-US" altLang="ko-KR" sz="1400" dirty="0" err="1" smtClean="0"/>
              <a:t>LoadBalancer</a:t>
            </a:r>
            <a:r>
              <a:rPr lang="en-US" altLang="ko-KR" sz="1400" dirty="0" smtClean="0"/>
              <a:t> 3</a:t>
            </a:r>
            <a:r>
              <a:rPr lang="ko-KR" altLang="en-US" sz="1400" dirty="0" smtClean="0"/>
              <a:t>가지 종류의 </a:t>
            </a: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를 연동하여 테스트 진행한다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753029" y="1699491"/>
            <a:ext cx="10838341" cy="2123658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 </a:t>
            </a:r>
            <a:endParaRPr lang="en-US" altLang="ko-KR" sz="1200" dirty="0" smtClean="0"/>
          </a:p>
          <a:p>
            <a:r>
              <a:rPr lang="en-US" altLang="ko-KR" sz="1200" dirty="0" smtClean="0"/>
              <a:t>kind</a:t>
            </a:r>
            <a:r>
              <a:rPr lang="en-US" altLang="ko-KR" sz="1200" dirty="0"/>
              <a:t>: Pod </a:t>
            </a:r>
            <a:endParaRPr lang="en-US" altLang="ko-KR" sz="1200" dirty="0" smtClean="0"/>
          </a:p>
          <a:p>
            <a:r>
              <a:rPr lang="en-US" altLang="ko-KR" sz="1200" dirty="0" smtClean="0"/>
              <a:t>metadata</a:t>
            </a:r>
            <a:r>
              <a:rPr lang="en-US" altLang="ko-KR" sz="1200" dirty="0"/>
              <a:t>: </a:t>
            </a:r>
          </a:p>
          <a:p>
            <a:r>
              <a:rPr lang="en-US" altLang="ko-KR" sz="1200" dirty="0" smtClean="0"/>
              <a:t>  </a:t>
            </a:r>
            <a:r>
              <a:rPr lang="en-US" altLang="ko-KR" sz="1200" dirty="0"/>
              <a:t>name: </a:t>
            </a:r>
            <a:r>
              <a:rPr lang="en-US" altLang="ko-KR" sz="1200" dirty="0" smtClean="0"/>
              <a:t>nginx01</a:t>
            </a:r>
            <a:endParaRPr lang="en-US" altLang="ko-KR" sz="1200" dirty="0"/>
          </a:p>
          <a:p>
            <a:r>
              <a:rPr lang="en-US" altLang="ko-KR" sz="1200" dirty="0" smtClean="0"/>
              <a:t>labels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nginx01</a:t>
            </a:r>
            <a:endParaRPr lang="en-US" altLang="ko-KR" sz="1200" dirty="0"/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spec: </a:t>
            </a:r>
            <a:endParaRPr lang="en-US" altLang="ko-KR" sz="1200" dirty="0" smtClean="0"/>
          </a:p>
          <a:p>
            <a:r>
              <a:rPr lang="en-US" altLang="ko-KR" sz="1200" dirty="0" smtClean="0"/>
              <a:t>containers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- name: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  image: </a:t>
            </a:r>
            <a:r>
              <a:rPr lang="en-US" altLang="ko-KR" sz="1200" dirty="0" err="1"/>
              <a:t>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87823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생성</a:t>
            </a:r>
            <a:endParaRPr lang="en-US" altLang="ko-KR" sz="1400" dirty="0" smtClean="0"/>
          </a:p>
        </p:txBody>
      </p:sp>
      <p:sp>
        <p:nvSpPr>
          <p:cNvPr id="7" name="TextBox 3"/>
          <p:cNvSpPr txBox="1"/>
          <p:nvPr/>
        </p:nvSpPr>
        <p:spPr>
          <a:xfrm>
            <a:off x="794859" y="4259187"/>
            <a:ext cx="1084627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pod.yaml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pod/nginx01 created	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199" y="139171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3</a:t>
            </a:r>
            <a:r>
              <a:rPr lang="ko-KR" altLang="en-US" sz="1400" dirty="0" smtClean="0"/>
              <a:t>가지 </a:t>
            </a:r>
            <a:r>
              <a:rPr lang="en-US" altLang="ko-KR" sz="1400" dirty="0" smtClean="0"/>
              <a:t>TEST</a:t>
            </a:r>
            <a:r>
              <a:rPr lang="ko-KR" altLang="en-US" sz="1400" dirty="0" smtClean="0"/>
              <a:t>에 공통으로 사용되는 </a:t>
            </a: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(</a:t>
            </a:r>
            <a:r>
              <a:rPr lang="en-US" altLang="ko-KR" sz="1400" b="1" dirty="0" smtClean="0"/>
              <a:t>1-pod_nginx01.yaml</a:t>
            </a:r>
            <a:r>
              <a:rPr lang="en-US" altLang="ko-KR" sz="14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17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49931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 1. </a:t>
            </a:r>
            <a:r>
              <a:rPr lang="en-US" altLang="ko-KR" sz="1400" b="1" dirty="0" err="1" smtClean="0"/>
              <a:t>ClusterIP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753029" y="1500526"/>
            <a:ext cx="10838341" cy="2862322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Service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nginx01</a:t>
            </a:r>
            <a:endParaRPr lang="en-US" altLang="ko-KR" sz="1200" dirty="0"/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nginx01-service-cluster</a:t>
            </a:r>
            <a:endParaRPr lang="en-US" altLang="ko-KR" sz="1200" dirty="0"/>
          </a:p>
          <a:p>
            <a:r>
              <a:rPr lang="en-US" altLang="ko-KR" sz="1200" dirty="0" smtClean="0"/>
              <a:t>spec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ports:</a:t>
            </a:r>
          </a:p>
          <a:p>
            <a:r>
              <a:rPr lang="en-US" altLang="ko-KR" sz="1200" dirty="0"/>
              <a:t>  - port: 80         </a:t>
            </a:r>
            <a:r>
              <a:rPr lang="en-US" altLang="ko-KR" sz="1200" dirty="0">
                <a:solidFill>
                  <a:srgbClr val="FF0000"/>
                </a:solidFill>
              </a:rPr>
              <a:t># Service</a:t>
            </a:r>
            <a:r>
              <a:rPr lang="ko-KR" altLang="en-US" sz="1200" dirty="0">
                <a:solidFill>
                  <a:srgbClr val="FF0000"/>
                </a:solidFill>
              </a:rPr>
              <a:t>가 외부에서 받을 포트 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클러스터 내부에서 접근할 때 사용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targetPort</a:t>
            </a:r>
            <a:r>
              <a:rPr lang="en-US" altLang="ko-KR" sz="1200" dirty="0"/>
              <a:t>: 80   </a:t>
            </a:r>
            <a:r>
              <a:rPr lang="en-US" altLang="ko-KR" sz="1200" dirty="0">
                <a:solidFill>
                  <a:srgbClr val="FF0000"/>
                </a:solidFill>
              </a:rPr>
              <a:t># </a:t>
            </a:r>
            <a:r>
              <a:rPr lang="ko-KR" altLang="en-US" sz="1200" dirty="0">
                <a:solidFill>
                  <a:srgbClr val="FF0000"/>
                </a:solidFill>
              </a:rPr>
              <a:t>연결될 </a:t>
            </a:r>
            <a:r>
              <a:rPr lang="en-US" altLang="ko-KR" sz="1200" dirty="0">
                <a:solidFill>
                  <a:srgbClr val="FF0000"/>
                </a:solidFill>
              </a:rPr>
              <a:t>Pod</a:t>
            </a:r>
            <a:r>
              <a:rPr lang="ko-KR" altLang="en-US" sz="1200" dirty="0">
                <a:solidFill>
                  <a:srgbClr val="FF0000"/>
                </a:solidFill>
              </a:rPr>
              <a:t>의 컨테이너에서 실행 중인 포트 </a:t>
            </a:r>
            <a:r>
              <a:rPr lang="en-US" altLang="ko-KR" sz="1200" dirty="0">
                <a:solidFill>
                  <a:srgbClr val="FF0000"/>
                </a:solidFill>
              </a:rPr>
              <a:t>(Pod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en-US" altLang="ko-KR" sz="1200" dirty="0">
                <a:solidFill>
                  <a:srgbClr val="FF0000"/>
                </a:solidFill>
              </a:rPr>
              <a:t>80</a:t>
            </a:r>
            <a:r>
              <a:rPr lang="ko-KR" altLang="en-US" sz="1200" dirty="0">
                <a:solidFill>
                  <a:srgbClr val="FF0000"/>
                </a:solidFill>
              </a:rPr>
              <a:t>번 포트로 트래픽 전달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200" dirty="0"/>
              <a:t>  selector:          </a:t>
            </a:r>
            <a:r>
              <a:rPr lang="en-US" altLang="ko-KR" sz="1200" dirty="0">
                <a:solidFill>
                  <a:srgbClr val="FF0000"/>
                </a:solidFill>
              </a:rPr>
              <a:t># Service</a:t>
            </a:r>
            <a:r>
              <a:rPr lang="ko-KR" altLang="en-US" sz="1200" dirty="0">
                <a:solidFill>
                  <a:srgbClr val="FF0000"/>
                </a:solidFill>
              </a:rPr>
              <a:t>가 어떤 </a:t>
            </a:r>
            <a:r>
              <a:rPr lang="en-US" altLang="ko-KR" sz="1200" dirty="0">
                <a:solidFill>
                  <a:srgbClr val="FF0000"/>
                </a:solidFill>
              </a:rPr>
              <a:t>Pod</a:t>
            </a:r>
            <a:r>
              <a:rPr lang="ko-KR" altLang="en-US" sz="1200" dirty="0">
                <a:solidFill>
                  <a:srgbClr val="FF0000"/>
                </a:solidFill>
              </a:rPr>
              <a:t>들과 연결될지를 결정하는 부분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app: </a:t>
            </a:r>
            <a:r>
              <a:rPr lang="en-US" altLang="ko-KR" sz="1200" dirty="0" smtClean="0"/>
              <a:t>nginx01   </a:t>
            </a:r>
            <a:r>
              <a:rPr lang="en-US" altLang="ko-KR" sz="1200" dirty="0">
                <a:solidFill>
                  <a:srgbClr val="FF0000"/>
                </a:solidFill>
              </a:rPr>
              <a:t># </a:t>
            </a:r>
            <a:r>
              <a:rPr lang="ko-KR" altLang="en-US" sz="1200" dirty="0" smtClean="0">
                <a:solidFill>
                  <a:srgbClr val="FF0000"/>
                </a:solidFill>
              </a:rPr>
              <a:t>해당 </a:t>
            </a:r>
            <a:r>
              <a:rPr lang="ko-KR" altLang="en-US" sz="1200" dirty="0">
                <a:solidFill>
                  <a:srgbClr val="FF0000"/>
                </a:solidFill>
              </a:rPr>
              <a:t>라벨을 가진 </a:t>
            </a:r>
            <a:r>
              <a:rPr lang="en-US" altLang="ko-KR" sz="1200" dirty="0">
                <a:solidFill>
                  <a:srgbClr val="FF0000"/>
                </a:solidFill>
              </a:rPr>
              <a:t>Pod</a:t>
            </a:r>
            <a:r>
              <a:rPr lang="ko-KR" altLang="en-US" sz="1200" dirty="0">
                <a:solidFill>
                  <a:srgbClr val="FF0000"/>
                </a:solidFill>
              </a:rPr>
              <a:t>들과 연결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type: web-server </a:t>
            </a:r>
            <a:r>
              <a:rPr lang="en-US" altLang="ko-KR" sz="1200" dirty="0" smtClean="0"/>
              <a:t>    </a:t>
            </a:r>
            <a:r>
              <a:rPr lang="en-US" altLang="ko-KR" sz="1200" dirty="0" smtClean="0">
                <a:solidFill>
                  <a:srgbClr val="FF0000"/>
                </a:solidFill>
              </a:rPr>
              <a:t># </a:t>
            </a:r>
            <a:r>
              <a:rPr lang="ko-KR" altLang="en-US" sz="1200" dirty="0" smtClean="0">
                <a:solidFill>
                  <a:srgbClr val="FF0000"/>
                </a:solidFill>
              </a:rPr>
              <a:t>해당 </a:t>
            </a:r>
            <a:r>
              <a:rPr lang="ko-KR" altLang="en-US" sz="1200" dirty="0">
                <a:solidFill>
                  <a:srgbClr val="FF0000"/>
                </a:solidFill>
              </a:rPr>
              <a:t>라벨을 가진 </a:t>
            </a:r>
            <a:r>
              <a:rPr lang="en-US" altLang="ko-KR" sz="1200" dirty="0">
                <a:solidFill>
                  <a:srgbClr val="FF0000"/>
                </a:solidFill>
              </a:rPr>
              <a:t>Pod</a:t>
            </a:r>
            <a:r>
              <a:rPr lang="ko-KR" altLang="en-US" sz="1200" dirty="0">
                <a:solidFill>
                  <a:srgbClr val="FF0000"/>
                </a:solidFill>
              </a:rPr>
              <a:t>들과 연결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type: </a:t>
            </a:r>
            <a:r>
              <a:rPr lang="en-US" altLang="ko-KR" sz="1200" dirty="0" err="1"/>
              <a:t>ClusterIP</a:t>
            </a:r>
            <a:r>
              <a:rPr lang="en-US" altLang="ko-KR" sz="1200" dirty="0"/>
              <a:t>    #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기본 타입으로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클러스터 내부에서만 접근할 수 있는 </a:t>
            </a:r>
            <a:r>
              <a:rPr lang="en-US" altLang="ko-KR" sz="1200" dirty="0">
                <a:solidFill>
                  <a:srgbClr val="FF0000"/>
                </a:solidFill>
              </a:rP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138" y="441008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ClusterIP</a:t>
            </a:r>
            <a:r>
              <a:rPr lang="en-US" altLang="ko-KR" sz="1400" dirty="0" smtClean="0"/>
              <a:t> Service </a:t>
            </a:r>
            <a:r>
              <a:rPr lang="ko-KR" altLang="en-US" sz="1400" dirty="0" smtClean="0"/>
              <a:t>생성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4717858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</a:t>
            </a:r>
            <a:r>
              <a:rPr lang="en-US" altLang="ko-KR" sz="1200" dirty="0">
                <a:solidFill>
                  <a:schemeClr val="bg1"/>
                </a:solidFill>
              </a:rPr>
              <a:t>-f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nginx01-service-cluster.yaml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service/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-service-cluster created	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521030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상태 확인</a:t>
            </a:r>
            <a:endParaRPr lang="en-US" altLang="ko-KR" sz="1400" dirty="0"/>
          </a:p>
        </p:txBody>
      </p:sp>
      <p:sp>
        <p:nvSpPr>
          <p:cNvPr id="8" name="TextBox 3"/>
          <p:cNvSpPr txBox="1"/>
          <p:nvPr/>
        </p:nvSpPr>
        <p:spPr>
          <a:xfrm>
            <a:off x="753028" y="5518078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TYPE           </a:t>
            </a:r>
            <a:r>
              <a:rPr lang="en-US" altLang="ko-KR" sz="1200" dirty="0">
                <a:solidFill>
                  <a:schemeClr val="bg1"/>
                </a:solidFill>
              </a:rPr>
              <a:t>CLUSTER-IP       EXTERNAL-IP     PORT(S)     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nginx01-service-cluster   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ClusterIP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10.110.249.31     </a:t>
            </a:r>
            <a:r>
              <a:rPr lang="en-US" altLang="ko-KR" sz="1200" dirty="0">
                <a:solidFill>
                  <a:schemeClr val="bg1"/>
                </a:solidFill>
              </a:rPr>
              <a:t>&lt;none&gt;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80/TCP         67s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462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특징</a:t>
            </a:r>
            <a:r>
              <a:rPr lang="en-US" altLang="ko-KR" sz="1400" dirty="0" smtClean="0"/>
              <a:t>: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외부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접근이 불가하며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내부 서비스 간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통신 시 사용</a:t>
            </a:r>
            <a:endParaRPr lang="en-US" altLang="ko-KR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19138" y="11619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2-cluster-service.yaml</a:t>
            </a:r>
            <a:r>
              <a:rPr lang="en-US" altLang="ko-KR" sz="1400" dirty="0" smtClean="0"/>
              <a:t>)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17759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9138" y="60681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의 연동 여부 </a:t>
            </a:r>
            <a:r>
              <a:rPr lang="ko-KR" altLang="en-US" sz="1400" dirty="0"/>
              <a:t>확인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914587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endpoints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nginx01-service-cluster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ENDPOINTS    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nginx01-service-cluster   10.244.0.117:80     3s	# 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와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연동 확인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nginx01-service-cluster   </a:t>
            </a:r>
            <a:r>
              <a:rPr lang="en-US" altLang="ko-KR" sz="1200" dirty="0">
                <a:solidFill>
                  <a:schemeClr val="bg1"/>
                </a:solidFill>
              </a:rPr>
              <a:t>&lt;none&gt;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78s	# ENDPOINTS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비어있으면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연동 실패 상태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253" y="199551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가 연동 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종류 확인</a:t>
            </a:r>
            <a:endParaRPr lang="en-US" altLang="ko-KR" sz="1400" dirty="0"/>
          </a:p>
        </p:txBody>
      </p:sp>
      <p:sp>
        <p:nvSpPr>
          <p:cNvPr id="8" name="TextBox 3"/>
          <p:cNvSpPr txBox="1"/>
          <p:nvPr/>
        </p:nvSpPr>
        <p:spPr>
          <a:xfrm>
            <a:off x="762081" y="2303291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# Service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ENDPOINT</a:t>
            </a:r>
            <a:r>
              <a:rPr lang="ko-KR" altLang="en-US" sz="1200" dirty="0">
                <a:solidFill>
                  <a:schemeClr val="bg1"/>
                </a:solidFill>
              </a:rPr>
              <a:t>와 동일한 </a:t>
            </a:r>
            <a:r>
              <a:rPr lang="en-US" altLang="ko-KR" sz="1200" dirty="0">
                <a:solidFill>
                  <a:schemeClr val="bg1"/>
                </a:solidFill>
              </a:rPr>
              <a:t>IP</a:t>
            </a:r>
            <a:r>
              <a:rPr lang="ko-KR" altLang="en-US" sz="1200" dirty="0">
                <a:solidFill>
                  <a:schemeClr val="bg1"/>
                </a:solidFill>
              </a:rPr>
              <a:t>를 지닌 </a:t>
            </a:r>
            <a:r>
              <a:rPr lang="en-US" altLang="ko-KR" sz="1200" dirty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가 연동된 </a:t>
            </a:r>
            <a:r>
              <a:rPr lang="ko-KR" altLang="en-US" sz="1200" dirty="0" smtClean="0">
                <a:solidFill>
                  <a:schemeClr val="bg1"/>
                </a:solidFill>
              </a:rPr>
              <a:t>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pods </a:t>
            </a:r>
            <a:r>
              <a:rPr lang="en-US" altLang="ko-KR" sz="1200" dirty="0" smtClean="0">
                <a:solidFill>
                  <a:schemeClr val="bg1"/>
                </a:solidFill>
              </a:rPr>
              <a:t>-o wide		# 'nginx01'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en-US" altLang="ko-KR" sz="1200" dirty="0" smtClean="0">
                <a:solidFill>
                  <a:schemeClr val="bg1"/>
                </a:solidFill>
              </a:rPr>
              <a:t>'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nginx01-service-cluster '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와 연동 된 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RESTARTS   AGE   IP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</a:t>
            </a:r>
            <a:r>
              <a:rPr lang="en-US" altLang="ko-KR" sz="1200" dirty="0">
                <a:solidFill>
                  <a:schemeClr val="bg1"/>
                </a:solidFill>
              </a:rPr>
              <a:t>NODE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NOMINATED NODE   READINESS GATES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nginx01   </a:t>
            </a:r>
            <a:r>
              <a:rPr lang="en-US" altLang="ko-KR" sz="1200" dirty="0">
                <a:solidFill>
                  <a:schemeClr val="bg1"/>
                </a:solidFill>
              </a:rPr>
              <a:t>1/1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Running   0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26m  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10.244.0.117   </a:t>
            </a:r>
            <a:r>
              <a:rPr lang="en-US" altLang="ko-KR" sz="1200" dirty="0">
                <a:solidFill>
                  <a:schemeClr val="bg1"/>
                </a:solidFill>
              </a:rPr>
              <a:t>k8sedu-node01   &lt;none&gt;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&lt;</a:t>
            </a:r>
            <a:r>
              <a:rPr lang="en-US" altLang="ko-KR" sz="1200" dirty="0">
                <a:solidFill>
                  <a:schemeClr val="bg1"/>
                </a:solidFill>
              </a:rPr>
              <a:t>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9138" y="334973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ClusterIP</a:t>
            </a:r>
            <a:r>
              <a:rPr lang="ko-KR" altLang="en-US" sz="1400" dirty="0" smtClean="0"/>
              <a:t>를 통한 요청 테스트</a:t>
            </a:r>
            <a:endParaRPr lang="en-US" altLang="ko-KR" sz="1400" dirty="0"/>
          </a:p>
        </p:txBody>
      </p:sp>
      <p:sp>
        <p:nvSpPr>
          <p:cNvPr id="13" name="TextBox 3"/>
          <p:cNvSpPr txBox="1"/>
          <p:nvPr/>
        </p:nvSpPr>
        <p:spPr>
          <a:xfrm>
            <a:off x="760966" y="3657509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</a:t>
            </a:r>
            <a:r>
              <a:rPr lang="en-US" altLang="ko-KR" sz="1200" dirty="0">
                <a:solidFill>
                  <a:schemeClr val="bg1"/>
                </a:solidFill>
                <a:hlinkClick r:id="rId3"/>
              </a:rPr>
              <a:t>http://</a:t>
            </a:r>
            <a:r>
              <a:rPr lang="en-US" altLang="ko-KR" sz="1200" dirty="0" smtClean="0">
                <a:solidFill>
                  <a:schemeClr val="bg1"/>
                </a:solidFill>
                <a:hlinkClick r:id="rId3"/>
              </a:rPr>
              <a:t>10.244.0.117:80</a:t>
            </a:r>
            <a:r>
              <a:rPr lang="en-US" altLang="ko-KR" sz="1200" dirty="0" smtClean="0">
                <a:solidFill>
                  <a:schemeClr val="bg1"/>
                </a:solidFill>
              </a:rPr>
              <a:t> 		 # 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</a:rPr>
              <a:t>ENDPOINT</a:t>
            </a:r>
            <a:r>
              <a:rPr lang="ko-KR" altLang="en-US" sz="1200" dirty="0" smtClean="0">
                <a:solidFill>
                  <a:schemeClr val="bg1"/>
                </a:solidFill>
              </a:rPr>
              <a:t>로 호출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	 </a:t>
            </a:r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b="1" dirty="0">
                <a:solidFill>
                  <a:schemeClr val="bg1"/>
                </a:solidFill>
              </a:rPr>
              <a:t>정상 호출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759825" y="1313411"/>
            <a:ext cx="1097280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283825" y="3075309"/>
            <a:ext cx="944880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923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49931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 2</a:t>
            </a:r>
            <a:r>
              <a:rPr lang="en-US" altLang="ko-KR" sz="1400" b="1" dirty="0"/>
              <a:t>. </a:t>
            </a:r>
            <a:r>
              <a:rPr lang="en-US" altLang="ko-KR" sz="1400" b="1" dirty="0" err="1"/>
              <a:t>NodePort</a:t>
            </a:r>
            <a:r>
              <a:rPr lang="en-US" altLang="ko-KR" sz="1400" b="1" dirty="0" smtClean="0"/>
              <a:t>]</a:t>
            </a:r>
            <a:endParaRPr lang="en-US" altLang="ko-KR" sz="1200" dirty="0"/>
          </a:p>
        </p:txBody>
      </p:sp>
      <p:sp>
        <p:nvSpPr>
          <p:cNvPr id="5" name="TextBox 3"/>
          <p:cNvSpPr txBox="1"/>
          <p:nvPr/>
        </p:nvSpPr>
        <p:spPr>
          <a:xfrm>
            <a:off x="753029" y="1473925"/>
            <a:ext cx="10838341" cy="3046988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Service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nginx01</a:t>
            </a:r>
            <a:endParaRPr lang="en-US" altLang="ko-KR" sz="1200" dirty="0"/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nginx01-service-nodeport</a:t>
            </a:r>
            <a:endParaRPr lang="en-US" altLang="ko-KR" sz="1200" dirty="0"/>
          </a:p>
          <a:p>
            <a:r>
              <a:rPr lang="en-US" altLang="ko-KR" sz="1200" dirty="0" smtClean="0"/>
              <a:t>spec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ports:</a:t>
            </a:r>
          </a:p>
          <a:p>
            <a:r>
              <a:rPr lang="en-US" altLang="ko-KR" sz="1200" dirty="0"/>
              <a:t>  - </a:t>
            </a:r>
            <a:r>
              <a:rPr lang="en-US" altLang="ko-KR" sz="1200" dirty="0" err="1"/>
              <a:t>nodePort</a:t>
            </a:r>
            <a:r>
              <a:rPr lang="en-US" altLang="ko-KR" sz="1200" dirty="0"/>
              <a:t>: 30100   </a:t>
            </a:r>
            <a:r>
              <a:rPr lang="en-US" altLang="ko-KR" sz="1200" dirty="0">
                <a:solidFill>
                  <a:srgbClr val="FF0000"/>
                </a:solidFill>
              </a:rPr>
              <a:t># </a:t>
            </a:r>
            <a:r>
              <a:rPr lang="ko-KR" altLang="en-US" sz="1200" dirty="0">
                <a:solidFill>
                  <a:srgbClr val="FF0000"/>
                </a:solidFill>
              </a:rPr>
              <a:t>클러스터 외부에서 이 포트를 통해 접근 </a:t>
            </a:r>
            <a:r>
              <a:rPr lang="ko-KR" altLang="en-US" sz="1200" dirty="0" smtClean="0">
                <a:solidFill>
                  <a:srgbClr val="FF0000"/>
                </a:solidFill>
              </a:rPr>
              <a:t>가능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port: 80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targetPort</a:t>
            </a:r>
            <a:r>
              <a:rPr lang="en-US" altLang="ko-KR" sz="1200" dirty="0"/>
              <a:t>: 80</a:t>
            </a:r>
          </a:p>
          <a:p>
            <a:r>
              <a:rPr lang="en-US" altLang="ko-KR" sz="1200" dirty="0"/>
              <a:t>  selector: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nginx01</a:t>
            </a:r>
          </a:p>
          <a:p>
            <a:r>
              <a:rPr lang="en-US" altLang="ko-KR" sz="1200" dirty="0" smtClean="0"/>
              <a:t>    type: web-server</a:t>
            </a:r>
          </a:p>
          <a:p>
            <a:r>
              <a:rPr lang="en-US" altLang="ko-KR" sz="1200" dirty="0" smtClean="0"/>
              <a:t>  </a:t>
            </a:r>
            <a:r>
              <a:rPr lang="en-US" altLang="ko-KR" sz="1200" dirty="0"/>
              <a:t>type: </a:t>
            </a:r>
            <a:r>
              <a:rPr lang="en-US" altLang="ko-KR" sz="1200" dirty="0" err="1" smtClean="0"/>
              <a:t>NodePort</a:t>
            </a:r>
            <a:r>
              <a:rPr lang="en-US" altLang="ko-KR" sz="1200" dirty="0"/>
              <a:t>   </a:t>
            </a:r>
            <a:r>
              <a:rPr lang="en-US" altLang="ko-KR" sz="1200" dirty="0">
                <a:solidFill>
                  <a:srgbClr val="FF0000"/>
                </a:solidFill>
              </a:rPr>
              <a:t># </a:t>
            </a:r>
            <a:r>
              <a:rPr lang="en-US" altLang="ko-KR" sz="1200" dirty="0" smtClean="0">
                <a:solidFill>
                  <a:srgbClr val="FF0000"/>
                </a:solidFill>
              </a:rPr>
              <a:t>Service</a:t>
            </a:r>
            <a:r>
              <a:rPr lang="ko-KR" altLang="en-US" sz="1200" dirty="0">
                <a:solidFill>
                  <a:srgbClr val="FF0000"/>
                </a:solidFill>
              </a:rPr>
              <a:t>의 타입을 </a:t>
            </a:r>
            <a:r>
              <a:rPr lang="en-US" altLang="ko-KR" sz="1200" dirty="0" err="1">
                <a:solidFill>
                  <a:srgbClr val="FF0000"/>
                </a:solidFill>
              </a:rPr>
              <a:t>NodePort</a:t>
            </a:r>
            <a:r>
              <a:rPr lang="ko-KR" altLang="en-US" sz="1200" dirty="0">
                <a:solidFill>
                  <a:srgbClr val="FF0000"/>
                </a:solidFill>
              </a:rPr>
              <a:t>로 설정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9138" y="454391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NodePort</a:t>
            </a:r>
            <a:r>
              <a:rPr lang="en-US" altLang="ko-KR" sz="1400" dirty="0" smtClean="0"/>
              <a:t> Service </a:t>
            </a:r>
            <a:r>
              <a:rPr lang="ko-KR" altLang="en-US" sz="1400" dirty="0" smtClean="0"/>
              <a:t>생성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4851693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nginx01-service-nodeport.yaml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service/nginx01-service-nodeport created	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534413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상태 확인</a:t>
            </a:r>
            <a:endParaRPr lang="en-US" altLang="ko-KR" sz="1400" dirty="0"/>
          </a:p>
        </p:txBody>
      </p:sp>
      <p:sp>
        <p:nvSpPr>
          <p:cNvPr id="8" name="TextBox 3"/>
          <p:cNvSpPr txBox="1"/>
          <p:nvPr/>
        </p:nvSpPr>
        <p:spPr>
          <a:xfrm>
            <a:off x="753028" y="5651913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TYPE           </a:t>
            </a:r>
            <a:r>
              <a:rPr lang="en-US" altLang="ko-KR" sz="1200" dirty="0">
                <a:solidFill>
                  <a:schemeClr val="bg1"/>
                </a:solidFill>
              </a:rPr>
              <a:t>CLUSTER-IP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EXTERNAL-IP     </a:t>
            </a:r>
            <a:r>
              <a:rPr lang="en-US" altLang="ko-KR" sz="1200" dirty="0">
                <a:solidFill>
                  <a:schemeClr val="bg1"/>
                </a:solidFill>
              </a:rPr>
              <a:t>PORT(S)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nginx01-service-nodeport   </a:t>
            </a:r>
            <a:r>
              <a:rPr lang="en-US" altLang="ko-KR" sz="1200" dirty="0" err="1">
                <a:solidFill>
                  <a:schemeClr val="bg1"/>
                </a:solidFill>
              </a:rPr>
              <a:t>NodePort</a:t>
            </a:r>
            <a:r>
              <a:rPr lang="en-US" altLang="ko-KR" sz="1200" dirty="0">
                <a:solidFill>
                  <a:schemeClr val="bg1"/>
                </a:solidFill>
              </a:rPr>
              <a:t>     10.102.164.219     &lt;none&gt;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80:30100/TCP   </a:t>
            </a:r>
            <a:r>
              <a:rPr lang="en-US" altLang="ko-KR" sz="1200" dirty="0">
                <a:solidFill>
                  <a:schemeClr val="bg1"/>
                </a:solidFill>
              </a:rPr>
              <a:t>15s</a:t>
            </a:r>
            <a:r>
              <a:rPr lang="en-US" altLang="ko-KR" sz="1200" dirty="0" smtClean="0">
                <a:solidFill>
                  <a:schemeClr val="bg1"/>
                </a:solidFill>
              </a:rPr>
              <a:t>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462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/>
              <a:t>특징</a:t>
            </a:r>
            <a:r>
              <a:rPr lang="en-US" altLang="ko-KR" sz="1400" dirty="0"/>
              <a:t>: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노드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IP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를 통해 접근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고정 포트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138" y="11619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Cluster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3-nodeport-service.yaml</a:t>
            </a:r>
            <a:r>
              <a:rPr lang="en-US" altLang="ko-KR" sz="1400" dirty="0" smtClean="0"/>
              <a:t>)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3025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9138" y="52368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의 연동 여부 </a:t>
            </a:r>
            <a:r>
              <a:rPr lang="ko-KR" altLang="en-US" sz="1400" dirty="0"/>
              <a:t>확인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831458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endpoints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nginx01-service-nodeport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ENDPOINTS    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nginx01-service-nodeport   10.244.0.117:80     3s		# 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와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연동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253" y="150506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가 연동 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종류 확인</a:t>
            </a:r>
            <a:endParaRPr lang="en-US" altLang="ko-KR" sz="1400" dirty="0"/>
          </a:p>
        </p:txBody>
      </p:sp>
      <p:sp>
        <p:nvSpPr>
          <p:cNvPr id="8" name="TextBox 3"/>
          <p:cNvSpPr txBox="1"/>
          <p:nvPr/>
        </p:nvSpPr>
        <p:spPr>
          <a:xfrm>
            <a:off x="762081" y="1812839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# Service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ENDPOINT</a:t>
            </a:r>
            <a:r>
              <a:rPr lang="ko-KR" altLang="en-US" sz="1200" dirty="0">
                <a:solidFill>
                  <a:schemeClr val="bg1"/>
                </a:solidFill>
              </a:rPr>
              <a:t>와 동일한 </a:t>
            </a:r>
            <a:r>
              <a:rPr lang="en-US" altLang="ko-KR" sz="1200" dirty="0">
                <a:solidFill>
                  <a:schemeClr val="bg1"/>
                </a:solidFill>
              </a:rPr>
              <a:t>IP</a:t>
            </a:r>
            <a:r>
              <a:rPr lang="ko-KR" altLang="en-US" sz="1200" dirty="0">
                <a:solidFill>
                  <a:schemeClr val="bg1"/>
                </a:solidFill>
              </a:rPr>
              <a:t>를 지닌 </a:t>
            </a:r>
            <a:r>
              <a:rPr lang="en-US" altLang="ko-KR" sz="1200" dirty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가 연동된 </a:t>
            </a:r>
            <a:r>
              <a:rPr lang="ko-KR" altLang="en-US" sz="1200" dirty="0" smtClean="0">
                <a:solidFill>
                  <a:schemeClr val="bg1"/>
                </a:solidFill>
              </a:rPr>
              <a:t>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smtClean="0">
                <a:solidFill>
                  <a:schemeClr val="bg1"/>
                </a:solidFill>
              </a:rPr>
              <a:t>pods -o wide		# 'nginx01'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en-US" altLang="ko-KR" sz="1200" dirty="0" smtClean="0">
                <a:solidFill>
                  <a:schemeClr val="bg1"/>
                </a:solidFill>
              </a:rPr>
              <a:t>'nginx01-service-nodeport'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와 연동 된 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READY   </a:t>
            </a:r>
            <a:r>
              <a:rPr lang="en-US" altLang="ko-KR" sz="1200" dirty="0">
                <a:solidFill>
                  <a:schemeClr val="bg1"/>
                </a:solidFill>
              </a:rPr>
              <a:t>STATUS    RESTARTS   AGE   IP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</a:t>
            </a:r>
            <a:r>
              <a:rPr lang="en-US" altLang="ko-KR" sz="1200" dirty="0">
                <a:solidFill>
                  <a:schemeClr val="bg1"/>
                </a:solidFill>
              </a:rPr>
              <a:t>NODE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NOMINATED NODE   READINESS GATES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nginx01   </a:t>
            </a:r>
            <a:r>
              <a:rPr lang="en-US" altLang="ko-KR" sz="1200" dirty="0">
                <a:solidFill>
                  <a:schemeClr val="bg1"/>
                </a:solidFill>
              </a:rPr>
              <a:t>1/1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Running   0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26m  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10.244.0.117   </a:t>
            </a:r>
            <a:r>
              <a:rPr lang="en-US" altLang="ko-KR" sz="1200" dirty="0">
                <a:solidFill>
                  <a:schemeClr val="bg1"/>
                </a:solidFill>
              </a:rPr>
              <a:t>k8sedu-node01   &lt;none&gt;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&lt;</a:t>
            </a:r>
            <a:r>
              <a:rPr lang="en-US" altLang="ko-KR" sz="1200" dirty="0">
                <a:solidFill>
                  <a:schemeClr val="bg1"/>
                </a:solidFill>
              </a:rPr>
              <a:t>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9138" y="2884217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내부에서 </a:t>
            </a:r>
            <a:r>
              <a:rPr lang="en-US" altLang="ko-KR" sz="1400" dirty="0" err="1" smtClean="0"/>
              <a:t>Nodeport</a:t>
            </a:r>
            <a:r>
              <a:rPr lang="ko-KR" altLang="en-US" sz="1400" dirty="0" smtClean="0"/>
              <a:t>를 통한 요청 테스트</a:t>
            </a:r>
            <a:endParaRPr lang="en-US" altLang="ko-KR" sz="1400" dirty="0"/>
          </a:p>
        </p:txBody>
      </p:sp>
      <p:sp>
        <p:nvSpPr>
          <p:cNvPr id="13" name="TextBox 3"/>
          <p:cNvSpPr txBox="1"/>
          <p:nvPr/>
        </p:nvSpPr>
        <p:spPr>
          <a:xfrm>
            <a:off x="760966" y="3191994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http://192.168.53.21:30100</a:t>
            </a:r>
            <a:r>
              <a:rPr lang="en-US" altLang="ko-KR" sz="1200" dirty="0" smtClean="0">
                <a:solidFill>
                  <a:schemeClr val="bg1"/>
                </a:solidFill>
              </a:rPr>
              <a:t>/		 # ‘[NODE_IP]:[NODE_PORT]‘ </a:t>
            </a:r>
            <a:r>
              <a:rPr lang="ko-KR" altLang="en-US" sz="1200" dirty="0" smtClean="0">
                <a:solidFill>
                  <a:schemeClr val="bg1"/>
                </a:solidFill>
              </a:rPr>
              <a:t>로 호출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	 </a:t>
            </a:r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b="1" dirty="0">
                <a:solidFill>
                  <a:schemeClr val="bg1"/>
                </a:solidFill>
              </a:rPr>
              <a:t>정상 호출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9138" y="404793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외부에서 </a:t>
            </a:r>
            <a:r>
              <a:rPr lang="en-US" altLang="ko-KR" sz="1400" dirty="0" err="1" smtClean="0"/>
              <a:t>Nodeport</a:t>
            </a:r>
            <a:r>
              <a:rPr lang="ko-KR" altLang="en-US" sz="1400" dirty="0" smtClean="0"/>
              <a:t>를 통한 요청 테스트</a:t>
            </a:r>
            <a:endParaRPr lang="en-US" altLang="ko-KR" sz="1400" dirty="0"/>
          </a:p>
        </p:txBody>
      </p:sp>
      <p:pic>
        <p:nvPicPr>
          <p:cNvPr id="11" name="그림 1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60966" y="4337168"/>
            <a:ext cx="5788800" cy="196920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09625" y="4339131"/>
            <a:ext cx="1400175" cy="1884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283825" y="2584855"/>
            <a:ext cx="944880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951018" y="1238594"/>
            <a:ext cx="1097280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4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49931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 3. </a:t>
            </a:r>
            <a:r>
              <a:rPr lang="en-US" altLang="ko-KR" sz="1400" b="1" dirty="0" err="1"/>
              <a:t>LoadBalancer</a:t>
            </a:r>
            <a:r>
              <a:rPr lang="en-US" altLang="ko-KR" sz="1400" b="1" dirty="0" smtClean="0"/>
              <a:t>]</a:t>
            </a:r>
            <a:endParaRPr lang="en-US" altLang="ko-KR" sz="1200" dirty="0"/>
          </a:p>
        </p:txBody>
      </p:sp>
      <p:sp>
        <p:nvSpPr>
          <p:cNvPr id="5" name="TextBox 3"/>
          <p:cNvSpPr txBox="1"/>
          <p:nvPr/>
        </p:nvSpPr>
        <p:spPr>
          <a:xfrm>
            <a:off x="753029" y="1501357"/>
            <a:ext cx="10838341" cy="2862322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Service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nginx01</a:t>
            </a:r>
            <a:endParaRPr lang="en-US" altLang="ko-KR" sz="1200" dirty="0"/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nginx01-service-loadbalancer</a:t>
            </a:r>
            <a:endParaRPr lang="en-US" altLang="ko-KR" sz="1200" dirty="0"/>
          </a:p>
          <a:p>
            <a:r>
              <a:rPr lang="en-US" altLang="ko-KR" sz="1200" dirty="0" smtClean="0"/>
              <a:t>spec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ports:</a:t>
            </a:r>
          </a:p>
          <a:p>
            <a:r>
              <a:rPr lang="en-US" altLang="ko-KR" sz="1200" dirty="0"/>
              <a:t>  - port: 80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targetPort</a:t>
            </a:r>
            <a:r>
              <a:rPr lang="en-US" altLang="ko-KR" sz="1200" dirty="0"/>
              <a:t>: 80</a:t>
            </a:r>
          </a:p>
          <a:p>
            <a:r>
              <a:rPr lang="en-US" altLang="ko-KR" sz="1200" dirty="0"/>
              <a:t>  selector: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nginx01</a:t>
            </a:r>
            <a:endParaRPr lang="en-US" altLang="ko-KR" sz="1200" dirty="0"/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type: </a:t>
            </a:r>
            <a:r>
              <a:rPr lang="en-US" altLang="ko-KR" sz="1200" dirty="0" err="1" smtClean="0"/>
              <a:t>LoadBalancer</a:t>
            </a: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# Service</a:t>
            </a:r>
            <a:r>
              <a:rPr lang="ko-KR" altLang="en-US" sz="1200" dirty="0">
                <a:solidFill>
                  <a:srgbClr val="FF0000"/>
                </a:solidFill>
              </a:rPr>
              <a:t>의 타입을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LoadBalancer</a:t>
            </a:r>
            <a:r>
              <a:rPr lang="ko-KR" altLang="en-US" sz="1200" dirty="0" smtClean="0">
                <a:solidFill>
                  <a:srgbClr val="FF0000"/>
                </a:solidFill>
              </a:rPr>
              <a:t>로 </a:t>
            </a:r>
            <a:r>
              <a:rPr lang="ko-KR" altLang="en-US" sz="1200" dirty="0">
                <a:solidFill>
                  <a:srgbClr val="FF0000"/>
                </a:solidFill>
              </a:rPr>
              <a:t>설정</a:t>
            </a:r>
            <a:endParaRPr lang="en-US" altLang="ko-KR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19138" y="437246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NodePort</a:t>
            </a:r>
            <a:r>
              <a:rPr lang="en-US" altLang="ko-KR" sz="1400" dirty="0" smtClean="0"/>
              <a:t> Service </a:t>
            </a:r>
            <a:r>
              <a:rPr lang="ko-KR" altLang="en-US" sz="1400" dirty="0" smtClean="0"/>
              <a:t>생성</a:t>
            </a:r>
            <a:endParaRPr lang="en-US" altLang="ko-KR" sz="1400" dirty="0"/>
          </a:p>
        </p:txBody>
      </p:sp>
      <p:sp>
        <p:nvSpPr>
          <p:cNvPr id="11" name="TextBox 3"/>
          <p:cNvSpPr txBox="1"/>
          <p:nvPr/>
        </p:nvSpPr>
        <p:spPr>
          <a:xfrm>
            <a:off x="760966" y="4680243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nginx01-service-loadbalancer.yaml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service/nginx01-service-loadbalancer created	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517268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상태 확인</a:t>
            </a:r>
            <a:endParaRPr lang="en-US" altLang="ko-KR" sz="14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5480463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 TYPE              CLUSTER-IP       </a:t>
            </a:r>
            <a:r>
              <a:rPr lang="en-US" altLang="ko-KR" sz="1200" dirty="0">
                <a:solidFill>
                  <a:schemeClr val="bg1"/>
                </a:solidFill>
              </a:rPr>
              <a:t>EXTERNAL-IP     PORT(S)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nginx01-service-loadbalancer   </a:t>
            </a:r>
            <a:r>
              <a:rPr lang="en-US" altLang="ko-KR" sz="1200" dirty="0" err="1">
                <a:solidFill>
                  <a:schemeClr val="bg1"/>
                </a:solidFill>
              </a:rPr>
              <a:t>LoadBalancer</a:t>
            </a:r>
            <a:r>
              <a:rPr lang="en-US" altLang="ko-KR" sz="1200" dirty="0">
                <a:solidFill>
                  <a:schemeClr val="bg1"/>
                </a:solidFill>
              </a:rPr>
              <a:t>   10.102.111.36   </a:t>
            </a:r>
            <a:r>
              <a:rPr lang="en-US" altLang="ko-KR" sz="1200" dirty="0" smtClean="0">
                <a:solidFill>
                  <a:schemeClr val="bg1"/>
                </a:solidFill>
              </a:rPr>
              <a:t> 192.168.53.21     80:30789/TCP    7s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1200" y="7462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/>
              <a:t>특징</a:t>
            </a:r>
            <a:r>
              <a:rPr lang="en-US" altLang="ko-KR" sz="1400" dirty="0"/>
              <a:t>: </a:t>
            </a:r>
            <a:r>
              <a:rPr lang="en-US" altLang="ko-KR" sz="14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LoadBalancer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 IP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</a:rPr>
              <a:t>를 통해 접근</a:t>
            </a:r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9138" y="11619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Cluster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4-loadbalancer-service.yaml</a:t>
            </a:r>
            <a:r>
              <a:rPr lang="en-US" altLang="ko-KR" sz="1400" dirty="0" smtClean="0"/>
              <a:t>)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288043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9138" y="52368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의 연동 여부 </a:t>
            </a:r>
            <a:r>
              <a:rPr lang="ko-KR" altLang="en-US" sz="1400" dirty="0"/>
              <a:t>확인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831458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endpoints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nginx01-service-loadbalancer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ENDPOINTS    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-service-</a:t>
            </a:r>
            <a:r>
              <a:rPr lang="en-US" altLang="ko-KR" sz="1200" dirty="0" err="1">
                <a:solidFill>
                  <a:schemeClr val="bg1"/>
                </a:solidFill>
              </a:rPr>
              <a:t>loadbalancer</a:t>
            </a:r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10.244.0.117:80     3s		# 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와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연동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253" y="150506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가 연동 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종류 확인</a:t>
            </a:r>
            <a:endParaRPr lang="en-US" altLang="ko-KR" sz="1400" dirty="0"/>
          </a:p>
        </p:txBody>
      </p:sp>
      <p:sp>
        <p:nvSpPr>
          <p:cNvPr id="8" name="TextBox 3"/>
          <p:cNvSpPr txBox="1"/>
          <p:nvPr/>
        </p:nvSpPr>
        <p:spPr>
          <a:xfrm>
            <a:off x="762081" y="1812839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# Service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ENDPOINT</a:t>
            </a:r>
            <a:r>
              <a:rPr lang="ko-KR" altLang="en-US" sz="1200" dirty="0">
                <a:solidFill>
                  <a:schemeClr val="bg1"/>
                </a:solidFill>
              </a:rPr>
              <a:t>와 동일한 </a:t>
            </a:r>
            <a:r>
              <a:rPr lang="en-US" altLang="ko-KR" sz="1200" dirty="0">
                <a:solidFill>
                  <a:schemeClr val="bg1"/>
                </a:solidFill>
              </a:rPr>
              <a:t>IP</a:t>
            </a:r>
            <a:r>
              <a:rPr lang="ko-KR" altLang="en-US" sz="1200" dirty="0">
                <a:solidFill>
                  <a:schemeClr val="bg1"/>
                </a:solidFill>
              </a:rPr>
              <a:t>를 지닌 </a:t>
            </a:r>
            <a:r>
              <a:rPr lang="en-US" altLang="ko-KR" sz="1200" dirty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가 연동된 </a:t>
            </a:r>
            <a:r>
              <a:rPr lang="ko-KR" altLang="en-US" sz="1200" dirty="0" smtClean="0">
                <a:solidFill>
                  <a:schemeClr val="bg1"/>
                </a:solidFill>
              </a:rPr>
              <a:t>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pods </a:t>
            </a:r>
            <a:r>
              <a:rPr lang="en-US" altLang="ko-KR" sz="1200" dirty="0" smtClean="0">
                <a:solidFill>
                  <a:schemeClr val="bg1"/>
                </a:solidFill>
              </a:rPr>
              <a:t>-o wide		# 'nginx01'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en-US" altLang="ko-KR" sz="1200" dirty="0">
                <a:solidFill>
                  <a:schemeClr val="bg1"/>
                </a:solidFill>
              </a:rPr>
              <a:t>‘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nginx01-service-loadbalancer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Service</a:t>
            </a:r>
            <a:r>
              <a:rPr lang="ko-KR" altLang="en-US" sz="1200" dirty="0" smtClean="0">
                <a:solidFill>
                  <a:schemeClr val="bg1"/>
                </a:solidFill>
              </a:rPr>
              <a:t>와 연동 된 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READY   </a:t>
            </a:r>
            <a:r>
              <a:rPr lang="en-US" altLang="ko-KR" sz="1200" dirty="0">
                <a:solidFill>
                  <a:schemeClr val="bg1"/>
                </a:solidFill>
              </a:rPr>
              <a:t>STATUS    RESTARTS   AGE   IP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</a:t>
            </a:r>
            <a:r>
              <a:rPr lang="en-US" altLang="ko-KR" sz="1200" dirty="0">
                <a:solidFill>
                  <a:schemeClr val="bg1"/>
                </a:solidFill>
              </a:rPr>
              <a:t>NODE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NOMINATED NODE   READINESS GATES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nginx01   </a:t>
            </a:r>
            <a:r>
              <a:rPr lang="en-US" altLang="ko-KR" sz="1200" dirty="0">
                <a:solidFill>
                  <a:schemeClr val="bg1"/>
                </a:solidFill>
              </a:rPr>
              <a:t>1/1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Running   0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26m  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10.244.0.117   </a:t>
            </a:r>
            <a:r>
              <a:rPr lang="en-US" altLang="ko-KR" sz="1200" dirty="0">
                <a:solidFill>
                  <a:schemeClr val="bg1"/>
                </a:solidFill>
              </a:rPr>
              <a:t>k8sedu-node01   &lt;none&gt;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&lt;</a:t>
            </a:r>
            <a:r>
              <a:rPr lang="en-US" altLang="ko-KR" sz="1200" dirty="0">
                <a:solidFill>
                  <a:schemeClr val="bg1"/>
                </a:solidFill>
              </a:rPr>
              <a:t>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9138" y="2884217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내부에서 </a:t>
            </a:r>
            <a:r>
              <a:rPr lang="en-US" altLang="ko-KR" sz="1400" dirty="0" err="1" smtClean="0"/>
              <a:t>LoadbalancerIP</a:t>
            </a:r>
            <a:r>
              <a:rPr lang="ko-KR" altLang="en-US" sz="1400" dirty="0" smtClean="0"/>
              <a:t>를 통한 요청 테스트</a:t>
            </a:r>
            <a:endParaRPr lang="en-US" altLang="ko-KR" sz="1400" dirty="0"/>
          </a:p>
        </p:txBody>
      </p:sp>
      <p:sp>
        <p:nvSpPr>
          <p:cNvPr id="13" name="TextBox 3"/>
          <p:cNvSpPr txBox="1"/>
          <p:nvPr/>
        </p:nvSpPr>
        <p:spPr>
          <a:xfrm>
            <a:off x="760966" y="3191994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http://</a:t>
            </a:r>
            <a:r>
              <a:rPr lang="en-US" altLang="ko-KR" sz="1200" dirty="0" smtClean="0">
                <a:solidFill>
                  <a:schemeClr val="bg1"/>
                </a:solidFill>
              </a:rPr>
              <a:t>192.168.53.21:80/		 # ‘[EXTERNAL_IP]:[PORT]‘ </a:t>
            </a:r>
            <a:r>
              <a:rPr lang="ko-KR" altLang="en-US" sz="1200" dirty="0" smtClean="0">
                <a:solidFill>
                  <a:schemeClr val="bg1"/>
                </a:solidFill>
              </a:rPr>
              <a:t>로 호출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	 </a:t>
            </a:r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b="1" dirty="0">
                <a:solidFill>
                  <a:schemeClr val="bg1"/>
                </a:solidFill>
              </a:rPr>
              <a:t>정상 호출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9138" y="404793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외부에서 </a:t>
            </a:r>
            <a:r>
              <a:rPr lang="en-US" altLang="ko-KR" sz="1400" dirty="0" err="1"/>
              <a:t>LoadbalancerIP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를 통한 요청 테스트</a:t>
            </a:r>
            <a:endParaRPr lang="en-US" altLang="ko-KR" sz="1400" dirty="0"/>
          </a:p>
        </p:txBody>
      </p:sp>
      <p:sp>
        <p:nvSpPr>
          <p:cNvPr id="17" name="직사각형 16"/>
          <p:cNvSpPr/>
          <p:nvPr/>
        </p:nvSpPr>
        <p:spPr>
          <a:xfrm>
            <a:off x="3017522" y="1238594"/>
            <a:ext cx="1097280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283825" y="2584855"/>
            <a:ext cx="944880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60966" y="4322294"/>
            <a:ext cx="5788800" cy="19692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3905" y="4339131"/>
            <a:ext cx="955167" cy="1871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337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3.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NameSpace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378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NameSpace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Cluster</a:t>
            </a:r>
            <a:r>
              <a:rPr lang="ko-KR" altLang="en-US" sz="1400" dirty="0" smtClean="0"/>
              <a:t>에서 여러 개의 논리적인 환경으로 분리한 </a:t>
            </a:r>
            <a:r>
              <a:rPr lang="ko-KR" altLang="en-US" sz="1400" dirty="0"/>
              <a:t>공간으로 리소스를 </a:t>
            </a:r>
            <a:r>
              <a:rPr lang="ko-KR" altLang="en-US" sz="1400" dirty="0" smtClean="0"/>
              <a:t>격리해서 </a:t>
            </a:r>
            <a:r>
              <a:rPr lang="ko-KR" altLang="en-US" sz="1400" dirty="0"/>
              <a:t>관리하기 위해 사용한다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711200" y="1106147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1413924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 namespace space	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namespace/space </a:t>
            </a:r>
            <a:r>
              <a:rPr lang="en-US" altLang="ko-KR" sz="1200" dirty="0">
                <a:solidFill>
                  <a:schemeClr val="bg1"/>
                </a:solidFill>
              </a:rPr>
              <a:t>created </a:t>
            </a:r>
            <a:r>
              <a:rPr lang="en-US" altLang="ko-KR" sz="1200" dirty="0" smtClean="0">
                <a:solidFill>
                  <a:schemeClr val="bg1"/>
                </a:solidFill>
              </a:rPr>
              <a:t>	# ‘space’ Namespace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352555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15" name="TextBox 3"/>
          <p:cNvSpPr txBox="1"/>
          <p:nvPr/>
        </p:nvSpPr>
        <p:spPr>
          <a:xfrm>
            <a:off x="753028" y="3833329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namespace space # ‘space’ Namespace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200" y="289421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안에 사용되고 있는 모든 </a:t>
            </a:r>
            <a:r>
              <a:rPr lang="en-US" altLang="ko-KR" sz="1400" dirty="0" smtClean="0"/>
              <a:t>Resource </a:t>
            </a:r>
            <a:r>
              <a:rPr lang="ko-KR" altLang="en-US" sz="1400" dirty="0" smtClean="0"/>
              <a:t>조회</a:t>
            </a:r>
            <a:endParaRPr lang="en-US" altLang="ko-KR" sz="1200" dirty="0"/>
          </a:p>
        </p:txBody>
      </p:sp>
      <p:sp>
        <p:nvSpPr>
          <p:cNvPr id="17" name="TextBox 3"/>
          <p:cNvSpPr txBox="1"/>
          <p:nvPr/>
        </p:nvSpPr>
        <p:spPr>
          <a:xfrm>
            <a:off x="753028" y="3201989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all -n space		 #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‘space’ Namespace</a:t>
            </a:r>
            <a:r>
              <a:rPr lang="ko-KR" altLang="en-US" sz="1200" dirty="0" smtClean="0">
                <a:solidFill>
                  <a:schemeClr val="bg1"/>
                </a:solidFill>
              </a:rPr>
              <a:t>에 기동 중인 모든 </a:t>
            </a:r>
            <a:r>
              <a:rPr lang="en-US" altLang="ko-KR" sz="1200" dirty="0" smtClean="0">
                <a:solidFill>
                  <a:schemeClr val="bg1"/>
                </a:solidFill>
              </a:rPr>
              <a:t>Resource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200" y="191371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 list </a:t>
            </a:r>
            <a:r>
              <a:rPr lang="ko-KR" altLang="en-US" sz="1400" dirty="0" smtClean="0"/>
              <a:t>조회</a:t>
            </a:r>
            <a:endParaRPr lang="en-US" altLang="ko-KR" sz="1400" dirty="0" smtClean="0"/>
          </a:p>
        </p:txBody>
      </p:sp>
      <p:sp>
        <p:nvSpPr>
          <p:cNvPr id="19" name="TextBox 3"/>
          <p:cNvSpPr txBox="1"/>
          <p:nvPr/>
        </p:nvSpPr>
        <p:spPr>
          <a:xfrm>
            <a:off x="753028" y="2221495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namespace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STATUS  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space         Active         10s	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739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ResourceQuota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753029" y="1476798"/>
            <a:ext cx="10838341" cy="2677656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</a:t>
            </a:r>
            <a:r>
              <a:rPr lang="en-US" altLang="ko-KR" sz="1200" dirty="0" err="1"/>
              <a:t>ResourceQuota</a:t>
            </a:r>
            <a:endParaRPr lang="en-US" altLang="ko-KR" sz="1200" dirty="0"/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space-quota</a:t>
            </a:r>
            <a:endParaRPr lang="en-US" altLang="ko-KR" sz="1200" dirty="0"/>
          </a:p>
          <a:p>
            <a:r>
              <a:rPr lang="en-US" altLang="ko-KR" sz="1200" dirty="0"/>
              <a:t>  namespace: space</a:t>
            </a:r>
          </a:p>
          <a:p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hard:</a:t>
            </a:r>
          </a:p>
          <a:p>
            <a:r>
              <a:rPr lang="en-US" altLang="ko-KR" sz="1200" dirty="0"/>
              <a:t>    pods: "10"                     # </a:t>
            </a:r>
            <a:r>
              <a:rPr lang="ko-KR" altLang="en-US" sz="1200" dirty="0"/>
              <a:t>최대 </a:t>
            </a:r>
            <a:r>
              <a:rPr lang="en-US" altLang="ko-KR" sz="1200" dirty="0"/>
              <a:t>10</a:t>
            </a:r>
            <a:r>
              <a:rPr lang="ko-KR" altLang="en-US" sz="1200" dirty="0"/>
              <a:t>개의 </a:t>
            </a:r>
            <a:r>
              <a:rPr lang="en-US" altLang="ko-KR" sz="1200" dirty="0"/>
              <a:t>Pod</a:t>
            </a:r>
            <a:r>
              <a:rPr lang="ko-KR" altLang="en-US" sz="1200" dirty="0"/>
              <a:t>만 생성 가능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requests.cpu</a:t>
            </a:r>
            <a:r>
              <a:rPr lang="en-US" altLang="ko-KR" sz="1200" dirty="0"/>
              <a:t>: "2"               # </a:t>
            </a:r>
            <a:r>
              <a:rPr lang="ko-KR" altLang="en-US" sz="1200" dirty="0"/>
              <a:t>전체 </a:t>
            </a:r>
            <a:r>
              <a:rPr lang="en-US" altLang="ko-KR" sz="1200" dirty="0"/>
              <a:t>CPU </a:t>
            </a:r>
            <a:r>
              <a:rPr lang="ko-KR" altLang="en-US" sz="1200" dirty="0"/>
              <a:t>요청 합이 </a:t>
            </a:r>
            <a:r>
              <a:rPr lang="en-US" altLang="ko-KR" sz="1200" dirty="0"/>
              <a:t>2</a:t>
            </a:r>
            <a:r>
              <a:rPr lang="ko-KR" altLang="en-US" sz="1200" dirty="0"/>
              <a:t>코어 이하로 제한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requests.memory</a:t>
            </a:r>
            <a:r>
              <a:rPr lang="en-US" altLang="ko-KR" sz="1200" dirty="0"/>
              <a:t>: "8Gi"          # </a:t>
            </a:r>
            <a:r>
              <a:rPr lang="ko-KR" altLang="en-US" sz="1200" dirty="0"/>
              <a:t>전체 메모리 요청 합이 </a:t>
            </a:r>
            <a:r>
              <a:rPr lang="en-US" altLang="ko-KR" sz="1200" dirty="0"/>
              <a:t>8Gi </a:t>
            </a:r>
            <a:r>
              <a:rPr lang="ko-KR" altLang="en-US" sz="1200" dirty="0"/>
              <a:t>이하로 제한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limits.cpu</a:t>
            </a:r>
            <a:r>
              <a:rPr lang="en-US" altLang="ko-KR" sz="1200" dirty="0"/>
              <a:t>: "8"                 # </a:t>
            </a:r>
            <a:r>
              <a:rPr lang="ko-KR" altLang="en-US" sz="1200" dirty="0"/>
              <a:t>전체 </a:t>
            </a:r>
            <a:r>
              <a:rPr lang="en-US" altLang="ko-KR" sz="1200" dirty="0"/>
              <a:t>CPU </a:t>
            </a:r>
            <a:r>
              <a:rPr lang="ko-KR" altLang="en-US" sz="1200" dirty="0"/>
              <a:t>상한 </a:t>
            </a:r>
            <a:r>
              <a:rPr lang="en-US" altLang="ko-KR" sz="1200" dirty="0"/>
              <a:t>8</a:t>
            </a:r>
            <a:r>
              <a:rPr lang="ko-KR" altLang="en-US" sz="1200" dirty="0"/>
              <a:t>코어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limits.memory</a:t>
            </a:r>
            <a:r>
              <a:rPr lang="en-US" altLang="ko-KR" sz="1200" dirty="0"/>
              <a:t>: "16Gi"           # </a:t>
            </a:r>
            <a:r>
              <a:rPr lang="ko-KR" altLang="en-US" sz="1200" dirty="0"/>
              <a:t>전체 메모리 상한 </a:t>
            </a:r>
            <a:r>
              <a:rPr lang="en-US" altLang="ko-KR" sz="1200" dirty="0"/>
              <a:t>16Gi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persistentvolumeclaims</a:t>
            </a:r>
            <a:r>
              <a:rPr lang="en-US" altLang="ko-KR" sz="1200" dirty="0"/>
              <a:t>: "5"     # PVC </a:t>
            </a:r>
            <a:r>
              <a:rPr lang="ko-KR" altLang="en-US" sz="1200" dirty="0"/>
              <a:t>최대 </a:t>
            </a:r>
            <a:r>
              <a:rPr lang="en-US" altLang="ko-KR" sz="1200" dirty="0"/>
              <a:t>5</a:t>
            </a:r>
            <a:r>
              <a:rPr lang="ko-KR" altLang="en-US" sz="1200" dirty="0"/>
              <a:t>개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requests.storage</a:t>
            </a:r>
            <a:r>
              <a:rPr lang="en-US" altLang="ko-KR" sz="1200" dirty="0"/>
              <a:t>: "100Gi"       # </a:t>
            </a:r>
            <a:r>
              <a:rPr lang="ko-KR" altLang="en-US" sz="1200" dirty="0"/>
              <a:t>최대 </a:t>
            </a:r>
            <a:r>
              <a:rPr lang="en-US" altLang="ko-KR" sz="1200" dirty="0"/>
              <a:t>100Gi </a:t>
            </a:r>
            <a:r>
              <a:rPr lang="ko-KR" altLang="en-US" sz="1200" dirty="0"/>
              <a:t>스토리지 요청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138" y="420787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ResourceQuota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설정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4515649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resource-</a:t>
            </a:r>
            <a:r>
              <a:rPr lang="en-US" altLang="ko-KR" sz="1200" dirty="0" err="1">
                <a:solidFill>
                  <a:schemeClr val="bg1"/>
                </a:solidFill>
              </a:rPr>
              <a:t>quota.yaml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resourcequota</a:t>
            </a:r>
            <a:r>
              <a:rPr lang="en-US" altLang="ko-KR" sz="1200" dirty="0" smtClean="0">
                <a:solidFill>
                  <a:schemeClr val="bg1"/>
                </a:solidFill>
              </a:rPr>
              <a:t>/dev-quota </a:t>
            </a:r>
            <a:r>
              <a:rPr lang="en-US" altLang="ko-KR" sz="1200" dirty="0">
                <a:solidFill>
                  <a:schemeClr val="bg1"/>
                </a:solidFill>
              </a:rPr>
              <a:t>created </a:t>
            </a:r>
            <a:r>
              <a:rPr lang="en-US" altLang="ko-KR" sz="1200" dirty="0" smtClean="0">
                <a:solidFill>
                  <a:schemeClr val="bg1"/>
                </a:solidFill>
              </a:rPr>
              <a:t>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ResourceQuota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9138" y="497731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ResourceQuota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상태 확인</a:t>
            </a:r>
            <a:endParaRPr lang="en-US" altLang="ko-KR" sz="1400" dirty="0"/>
          </a:p>
        </p:txBody>
      </p:sp>
      <p:sp>
        <p:nvSpPr>
          <p:cNvPr id="10" name="TextBox 3"/>
          <p:cNvSpPr txBox="1"/>
          <p:nvPr/>
        </p:nvSpPr>
        <p:spPr>
          <a:xfrm>
            <a:off x="760966" y="5285091"/>
            <a:ext cx="10838341" cy="94487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resourcequota</a:t>
            </a:r>
            <a:r>
              <a:rPr lang="en-US" altLang="ko-KR" sz="1200" dirty="0">
                <a:solidFill>
                  <a:schemeClr val="bg1"/>
                </a:solidFill>
              </a:rPr>
              <a:t> -n space</a:t>
            </a:r>
          </a:p>
          <a:p>
            <a:r>
              <a:rPr lang="en-US" altLang="ko-KR" sz="1080" dirty="0" smtClean="0">
                <a:solidFill>
                  <a:schemeClr val="bg1"/>
                </a:solidFill>
              </a:rPr>
              <a:t>   NAME        AGE  REQUEST                                                                                                                                     </a:t>
            </a:r>
            <a:r>
              <a:rPr lang="en-US" altLang="ko-KR" sz="1080" dirty="0">
                <a:solidFill>
                  <a:schemeClr val="bg1"/>
                </a:solidFill>
              </a:rPr>
              <a:t>LIMIT</a:t>
            </a:r>
          </a:p>
          <a:p>
            <a:r>
              <a:rPr lang="en-US" altLang="ko-KR" sz="1080" dirty="0" smtClean="0">
                <a:solidFill>
                  <a:schemeClr val="bg1"/>
                </a:solidFill>
              </a:rPr>
              <a:t>   dev-quota   </a:t>
            </a:r>
            <a:r>
              <a:rPr lang="en-US" altLang="ko-KR" sz="1080" dirty="0">
                <a:solidFill>
                  <a:schemeClr val="bg1"/>
                </a:solidFill>
              </a:rPr>
              <a:t>48s   </a:t>
            </a:r>
            <a:r>
              <a:rPr lang="en-US" altLang="ko-KR" sz="1080" dirty="0" err="1">
                <a:solidFill>
                  <a:schemeClr val="bg1"/>
                </a:solidFill>
              </a:rPr>
              <a:t>persistentvolumeclaims</a:t>
            </a:r>
            <a:r>
              <a:rPr lang="en-US" altLang="ko-KR" sz="1080" dirty="0">
                <a:solidFill>
                  <a:schemeClr val="bg1"/>
                </a:solidFill>
              </a:rPr>
              <a:t>: 0/5, pods: </a:t>
            </a:r>
            <a:r>
              <a:rPr lang="en-US" altLang="ko-KR" sz="1080" dirty="0" smtClean="0">
                <a:solidFill>
                  <a:schemeClr val="bg1"/>
                </a:solidFill>
              </a:rPr>
              <a:t>0/10</a:t>
            </a:r>
            <a:r>
              <a:rPr lang="en-US" altLang="ko-KR" sz="1080" dirty="0">
                <a:solidFill>
                  <a:schemeClr val="bg1"/>
                </a:solidFill>
              </a:rPr>
              <a:t>, </a:t>
            </a:r>
            <a:r>
              <a:rPr lang="en-US" altLang="ko-KR" sz="1080" dirty="0" err="1">
                <a:solidFill>
                  <a:schemeClr val="bg1"/>
                </a:solidFill>
              </a:rPr>
              <a:t>requests.cpu</a:t>
            </a:r>
            <a:r>
              <a:rPr lang="en-US" altLang="ko-KR" sz="1080" dirty="0">
                <a:solidFill>
                  <a:schemeClr val="bg1"/>
                </a:solidFill>
              </a:rPr>
              <a:t>: 0/2, </a:t>
            </a:r>
            <a:r>
              <a:rPr lang="en-US" altLang="ko-KR" sz="1080" dirty="0" err="1">
                <a:solidFill>
                  <a:schemeClr val="bg1"/>
                </a:solidFill>
              </a:rPr>
              <a:t>requests.memory</a:t>
            </a:r>
            <a:r>
              <a:rPr lang="en-US" altLang="ko-KR" sz="1080" dirty="0">
                <a:solidFill>
                  <a:schemeClr val="bg1"/>
                </a:solidFill>
              </a:rPr>
              <a:t>: 0/8Gi, </a:t>
            </a:r>
            <a:r>
              <a:rPr lang="en-US" altLang="ko-KR" sz="1080" dirty="0" err="1">
                <a:solidFill>
                  <a:schemeClr val="bg1"/>
                </a:solidFill>
              </a:rPr>
              <a:t>requests.storage</a:t>
            </a:r>
            <a:r>
              <a:rPr lang="en-US" altLang="ko-KR" sz="1080" dirty="0">
                <a:solidFill>
                  <a:schemeClr val="bg1"/>
                </a:solidFill>
              </a:rPr>
              <a:t>: 0/100Gi   </a:t>
            </a:r>
            <a:r>
              <a:rPr lang="en-US" altLang="ko-KR" sz="1080" dirty="0" err="1">
                <a:solidFill>
                  <a:schemeClr val="bg1"/>
                </a:solidFill>
              </a:rPr>
              <a:t>limits.cpu</a:t>
            </a:r>
            <a:r>
              <a:rPr lang="en-US" altLang="ko-KR" sz="1080" dirty="0">
                <a:solidFill>
                  <a:schemeClr val="bg1"/>
                </a:solidFill>
              </a:rPr>
              <a:t>: 0/8, </a:t>
            </a:r>
            <a:r>
              <a:rPr lang="en-US" altLang="ko-KR" sz="1080" dirty="0" err="1">
                <a:solidFill>
                  <a:schemeClr val="bg1"/>
                </a:solidFill>
              </a:rPr>
              <a:t>limits.memory</a:t>
            </a:r>
            <a:r>
              <a:rPr lang="en-US" altLang="ko-KR" sz="1080" dirty="0">
                <a:solidFill>
                  <a:schemeClr val="bg1"/>
                </a:solidFill>
              </a:rPr>
              <a:t>: </a:t>
            </a:r>
            <a:r>
              <a:rPr lang="en-US" altLang="ko-KR" sz="1080" dirty="0" smtClean="0">
                <a:solidFill>
                  <a:schemeClr val="bg1"/>
                </a:solidFill>
              </a:rPr>
              <a:t>0/16Gi</a:t>
            </a:r>
          </a:p>
          <a:p>
            <a:endParaRPr lang="en-US" altLang="ko-KR" sz="1080" dirty="0">
              <a:solidFill>
                <a:schemeClr val="bg1"/>
              </a:solidFill>
            </a:endParaRPr>
          </a:p>
          <a:p>
            <a:r>
              <a:rPr lang="en-US" altLang="ko-KR" sz="1080" dirty="0" smtClean="0">
                <a:solidFill>
                  <a:schemeClr val="bg1"/>
                </a:solidFill>
              </a:rPr>
              <a:t># ‘space’ Namespace</a:t>
            </a:r>
            <a:r>
              <a:rPr lang="ko-KR" altLang="en-US" sz="1080" dirty="0" smtClean="0">
                <a:solidFill>
                  <a:schemeClr val="bg1"/>
                </a:solidFill>
              </a:rPr>
              <a:t>에서 현재 사용하는 </a:t>
            </a:r>
            <a:r>
              <a:rPr lang="en-US" altLang="ko-KR" sz="1080" dirty="0" smtClean="0">
                <a:solidFill>
                  <a:schemeClr val="bg1"/>
                </a:solidFill>
              </a:rPr>
              <a:t>Resource </a:t>
            </a:r>
            <a:r>
              <a:rPr lang="ko-KR" altLang="en-US" sz="1080" dirty="0" smtClean="0">
                <a:solidFill>
                  <a:schemeClr val="bg1"/>
                </a:solidFill>
              </a:rPr>
              <a:t>값과 </a:t>
            </a:r>
            <a:r>
              <a:rPr lang="en-US" altLang="ko-KR" sz="1080" dirty="0" smtClean="0">
                <a:solidFill>
                  <a:schemeClr val="bg1"/>
                </a:solidFill>
              </a:rPr>
              <a:t>‘</a:t>
            </a:r>
            <a:r>
              <a:rPr lang="en-US" altLang="ko-KR" sz="1100" dirty="0" err="1" smtClean="0">
                <a:solidFill>
                  <a:schemeClr val="bg1"/>
                </a:solidFill>
              </a:rPr>
              <a:t>ResourceQuota</a:t>
            </a:r>
            <a:r>
              <a:rPr lang="en-US" altLang="ko-KR" sz="1100" dirty="0" smtClean="0">
                <a:solidFill>
                  <a:schemeClr val="bg1"/>
                </a:solidFill>
              </a:rPr>
              <a:t>’</a:t>
            </a:r>
            <a:r>
              <a:rPr lang="ko-KR" altLang="en-US" sz="1100" dirty="0" smtClean="0">
                <a:solidFill>
                  <a:schemeClr val="bg1"/>
                </a:solidFill>
              </a:rPr>
              <a:t>를 통해 설정한 값을 확인할 수 있다</a:t>
            </a:r>
            <a:r>
              <a:rPr lang="en-US" altLang="ko-KR" sz="1100" dirty="0" smtClean="0">
                <a:solidFill>
                  <a:schemeClr val="bg1"/>
                </a:solidFill>
              </a:rPr>
              <a:t>.</a:t>
            </a:r>
            <a:endParaRPr lang="en-US" altLang="ko-KR" sz="108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1200" y="7462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/>
              <a:t>네임스페이스 내에서 사용할 수 있는 최대 자원 양 제한</a:t>
            </a:r>
            <a:r>
              <a:rPr lang="en-US" altLang="ko-KR" sz="1400"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138" y="11619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ResourceQuota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1-resource-quota.yaml</a:t>
            </a:r>
            <a:r>
              <a:rPr lang="en-US" altLang="ko-KR" sz="1400" dirty="0" smtClean="0"/>
              <a:t>)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206424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50209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[TEST. </a:t>
            </a:r>
            <a:r>
              <a:rPr lang="en-US" altLang="ko-KR" sz="1400" b="1" dirty="0" err="1" smtClean="0"/>
              <a:t>ResourceQuota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제한을 초과하는 </a:t>
            </a:r>
            <a:r>
              <a:rPr lang="en-US" altLang="ko-KR" sz="1400" b="1" dirty="0" smtClean="0"/>
              <a:t>Pod </a:t>
            </a:r>
            <a:r>
              <a:rPr lang="ko-KR" altLang="en-US" sz="1400" b="1" dirty="0" smtClean="0"/>
              <a:t>생성 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오류 발생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753029" y="1190286"/>
            <a:ext cx="10838341" cy="2677656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Pod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quota-test-pod</a:t>
            </a:r>
          </a:p>
          <a:p>
            <a:r>
              <a:rPr lang="en-US" altLang="ko-KR" sz="1200" dirty="0"/>
              <a:t>  namespace: </a:t>
            </a:r>
            <a:r>
              <a:rPr lang="en-US" altLang="ko-KR" sz="1200" dirty="0" smtClean="0"/>
              <a:t>space</a:t>
            </a:r>
            <a:endParaRPr lang="en-US" altLang="ko-KR" sz="1200" dirty="0"/>
          </a:p>
          <a:p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containers:</a:t>
            </a:r>
          </a:p>
          <a:p>
            <a:r>
              <a:rPr lang="en-US" altLang="ko-KR" sz="1200" dirty="0"/>
              <a:t>  - name: quota-test-container</a:t>
            </a:r>
          </a:p>
          <a:p>
            <a:r>
              <a:rPr lang="en-US" altLang="ko-KR" sz="1200" dirty="0"/>
              <a:t>    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resources:</a:t>
            </a:r>
          </a:p>
          <a:p>
            <a:r>
              <a:rPr lang="en-US" altLang="ko-KR" sz="1200" dirty="0"/>
              <a:t>      requests: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"3"   </a:t>
            </a:r>
            <a:r>
              <a:rPr lang="en-US" altLang="ko-KR" sz="1200" dirty="0">
                <a:solidFill>
                  <a:srgbClr val="FF0000"/>
                </a:solidFill>
              </a:rPr>
              <a:t># </a:t>
            </a:r>
            <a:r>
              <a:rPr lang="en-US" altLang="ko-KR" sz="1200" dirty="0" err="1">
                <a:solidFill>
                  <a:srgbClr val="FF0000"/>
                </a:solidFill>
              </a:rPr>
              <a:t>ResourceQuota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en-US" altLang="ko-KR" sz="1200" dirty="0" smtClean="0">
                <a:solidFill>
                  <a:srgbClr val="FF0000"/>
                </a:solidFill>
              </a:rPr>
              <a:t>‘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requests.cpu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2'</a:t>
            </a:r>
            <a:r>
              <a:rPr lang="ko-KR" altLang="en-US" sz="1200" dirty="0" smtClean="0">
                <a:solidFill>
                  <a:srgbClr val="FF0000"/>
                </a:solidFill>
              </a:rPr>
              <a:t>를 초과</a:t>
            </a:r>
            <a:endParaRPr lang="ko-KR" altLang="en-US" sz="1200" dirty="0">
              <a:solidFill>
                <a:srgbClr val="FF0000"/>
              </a:solidFill>
            </a:endParaRPr>
          </a:p>
          <a:p>
            <a:r>
              <a:rPr lang="ko-KR" altLang="en-US" sz="1200" dirty="0"/>
              <a:t>      </a:t>
            </a:r>
            <a:r>
              <a:rPr lang="en-US" altLang="ko-KR" sz="1200" dirty="0"/>
              <a:t>limits: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"5"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138" y="393964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시도 및 에러 발생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4247425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quota-test-</a:t>
            </a:r>
            <a:r>
              <a:rPr lang="en-US" altLang="ko-KR" sz="1200" dirty="0" err="1">
                <a:solidFill>
                  <a:schemeClr val="bg1"/>
                </a:solidFill>
              </a:rPr>
              <a:t>pod.yaml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Error </a:t>
            </a:r>
            <a:r>
              <a:rPr lang="en-US" altLang="ko-KR" sz="1200" dirty="0">
                <a:solidFill>
                  <a:schemeClr val="bg1"/>
                </a:solidFill>
              </a:rPr>
              <a:t>from server (Forbidden): error when creating "quota-test-</a:t>
            </a:r>
            <a:r>
              <a:rPr lang="en-US" altLang="ko-KR" sz="1200" dirty="0" err="1">
                <a:solidFill>
                  <a:schemeClr val="bg1"/>
                </a:solidFill>
              </a:rPr>
              <a:t>pod.yaml</a:t>
            </a:r>
            <a:r>
              <a:rPr lang="en-US" altLang="ko-KR" sz="1200" dirty="0">
                <a:solidFill>
                  <a:schemeClr val="bg1"/>
                </a:solidFill>
              </a:rPr>
              <a:t>": pods "quota-test-pod" is forbidden: exceeded quota: dev-quota, requested: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requests.cpu</a:t>
            </a:r>
            <a:r>
              <a:rPr lang="en-US" altLang="ko-KR" sz="1200" dirty="0" smtClean="0">
                <a:solidFill>
                  <a:schemeClr val="bg1"/>
                </a:solidFill>
              </a:rPr>
              <a:t>=3</a:t>
            </a:r>
            <a:r>
              <a:rPr lang="en-US" altLang="ko-KR" sz="1200" dirty="0">
                <a:solidFill>
                  <a:schemeClr val="bg1"/>
                </a:solidFill>
              </a:rPr>
              <a:t>, used: </a:t>
            </a:r>
            <a:r>
              <a:rPr lang="en-US" altLang="ko-KR" sz="1200" dirty="0" err="1">
                <a:solidFill>
                  <a:schemeClr val="bg1"/>
                </a:solidFill>
              </a:rPr>
              <a:t>requests.cpu</a:t>
            </a:r>
            <a:r>
              <a:rPr lang="en-US" altLang="ko-KR" sz="1200" dirty="0">
                <a:solidFill>
                  <a:schemeClr val="bg1"/>
                </a:solidFill>
              </a:rPr>
              <a:t>=0, limited: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requests.cpu</a:t>
            </a:r>
            <a:r>
              <a:rPr lang="en-US" altLang="ko-KR" sz="1200" dirty="0" smtClean="0">
                <a:solidFill>
                  <a:schemeClr val="bg1"/>
                </a:solidFill>
              </a:rPr>
              <a:t>=2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ResourceQuota</a:t>
            </a:r>
            <a:r>
              <a:rPr lang="ko-KR" altLang="en-US" sz="1200" dirty="0" smtClean="0">
                <a:solidFill>
                  <a:schemeClr val="bg1"/>
                </a:solidFill>
              </a:rPr>
              <a:t>의 제한 값을 초과하는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 생성을 시도하여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위와 같은 에러 발생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1200" y="89528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2-quota-test-pod.yaml</a:t>
            </a:r>
            <a:r>
              <a:rPr lang="en-US" altLang="ko-KR" sz="1400" dirty="0" smtClean="0"/>
              <a:t>)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180218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LimitRange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794859" y="1501954"/>
            <a:ext cx="10838341" cy="3785652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</a:t>
            </a:r>
            <a:r>
              <a:rPr lang="en-US" altLang="ko-KR" sz="1200" dirty="0" err="1"/>
              <a:t>LimitRange</a:t>
            </a:r>
            <a:endParaRPr lang="en-US" altLang="ko-KR" sz="1200" dirty="0"/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space-limit</a:t>
            </a:r>
            <a:endParaRPr lang="en-US" altLang="ko-KR" sz="1200" dirty="0"/>
          </a:p>
          <a:p>
            <a:r>
              <a:rPr lang="en-US" altLang="ko-KR" sz="1200" dirty="0"/>
              <a:t>  namespace: space</a:t>
            </a:r>
          </a:p>
          <a:p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limits:</a:t>
            </a:r>
          </a:p>
          <a:p>
            <a:r>
              <a:rPr lang="en-US" altLang="ko-KR" sz="1200" dirty="0"/>
              <a:t>    - type: Container</a:t>
            </a:r>
          </a:p>
          <a:p>
            <a:r>
              <a:rPr lang="en-US" altLang="ko-KR" sz="1200" dirty="0"/>
              <a:t>      default: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"500m"            # </a:t>
            </a:r>
            <a:r>
              <a:rPr lang="ko-KR" altLang="en-US" sz="1200" dirty="0"/>
              <a:t>기본 </a:t>
            </a:r>
            <a:r>
              <a:rPr lang="en-US" altLang="ko-KR" sz="1200" dirty="0"/>
              <a:t>CPU limit: 0.5 </a:t>
            </a:r>
            <a:r>
              <a:rPr lang="ko-KR" altLang="en-US" sz="1200" dirty="0"/>
              <a:t>코어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memory: "512Mi"        # </a:t>
            </a:r>
            <a:r>
              <a:rPr lang="ko-KR" altLang="en-US" sz="1200" dirty="0"/>
              <a:t>기본 </a:t>
            </a:r>
            <a:r>
              <a:rPr lang="en-US" altLang="ko-KR" sz="1200" dirty="0"/>
              <a:t>Memory limit: 512Mi</a:t>
            </a:r>
          </a:p>
          <a:p>
            <a:r>
              <a:rPr lang="en-US" altLang="ko-KR" sz="1200" dirty="0"/>
              <a:t>      </a:t>
            </a:r>
            <a:r>
              <a:rPr lang="en-US" altLang="ko-KR" sz="1200" dirty="0" err="1"/>
              <a:t>defaultRequest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"250m"            # </a:t>
            </a:r>
            <a:r>
              <a:rPr lang="ko-KR" altLang="en-US" sz="1200" dirty="0"/>
              <a:t>기본 </a:t>
            </a:r>
            <a:r>
              <a:rPr lang="en-US" altLang="ko-KR" sz="1200" dirty="0"/>
              <a:t>CPU </a:t>
            </a:r>
            <a:r>
              <a:rPr lang="ko-KR" altLang="en-US" sz="1200" dirty="0"/>
              <a:t>요청</a:t>
            </a:r>
            <a:r>
              <a:rPr lang="en-US" altLang="ko-KR" sz="1200" dirty="0"/>
              <a:t>: 0.25 </a:t>
            </a:r>
            <a:r>
              <a:rPr lang="ko-KR" altLang="en-US" sz="1200" dirty="0"/>
              <a:t>코어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memory: "256Mi"        # </a:t>
            </a:r>
            <a:r>
              <a:rPr lang="ko-KR" altLang="en-US" sz="1200" dirty="0"/>
              <a:t>기본 </a:t>
            </a:r>
            <a:r>
              <a:rPr lang="en-US" altLang="ko-KR" sz="1200" dirty="0"/>
              <a:t>Memory </a:t>
            </a:r>
            <a:r>
              <a:rPr lang="ko-KR" altLang="en-US" sz="1200" dirty="0"/>
              <a:t>요청</a:t>
            </a:r>
            <a:r>
              <a:rPr lang="en-US" altLang="ko-KR" sz="1200" dirty="0"/>
              <a:t>: 256Mi</a:t>
            </a:r>
          </a:p>
          <a:p>
            <a:r>
              <a:rPr lang="en-US" altLang="ko-KR" sz="1200" dirty="0"/>
              <a:t>      max: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"5"               # </a:t>
            </a:r>
            <a:r>
              <a:rPr lang="ko-KR" altLang="en-US" sz="1200" dirty="0"/>
              <a:t>최대 </a:t>
            </a:r>
            <a:r>
              <a:rPr lang="en-US" altLang="ko-KR" sz="1200" dirty="0"/>
              <a:t>CPU </a:t>
            </a:r>
            <a:r>
              <a:rPr lang="ko-KR" altLang="en-US" sz="1200" dirty="0"/>
              <a:t>사용량</a:t>
            </a:r>
            <a:r>
              <a:rPr lang="en-US" altLang="ko-KR" sz="1200" dirty="0"/>
              <a:t>: 5 </a:t>
            </a:r>
            <a:r>
              <a:rPr lang="ko-KR" altLang="en-US" sz="1200" dirty="0"/>
              <a:t>코어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memory: "2Gi"          # </a:t>
            </a:r>
            <a:r>
              <a:rPr lang="ko-KR" altLang="en-US" sz="1200" dirty="0"/>
              <a:t>최대 </a:t>
            </a:r>
            <a:r>
              <a:rPr lang="en-US" altLang="ko-KR" sz="1200" dirty="0"/>
              <a:t>Memory </a:t>
            </a:r>
            <a:r>
              <a:rPr lang="ko-KR" altLang="en-US" sz="1200" dirty="0"/>
              <a:t>사용량</a:t>
            </a:r>
            <a:r>
              <a:rPr lang="en-US" altLang="ko-KR" sz="1200" dirty="0"/>
              <a:t>: 2Gi</a:t>
            </a:r>
          </a:p>
          <a:p>
            <a:r>
              <a:rPr lang="en-US" altLang="ko-KR" sz="1200" dirty="0"/>
              <a:t>      min: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"100m"            # </a:t>
            </a:r>
            <a:r>
              <a:rPr lang="ko-KR" altLang="en-US" sz="1200" dirty="0"/>
              <a:t>최소 </a:t>
            </a:r>
            <a:r>
              <a:rPr lang="en-US" altLang="ko-KR" sz="1200" dirty="0"/>
              <a:t>CPU </a:t>
            </a:r>
            <a:r>
              <a:rPr lang="ko-KR" altLang="en-US" sz="1200" dirty="0" err="1"/>
              <a:t>요청량</a:t>
            </a:r>
            <a:r>
              <a:rPr lang="en-US" altLang="ko-KR" sz="1200" dirty="0"/>
              <a:t>: 0.1 </a:t>
            </a:r>
            <a:r>
              <a:rPr lang="ko-KR" altLang="en-US" sz="1200" dirty="0"/>
              <a:t>코어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memory: "128Mi"        # </a:t>
            </a:r>
            <a:r>
              <a:rPr lang="ko-KR" altLang="en-US" sz="1200" dirty="0"/>
              <a:t>최소 </a:t>
            </a:r>
            <a:r>
              <a:rPr lang="en-US" altLang="ko-KR" sz="1200" dirty="0"/>
              <a:t>Memory </a:t>
            </a:r>
            <a:r>
              <a:rPr lang="ko-KR" altLang="en-US" sz="1200" dirty="0" err="1"/>
              <a:t>요청량</a:t>
            </a:r>
            <a:r>
              <a:rPr lang="en-US" altLang="ko-KR" sz="1200" dirty="0"/>
              <a:t>: 128Mi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138" y="534325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>
                <a:solidFill>
                  <a:srgbClr val="333333"/>
                </a:solidFill>
                <a:cs typeface="Pretendard SemiBold" panose="02000703000000020004" pitchFamily="50" charset="-127"/>
              </a:rPr>
              <a:t>LimitRange</a:t>
            </a:r>
            <a:r>
              <a:rPr lang="en-US" altLang="ko-KR" sz="1400" b="1" dirty="0" smtClean="0">
                <a:solidFill>
                  <a:srgbClr val="333333"/>
                </a:solidFill>
                <a:cs typeface="Pretendard SemiBold" panose="02000703000000020004" pitchFamily="50" charset="-127"/>
              </a:rPr>
              <a:t> </a:t>
            </a:r>
            <a:r>
              <a:rPr lang="ko-KR" altLang="en-US" sz="1400" b="1" dirty="0" smtClean="0">
                <a:solidFill>
                  <a:srgbClr val="333333"/>
                </a:solidFill>
                <a:cs typeface="Pretendard SemiBold" panose="02000703000000020004" pitchFamily="50" charset="-127"/>
              </a:rPr>
              <a:t>설정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5651029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limit-</a:t>
            </a:r>
            <a:r>
              <a:rPr lang="en-US" altLang="ko-KR" sz="1200" dirty="0" err="1">
                <a:solidFill>
                  <a:schemeClr val="bg1"/>
                </a:solidFill>
              </a:rPr>
              <a:t>range.yaml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limitrange</a:t>
            </a:r>
            <a:r>
              <a:rPr lang="en-US" altLang="ko-KR" sz="1200" dirty="0" smtClean="0">
                <a:solidFill>
                  <a:schemeClr val="bg1"/>
                </a:solidFill>
              </a:rPr>
              <a:t>/dev-limit </a:t>
            </a:r>
            <a:r>
              <a:rPr lang="en-US" altLang="ko-KR" sz="1200" dirty="0">
                <a:solidFill>
                  <a:schemeClr val="bg1"/>
                </a:solidFill>
              </a:rPr>
              <a:t>created </a:t>
            </a:r>
            <a:r>
              <a:rPr lang="en-US" altLang="ko-KR" sz="1200" dirty="0" smtClean="0">
                <a:solidFill>
                  <a:schemeClr val="bg1"/>
                </a:solidFill>
              </a:rPr>
              <a:t>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LimitRange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7462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Pod </a:t>
            </a:r>
            <a:r>
              <a:rPr lang="ko-KR" altLang="en-US" sz="1400" dirty="0"/>
              <a:t>및 </a:t>
            </a:r>
            <a:r>
              <a:rPr lang="ko-KR" altLang="en-US" sz="1400" dirty="0" err="1"/>
              <a:t>컨테이너별</a:t>
            </a:r>
            <a:r>
              <a:rPr lang="ko-KR" altLang="en-US" sz="1400" dirty="0"/>
              <a:t> </a:t>
            </a:r>
            <a:r>
              <a:rPr lang="en-US" altLang="ko-KR" sz="1400" dirty="0"/>
              <a:t>CPU/Memory</a:t>
            </a:r>
            <a:r>
              <a:rPr lang="ko-KR" altLang="en-US" sz="1400" dirty="0"/>
              <a:t>의 최소</a:t>
            </a:r>
            <a:r>
              <a:rPr lang="en-US" altLang="ko-KR" sz="1400" dirty="0"/>
              <a:t>, </a:t>
            </a:r>
            <a:r>
              <a:rPr lang="ko-KR" altLang="en-US" sz="1400" dirty="0"/>
              <a:t>최대 값과 기본 요청 값 설정</a:t>
            </a:r>
            <a:r>
              <a:rPr lang="en-US" altLang="ko-KR" sz="14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38" y="11619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LimitRange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3-limit-range.yaml</a:t>
            </a:r>
            <a:r>
              <a:rPr lang="en-US" altLang="ko-KR" sz="1400" dirty="0" smtClean="0"/>
              <a:t>)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281042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158413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[TEST. </a:t>
            </a:r>
            <a:r>
              <a:rPr lang="en-US" altLang="ko-KR" sz="1400" b="1" dirty="0" err="1" smtClean="0"/>
              <a:t>LimitRange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제한을 초과하는 </a:t>
            </a:r>
            <a:r>
              <a:rPr lang="en-US" altLang="ko-KR" sz="1400" b="1" dirty="0" smtClean="0"/>
              <a:t>Pod </a:t>
            </a:r>
            <a:r>
              <a:rPr lang="ko-KR" altLang="en-US" sz="1400" b="1" dirty="0" smtClean="0"/>
              <a:t>생성 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오류 발생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753029" y="2217462"/>
            <a:ext cx="10838341" cy="2677656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 smtClean="0"/>
              <a:t>Kind</a:t>
            </a:r>
            <a:r>
              <a:rPr lang="en-US" altLang="ko-KR" sz="1200" dirty="0"/>
              <a:t>: Pod</a:t>
            </a:r>
          </a:p>
          <a:p>
            <a:r>
              <a:rPr lang="en-US" altLang="ko-KR" sz="1200" dirty="0" smtClean="0"/>
              <a:t>Metadata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name: range-test-pod</a:t>
            </a:r>
          </a:p>
          <a:p>
            <a:r>
              <a:rPr lang="en-US" altLang="ko-KR" sz="1200" dirty="0"/>
              <a:t>  namespace: space</a:t>
            </a:r>
          </a:p>
          <a:p>
            <a:r>
              <a:rPr lang="en-US" altLang="ko-KR" sz="1200" dirty="0" smtClean="0"/>
              <a:t>Spec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containers:</a:t>
            </a:r>
          </a:p>
          <a:p>
            <a:r>
              <a:rPr lang="en-US" altLang="ko-KR" sz="1200" dirty="0"/>
              <a:t>  - name: range-test-container</a:t>
            </a:r>
          </a:p>
          <a:p>
            <a:r>
              <a:rPr lang="en-US" altLang="ko-KR" sz="1200" dirty="0"/>
              <a:t>    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resources:</a:t>
            </a:r>
          </a:p>
          <a:p>
            <a:r>
              <a:rPr lang="en-US" altLang="ko-KR" sz="1200" dirty="0"/>
              <a:t>      requests: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“1”</a:t>
            </a:r>
            <a:endParaRPr lang="en-US" altLang="ko-KR" sz="1200" dirty="0"/>
          </a:p>
          <a:p>
            <a:r>
              <a:rPr lang="en-US" altLang="ko-KR" sz="1200" dirty="0"/>
              <a:t>      limits: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“6”     </a:t>
            </a:r>
            <a:r>
              <a:rPr lang="en-US" altLang="ko-KR" sz="1200" dirty="0" smtClean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# </a:t>
            </a:r>
            <a:r>
              <a:rPr lang="en-US" altLang="ko-KR" sz="1200" dirty="0" err="1">
                <a:solidFill>
                  <a:srgbClr val="FF0000"/>
                </a:solidFill>
              </a:rPr>
              <a:t>LimitRange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en-US" altLang="ko-KR" sz="1200" dirty="0">
                <a:solidFill>
                  <a:srgbClr val="FF0000"/>
                </a:solidFill>
              </a:rPr>
              <a:t>max(</a:t>
            </a:r>
            <a:r>
              <a:rPr lang="en-US" altLang="ko-KR" sz="1200" dirty="0" err="1">
                <a:solidFill>
                  <a:srgbClr val="FF0000"/>
                </a:solidFill>
              </a:rPr>
              <a:t>cpu</a:t>
            </a:r>
            <a:r>
              <a:rPr lang="en-US" altLang="ko-KR" sz="1200" dirty="0">
                <a:solidFill>
                  <a:srgbClr val="FF0000"/>
                </a:solidFill>
              </a:rPr>
              <a:t>=5)</a:t>
            </a:r>
            <a:r>
              <a:rPr lang="ko-KR" altLang="en-US" sz="1200" dirty="0">
                <a:solidFill>
                  <a:srgbClr val="FF0000"/>
                </a:solidFill>
              </a:rPr>
              <a:t>를 </a:t>
            </a:r>
            <a:r>
              <a:rPr lang="ko-KR" altLang="en-US" sz="1200" dirty="0" smtClean="0">
                <a:solidFill>
                  <a:srgbClr val="FF0000"/>
                </a:solidFill>
              </a:rPr>
              <a:t>초과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9138" y="492872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/>
              <a:t>생성 시도 및 에러 발생</a:t>
            </a:r>
            <a:endParaRPr lang="en-US" altLang="ko-KR" sz="1400" dirty="0"/>
          </a:p>
        </p:txBody>
      </p:sp>
      <p:sp>
        <p:nvSpPr>
          <p:cNvPr id="6" name="TextBox 3"/>
          <p:cNvSpPr txBox="1"/>
          <p:nvPr/>
        </p:nvSpPr>
        <p:spPr>
          <a:xfrm>
            <a:off x="760966" y="5236501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range-test-</a:t>
            </a:r>
            <a:r>
              <a:rPr lang="en-US" altLang="ko-KR" sz="1200" dirty="0" err="1">
                <a:solidFill>
                  <a:schemeClr val="bg1"/>
                </a:solidFill>
              </a:rPr>
              <a:t>pod.yaml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Error </a:t>
            </a:r>
            <a:r>
              <a:rPr lang="en-US" altLang="ko-KR" sz="1200" dirty="0">
                <a:solidFill>
                  <a:schemeClr val="bg1"/>
                </a:solidFill>
              </a:rPr>
              <a:t>from server (Forbidden): error when creating "range-test-</a:t>
            </a:r>
            <a:r>
              <a:rPr lang="en-US" altLang="ko-KR" sz="1200" dirty="0" err="1">
                <a:solidFill>
                  <a:schemeClr val="bg1"/>
                </a:solidFill>
              </a:rPr>
              <a:t>pod.yaml</a:t>
            </a:r>
            <a:r>
              <a:rPr lang="en-US" altLang="ko-KR" sz="1200" dirty="0">
                <a:solidFill>
                  <a:schemeClr val="bg1"/>
                </a:solidFill>
              </a:rPr>
              <a:t>": pods "range-test-pod" is forbidden: maximum </a:t>
            </a:r>
            <a:r>
              <a:rPr lang="en-US" altLang="ko-KR" sz="1200" dirty="0" err="1">
                <a:solidFill>
                  <a:schemeClr val="bg1"/>
                </a:solidFill>
              </a:rPr>
              <a:t>cpu</a:t>
            </a:r>
            <a:r>
              <a:rPr lang="en-US" altLang="ko-KR" sz="1200" dirty="0">
                <a:solidFill>
                  <a:schemeClr val="bg1"/>
                </a:solidFill>
              </a:rPr>
              <a:t> usage per Container is 5, </a:t>
            </a:r>
            <a:r>
              <a:rPr lang="en-US" altLang="ko-KR" sz="1200" dirty="0" smtClean="0">
                <a:solidFill>
                  <a:schemeClr val="bg1"/>
                </a:solidFill>
              </a:rPr>
              <a:t/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   but </a:t>
            </a:r>
            <a:r>
              <a:rPr lang="en-US" altLang="ko-KR" sz="1200" dirty="0">
                <a:solidFill>
                  <a:schemeClr val="bg1"/>
                </a:solidFill>
              </a:rPr>
              <a:t>limit is 6</a:t>
            </a:r>
            <a:r>
              <a:rPr lang="en-US" altLang="ko-KR" sz="1200" dirty="0" smtClean="0">
                <a:solidFill>
                  <a:schemeClr val="bg1"/>
                </a:solidFill>
              </a:rPr>
              <a:t/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LimitRange</a:t>
            </a:r>
            <a:r>
              <a:rPr lang="ko-KR" altLang="en-US" sz="1200" dirty="0" smtClean="0">
                <a:solidFill>
                  <a:schemeClr val="bg1"/>
                </a:solidFill>
              </a:rPr>
              <a:t>의 제한 값을 초과하는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 생성을 시도하여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위와 같은 에러 발생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9138" y="40988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LimitRange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상태 확인</a:t>
            </a:r>
            <a:endParaRPr lang="en-US" altLang="ko-KR" sz="1400" dirty="0"/>
          </a:p>
        </p:txBody>
      </p:sp>
      <p:sp>
        <p:nvSpPr>
          <p:cNvPr id="8" name="TextBox 3"/>
          <p:cNvSpPr txBox="1"/>
          <p:nvPr/>
        </p:nvSpPr>
        <p:spPr>
          <a:xfrm>
            <a:off x="760966" y="717663"/>
            <a:ext cx="10838341" cy="61555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limitrange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-n space</a:t>
            </a:r>
          </a:p>
          <a:p>
            <a:r>
              <a:rPr lang="en-US" altLang="ko-KR" sz="1080" dirty="0">
                <a:solidFill>
                  <a:schemeClr val="bg1"/>
                </a:solidFill>
              </a:rPr>
              <a:t>   </a:t>
            </a:r>
            <a:r>
              <a:rPr lang="en-US" altLang="ko-KR" sz="1100" dirty="0">
                <a:solidFill>
                  <a:schemeClr val="bg1"/>
                </a:solidFill>
              </a:rPr>
              <a:t>NAME          </a:t>
            </a:r>
            <a:r>
              <a:rPr lang="en-US" altLang="ko-KR" sz="1100" dirty="0" smtClean="0">
                <a:solidFill>
                  <a:schemeClr val="bg1"/>
                </a:solidFill>
              </a:rPr>
              <a:t>  CREATED </a:t>
            </a:r>
            <a:r>
              <a:rPr lang="en-US" altLang="ko-KR" sz="1100" dirty="0">
                <a:solidFill>
                  <a:schemeClr val="bg1"/>
                </a:solidFill>
              </a:rPr>
              <a:t>AT</a:t>
            </a:r>
          </a:p>
          <a:p>
            <a:r>
              <a:rPr lang="en-US" altLang="ko-KR" sz="1100" dirty="0" smtClean="0">
                <a:solidFill>
                  <a:schemeClr val="bg1"/>
                </a:solidFill>
              </a:rPr>
              <a:t>   space-limit      2025-02-10T07:48:19Z		# </a:t>
            </a:r>
            <a:r>
              <a:rPr lang="en-US" altLang="ko-KR" sz="1100" dirty="0" err="1" smtClean="0">
                <a:solidFill>
                  <a:schemeClr val="bg1"/>
                </a:solidFill>
              </a:rPr>
              <a:t>LimitRange</a:t>
            </a:r>
            <a:r>
              <a:rPr lang="en-US" altLang="ko-KR" sz="1100" dirty="0" smtClean="0">
                <a:solidFill>
                  <a:schemeClr val="bg1"/>
                </a:solidFill>
              </a:rPr>
              <a:t> </a:t>
            </a:r>
            <a:r>
              <a:rPr lang="ko-KR" altLang="en-US" sz="1100" dirty="0" smtClean="0">
                <a:solidFill>
                  <a:schemeClr val="bg1"/>
                </a:solidFill>
              </a:rPr>
              <a:t>상태 확인</a:t>
            </a:r>
            <a:endParaRPr lang="en-US" altLang="ko-KR" sz="108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191331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예시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4-range-test-pod.yaml</a:t>
            </a:r>
            <a:r>
              <a:rPr lang="en-US" altLang="ko-KR" sz="1400" dirty="0" smtClean="0"/>
              <a:t>)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789796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69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Namespace</a:t>
            </a:r>
            <a:r>
              <a:rPr lang="ko-KR" altLang="en-US" sz="1600" b="1" dirty="0" smtClean="0"/>
              <a:t>에 </a:t>
            </a:r>
            <a:r>
              <a:rPr lang="ko-KR" altLang="en-US" sz="1600" b="1" dirty="0"/>
              <a:t>따른 </a:t>
            </a:r>
            <a:r>
              <a:rPr lang="en-US" altLang="ko-KR" sz="1600" b="1" dirty="0"/>
              <a:t>Pod</a:t>
            </a:r>
            <a:r>
              <a:rPr lang="ko-KR" altLang="en-US" sz="1600" b="1" dirty="0"/>
              <a:t>와 </a:t>
            </a:r>
            <a:r>
              <a:rPr lang="en-US" altLang="ko-KR" sz="1600" b="1" dirty="0"/>
              <a:t>Service</a:t>
            </a:r>
            <a:r>
              <a:rPr lang="ko-KR" altLang="en-US" sz="1600" b="1" dirty="0"/>
              <a:t>의 통신 방식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TextBox 3"/>
          <p:cNvSpPr txBox="1"/>
          <p:nvPr/>
        </p:nvSpPr>
        <p:spPr>
          <a:xfrm>
            <a:off x="794860" y="3568637"/>
            <a:ext cx="4789863" cy="2677656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/>
              <a:t># ‘prod’ </a:t>
            </a:r>
            <a:r>
              <a:rPr lang="en-US" altLang="ko-KR" sz="1200" dirty="0" err="1" smtClean="0"/>
              <a:t>NameSpace</a:t>
            </a:r>
            <a:r>
              <a:rPr lang="ko-KR" altLang="en-US" sz="1200" dirty="0" smtClean="0"/>
              <a:t>의 </a:t>
            </a:r>
            <a:r>
              <a:rPr lang="en-US" altLang="ko-KR" sz="1200" dirty="0" err="1"/>
              <a:t>yaml</a:t>
            </a:r>
            <a:r>
              <a:rPr lang="en-US" altLang="ko-KR" sz="1200" dirty="0"/>
              <a:t>(</a:t>
            </a:r>
            <a:r>
              <a:rPr lang="en-US" altLang="ko-KR" sz="1200" b="1" dirty="0"/>
              <a:t>2-pod-nginx02.yaml</a:t>
            </a:r>
            <a:r>
              <a:rPr lang="en-US" altLang="ko-KR" sz="1200" dirty="0"/>
              <a:t>)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v1</a:t>
            </a:r>
            <a:endParaRPr lang="ko-KR" altLang="en-US" sz="1200" dirty="0"/>
          </a:p>
          <a:p>
            <a:r>
              <a:rPr lang="en-US" altLang="ko-KR" sz="1200" dirty="0"/>
              <a:t>kind: Pod </a:t>
            </a:r>
          </a:p>
          <a:p>
            <a:r>
              <a:rPr lang="en-US" altLang="ko-KR" sz="1200" dirty="0" smtClean="0"/>
              <a:t>metadata</a:t>
            </a:r>
            <a:r>
              <a:rPr lang="en-US" altLang="ko-KR" sz="1200" dirty="0"/>
              <a:t>: </a:t>
            </a:r>
          </a:p>
          <a:p>
            <a:r>
              <a:rPr lang="en-US" altLang="ko-KR" sz="1200" dirty="0" smtClean="0"/>
              <a:t>  </a:t>
            </a:r>
            <a:r>
              <a:rPr lang="en-US" altLang="ko-KR" sz="1200" dirty="0"/>
              <a:t>name: nginx02</a:t>
            </a:r>
          </a:p>
          <a:p>
            <a:r>
              <a:rPr lang="en-US" altLang="ko-KR" sz="1200" dirty="0"/>
              <a:t>  </a:t>
            </a:r>
            <a:r>
              <a:rPr lang="en-US" altLang="ko-KR" sz="1200" b="1" dirty="0">
                <a:solidFill>
                  <a:srgbClr val="FF0000"/>
                </a:solidFill>
              </a:rPr>
              <a:t>namespace: prod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nginx02</a:t>
            </a:r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spec</a:t>
            </a:r>
            <a:r>
              <a:rPr lang="en-US" altLang="ko-KR" sz="1200" dirty="0" smtClean="0"/>
              <a:t>:</a:t>
            </a:r>
            <a:endParaRPr lang="ko-KR" altLang="en-US" sz="1200" dirty="0"/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containers:</a:t>
            </a:r>
          </a:p>
          <a:p>
            <a:r>
              <a:rPr lang="en-US" altLang="ko-KR" sz="1200" dirty="0"/>
              <a:t>    - name: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  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</p:txBody>
      </p:sp>
      <p:grpSp>
        <p:nvGrpSpPr>
          <p:cNvPr id="11" name="그룹 10"/>
          <p:cNvGrpSpPr/>
          <p:nvPr/>
        </p:nvGrpSpPr>
        <p:grpSpPr>
          <a:xfrm>
            <a:off x="1711426" y="741185"/>
            <a:ext cx="8929860" cy="2415904"/>
            <a:chOff x="1529917" y="3358558"/>
            <a:chExt cx="8845920" cy="2882754"/>
          </a:xfrm>
        </p:grpSpPr>
        <p:grpSp>
          <p:nvGrpSpPr>
            <p:cNvPr id="12" name="그룹 11"/>
            <p:cNvGrpSpPr/>
            <p:nvPr/>
          </p:nvGrpSpPr>
          <p:grpSpPr>
            <a:xfrm>
              <a:off x="1529917" y="3358558"/>
              <a:ext cx="3139523" cy="2882754"/>
              <a:chOff x="2380517" y="3358558"/>
              <a:chExt cx="3139523" cy="2882754"/>
            </a:xfrm>
          </p:grpSpPr>
          <p:sp>
            <p:nvSpPr>
              <p:cNvPr id="36" name="직사각형 35"/>
              <p:cNvSpPr/>
              <p:nvPr/>
            </p:nvSpPr>
            <p:spPr>
              <a:xfrm>
                <a:off x="2380517" y="3358558"/>
                <a:ext cx="3139523" cy="2882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3094892" y="3508436"/>
                <a:ext cx="2425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 smtClean="0"/>
                  <a:t>Prod </a:t>
                </a:r>
                <a:r>
                  <a:rPr lang="en-US" altLang="ko-KR" b="1" dirty="0" err="1" smtClean="0"/>
                  <a:t>NameSpace</a:t>
                </a:r>
                <a:endParaRPr lang="ko-KR" altLang="en-US" b="1" dirty="0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2515195" y="4196661"/>
                <a:ext cx="2184988" cy="726213"/>
                <a:chOff x="952203" y="4196661"/>
                <a:chExt cx="2184988" cy="726213"/>
              </a:xfrm>
            </p:grpSpPr>
            <p:sp>
              <p:nvSpPr>
                <p:cNvPr id="46" name="모서리가 둥근 직사각형 45"/>
                <p:cNvSpPr/>
                <p:nvPr/>
              </p:nvSpPr>
              <p:spPr>
                <a:xfrm>
                  <a:off x="952203" y="4196661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1667685" y="4414647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/>
                    <a:t>w</a:t>
                  </a:r>
                  <a:r>
                    <a:rPr lang="en-US" altLang="ko-KR" sz="1600" b="1" dirty="0" smtClean="0"/>
                    <a:t>eb-svc</a:t>
                  </a:r>
                  <a:endParaRPr lang="ko-KR" altLang="en-US" b="1" dirty="0"/>
                </a:p>
              </p:txBody>
            </p:sp>
            <p:pic>
              <p:nvPicPr>
                <p:cNvPr id="48" name="그림 47"/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597" y="4289658"/>
                  <a:ext cx="536694" cy="515333"/>
                </a:xfrm>
                <a:prstGeom prst="rect">
                  <a:avLst/>
                </a:prstGeom>
              </p:spPr>
            </p:pic>
          </p:grpSp>
          <p:pic>
            <p:nvPicPr>
              <p:cNvPr id="39" name="그림 38"/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99502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4038" y="3367503"/>
                <a:ext cx="690854" cy="663357"/>
              </a:xfrm>
              <a:prstGeom prst="rect">
                <a:avLst/>
              </a:prstGeom>
            </p:spPr>
          </p:pic>
          <p:grpSp>
            <p:nvGrpSpPr>
              <p:cNvPr id="40" name="그룹 39"/>
              <p:cNvGrpSpPr/>
              <p:nvPr/>
            </p:nvGrpSpPr>
            <p:grpSpPr>
              <a:xfrm>
                <a:off x="2515195" y="5311439"/>
                <a:ext cx="2184988" cy="726213"/>
                <a:chOff x="994440" y="5344977"/>
                <a:chExt cx="2184988" cy="726213"/>
              </a:xfrm>
            </p:grpSpPr>
            <p:sp>
              <p:nvSpPr>
                <p:cNvPr id="43" name="모서리가 둥근 직사각형 42"/>
                <p:cNvSpPr/>
                <p:nvPr/>
              </p:nvSpPr>
              <p:spPr>
                <a:xfrm>
                  <a:off x="994440" y="5344977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1709922" y="5562963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 smtClean="0"/>
                    <a:t>Pod</a:t>
                  </a:r>
                  <a:endParaRPr lang="ko-KR" altLang="en-US" b="1" dirty="0"/>
                </a:p>
              </p:txBody>
            </p:sp>
            <p:pic>
              <p:nvPicPr>
                <p:cNvPr id="45" name="그림 44"/>
                <p:cNvPicPr>
                  <a:picLocks noChangeAspect="1"/>
                </p:cNvPicPr>
                <p:nvPr/>
              </p:nvPicPr>
              <p:blipFill>
                <a:blip r:embed="rId7" cstate="screen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1036" b="96373" l="498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3667" y="5417507"/>
                  <a:ext cx="612554" cy="581151"/>
                </a:xfrm>
                <a:prstGeom prst="rect">
                  <a:avLst/>
                </a:prstGeom>
              </p:spPr>
            </p:pic>
          </p:grpSp>
          <p:cxnSp>
            <p:nvCxnSpPr>
              <p:cNvPr id="41" name="직선 화살표 연결선 40"/>
              <p:cNvCxnSpPr>
                <a:stCxn id="43" idx="0"/>
                <a:endCxn id="46" idx="2"/>
              </p:cNvCxnSpPr>
              <p:nvPr/>
            </p:nvCxnSpPr>
            <p:spPr>
              <a:xfrm flipV="1">
                <a:off x="3607689" y="4922874"/>
                <a:ext cx="0" cy="3885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650513" y="5010055"/>
                <a:ext cx="11843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c</a:t>
                </a:r>
                <a:r>
                  <a:rPr lang="en-US" altLang="ko-KR" sz="1100" b="1" dirty="0" smtClean="0"/>
                  <a:t>url web-svc</a:t>
                </a:r>
                <a:endParaRPr lang="ko-KR" altLang="en-US" sz="1100" b="1" dirty="0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7236314" y="3358558"/>
              <a:ext cx="3139523" cy="2882754"/>
              <a:chOff x="817525" y="3358558"/>
              <a:chExt cx="3139523" cy="2882754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17525" y="3358558"/>
                <a:ext cx="3139523" cy="2882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531900" y="3508436"/>
                <a:ext cx="2425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 smtClean="0"/>
                  <a:t>DEV </a:t>
                </a:r>
                <a:r>
                  <a:rPr lang="en-US" altLang="ko-KR" b="1" dirty="0" err="1" smtClean="0"/>
                  <a:t>NameSpace</a:t>
                </a:r>
                <a:endParaRPr lang="ko-KR" altLang="en-US" b="1" dirty="0"/>
              </a:p>
            </p:txBody>
          </p:sp>
          <p:grpSp>
            <p:nvGrpSpPr>
              <p:cNvPr id="19" name="그룹 18"/>
              <p:cNvGrpSpPr/>
              <p:nvPr/>
            </p:nvGrpSpPr>
            <p:grpSpPr>
              <a:xfrm>
                <a:off x="952203" y="4196661"/>
                <a:ext cx="2184988" cy="726213"/>
                <a:chOff x="952203" y="4196661"/>
                <a:chExt cx="2184988" cy="726213"/>
              </a:xfrm>
            </p:grpSpPr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952203" y="4196661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1667685" y="4414647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/>
                    <a:t>w</a:t>
                  </a:r>
                  <a:r>
                    <a:rPr lang="en-US" altLang="ko-KR" sz="1600" b="1" dirty="0" smtClean="0"/>
                    <a:t>eb-svc</a:t>
                  </a:r>
                  <a:endParaRPr lang="ko-KR" altLang="en-US" b="1" dirty="0"/>
                </a:p>
              </p:txBody>
            </p:sp>
            <p:pic>
              <p:nvPicPr>
                <p:cNvPr id="35" name="그림 34"/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597" y="4289658"/>
                  <a:ext cx="536694" cy="515333"/>
                </a:xfrm>
                <a:prstGeom prst="rect">
                  <a:avLst/>
                </a:prstGeom>
              </p:spPr>
            </p:pic>
          </p:grpSp>
          <p:pic>
            <p:nvPicPr>
              <p:cNvPr id="22" name="그림 21"/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99502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046" y="3367503"/>
                <a:ext cx="690854" cy="663357"/>
              </a:xfrm>
              <a:prstGeom prst="rect">
                <a:avLst/>
              </a:prstGeom>
            </p:spPr>
          </p:pic>
          <p:grpSp>
            <p:nvGrpSpPr>
              <p:cNvPr id="23" name="그룹 22"/>
              <p:cNvGrpSpPr/>
              <p:nvPr/>
            </p:nvGrpSpPr>
            <p:grpSpPr>
              <a:xfrm>
                <a:off x="952203" y="5311439"/>
                <a:ext cx="2184988" cy="726213"/>
                <a:chOff x="994440" y="5344977"/>
                <a:chExt cx="2184988" cy="726213"/>
              </a:xfrm>
            </p:grpSpPr>
            <p:sp>
              <p:nvSpPr>
                <p:cNvPr id="26" name="모서리가 둥근 직사각형 25"/>
                <p:cNvSpPr/>
                <p:nvPr/>
              </p:nvSpPr>
              <p:spPr>
                <a:xfrm>
                  <a:off x="994440" y="5344977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709922" y="5562963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 smtClean="0"/>
                    <a:t>Pod</a:t>
                  </a:r>
                  <a:endParaRPr lang="ko-KR" altLang="en-US" b="1" dirty="0"/>
                </a:p>
              </p:txBody>
            </p:sp>
            <p:pic>
              <p:nvPicPr>
                <p:cNvPr id="30" name="그림 29"/>
                <p:cNvPicPr>
                  <a:picLocks noChangeAspect="1"/>
                </p:cNvPicPr>
                <p:nvPr/>
              </p:nvPicPr>
              <p:blipFill>
                <a:blip r:embed="rId7" cstate="screen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1036" b="96373" l="498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3667" y="5417507"/>
                  <a:ext cx="612554" cy="581151"/>
                </a:xfrm>
                <a:prstGeom prst="rect">
                  <a:avLst/>
                </a:prstGeom>
              </p:spPr>
            </p:pic>
          </p:grpSp>
          <p:cxnSp>
            <p:nvCxnSpPr>
              <p:cNvPr id="24" name="직선 화살표 연결선 23"/>
              <p:cNvCxnSpPr>
                <a:stCxn id="26" idx="0"/>
                <a:endCxn id="31" idx="2"/>
              </p:cNvCxnSpPr>
              <p:nvPr/>
            </p:nvCxnSpPr>
            <p:spPr>
              <a:xfrm flipV="1">
                <a:off x="2044697" y="4922874"/>
                <a:ext cx="0" cy="3885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2087521" y="5010055"/>
                <a:ext cx="11843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c</a:t>
                </a:r>
                <a:r>
                  <a:rPr lang="en-US" altLang="ko-KR" sz="1100" b="1" dirty="0" smtClean="0"/>
                  <a:t>url web-svc</a:t>
                </a:r>
                <a:endParaRPr lang="ko-KR" altLang="en-US" sz="1100" b="1" dirty="0"/>
              </a:p>
            </p:txBody>
          </p:sp>
        </p:grpSp>
        <p:cxnSp>
          <p:nvCxnSpPr>
            <p:cNvPr id="14" name="꺾인 연결선 13"/>
            <p:cNvCxnSpPr>
              <a:stCxn id="44" idx="3"/>
              <a:endCxn id="31" idx="1"/>
            </p:cNvCxnSpPr>
            <p:nvPr/>
          </p:nvCxnSpPr>
          <p:spPr>
            <a:xfrm flipV="1">
              <a:off x="3849582" y="4559768"/>
              <a:ext cx="3521410" cy="113893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814766" y="4245967"/>
              <a:ext cx="2645619" cy="299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c</a:t>
              </a:r>
              <a:r>
                <a:rPr lang="en-US" altLang="ko-KR" sz="1100" b="1" dirty="0" smtClean="0"/>
                <a:t>url web-</a:t>
              </a:r>
              <a:r>
                <a:rPr lang="en-US" altLang="ko-KR" sz="1100" b="1" dirty="0" err="1" smtClean="0"/>
                <a:t>svc.dev.svc.cluster.local</a:t>
              </a:r>
              <a:endParaRPr lang="ko-KR" altLang="en-US" sz="1100" b="1" dirty="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711200" y="322588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400" dirty="0" smtClean="0"/>
          </a:p>
        </p:txBody>
      </p:sp>
      <p:sp>
        <p:nvSpPr>
          <p:cNvPr id="52" name="TextBox 3"/>
          <p:cNvSpPr txBox="1"/>
          <p:nvPr/>
        </p:nvSpPr>
        <p:spPr>
          <a:xfrm>
            <a:off x="6410631" y="3569696"/>
            <a:ext cx="5230507" cy="2677656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/>
              <a:t># ‘dev’ </a:t>
            </a:r>
            <a:r>
              <a:rPr lang="en-US" altLang="ko-KR" sz="1200" dirty="0" err="1" smtClean="0"/>
              <a:t>NameSpace</a:t>
            </a:r>
            <a:r>
              <a:rPr lang="ko-KR" altLang="en-US" sz="1200" dirty="0" smtClean="0"/>
              <a:t>의 </a:t>
            </a:r>
            <a:r>
              <a:rPr lang="en-US" altLang="ko-KR" sz="1200" dirty="0" err="1" smtClean="0"/>
              <a:t>yaml</a:t>
            </a:r>
            <a:r>
              <a:rPr lang="en-US" altLang="ko-KR" sz="1200" dirty="0" smtClean="0"/>
              <a:t>(</a:t>
            </a:r>
            <a:r>
              <a:rPr lang="en-US" altLang="ko-KR" sz="1200" b="1" dirty="0" smtClean="0"/>
              <a:t>pod_nginx03.yaml</a:t>
            </a:r>
            <a:r>
              <a:rPr lang="en-US" altLang="ko-KR" sz="1200" dirty="0"/>
              <a:t>)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 </a:t>
            </a:r>
          </a:p>
          <a:p>
            <a:r>
              <a:rPr lang="en-US" altLang="ko-KR" sz="1200" dirty="0"/>
              <a:t>kind: Pod </a:t>
            </a:r>
          </a:p>
          <a:p>
            <a:r>
              <a:rPr lang="en-US" altLang="ko-KR" sz="1200" dirty="0"/>
              <a:t>metadata:.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smtClean="0"/>
              <a:t>nginx03</a:t>
            </a:r>
            <a:endParaRPr lang="en-US" altLang="ko-KR" sz="1200" dirty="0"/>
          </a:p>
          <a:p>
            <a:r>
              <a:rPr lang="en-US" altLang="ko-KR" sz="1200" dirty="0"/>
              <a:t>  </a:t>
            </a:r>
            <a:r>
              <a:rPr lang="en-US" altLang="ko-KR" sz="1200" b="1" dirty="0">
                <a:solidFill>
                  <a:srgbClr val="FF0000"/>
                </a:solidFill>
              </a:rPr>
              <a:t>namespace: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dev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</a:t>
            </a:r>
            <a:r>
              <a:rPr lang="en-US" altLang="ko-KR" sz="1200" dirty="0" smtClean="0"/>
              <a:t>nginx03</a:t>
            </a:r>
            <a:endParaRPr lang="en-US" altLang="ko-KR" sz="1200" dirty="0"/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spec: </a:t>
            </a:r>
          </a:p>
          <a:p>
            <a:r>
              <a:rPr lang="en-US" altLang="ko-KR" sz="1200" dirty="0"/>
              <a:t>containers:</a:t>
            </a:r>
          </a:p>
          <a:p>
            <a:r>
              <a:rPr lang="en-US" altLang="ko-KR" sz="1200" dirty="0"/>
              <a:t>    - name: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  image: </a:t>
            </a:r>
            <a:r>
              <a:rPr lang="en-US" altLang="ko-KR" sz="1200" dirty="0" err="1" smtClean="0"/>
              <a:t>nginx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53557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 txBox="1"/>
          <p:nvPr/>
        </p:nvSpPr>
        <p:spPr>
          <a:xfrm>
            <a:off x="794860" y="852144"/>
            <a:ext cx="5381496" cy="3416320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/>
              <a:t># ‘prod’ </a:t>
            </a:r>
            <a:r>
              <a:rPr lang="en-US" altLang="ko-KR" sz="1200" dirty="0" err="1" smtClean="0"/>
              <a:t>NameSpace</a:t>
            </a:r>
            <a:r>
              <a:rPr lang="ko-KR" altLang="en-US" sz="1200" dirty="0" smtClean="0"/>
              <a:t>의 </a:t>
            </a:r>
            <a:r>
              <a:rPr lang="en-US" altLang="ko-KR" sz="1200" dirty="0" err="1" smtClean="0"/>
              <a:t>yaml</a:t>
            </a:r>
            <a:r>
              <a:rPr lang="en-US" altLang="ko-KR" sz="1200" dirty="0" smtClean="0"/>
              <a:t>(</a:t>
            </a:r>
            <a:r>
              <a:rPr lang="en-US" altLang="ko-KR" sz="1200" b="1" dirty="0" smtClean="0"/>
              <a:t>3-nginx02-service-cluster.yaml</a:t>
            </a:r>
            <a:r>
              <a:rPr lang="en-US" altLang="ko-KR" sz="1200" dirty="0" smtClean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Service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nginx02</a:t>
            </a:r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name: nginx02-service-cluster</a:t>
            </a:r>
          </a:p>
          <a:p>
            <a:r>
              <a:rPr lang="en-US" altLang="ko-KR" sz="1200" dirty="0"/>
              <a:t>  namespace: prod</a:t>
            </a:r>
          </a:p>
          <a:p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ports:</a:t>
            </a:r>
          </a:p>
          <a:p>
            <a:r>
              <a:rPr lang="en-US" altLang="ko-KR" sz="1200" dirty="0"/>
              <a:t>  - port: 80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targetPort</a:t>
            </a:r>
            <a:r>
              <a:rPr lang="en-US" altLang="ko-KR" sz="1200" dirty="0"/>
              <a:t>: 80</a:t>
            </a:r>
          </a:p>
          <a:p>
            <a:r>
              <a:rPr lang="en-US" altLang="ko-KR" sz="1200" dirty="0"/>
              <a:t>  selector:</a:t>
            </a:r>
          </a:p>
          <a:p>
            <a:r>
              <a:rPr lang="en-US" altLang="ko-KR" sz="1200" dirty="0"/>
              <a:t>    app: nginx02</a:t>
            </a:r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type: </a:t>
            </a:r>
            <a:r>
              <a:rPr lang="en-US" altLang="ko-KR" sz="1200" dirty="0" err="1"/>
              <a:t>ClusterIP</a:t>
            </a:r>
            <a:endParaRPr lang="en-US" altLang="ko-KR" sz="1200" dirty="0" smtClean="0"/>
          </a:p>
        </p:txBody>
      </p:sp>
      <p:sp>
        <p:nvSpPr>
          <p:cNvPr id="49" name="TextBox 48"/>
          <p:cNvSpPr txBox="1"/>
          <p:nvPr/>
        </p:nvSpPr>
        <p:spPr>
          <a:xfrm>
            <a:off x="711200" y="50939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400" dirty="0" smtClean="0"/>
          </a:p>
        </p:txBody>
      </p:sp>
      <p:sp>
        <p:nvSpPr>
          <p:cNvPr id="52" name="TextBox 3"/>
          <p:cNvSpPr txBox="1"/>
          <p:nvPr/>
        </p:nvSpPr>
        <p:spPr>
          <a:xfrm>
            <a:off x="6176357" y="853203"/>
            <a:ext cx="5464782" cy="3416320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/>
              <a:t># 'dev' </a:t>
            </a:r>
            <a:r>
              <a:rPr lang="en-US" altLang="ko-KR" sz="1200" dirty="0" err="1" smtClean="0"/>
              <a:t>NameSpace</a:t>
            </a:r>
            <a:r>
              <a:rPr lang="ko-KR" altLang="en-US" sz="1200" dirty="0" smtClean="0"/>
              <a:t>의 </a:t>
            </a:r>
            <a:r>
              <a:rPr lang="en-US" altLang="ko-KR" sz="1200" dirty="0" err="1" smtClean="0"/>
              <a:t>yaml</a:t>
            </a:r>
            <a:r>
              <a:rPr lang="en-US" altLang="ko-KR" sz="1200" dirty="0" smtClean="0"/>
              <a:t>(</a:t>
            </a:r>
            <a:r>
              <a:rPr lang="en-US" altLang="ko-KR" sz="1200" b="1" dirty="0"/>
              <a:t>3-nginx03-service-cluster.yaml</a:t>
            </a:r>
            <a:r>
              <a:rPr lang="en-US" altLang="ko-KR" sz="1200" dirty="0" smtClean="0"/>
              <a:t>)</a:t>
            </a:r>
          </a:p>
          <a:p>
            <a:endParaRPr lang="en-US" altLang="ko-KR" sz="1200" dirty="0" smtClean="0"/>
          </a:p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Service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app: nginx03</a:t>
            </a:r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name: nginx03-service-cluster</a:t>
            </a:r>
          </a:p>
          <a:p>
            <a:r>
              <a:rPr lang="en-US" altLang="ko-KR" sz="1200" dirty="0"/>
              <a:t>  namespace: dev</a:t>
            </a:r>
          </a:p>
          <a:p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ports:</a:t>
            </a:r>
          </a:p>
          <a:p>
            <a:r>
              <a:rPr lang="en-US" altLang="ko-KR" sz="1200" dirty="0"/>
              <a:t>  - port: 80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targetPort</a:t>
            </a:r>
            <a:r>
              <a:rPr lang="en-US" altLang="ko-KR" sz="1200" dirty="0"/>
              <a:t>: 80</a:t>
            </a:r>
          </a:p>
          <a:p>
            <a:r>
              <a:rPr lang="en-US" altLang="ko-KR" sz="1200" dirty="0"/>
              <a:t>  selector:</a:t>
            </a:r>
          </a:p>
          <a:p>
            <a:r>
              <a:rPr lang="en-US" altLang="ko-KR" sz="1200" dirty="0"/>
              <a:t>    app: nginx03</a:t>
            </a:r>
          </a:p>
          <a:p>
            <a:r>
              <a:rPr lang="en-US" altLang="ko-KR" sz="1200" dirty="0"/>
              <a:t>    type: web-server</a:t>
            </a:r>
          </a:p>
          <a:p>
            <a:r>
              <a:rPr lang="en-US" altLang="ko-KR" sz="1200" dirty="0"/>
              <a:t>  type: </a:t>
            </a:r>
            <a:r>
              <a:rPr lang="en-US" altLang="ko-KR" sz="1200" dirty="0" err="1"/>
              <a:t>ClusterIP</a:t>
            </a:r>
            <a:endParaRPr lang="en-US" altLang="ko-KR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711200" y="4376999"/>
            <a:ext cx="10922000" cy="55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Namespace, Pod, Service </a:t>
            </a:r>
            <a:r>
              <a:rPr lang="ko-KR" altLang="en-US" sz="1400" dirty="0" smtClean="0"/>
              <a:t>생성</a:t>
            </a:r>
            <a:endParaRPr lang="en-US" altLang="ko-KR" sz="14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/>
              <a:t>p</a:t>
            </a:r>
            <a:r>
              <a:rPr lang="en-US" altLang="ko-KR" sz="1200" dirty="0" smtClean="0"/>
              <a:t>rod, dev </a:t>
            </a:r>
            <a:r>
              <a:rPr lang="ko-KR" altLang="en-US" sz="1200" dirty="0" smtClean="0"/>
              <a:t>디렉터리에 있는 모든 </a:t>
            </a:r>
            <a:r>
              <a:rPr lang="en-US" altLang="ko-KR" sz="1200" dirty="0" err="1" smtClean="0"/>
              <a:t>yaml</a:t>
            </a:r>
            <a:r>
              <a:rPr lang="ko-KR" altLang="en-US" sz="1200" dirty="0" smtClean="0"/>
              <a:t>을 생성</a:t>
            </a:r>
            <a:endParaRPr lang="en-US" altLang="ko-KR" sz="1200" dirty="0" smtClean="0"/>
          </a:p>
        </p:txBody>
      </p:sp>
      <p:sp>
        <p:nvSpPr>
          <p:cNvPr id="55" name="TextBox 3"/>
          <p:cNvSpPr txBox="1"/>
          <p:nvPr/>
        </p:nvSpPr>
        <p:spPr>
          <a:xfrm>
            <a:off x="794859" y="4954597"/>
            <a:ext cx="1084627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prod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dev</a:t>
            </a:r>
            <a:endParaRPr lang="ko-KR" altLang="en-US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619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 txBox="1"/>
          <p:nvPr/>
        </p:nvSpPr>
        <p:spPr>
          <a:xfrm>
            <a:off x="749140" y="1193317"/>
            <a:ext cx="10846278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pod </a:t>
            </a:r>
            <a:r>
              <a:rPr lang="en-US" altLang="ko-KR" sz="1200" dirty="0" smtClean="0">
                <a:solidFill>
                  <a:schemeClr val="bg1"/>
                </a:solidFill>
              </a:rPr>
              <a:t>-A	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NAMESPACE        NAME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</a:t>
            </a:r>
            <a:r>
              <a:rPr lang="en-US" altLang="ko-KR" sz="1200" dirty="0">
                <a:solidFill>
                  <a:schemeClr val="bg1"/>
                </a:solidFill>
              </a:rPr>
              <a:t>READY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RESTARTS      AGE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dev                   nginx03            1/1          Running     0                 </a:t>
            </a:r>
            <a:r>
              <a:rPr lang="en-US" altLang="ko-KR" sz="1200" dirty="0">
                <a:solidFill>
                  <a:schemeClr val="bg1"/>
                </a:solidFill>
              </a:rPr>
              <a:t>2d15h</a:t>
            </a:r>
          </a:p>
          <a:p>
            <a:r>
              <a:rPr lang="nn-NO" altLang="ko-KR" sz="1200" dirty="0" smtClean="0">
                <a:solidFill>
                  <a:schemeClr val="bg1"/>
                </a:solidFill>
              </a:rPr>
              <a:t>Prod                  nginx02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1</a:t>
            </a:r>
            <a:r>
              <a:rPr lang="nn-NO" altLang="ko-KR" sz="1200" dirty="0" smtClean="0">
                <a:solidFill>
                  <a:schemeClr val="bg1"/>
                </a:solidFill>
              </a:rPr>
              <a:t>/1          </a:t>
            </a:r>
            <a:r>
              <a:rPr lang="nn-NO" altLang="ko-KR" sz="1200" dirty="0">
                <a:solidFill>
                  <a:schemeClr val="bg1"/>
                </a:solidFill>
              </a:rPr>
              <a:t>Running   </a:t>
            </a:r>
            <a:r>
              <a:rPr lang="nn-NO" altLang="ko-KR" sz="1200" dirty="0" smtClean="0">
                <a:solidFill>
                  <a:schemeClr val="bg1"/>
                </a:solidFill>
              </a:rPr>
              <a:t>  0                 13m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service -A		# Service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NAMESPACE        NAME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</a:t>
            </a:r>
            <a:r>
              <a:rPr lang="en-US" altLang="ko-KR" sz="1200" dirty="0">
                <a:solidFill>
                  <a:schemeClr val="bg1"/>
                </a:solidFill>
              </a:rPr>
              <a:t>TYPE           CLUSTER-IP       EXTERNAL-IP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PORT(S</a:t>
            </a:r>
            <a:r>
              <a:rPr lang="en-US" altLang="ko-KR" sz="1200" dirty="0">
                <a:solidFill>
                  <a:schemeClr val="bg1"/>
                </a:solidFill>
              </a:rPr>
              <a:t>)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AGE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dev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nginx03-service-cluster         </a:t>
            </a:r>
            <a:r>
              <a:rPr lang="en-US" altLang="ko-KR" sz="1200" dirty="0" err="1">
                <a:solidFill>
                  <a:schemeClr val="bg1"/>
                </a:solidFill>
              </a:rPr>
              <a:t>ClusterIP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10.110.205.209    </a:t>
            </a:r>
            <a:r>
              <a:rPr lang="en-US" altLang="ko-KR" sz="1200" dirty="0">
                <a:solidFill>
                  <a:schemeClr val="bg1"/>
                </a:solidFill>
              </a:rPr>
              <a:t>&lt;none&gt;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80/TCP        </a:t>
            </a:r>
            <a:r>
              <a:rPr lang="en-US" altLang="ko-KR" sz="1200" dirty="0">
                <a:solidFill>
                  <a:schemeClr val="bg1"/>
                </a:solidFill>
              </a:rPr>
              <a:t>2d16h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prod                  nginx02-service-cluster      </a:t>
            </a:r>
            <a:r>
              <a:rPr lang="en-US" altLang="ko-KR" sz="1200" dirty="0" err="1">
                <a:solidFill>
                  <a:schemeClr val="bg1"/>
                </a:solidFill>
              </a:rPr>
              <a:t>ClusterIP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10.106.111.80     </a:t>
            </a:r>
            <a:r>
              <a:rPr lang="en-US" altLang="ko-KR" sz="1200" dirty="0">
                <a:solidFill>
                  <a:schemeClr val="bg1"/>
                </a:solidFill>
              </a:rPr>
              <a:t>&lt;none&gt;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80/TCP         2d15h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1200" y="50060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[TEST. Pod</a:t>
            </a:r>
            <a:r>
              <a:rPr lang="ko-KR" altLang="en-US" sz="1400" b="1" dirty="0" smtClean="0"/>
              <a:t>에서 </a:t>
            </a:r>
            <a:r>
              <a:rPr lang="en-US" altLang="ko-KR" sz="1400" b="1" dirty="0" smtClean="0"/>
              <a:t>Service </a:t>
            </a:r>
            <a:r>
              <a:rPr lang="ko-KR" altLang="en-US" sz="1400" b="1" dirty="0" smtClean="0"/>
              <a:t>호출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138" y="296276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‘nginx02’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에서 </a:t>
            </a:r>
            <a:r>
              <a:rPr lang="ko-KR" altLang="en-US" sz="1400" b="1" dirty="0"/>
              <a:t>동일한 </a:t>
            </a:r>
            <a:r>
              <a:rPr lang="en-US" altLang="ko-KR" sz="1400" b="1" dirty="0"/>
              <a:t>Namespace</a:t>
            </a:r>
            <a:r>
              <a:rPr lang="ko-KR" altLang="en-US" sz="1400" dirty="0"/>
              <a:t>에 있는 </a:t>
            </a:r>
            <a:r>
              <a:rPr lang="en-US" altLang="ko-KR" sz="1400" dirty="0"/>
              <a:t>Service</a:t>
            </a:r>
            <a:r>
              <a:rPr lang="ko-KR" altLang="en-US" sz="1400" dirty="0"/>
              <a:t>를 </a:t>
            </a:r>
            <a:r>
              <a:rPr lang="en-US" altLang="ko-KR" sz="1400" b="1" dirty="0"/>
              <a:t>Name</a:t>
            </a:r>
            <a:r>
              <a:rPr lang="ko-KR" altLang="en-US" sz="1400" b="1" dirty="0"/>
              <a:t>만</a:t>
            </a:r>
            <a:r>
              <a:rPr lang="ko-KR" altLang="en-US" sz="1400" dirty="0"/>
              <a:t>으로 </a:t>
            </a:r>
            <a:r>
              <a:rPr lang="ko-KR" altLang="en-US" sz="1400" dirty="0" smtClean="0"/>
              <a:t>호출</a:t>
            </a:r>
            <a:endParaRPr lang="en-US" altLang="ko-KR" sz="1400" dirty="0"/>
          </a:p>
        </p:txBody>
      </p:sp>
      <p:sp>
        <p:nvSpPr>
          <p:cNvPr id="5" name="TextBox 3"/>
          <p:cNvSpPr txBox="1"/>
          <p:nvPr/>
        </p:nvSpPr>
        <p:spPr>
          <a:xfrm>
            <a:off x="760966" y="3270541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nginx02 -n prod -- curl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nginx02-service-cluster		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!&lt;/title&gt;				# </a:t>
            </a:r>
            <a:r>
              <a:rPr lang="ko-KR" altLang="en-US" sz="1200" dirty="0">
                <a:solidFill>
                  <a:schemeClr val="bg1"/>
                </a:solidFill>
              </a:rPr>
              <a:t>정상 호출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312" y="412897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‘nginx02’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에서 </a:t>
            </a:r>
            <a:r>
              <a:rPr lang="ko-KR" altLang="en-US" sz="1400" b="1" dirty="0" smtClean="0"/>
              <a:t>다른 </a:t>
            </a:r>
            <a:r>
              <a:rPr lang="en-US" altLang="ko-KR" sz="1400" b="1" dirty="0" smtClean="0"/>
              <a:t>Namespace</a:t>
            </a:r>
            <a:r>
              <a:rPr lang="ko-KR" altLang="en-US" sz="1400" dirty="0"/>
              <a:t>에 있는 </a:t>
            </a:r>
            <a:r>
              <a:rPr lang="en-US" altLang="ko-KR" sz="1400" dirty="0"/>
              <a:t>Service</a:t>
            </a:r>
            <a:r>
              <a:rPr lang="ko-KR" altLang="en-US" sz="1400" dirty="0"/>
              <a:t>를 </a:t>
            </a:r>
            <a:r>
              <a:rPr lang="en-US" altLang="ko-KR" sz="1400" b="1" dirty="0"/>
              <a:t>Name</a:t>
            </a:r>
            <a:r>
              <a:rPr lang="ko-KR" altLang="en-US" sz="1400" b="1" dirty="0"/>
              <a:t>만</a:t>
            </a:r>
            <a:r>
              <a:rPr lang="ko-KR" altLang="en-US" sz="1400" dirty="0"/>
              <a:t>으로 </a:t>
            </a:r>
            <a:r>
              <a:rPr lang="ko-KR" altLang="en-US" sz="1400" dirty="0" smtClean="0"/>
              <a:t>호출</a:t>
            </a:r>
            <a:endParaRPr lang="en-US" altLang="ko-KR" sz="1400" dirty="0"/>
          </a:p>
        </p:txBody>
      </p:sp>
      <p:sp>
        <p:nvSpPr>
          <p:cNvPr id="9" name="TextBox 3"/>
          <p:cNvSpPr txBox="1"/>
          <p:nvPr/>
        </p:nvSpPr>
        <p:spPr>
          <a:xfrm>
            <a:off x="749140" y="4436747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nginx02 -n prod -- curl nginx03-service-cluster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curl: (6) Could not resolve host: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nginx03-service-cluster		</a:t>
            </a:r>
            <a:r>
              <a:rPr lang="en-US" altLang="ko-KR" sz="1200" dirty="0">
                <a:solidFill>
                  <a:schemeClr val="bg1"/>
                </a:solidFill>
              </a:rPr>
              <a:t> # </a:t>
            </a:r>
            <a:r>
              <a:rPr lang="ko-KR" altLang="en-US" sz="1200" dirty="0">
                <a:solidFill>
                  <a:schemeClr val="bg1"/>
                </a:solidFill>
              </a:rPr>
              <a:t>호출 실패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7312" y="4932535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‘nginx02’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에서 </a:t>
            </a:r>
            <a:r>
              <a:rPr lang="ko-KR" altLang="en-US" sz="1400" b="1" dirty="0" smtClean="0"/>
              <a:t>다른 </a:t>
            </a:r>
            <a:r>
              <a:rPr lang="en-US" altLang="ko-KR" sz="1400" b="1" dirty="0" smtClean="0"/>
              <a:t>Namespace</a:t>
            </a:r>
            <a:r>
              <a:rPr lang="ko-KR" altLang="en-US" sz="1400" dirty="0"/>
              <a:t>에 있는 </a:t>
            </a:r>
            <a:r>
              <a:rPr lang="en-US" altLang="ko-KR" sz="1400" dirty="0"/>
              <a:t>Service</a:t>
            </a:r>
            <a:r>
              <a:rPr lang="ko-KR" altLang="en-US" sz="1400" dirty="0"/>
              <a:t>를 </a:t>
            </a:r>
            <a:r>
              <a:rPr lang="en-US" altLang="ko-KR" sz="1400" b="1" dirty="0" smtClean="0"/>
              <a:t>‘${</a:t>
            </a:r>
            <a:r>
              <a:rPr lang="en-US" altLang="ko-KR" sz="1400" b="1" dirty="0"/>
              <a:t>NAMESPACE}.</a:t>
            </a:r>
            <a:r>
              <a:rPr lang="en-US" altLang="ko-KR" sz="1400" b="1" dirty="0" err="1" smtClean="0"/>
              <a:t>svc.cluster.local</a:t>
            </a:r>
            <a:r>
              <a:rPr lang="en-US" altLang="ko-KR" sz="1400" b="1" dirty="0" smtClean="0"/>
              <a:t>' </a:t>
            </a:r>
            <a:r>
              <a:rPr lang="ko-KR" altLang="en-US" sz="1400" dirty="0"/>
              <a:t>붙여서 호출</a:t>
            </a:r>
            <a:endParaRPr lang="en-US" altLang="ko-KR" sz="1400" dirty="0"/>
          </a:p>
        </p:txBody>
      </p:sp>
      <p:sp>
        <p:nvSpPr>
          <p:cNvPr id="11" name="TextBox 3"/>
          <p:cNvSpPr txBox="1"/>
          <p:nvPr/>
        </p:nvSpPr>
        <p:spPr>
          <a:xfrm>
            <a:off x="749140" y="5240312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nginx02 -n prod -- curl nginx03-service-cluster.dev.svc.cluster.local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!&lt;/title&gt;				# </a:t>
            </a:r>
            <a:r>
              <a:rPr lang="ko-KR" altLang="en-US" sz="1200" dirty="0">
                <a:solidFill>
                  <a:schemeClr val="bg1"/>
                </a:solidFill>
              </a:rPr>
              <a:t>정상 호출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310" y="88554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확인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54085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proxy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 Proxy</a:t>
            </a:r>
            <a:r>
              <a:rPr lang="ko-KR" altLang="en-US" sz="1400" dirty="0" smtClean="0"/>
              <a:t>는 노드의 </a:t>
            </a:r>
            <a:r>
              <a:rPr lang="ko-KR" altLang="en-US" sz="1400" dirty="0"/>
              <a:t>네트워크 규칙을 관리하여 클러스터 내부 및 외부에서 </a:t>
            </a:r>
            <a:r>
              <a:rPr lang="ko-KR" altLang="en-US" sz="1400" dirty="0" err="1" smtClean="0"/>
              <a:t>파드로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통신을 가능하게 </a:t>
            </a:r>
            <a:r>
              <a:rPr lang="ko-KR" altLang="en-US" sz="1400" dirty="0" smtClean="0"/>
              <a:t>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760966" y="1313864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pods -n 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-system -o wide 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proxy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-proxy-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bvdlz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1/1     Running   0                5d23h   192.168.53.22   k8sedu-node01   &lt;none&gt;           &lt;none&gt;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kube-proxy-ngtm8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1/1     Running   0                5d23h   192.168.53.21   k8sedu-master   </a:t>
            </a:r>
            <a:r>
              <a:rPr lang="en-US" altLang="ko-KR" sz="1200" dirty="0" smtClean="0">
                <a:solidFill>
                  <a:schemeClr val="bg1"/>
                </a:solidFill>
              </a:rPr>
              <a:t> &lt;</a:t>
            </a:r>
            <a:r>
              <a:rPr lang="en-US" altLang="ko-KR" sz="1200" dirty="0">
                <a:solidFill>
                  <a:schemeClr val="bg1"/>
                </a:solidFill>
              </a:rPr>
              <a:t>none&gt;           &lt;none&gt;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kube-proxy-qmq87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1/1     Running   0                5d23h   192.168.53.23   k8sedu-node02  </a:t>
            </a:r>
            <a:r>
              <a:rPr lang="en-US" altLang="ko-KR" sz="1200" dirty="0" smtClean="0">
                <a:solidFill>
                  <a:schemeClr val="bg1"/>
                </a:solidFill>
              </a:rPr>
              <a:t> &lt;</a:t>
            </a:r>
            <a:r>
              <a:rPr lang="en-US" altLang="ko-KR" sz="1200" dirty="0">
                <a:solidFill>
                  <a:schemeClr val="bg1"/>
                </a:solidFill>
              </a:rPr>
              <a:t>none&gt;           &lt;none&gt;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2244409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Proxy Server </a:t>
            </a:r>
            <a:r>
              <a:rPr lang="ko-KR" altLang="en-US" sz="1400" dirty="0" smtClean="0"/>
              <a:t>실행</a:t>
            </a:r>
            <a:endParaRPr lang="en-US" altLang="ko-KR" sz="1200" dirty="0"/>
          </a:p>
        </p:txBody>
      </p:sp>
      <p:sp>
        <p:nvSpPr>
          <p:cNvPr id="11" name="TextBox 3"/>
          <p:cNvSpPr txBox="1"/>
          <p:nvPr/>
        </p:nvSpPr>
        <p:spPr>
          <a:xfrm>
            <a:off x="760966" y="2595161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proxy --</a:t>
            </a:r>
            <a:r>
              <a:rPr lang="en-US" altLang="ko-KR" sz="1200" dirty="0" err="1">
                <a:solidFill>
                  <a:schemeClr val="bg1"/>
                </a:solidFill>
              </a:rPr>
              <a:t>api</a:t>
            </a:r>
            <a:r>
              <a:rPr lang="en-US" altLang="ko-KR" sz="1200" dirty="0">
                <a:solidFill>
                  <a:schemeClr val="bg1"/>
                </a:solidFill>
              </a:rPr>
              <a:t>-prefix=/ -p 8001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Starting </a:t>
            </a:r>
            <a:r>
              <a:rPr lang="en-US" altLang="ko-KR" sz="1200" dirty="0">
                <a:solidFill>
                  <a:schemeClr val="bg1"/>
                </a:solidFill>
              </a:rPr>
              <a:t>to serve on 127.0.0.1:8001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309648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Proxy Server</a:t>
            </a:r>
            <a:r>
              <a:rPr lang="ko-KR" altLang="en-US" sz="1400" dirty="0" smtClean="0"/>
              <a:t>를 통해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조회 </a:t>
            </a:r>
            <a:endParaRPr lang="en-US" altLang="ko-KR" sz="1400" dirty="0"/>
          </a:p>
        </p:txBody>
      </p:sp>
      <p:sp>
        <p:nvSpPr>
          <p:cNvPr id="13" name="TextBox 3"/>
          <p:cNvSpPr txBox="1"/>
          <p:nvPr/>
        </p:nvSpPr>
        <p:spPr>
          <a:xfrm>
            <a:off x="760966" y="3447233"/>
            <a:ext cx="10838341" cy="249299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http://127.0.0.1:8001/api/v1/pods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…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{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"kind": "</a:t>
            </a:r>
            <a:r>
              <a:rPr lang="en-US" altLang="ko-KR" sz="1200" dirty="0" err="1">
                <a:solidFill>
                  <a:schemeClr val="bg1"/>
                </a:solidFill>
              </a:rPr>
              <a:t>PodList</a:t>
            </a:r>
            <a:r>
              <a:rPr lang="en-US" altLang="ko-KR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"</a:t>
            </a:r>
            <a:r>
              <a:rPr lang="en-US" altLang="ko-KR" sz="1200" dirty="0" err="1">
                <a:solidFill>
                  <a:schemeClr val="bg1"/>
                </a:solidFill>
              </a:rPr>
              <a:t>apiVersion</a:t>
            </a:r>
            <a:r>
              <a:rPr lang="en-US" altLang="ko-KR" sz="1200" dirty="0">
                <a:solidFill>
                  <a:schemeClr val="bg1"/>
                </a:solidFill>
              </a:rPr>
              <a:t>": "v1",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"metadata": {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"</a:t>
            </a:r>
            <a:r>
              <a:rPr lang="en-US" altLang="ko-KR" sz="1200" dirty="0" err="1">
                <a:solidFill>
                  <a:schemeClr val="bg1"/>
                </a:solidFill>
              </a:rPr>
              <a:t>resourceVersion</a:t>
            </a:r>
            <a:r>
              <a:rPr lang="en-US" altLang="ko-KR" sz="1200" dirty="0">
                <a:solidFill>
                  <a:schemeClr val="bg1"/>
                </a:solidFill>
              </a:rPr>
              <a:t>": "17115220"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},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"items": [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"metadata": {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" y="984599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-proxy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870209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23644</TotalTime>
  <Words>2710</Words>
  <Application>Microsoft Office PowerPoint</Application>
  <PresentationFormat>와이드스크린</PresentationFormat>
  <Paragraphs>569</Paragraphs>
  <Slides>28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435</cp:revision>
  <dcterms:created xsi:type="dcterms:W3CDTF">2022-09-15T01:21:24Z</dcterms:created>
  <dcterms:modified xsi:type="dcterms:W3CDTF">2025-03-05T01:27:32Z</dcterms:modified>
</cp:coreProperties>
</file>