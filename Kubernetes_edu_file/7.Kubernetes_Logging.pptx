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0" r:id="rId2"/>
    <p:sldId id="271" r:id="rId3"/>
    <p:sldId id="360" r:id="rId4"/>
    <p:sldId id="362" r:id="rId5"/>
    <p:sldId id="477" r:id="rId6"/>
    <p:sldId id="478" r:id="rId7"/>
    <p:sldId id="483" r:id="rId8"/>
    <p:sldId id="479" r:id="rId9"/>
    <p:sldId id="486" r:id="rId10"/>
    <p:sldId id="487" r:id="rId11"/>
    <p:sldId id="488" r:id="rId12"/>
    <p:sldId id="48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477"/>
            <p14:sldId id="478"/>
            <p14:sldId id="483"/>
            <p14:sldId id="479"/>
            <p14:sldId id="486"/>
            <p14:sldId id="487"/>
            <p14:sldId id="488"/>
            <p14:sldId id="4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-sigs/metrics-server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smtClean="0"/>
              <a:t>보통 모니터링은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수</a:t>
            </a:r>
            <a:r>
              <a:rPr lang="en-US" altLang="ko-KR" sz="1200" dirty="0" smtClean="0"/>
              <a:t>, Node </a:t>
            </a:r>
            <a:r>
              <a:rPr lang="ko-KR" altLang="en-US" sz="1200" dirty="0" smtClean="0"/>
              <a:t>수</a:t>
            </a:r>
            <a:r>
              <a:rPr lang="en-US" altLang="ko-KR" sz="1200" dirty="0" smtClean="0"/>
              <a:t>,</a:t>
            </a:r>
            <a:r>
              <a:rPr lang="en-US" altLang="ko-KR" sz="1200" baseline="0" dirty="0" smtClean="0"/>
              <a:t> CPU, Memory </a:t>
            </a:r>
            <a:r>
              <a:rPr lang="ko-KR" altLang="en-US" sz="1200" baseline="0" dirty="0" smtClean="0"/>
              <a:t>사용량 등을 생각 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현재 </a:t>
            </a:r>
            <a:r>
              <a:rPr lang="ko-KR" altLang="en-US" sz="1200" baseline="0" dirty="0" err="1" smtClean="0"/>
              <a:t>쿠버네티스에서</a:t>
            </a:r>
            <a:r>
              <a:rPr lang="ko-KR" altLang="en-US" sz="1200" baseline="0" dirty="0" smtClean="0"/>
              <a:t> 제공하는 모니터링 솔루션은 없다</a:t>
            </a:r>
            <a:r>
              <a:rPr lang="en-US" altLang="ko-KR" sz="1200" baseline="0" dirty="0" smtClean="0"/>
              <a:t>. </a:t>
            </a:r>
            <a:r>
              <a:rPr lang="ko-KR" altLang="en-US" sz="1200" baseline="0" dirty="0" smtClean="0"/>
              <a:t>하지만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DataDog</a:t>
            </a:r>
            <a:r>
              <a:rPr lang="en-US" altLang="ko-KR" sz="1200" baseline="0" dirty="0" smtClean="0"/>
              <a:t>, Elastic Stack, Prometheus, Metrics Server, </a:t>
            </a:r>
            <a:r>
              <a:rPr lang="en-US" altLang="ko-KR" sz="1200" baseline="0" dirty="0" err="1" smtClean="0"/>
              <a:t>Grafana</a:t>
            </a:r>
            <a:r>
              <a:rPr lang="ko-KR" altLang="en-US" sz="1200" baseline="0" dirty="0" smtClean="0"/>
              <a:t>와 같은 솔루션을 통해 모니터링을 할 수 있다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Metrics Server </a:t>
            </a:r>
            <a:r>
              <a:rPr lang="ko-KR" altLang="en-US" sz="1200" dirty="0" smtClean="0"/>
              <a:t>파이프라인 참고 주소 </a:t>
            </a:r>
            <a:r>
              <a:rPr lang="en-US" altLang="ko-KR" sz="1200" dirty="0" smtClean="0"/>
              <a:t>: https://kubernetes.io/docs/tasks/debug/debug-cluster/resource-metrics-pipeline/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Kubelet</a:t>
            </a:r>
            <a:r>
              <a:rPr lang="ko-KR" altLang="en-US" sz="1200" dirty="0" smtClean="0"/>
              <a:t>은 컨테이너 리소스를 관리하기 위한 노드 에이전트</a:t>
            </a:r>
            <a:r>
              <a:rPr lang="en-US" altLang="ko-KR" sz="1200" dirty="0" smtClean="0"/>
              <a:t>,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리소스 </a:t>
            </a:r>
            <a:r>
              <a:rPr lang="ko-KR" altLang="en-US" sz="1200" baseline="0" dirty="0" err="1" smtClean="0"/>
              <a:t>메트릭은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/metrics/resource </a:t>
            </a:r>
            <a:r>
              <a:rPr lang="ko-KR" altLang="en-US" sz="1200" baseline="0" dirty="0" smtClean="0"/>
              <a:t>및  </a:t>
            </a:r>
            <a:r>
              <a:rPr lang="en-US" altLang="ko-KR" sz="1200" baseline="0" dirty="0" smtClean="0"/>
              <a:t>/stats </a:t>
            </a:r>
            <a:r>
              <a:rPr lang="en-US" altLang="ko-KR" sz="1200" baseline="0" dirty="0" err="1" smtClean="0"/>
              <a:t>kubelet</a:t>
            </a:r>
            <a:r>
              <a:rPr lang="en-US" altLang="ko-KR" sz="1200" baseline="0" dirty="0" smtClean="0"/>
              <a:t> API </a:t>
            </a:r>
            <a:r>
              <a:rPr lang="ko-KR" altLang="en-US" sz="1200" baseline="0" dirty="0" err="1" smtClean="0"/>
              <a:t>엔드포인트를</a:t>
            </a:r>
            <a:r>
              <a:rPr lang="ko-KR" altLang="en-US" sz="1200" baseline="0" dirty="0" smtClean="0"/>
              <a:t> 사용하여 액세스할 수 있다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143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 Cluster</a:t>
            </a:r>
            <a:r>
              <a:rPr lang="ko-KR" altLang="en-US" sz="1200" dirty="0" smtClean="0"/>
              <a:t>에서 </a:t>
            </a:r>
            <a:r>
              <a:rPr lang="ko-KR" altLang="en-US" sz="1200" dirty="0" err="1" smtClean="0"/>
              <a:t>메트릭</a:t>
            </a:r>
            <a:r>
              <a:rPr lang="ko-KR" altLang="en-US" sz="1200" dirty="0" smtClean="0"/>
              <a:t> 서버는 따로 설치해야 모니터링이 가능하다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Metrics Server </a:t>
            </a:r>
            <a:r>
              <a:rPr lang="ko-KR" altLang="en-US" sz="1200" dirty="0" smtClean="0"/>
              <a:t>참고 </a:t>
            </a:r>
            <a:r>
              <a:rPr lang="en-US" altLang="ko-KR" sz="1200" dirty="0" smtClean="0"/>
              <a:t>URL : </a:t>
            </a:r>
            <a:r>
              <a:rPr lang="en-US" altLang="ko-KR" dirty="0" smtClean="0">
                <a:hlinkClick r:id="rId3"/>
              </a:rPr>
              <a:t>GitHub - </a:t>
            </a:r>
            <a:r>
              <a:rPr lang="en-US" altLang="ko-KR" dirty="0" err="1" smtClean="0">
                <a:hlinkClick r:id="rId3"/>
              </a:rPr>
              <a:t>kubernetes</a:t>
            </a:r>
            <a:r>
              <a:rPr lang="en-US" altLang="ko-KR" dirty="0" smtClean="0">
                <a:hlinkClick r:id="rId3"/>
              </a:rPr>
              <a:t>-sigs/metrics-server: Scalable and efficient source of container resource metrics for Kubernetes built-in </a:t>
            </a:r>
            <a:r>
              <a:rPr lang="en-US" altLang="ko-KR" dirty="0" err="1" smtClean="0">
                <a:hlinkClick r:id="rId3"/>
              </a:rPr>
              <a:t>autoscaling</a:t>
            </a:r>
            <a:r>
              <a:rPr lang="en-US" altLang="ko-KR" dirty="0" smtClean="0">
                <a:hlinkClick r:id="rId3"/>
              </a:rPr>
              <a:t> pipelines.</a:t>
            </a:r>
            <a:endParaRPr lang="en-US" altLang="ko-KR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실습 자료에서 </a:t>
            </a:r>
            <a:r>
              <a:rPr lang="en-US" altLang="ko-KR" sz="1200" dirty="0" smtClean="0"/>
              <a:t>Metrics Server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설치 진행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5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358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 </a:t>
            </a:r>
            <a:r>
              <a:rPr lang="en-US" altLang="ko-KR" sz="1200" dirty="0" err="1" smtClean="0"/>
              <a:t>Evnet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일 후에 자동으로 삭제 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--</a:t>
            </a:r>
            <a:r>
              <a:rPr lang="ko-KR" altLang="en-US" sz="1200" dirty="0" smtClean="0"/>
              <a:t>실습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Event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Default</a:t>
            </a:r>
            <a:r>
              <a:rPr lang="ko-KR" altLang="en-US" sz="1200" dirty="0" smtClean="0"/>
              <a:t>로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err="1" smtClean="0"/>
              <a:t>컨트롤러든</a:t>
            </a:r>
            <a:r>
              <a:rPr lang="en-US" altLang="ko-KR" sz="1200" dirty="0" smtClean="0"/>
              <a:t>, pod</a:t>
            </a:r>
            <a:r>
              <a:rPr lang="ko-KR" altLang="en-US" sz="1200" dirty="0" smtClean="0"/>
              <a:t>든 생성 삭제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수정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322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72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762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22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-- </a:t>
            </a:r>
            <a:r>
              <a:rPr lang="ko-KR" altLang="en-US" sz="1200" dirty="0" smtClean="0"/>
              <a:t>실습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대시보드를 다운로드 받아 구성해 보기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대시보드 구성하고 접근하는 방법 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가지 </a:t>
            </a:r>
            <a:r>
              <a:rPr lang="ko-KR" altLang="en-US" sz="1200" dirty="0" err="1" smtClean="0"/>
              <a:t>실습해보기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Api</a:t>
            </a:r>
            <a:r>
              <a:rPr lang="en-US" altLang="ko-KR" sz="1200" dirty="0" smtClean="0"/>
              <a:t> serve</a:t>
            </a:r>
            <a:r>
              <a:rPr lang="ko-KR" altLang="en-US" sz="1200" dirty="0" smtClean="0"/>
              <a:t>에 직접 접근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Kube</a:t>
            </a:r>
            <a:r>
              <a:rPr lang="en-US" altLang="ko-KR" sz="1200" baseline="0" dirty="0" smtClean="0"/>
              <a:t> proxy </a:t>
            </a:r>
            <a:r>
              <a:rPr lang="ko-KR" altLang="en-US" sz="1200" baseline="0" dirty="0" smtClean="0"/>
              <a:t>통해서 접근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NodePort</a:t>
            </a:r>
            <a:r>
              <a:rPr lang="ko-KR" altLang="en-US" sz="1200" baseline="0" dirty="0" smtClean="0"/>
              <a:t>를 통한 접근 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  <a:endParaRPr lang="en-US" altLang="ko-KR" sz="1400" b="1" dirty="0" smtClean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888525"/>
            <a:ext cx="9171445" cy="940643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Logging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Monitoring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Logging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661079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 Dashboard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06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11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Monitoring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Monitor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모니터링을 통해 </a:t>
            </a:r>
            <a:r>
              <a:rPr lang="en-US" altLang="ko-KR" sz="1400" dirty="0" smtClean="0"/>
              <a:t>Pod, Node </a:t>
            </a:r>
            <a:r>
              <a:rPr lang="ko-KR" altLang="en-US" sz="1400" dirty="0" smtClean="0"/>
              <a:t>수</a:t>
            </a:r>
            <a:r>
              <a:rPr lang="en-US" altLang="ko-KR" sz="1400" dirty="0" smtClean="0"/>
              <a:t>, Resource </a:t>
            </a:r>
            <a:r>
              <a:rPr lang="ko-KR" altLang="en-US" sz="1400" dirty="0" smtClean="0"/>
              <a:t>사용량을 확인할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1595358" y="5247354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Node01</a:t>
            </a:r>
            <a:endParaRPr lang="ko-KR" altLang="en-US" b="1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49720"/>
              </p:ext>
            </p:extLst>
          </p:nvPr>
        </p:nvGraphicFramePr>
        <p:xfrm>
          <a:off x="873051" y="3022314"/>
          <a:ext cx="279518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727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31727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  <a:gridCol w="931727">
                  <a:extLst>
                    <a:ext uri="{9D8B030D-6E8A-4147-A177-3AD203B41FA5}">
                      <a16:colId xmlns:a16="http://schemas.microsoft.com/office/drawing/2014/main" val="1717773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Disk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pic>
        <p:nvPicPr>
          <p:cNvPr id="20" name="그림 19"/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380" y="2476101"/>
            <a:ext cx="520522" cy="499804"/>
          </a:xfrm>
          <a:prstGeom prst="rect">
            <a:avLst/>
          </a:prstGeom>
        </p:spPr>
      </p:pic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49720"/>
              </p:ext>
            </p:extLst>
          </p:nvPr>
        </p:nvGraphicFramePr>
        <p:xfrm>
          <a:off x="4174100" y="3022313"/>
          <a:ext cx="279518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727">
                  <a:extLst>
                    <a:ext uri="{9D8B030D-6E8A-4147-A177-3AD203B41FA5}">
                      <a16:colId xmlns:a16="http://schemas.microsoft.com/office/drawing/2014/main" val="409112862"/>
                    </a:ext>
                  </a:extLst>
                </a:gridCol>
                <a:gridCol w="931727">
                  <a:extLst>
                    <a:ext uri="{9D8B030D-6E8A-4147-A177-3AD203B41FA5}">
                      <a16:colId xmlns:a16="http://schemas.microsoft.com/office/drawing/2014/main" val="977786405"/>
                    </a:ext>
                  </a:extLst>
                </a:gridCol>
                <a:gridCol w="931727">
                  <a:extLst>
                    <a:ext uri="{9D8B030D-6E8A-4147-A177-3AD203B41FA5}">
                      <a16:colId xmlns:a16="http://schemas.microsoft.com/office/drawing/2014/main" val="1717773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Disk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4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65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4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13426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964697" y="5247353"/>
            <a:ext cx="13505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Node02</a:t>
            </a:r>
            <a:endParaRPr lang="ko-KR" altLang="en-US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097" y="2486261"/>
            <a:ext cx="520522" cy="499804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743" y="2486261"/>
            <a:ext cx="520522" cy="49980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926" y="1357198"/>
            <a:ext cx="665572" cy="6655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11498" y="1264774"/>
            <a:ext cx="135056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Monitoring Solution</a:t>
            </a:r>
            <a:endParaRPr lang="ko-KR" altLang="en-US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319" y="1430257"/>
            <a:ext cx="2380631" cy="59251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324" y="2283682"/>
            <a:ext cx="2164626" cy="96495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20" y="3529742"/>
            <a:ext cx="2388235" cy="60509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51521" y="4621290"/>
            <a:ext cx="238823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Metrics Server</a:t>
            </a:r>
            <a:endParaRPr lang="ko-KR" altLang="en-US" sz="2000" b="1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531" y="5356578"/>
            <a:ext cx="2352212" cy="570454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7934960" y="1264774"/>
            <a:ext cx="3220720" cy="484138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/>
          <p:nvPr/>
        </p:nvCxnSpPr>
        <p:spPr>
          <a:xfrm flipV="1">
            <a:off x="4962066" y="1557161"/>
            <a:ext cx="2972894" cy="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Metrics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파이프라인 아키텍처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cAdvisor</a:t>
            </a:r>
            <a:r>
              <a:rPr lang="ko-KR" altLang="en-US" sz="1400" dirty="0" smtClean="0"/>
              <a:t>는 </a:t>
            </a:r>
            <a:r>
              <a:rPr lang="en-US" altLang="ko-KR" sz="1400" dirty="0" err="1" smtClean="0"/>
              <a:t>kubelet</a:t>
            </a:r>
            <a:r>
              <a:rPr lang="ko-KR" altLang="en-US" sz="1400" dirty="0" smtClean="0"/>
              <a:t>에 포함된 컨테이너 </a:t>
            </a:r>
            <a:r>
              <a:rPr lang="ko-KR" altLang="en-US" sz="1400" dirty="0" err="1" smtClean="0"/>
              <a:t>메트릭을</a:t>
            </a:r>
            <a:r>
              <a:rPr lang="ko-KR" altLang="en-US" sz="1400" dirty="0" smtClean="0"/>
              <a:t> 수집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집계 및 노출하는 </a:t>
            </a:r>
            <a:r>
              <a:rPr lang="ko-KR" altLang="en-US" sz="1400" dirty="0" err="1" smtClean="0"/>
              <a:t>데몬이다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Metrics Server</a:t>
            </a:r>
            <a:r>
              <a:rPr lang="ko-KR" altLang="en-US" sz="1400" dirty="0" smtClean="0"/>
              <a:t>는 각 </a:t>
            </a:r>
            <a:r>
              <a:rPr lang="en-US" altLang="ko-KR" sz="1400" dirty="0" err="1" smtClean="0"/>
              <a:t>Kubelet</a:t>
            </a:r>
            <a:r>
              <a:rPr lang="ko-KR" altLang="en-US" sz="1400" dirty="0" smtClean="0"/>
              <a:t>에서 가져온 리소스 </a:t>
            </a:r>
            <a:r>
              <a:rPr lang="ko-KR" altLang="en-US" sz="1400" dirty="0" err="1" smtClean="0"/>
              <a:t>메트릭을</a:t>
            </a:r>
            <a:r>
              <a:rPr lang="ko-KR" altLang="en-US" sz="1400" dirty="0" smtClean="0"/>
              <a:t> 수집하고 집계하는 클러스터 추가 구성 요소이다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API Server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HPA, VPA </a:t>
            </a:r>
            <a:r>
              <a:rPr lang="ko-KR" altLang="en-US" sz="1400" dirty="0" smtClean="0"/>
              <a:t>및 명령에서 사용할 </a:t>
            </a:r>
            <a:r>
              <a:rPr lang="en-US" altLang="ko-KR" sz="1400" dirty="0" smtClean="0"/>
              <a:t>Metrics API</a:t>
            </a:r>
            <a:r>
              <a:rPr lang="ko-KR" altLang="en-US" sz="1400" dirty="0" smtClean="0"/>
              <a:t>를 제공한다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295229" y="1831106"/>
            <a:ext cx="11169742" cy="3850122"/>
            <a:chOff x="463458" y="2410226"/>
            <a:chExt cx="11169742" cy="3850122"/>
          </a:xfrm>
        </p:grpSpPr>
        <p:sp>
          <p:nvSpPr>
            <p:cNvPr id="28" name="직사각형 27"/>
            <p:cNvSpPr/>
            <p:nvPr/>
          </p:nvSpPr>
          <p:spPr>
            <a:xfrm>
              <a:off x="1402080" y="2410226"/>
              <a:ext cx="10231120" cy="3850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3579" y="2447484"/>
              <a:ext cx="714376" cy="6858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2137955" y="2605718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7332514" y="2605718"/>
              <a:ext cx="3910552" cy="350875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2000" b="1" dirty="0" smtClean="0">
                  <a:solidFill>
                    <a:schemeClr val="tx1"/>
                  </a:solidFill>
                </a:rPr>
                <a:t>Nodes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9832463" y="3268988"/>
              <a:ext cx="1246389" cy="4180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Container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Runtime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7484507" y="3959366"/>
              <a:ext cx="1337221" cy="75184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err="1" smtClean="0"/>
                <a:t>Kubelet</a:t>
              </a:r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9832463" y="3825261"/>
              <a:ext cx="1246389" cy="4180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Container</a:t>
              </a:r>
            </a:p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Runtime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7837" y="4342657"/>
              <a:ext cx="670560" cy="294326"/>
            </a:xfrm>
            <a:prstGeom prst="rect">
              <a:avLst/>
            </a:prstGeom>
          </p:spPr>
        </p:pic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7095" y="5214783"/>
              <a:ext cx="283125" cy="271856"/>
            </a:xfrm>
            <a:prstGeom prst="rect">
              <a:avLst/>
            </a:prstGeom>
          </p:spPr>
        </p:pic>
        <p:sp>
          <p:nvSpPr>
            <p:cNvPr id="42" name="직사각형 41"/>
            <p:cNvSpPr/>
            <p:nvPr/>
          </p:nvSpPr>
          <p:spPr>
            <a:xfrm>
              <a:off x="9327095" y="5141704"/>
              <a:ext cx="1246389" cy="4180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Pod Data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7"/>
            <p:cNvCxnSpPr>
              <a:stCxn id="32" idx="1"/>
              <a:endCxn id="13" idx="3"/>
            </p:cNvCxnSpPr>
            <p:nvPr/>
          </p:nvCxnSpPr>
          <p:spPr>
            <a:xfrm flipH="1">
              <a:off x="8488397" y="3477995"/>
              <a:ext cx="1344066" cy="1011825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>
              <a:stCxn id="40" idx="1"/>
              <a:endCxn id="13" idx="3"/>
            </p:cNvCxnSpPr>
            <p:nvPr/>
          </p:nvCxnSpPr>
          <p:spPr>
            <a:xfrm flipH="1">
              <a:off x="8488397" y="4034268"/>
              <a:ext cx="1344066" cy="45555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구부러진 연결선 49"/>
            <p:cNvCxnSpPr>
              <a:stCxn id="42" idx="1"/>
              <a:endCxn id="38" idx="2"/>
            </p:cNvCxnSpPr>
            <p:nvPr/>
          </p:nvCxnSpPr>
          <p:spPr>
            <a:xfrm rot="10800000">
              <a:off x="8153119" y="4711207"/>
              <a:ext cx="1173977" cy="639504"/>
            </a:xfrm>
            <a:prstGeom prst="curvedConnector2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/>
            <p:cNvSpPr/>
            <p:nvPr/>
          </p:nvSpPr>
          <p:spPr>
            <a:xfrm>
              <a:off x="4242565" y="3959365"/>
              <a:ext cx="1337221" cy="75184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smtClean="0"/>
                <a:t>Metrics</a:t>
              </a:r>
            </a:p>
            <a:p>
              <a:pPr algn="ctr"/>
              <a:r>
                <a:rPr lang="en-US" altLang="ko-KR" sz="1200" dirty="0" smtClean="0"/>
                <a:t>Server</a:t>
              </a:r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334911" y="4070057"/>
              <a:ext cx="762865" cy="53045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 smtClean="0"/>
                <a:t>API</a:t>
              </a:r>
            </a:p>
            <a:p>
              <a:pPr algn="ctr"/>
              <a:r>
                <a:rPr lang="en-US" altLang="ko-KR" sz="1200" dirty="0" smtClean="0"/>
                <a:t>Server</a:t>
              </a:r>
              <a:endParaRPr lang="ko-KR" altLang="en-US" dirty="0"/>
            </a:p>
          </p:txBody>
        </p:sp>
        <p:cxnSp>
          <p:nvCxnSpPr>
            <p:cNvPr id="54" name="직선 화살표 연결선 53"/>
            <p:cNvCxnSpPr>
              <a:stCxn id="38" idx="1"/>
              <a:endCxn id="52" idx="3"/>
            </p:cNvCxnSpPr>
            <p:nvPr/>
          </p:nvCxnSpPr>
          <p:spPr>
            <a:xfrm flipH="1" flipV="1">
              <a:off x="5579786" y="4335286"/>
              <a:ext cx="1904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921911" y="3899482"/>
              <a:ext cx="1259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Node level</a:t>
              </a:r>
            </a:p>
            <a:p>
              <a:r>
                <a:rPr lang="en-US" altLang="ko-KR" sz="1200" dirty="0" smtClean="0"/>
                <a:t>Resource data</a:t>
              </a:r>
              <a:endParaRPr lang="ko-KR" altLang="en-US" dirty="0"/>
            </a:p>
          </p:txBody>
        </p:sp>
        <p:cxnSp>
          <p:nvCxnSpPr>
            <p:cNvPr id="58" name="직선 화살표 연결선 57"/>
            <p:cNvCxnSpPr>
              <a:stCxn id="52" idx="1"/>
              <a:endCxn id="53" idx="3"/>
            </p:cNvCxnSpPr>
            <p:nvPr/>
          </p:nvCxnSpPr>
          <p:spPr>
            <a:xfrm flipH="1" flipV="1">
              <a:off x="3097776" y="4335285"/>
              <a:ext cx="1144789" cy="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3174217" y="4023600"/>
              <a:ext cx="9919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/>
                <a:t>Metrics API</a:t>
              </a:r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609635" y="3554414"/>
              <a:ext cx="528320" cy="347266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HPA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463458" y="4930965"/>
              <a:ext cx="806542" cy="347266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chemeClr val="tx1"/>
                  </a:solidFill>
                </a:rPr>
                <a:t>ubectl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top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구부러진 연결선 64"/>
            <p:cNvCxnSpPr>
              <a:stCxn id="53" idx="0"/>
              <a:endCxn id="62" idx="3"/>
            </p:cNvCxnSpPr>
            <p:nvPr/>
          </p:nvCxnSpPr>
          <p:spPr>
            <a:xfrm rot="16200000" flipV="1">
              <a:off x="2256145" y="3609857"/>
              <a:ext cx="342010" cy="578389"/>
            </a:xfrm>
            <a:prstGeom prst="curved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구부러진 연결선 65"/>
            <p:cNvCxnSpPr>
              <a:stCxn id="53" idx="2"/>
              <a:endCxn id="63" idx="3"/>
            </p:cNvCxnSpPr>
            <p:nvPr/>
          </p:nvCxnSpPr>
          <p:spPr>
            <a:xfrm rot="5400000">
              <a:off x="1741130" y="4129383"/>
              <a:ext cx="504085" cy="1446344"/>
            </a:xfrm>
            <a:prstGeom prst="curved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74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Metrics Server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 Resource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2" name="TextBox 20"/>
          <p:cNvSpPr txBox="1"/>
          <p:nvPr/>
        </p:nvSpPr>
        <p:spPr>
          <a:xfrm>
            <a:off x="963570" y="1023227"/>
            <a:ext cx="6036670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top nodes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CPU(cores)   CPU%   MEMORY(bytes)   MEMORY%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master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63m          </a:t>
            </a:r>
            <a:r>
              <a:rPr lang="en-US" altLang="ko-KR" sz="1200" dirty="0">
                <a:solidFill>
                  <a:schemeClr val="bg1"/>
                </a:solidFill>
              </a:rPr>
              <a:t>3%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2206Mi             77</a:t>
            </a:r>
            <a:r>
              <a:rPr lang="en-US" altLang="ko-KR" sz="1200" dirty="0">
                <a:solidFill>
                  <a:schemeClr val="bg1"/>
                </a:solidFill>
              </a:rPr>
              <a:t>%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worker1   </a:t>
            </a:r>
            <a:r>
              <a:rPr lang="en-US" altLang="ko-KR" sz="1200" dirty="0" smtClean="0">
                <a:solidFill>
                  <a:schemeClr val="bg1"/>
                </a:solidFill>
              </a:rPr>
              <a:t> 39m          </a:t>
            </a:r>
            <a:r>
              <a:rPr lang="en-US" altLang="ko-KR" sz="1200" dirty="0">
                <a:solidFill>
                  <a:schemeClr val="bg1"/>
                </a:solidFill>
              </a:rPr>
              <a:t>1%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3061Mi             81</a:t>
            </a:r>
            <a:r>
              <a:rPr lang="en-US" altLang="ko-KR" sz="1200" dirty="0">
                <a:solidFill>
                  <a:schemeClr val="bg1"/>
                </a:solidFill>
              </a:rPr>
              <a:t>%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worker2   </a:t>
            </a:r>
            <a:r>
              <a:rPr lang="en-US" altLang="ko-KR" sz="1200" dirty="0" smtClean="0">
                <a:solidFill>
                  <a:schemeClr val="bg1"/>
                </a:solidFill>
              </a:rPr>
              <a:t> 24m          </a:t>
            </a:r>
            <a:r>
              <a:rPr lang="en-US" altLang="ko-KR" sz="1200" dirty="0">
                <a:solidFill>
                  <a:schemeClr val="bg1"/>
                </a:solidFill>
              </a:rPr>
              <a:t>1%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3087Mi             81</a:t>
            </a:r>
            <a:r>
              <a:rPr lang="en-US" altLang="ko-KR" sz="1200" dirty="0">
                <a:solidFill>
                  <a:schemeClr val="bg1"/>
                </a:solidFill>
              </a:rPr>
              <a:t>%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worker3   </a:t>
            </a:r>
            <a:r>
              <a:rPr lang="en-US" altLang="ko-KR" sz="1200" dirty="0" smtClean="0">
                <a:solidFill>
                  <a:schemeClr val="bg1"/>
                </a:solidFill>
              </a:rPr>
              <a:t> 28m          </a:t>
            </a:r>
            <a:r>
              <a:rPr lang="en-US" altLang="ko-KR" sz="1200" dirty="0">
                <a:solidFill>
                  <a:schemeClr val="bg1"/>
                </a:solidFill>
              </a:rPr>
              <a:t>1%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2963Mi             78%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199" y="248329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Resource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4" name="TextBox 20"/>
          <p:cNvSpPr txBox="1"/>
          <p:nvPr/>
        </p:nvSpPr>
        <p:spPr>
          <a:xfrm>
            <a:off x="963570" y="2791067"/>
            <a:ext cx="6036670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top pod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CPU(cores</a:t>
            </a:r>
            <a:r>
              <a:rPr lang="en-US" altLang="ko-KR" sz="1200" dirty="0">
                <a:solidFill>
                  <a:schemeClr val="bg1"/>
                </a:solidFill>
              </a:rPr>
              <a:t>)   MEMORY(bytes)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deployment-lotto-84d4bcc4d4-hhsf5   1m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284Mi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deployment-lotto-84d4bcc4d4-tjgm9   1m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277Mi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deployment-room-67bc7d9c66-2gslv   </a:t>
            </a:r>
            <a:r>
              <a:rPr lang="en-US" altLang="ko-KR" sz="1200" dirty="0" smtClean="0">
                <a:solidFill>
                  <a:schemeClr val="bg1"/>
                </a:solidFill>
              </a:rPr>
              <a:t>1m             257Mi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deployment-room-67bc7d9c66-rzcrw   </a:t>
            </a:r>
            <a:r>
              <a:rPr lang="en-US" altLang="ko-KR" sz="1200" dirty="0" smtClean="0">
                <a:solidFill>
                  <a:schemeClr val="bg1"/>
                </a:solidFill>
              </a:rPr>
              <a:t>1m             240Mi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60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Logging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16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Event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클러스터에서 발생하는 다양한 이벤트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오류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경고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상태 변경 등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을 기록하는 리소스이다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이벤트 상세 정보</a:t>
            </a:r>
            <a:endParaRPr lang="en-US" altLang="ko-KR" sz="1400" dirty="0" smtClean="0"/>
          </a:p>
        </p:txBody>
      </p:sp>
      <p:sp>
        <p:nvSpPr>
          <p:cNvPr id="19" name="TextBox 20"/>
          <p:cNvSpPr txBox="1"/>
          <p:nvPr/>
        </p:nvSpPr>
        <p:spPr>
          <a:xfrm>
            <a:off x="973730" y="1302790"/>
            <a:ext cx="10628990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events --all-namespaces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NAMESPACE   LAST SEEN   TYPE     REASON             OBJECT      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MESSAGE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default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18s             </a:t>
            </a:r>
            <a:r>
              <a:rPr lang="en-US" altLang="ko-KR" sz="1200" dirty="0">
                <a:solidFill>
                  <a:schemeClr val="bg1"/>
                </a:solidFill>
              </a:rPr>
              <a:t>Normal   Scheduled          pod/deployment-lotto-84d4bcc4d4-dpfsg    Successfully assigned default/deployment-lotto-84d4bcc4d4-dpfsg to worker2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default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17s             Normal   </a:t>
            </a:r>
            <a:r>
              <a:rPr lang="en-US" altLang="ko-KR" sz="1200" dirty="0">
                <a:solidFill>
                  <a:schemeClr val="bg1"/>
                </a:solidFill>
              </a:rPr>
              <a:t>Pulling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pod/deployment-lotto-84d4bcc4d4-dpfsg       </a:t>
            </a:r>
            <a:r>
              <a:rPr lang="en-US" altLang="ko-KR" sz="1200" dirty="0">
                <a:solidFill>
                  <a:schemeClr val="bg1"/>
                </a:solidFill>
              </a:rPr>
              <a:t>Pulling image "www.harbor.co.kr/tsp/lotto:v1_1"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37107"/>
              </p:ext>
            </p:extLst>
          </p:nvPr>
        </p:nvGraphicFramePr>
        <p:xfrm>
          <a:off x="973730" y="2852354"/>
          <a:ext cx="10628990" cy="29444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6430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7782560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필드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NAMESAPCE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이벤트가 발생한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Namespace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 SEEN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이벤트가 발생한 마지막 시간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유형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(Normal, Warning)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REASON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이벤트가 발생한 이유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(Scheduled, Pulling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5924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OBJECT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이벤트가 발생한 리소스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(Pod, Node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393894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설명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320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62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Event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이벤트 정렬</a:t>
            </a:r>
            <a:endParaRPr lang="en-US" altLang="ko-KR" sz="1400" dirty="0" smtClean="0"/>
          </a:p>
        </p:txBody>
      </p:sp>
      <p:sp>
        <p:nvSpPr>
          <p:cNvPr id="19" name="TextBox 20"/>
          <p:cNvSpPr txBox="1"/>
          <p:nvPr/>
        </p:nvSpPr>
        <p:spPr>
          <a:xfrm>
            <a:off x="973730" y="1023227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events --sort-by=.</a:t>
            </a:r>
            <a:r>
              <a:rPr lang="en-US" altLang="ko-KR" sz="1200" dirty="0" err="1">
                <a:solidFill>
                  <a:schemeClr val="bg1"/>
                </a:solidFill>
              </a:rPr>
              <a:t>metadata.creationTimestamp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199" y="135132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이벤트 타입 정렬</a:t>
            </a:r>
            <a:endParaRPr lang="en-US" altLang="ko-KR" sz="1400" dirty="0" smtClean="0"/>
          </a:p>
        </p:txBody>
      </p:sp>
      <p:sp>
        <p:nvSpPr>
          <p:cNvPr id="8" name="TextBox 20"/>
          <p:cNvSpPr txBox="1"/>
          <p:nvPr/>
        </p:nvSpPr>
        <p:spPr>
          <a:xfrm>
            <a:off x="973730" y="1659101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events </a:t>
            </a:r>
            <a:r>
              <a:rPr lang="en-US" altLang="ko-KR" sz="1200" dirty="0" smtClean="0">
                <a:solidFill>
                  <a:schemeClr val="bg1"/>
                </a:solidFill>
              </a:rPr>
              <a:t>--field-selector type=Warning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99" y="199735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모든 이벤트 확인</a:t>
            </a:r>
            <a:endParaRPr lang="en-US" altLang="ko-KR" sz="1400" dirty="0" smtClean="0"/>
          </a:p>
        </p:txBody>
      </p:sp>
      <p:sp>
        <p:nvSpPr>
          <p:cNvPr id="11" name="TextBox 20"/>
          <p:cNvSpPr txBox="1"/>
          <p:nvPr/>
        </p:nvSpPr>
        <p:spPr>
          <a:xfrm>
            <a:off x="973730" y="2305135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events -A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199" y="266401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네임스페이스 이벤트 조회</a:t>
            </a:r>
            <a:endParaRPr lang="en-US" altLang="ko-KR" sz="1400" dirty="0" smtClean="0"/>
          </a:p>
        </p:txBody>
      </p:sp>
      <p:sp>
        <p:nvSpPr>
          <p:cNvPr id="13" name="TextBox 20"/>
          <p:cNvSpPr txBox="1"/>
          <p:nvPr/>
        </p:nvSpPr>
        <p:spPr>
          <a:xfrm>
            <a:off x="973730" y="2971787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events -n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-system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33306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 이벤트 조회</a:t>
            </a:r>
            <a:endParaRPr lang="en-US" altLang="ko-KR" sz="1400" dirty="0" smtClean="0"/>
          </a:p>
        </p:txBody>
      </p:sp>
      <p:sp>
        <p:nvSpPr>
          <p:cNvPr id="15" name="TextBox 20"/>
          <p:cNvSpPr txBox="1"/>
          <p:nvPr/>
        </p:nvSpPr>
        <p:spPr>
          <a:xfrm>
            <a:off x="973730" y="3638439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describe pod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0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Log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에서 운영중인 서비스는 </a:t>
            </a:r>
            <a:r>
              <a:rPr lang="en-US" altLang="ko-KR" sz="1400" dirty="0"/>
              <a:t>l</a:t>
            </a:r>
            <a:r>
              <a:rPr lang="en-US" altLang="ko-KR" sz="1400" dirty="0" smtClean="0"/>
              <a:t>og </a:t>
            </a:r>
            <a:r>
              <a:rPr lang="ko-KR" altLang="en-US" sz="1400" dirty="0" smtClean="0"/>
              <a:t>명령어를 통해 </a:t>
            </a:r>
            <a:r>
              <a:rPr lang="en-US" altLang="ko-KR" sz="1400" dirty="0" smtClean="0"/>
              <a:t>Log</a:t>
            </a:r>
            <a:r>
              <a:rPr lang="ko-KR" altLang="en-US" sz="1400" dirty="0" smtClean="0"/>
              <a:t>를 확인할 수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199" y="99572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기본 로그 조회</a:t>
            </a:r>
            <a:endParaRPr lang="en-US" altLang="ko-KR" sz="1400" dirty="0" smtClean="0"/>
          </a:p>
        </p:txBody>
      </p:sp>
      <p:sp>
        <p:nvSpPr>
          <p:cNvPr id="8" name="TextBox 20"/>
          <p:cNvSpPr txBox="1"/>
          <p:nvPr/>
        </p:nvSpPr>
        <p:spPr>
          <a:xfrm>
            <a:off x="973730" y="1303501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99" y="164175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컨테이너 로그 조회</a:t>
            </a:r>
            <a:endParaRPr lang="en-US" altLang="ko-KR" sz="1400" dirty="0" smtClean="0"/>
          </a:p>
        </p:txBody>
      </p:sp>
      <p:sp>
        <p:nvSpPr>
          <p:cNvPr id="11" name="TextBox 20"/>
          <p:cNvSpPr txBox="1"/>
          <p:nvPr/>
        </p:nvSpPr>
        <p:spPr>
          <a:xfrm>
            <a:off x="973730" y="1949535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[POD_NAME] -c [CONTAINER_NAME]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199" y="230841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실시간 로그 확인</a:t>
            </a:r>
            <a:endParaRPr lang="en-US" altLang="ko-KR" sz="1400" dirty="0" smtClean="0"/>
          </a:p>
        </p:txBody>
      </p:sp>
      <p:sp>
        <p:nvSpPr>
          <p:cNvPr id="13" name="TextBox 20"/>
          <p:cNvSpPr txBox="1"/>
          <p:nvPr/>
        </p:nvSpPr>
        <p:spPr>
          <a:xfrm>
            <a:off x="973730" y="2616187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[POD_NAME] -f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29750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</a:t>
            </a:r>
            <a:r>
              <a:rPr lang="en-US" altLang="ko-KR" sz="1400" dirty="0" smtClean="0"/>
              <a:t>5</a:t>
            </a:r>
            <a:r>
              <a:rPr lang="ko-KR" altLang="en-US" sz="1400" dirty="0" smtClean="0"/>
              <a:t>분 동안의 로그 확인</a:t>
            </a:r>
            <a:endParaRPr lang="en-US" altLang="ko-KR" sz="1400" dirty="0" smtClean="0"/>
          </a:p>
        </p:txBody>
      </p:sp>
      <p:sp>
        <p:nvSpPr>
          <p:cNvPr id="15" name="TextBox 20"/>
          <p:cNvSpPr txBox="1"/>
          <p:nvPr/>
        </p:nvSpPr>
        <p:spPr>
          <a:xfrm>
            <a:off x="973730" y="3282839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--since=5m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199" y="364171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재 시작된 경우 전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로그 확인</a:t>
            </a:r>
            <a:endParaRPr lang="en-US" altLang="ko-KR" sz="1400" dirty="0" smtClean="0"/>
          </a:p>
        </p:txBody>
      </p:sp>
      <p:sp>
        <p:nvSpPr>
          <p:cNvPr id="17" name="TextBox 20"/>
          <p:cNvSpPr txBox="1"/>
          <p:nvPr/>
        </p:nvSpPr>
        <p:spPr>
          <a:xfrm>
            <a:off x="973730" y="3949491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--previous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199" y="431852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</a:t>
            </a:r>
            <a:r>
              <a:rPr lang="en-US" altLang="ko-KR" sz="1400" dirty="0" smtClean="0"/>
              <a:t>N</a:t>
            </a:r>
            <a:r>
              <a:rPr lang="ko-KR" altLang="en-US" sz="1400" dirty="0" smtClean="0"/>
              <a:t>줄 로그 조회</a:t>
            </a:r>
            <a:endParaRPr lang="en-US" altLang="ko-KR" sz="14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973730" y="4626303"/>
            <a:ext cx="106289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--tail=N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9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Dashboard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9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Dashboard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Resource</a:t>
            </a:r>
            <a:r>
              <a:rPr lang="ko-KR" altLang="en-US" sz="1400" dirty="0" smtClean="0"/>
              <a:t>를 모니터링 하고 관리할 수 있는 서비스 솔루션 </a:t>
            </a:r>
            <a:endParaRPr lang="en-US" altLang="ko-KR" sz="14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197502"/>
            <a:ext cx="5209622" cy="45248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150" y="1197502"/>
            <a:ext cx="5120129" cy="276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5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22951</TotalTime>
  <Words>642</Words>
  <Application>Microsoft Office PowerPoint</Application>
  <PresentationFormat>와이드스크린</PresentationFormat>
  <Paragraphs>149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Pretendard SemiBold</vt:lpstr>
      <vt:lpstr>Univers LT Std 85 XBlk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566</cp:revision>
  <dcterms:created xsi:type="dcterms:W3CDTF">2022-09-15T01:21:24Z</dcterms:created>
  <dcterms:modified xsi:type="dcterms:W3CDTF">2025-03-05T00:10:39Z</dcterms:modified>
</cp:coreProperties>
</file>