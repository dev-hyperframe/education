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271" r:id="rId3"/>
    <p:sldId id="360" r:id="rId4"/>
    <p:sldId id="362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29" r:id="rId13"/>
    <p:sldId id="484" r:id="rId14"/>
    <p:sldId id="48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477"/>
            <p14:sldId id="478"/>
            <p14:sldId id="479"/>
            <p14:sldId id="480"/>
            <p14:sldId id="481"/>
            <p14:sldId id="482"/>
            <p14:sldId id="483"/>
            <p14:sldId id="429"/>
            <p14:sldId id="484"/>
            <p14:sldId id="4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는 기본적으로 파일이 생성되면 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</a:t>
            </a:r>
            <a:r>
              <a:rPr lang="ko-KR" altLang="en-US" sz="1200" dirty="0" err="1" smtClean="0"/>
              <a:t>재기동</a:t>
            </a:r>
            <a:r>
              <a:rPr lang="ko-KR" altLang="en-US" sz="1200" dirty="0" smtClean="0"/>
              <a:t> 될 때 삭제가 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dirty="0" smtClean="0"/>
              <a:t>Volume</a:t>
            </a:r>
            <a:r>
              <a:rPr lang="ko-KR" altLang="en-US" sz="1200" dirty="0" smtClean="0"/>
              <a:t>을 사용하게 되면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가</a:t>
            </a:r>
            <a:r>
              <a:rPr lang="ko-KR" altLang="en-US" sz="1200" baseline="0" dirty="0" smtClean="0"/>
              <a:t> 종료되더라도 데이터 유지가 가능하다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EmptyDir</a:t>
            </a:r>
            <a:r>
              <a:rPr lang="ko-KR" altLang="en-US" sz="1200" dirty="0" smtClean="0"/>
              <a:t>은 일시적인 데이터를 가지고</a:t>
            </a:r>
            <a:r>
              <a:rPr lang="ko-KR" altLang="en-US" sz="1200" baseline="0" dirty="0" smtClean="0"/>
              <a:t> 있을 경우 사용하기 편하다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143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5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322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94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Pod</a:t>
            </a:r>
            <a:r>
              <a:rPr lang="ko-KR" altLang="en-US" sz="1200" dirty="0" smtClean="0"/>
              <a:t>가 직접 </a:t>
            </a:r>
            <a:r>
              <a:rPr lang="en-US" altLang="ko-KR" sz="1200" dirty="0" smtClean="0"/>
              <a:t>PV</a:t>
            </a:r>
            <a:r>
              <a:rPr lang="ko-KR" altLang="en-US" sz="1200" dirty="0" smtClean="0"/>
              <a:t>를 </a:t>
            </a:r>
            <a:r>
              <a:rPr lang="ko-KR" altLang="en-US" sz="1200" dirty="0" err="1" smtClean="0"/>
              <a:t>할당받는</a:t>
            </a:r>
            <a:r>
              <a:rPr lang="ko-KR" altLang="en-US" sz="1200" dirty="0" smtClean="0"/>
              <a:t> 것이 아니라</a:t>
            </a:r>
            <a:r>
              <a:rPr lang="en-US" altLang="ko-KR" sz="1200" dirty="0" smtClean="0"/>
              <a:t>, PVC</a:t>
            </a:r>
            <a:r>
              <a:rPr lang="ko-KR" altLang="en-US" sz="1200" dirty="0" smtClean="0"/>
              <a:t>를 통해 필요한 </a:t>
            </a:r>
            <a:r>
              <a:rPr lang="ko-KR" altLang="en-US" sz="1200" dirty="0" err="1" smtClean="0"/>
              <a:t>스토리지를</a:t>
            </a:r>
            <a:r>
              <a:rPr lang="ko-KR" altLang="en-US" sz="1200" dirty="0" smtClean="0"/>
              <a:t> 요청하고 </a:t>
            </a:r>
            <a:r>
              <a:rPr lang="en-US" altLang="ko-KR" sz="1200" dirty="0" smtClean="0"/>
              <a:t>PV</a:t>
            </a:r>
            <a:r>
              <a:rPr lang="ko-KR" altLang="en-US" sz="1200" dirty="0" smtClean="0"/>
              <a:t>와 연결된다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572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Application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설정 파일을 관리하는데 용이하다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과 </a:t>
            </a:r>
            <a:r>
              <a:rPr lang="en-US" altLang="ko-KR" sz="1200" baseline="0" dirty="0" smtClean="0"/>
              <a:t>Secret</a:t>
            </a:r>
            <a:r>
              <a:rPr lang="ko-KR" altLang="en-US" sz="1200" baseline="0" dirty="0" smtClean="0"/>
              <a:t>에서 정의 가능한 데이터 용량은 최대 </a:t>
            </a:r>
            <a:r>
              <a:rPr lang="en-US" altLang="ko-KR" sz="1200" baseline="0" dirty="0" smtClean="0"/>
              <a:t>1mb </a:t>
            </a:r>
            <a:r>
              <a:rPr lang="ko-KR" altLang="en-US" sz="1200" baseline="0" dirty="0" smtClean="0"/>
              <a:t>이다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해당 값은 </a:t>
            </a:r>
            <a:r>
              <a:rPr lang="en-US" altLang="ko-KR" sz="1200" baseline="0" dirty="0" err="1" smtClean="0"/>
              <a:t>etcd</a:t>
            </a:r>
            <a:r>
              <a:rPr lang="ko-KR" altLang="en-US" sz="1200" baseline="0" dirty="0" smtClean="0"/>
              <a:t>에 </a:t>
            </a:r>
            <a:r>
              <a:rPr lang="en-US" altLang="ko-KR" dirty="0" smtClean="0"/>
              <a:t>--max-request-bytes</a:t>
            </a:r>
            <a:r>
              <a:rPr lang="ko-KR" altLang="en-US" dirty="0" smtClean="0"/>
              <a:t>값을 조정하면 늘릴 수 있다</a:t>
            </a:r>
            <a:r>
              <a:rPr lang="en-US" altLang="ko-KR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761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358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3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949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36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2025.02.27.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888525"/>
            <a:ext cx="9171445" cy="940643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Storage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Volumes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StorageClass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11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571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Volumes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Volumes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개요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컨테이너는 기본적으로 휘발성 저장소를 사용한다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재 기동 되면 만들었던 파일은 삭제 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18" name="TextBox 20"/>
          <p:cNvSpPr txBox="1"/>
          <p:nvPr/>
        </p:nvSpPr>
        <p:spPr>
          <a:xfrm>
            <a:off x="801010" y="1355560"/>
            <a:ext cx="50790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 /bin/</a:t>
            </a:r>
            <a:r>
              <a:rPr lang="en-US" altLang="ko-KR" sz="1200" dirty="0" err="1">
                <a:solidFill>
                  <a:schemeClr val="bg1"/>
                </a:solidFill>
              </a:rPr>
              <a:t>sh</a:t>
            </a:r>
            <a:r>
              <a:rPr lang="en-US" altLang="ko-KR" sz="1200" dirty="0">
                <a:solidFill>
                  <a:schemeClr val="bg1"/>
                </a:solidFill>
              </a:rPr>
              <a:t> -c "echo '</a:t>
            </a:r>
            <a:r>
              <a:rPr lang="en-US" altLang="ko-KR" sz="1200" dirty="0" err="1">
                <a:solidFill>
                  <a:schemeClr val="bg1"/>
                </a:solidFill>
              </a:rPr>
              <a:t>abcdef</a:t>
            </a:r>
            <a:r>
              <a:rPr lang="en-US" altLang="ko-KR" sz="1200" dirty="0">
                <a:solidFill>
                  <a:schemeClr val="bg1"/>
                </a:solidFill>
              </a:rPr>
              <a:t>' &gt;&gt; /opt/test.txt"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482544" y="1349279"/>
            <a:ext cx="3551215" cy="4663298"/>
            <a:chOff x="7482544" y="1349279"/>
            <a:chExt cx="3551215" cy="4663298"/>
          </a:xfrm>
        </p:grpSpPr>
        <p:sp>
          <p:nvSpPr>
            <p:cNvPr id="15" name="직사각형 14"/>
            <p:cNvSpPr/>
            <p:nvPr/>
          </p:nvSpPr>
          <p:spPr>
            <a:xfrm>
              <a:off x="7482544" y="1349279"/>
              <a:ext cx="3551215" cy="4663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1903" y="1365605"/>
              <a:ext cx="726123" cy="690738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8843181" y="1564646"/>
              <a:ext cx="83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</a:t>
              </a:r>
              <a:endParaRPr lang="ko-KR" altLang="en-US" b="1" dirty="0"/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5120" y="2459841"/>
              <a:ext cx="590598" cy="567091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7945120" y="2459841"/>
              <a:ext cx="2623643" cy="1798320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solidFill>
                    <a:schemeClr val="accent5">
                      <a:lumMod val="75000"/>
                    </a:schemeClr>
                  </a:solidFill>
                </a:rPr>
                <a:t>Pod</a:t>
              </a:r>
              <a:endParaRPr lang="ko-KR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8347621" y="3073421"/>
              <a:ext cx="1818640" cy="7518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Container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8489455" y="3449341"/>
              <a:ext cx="1322722" cy="353726"/>
              <a:chOff x="8489455" y="3449341"/>
              <a:chExt cx="1322722" cy="353726"/>
            </a:xfrm>
          </p:grpSpPr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9455" y="3449341"/>
                <a:ext cx="353726" cy="353726"/>
              </a:xfrm>
              <a:prstGeom prst="rect">
                <a:avLst/>
              </a:prstGeom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8799336" y="3487704"/>
                <a:ext cx="10128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 smtClean="0"/>
                  <a:t>/opt/test.txt</a:t>
                </a:r>
                <a:endParaRPr lang="ko-KR" altLang="en-US" dirty="0"/>
              </a:p>
            </p:txBody>
          </p:sp>
        </p:grpSp>
      </p:grpSp>
      <p:sp>
        <p:nvSpPr>
          <p:cNvPr id="23" name="TextBox 20"/>
          <p:cNvSpPr txBox="1"/>
          <p:nvPr/>
        </p:nvSpPr>
        <p:spPr>
          <a:xfrm>
            <a:off x="801010" y="1753275"/>
            <a:ext cx="507909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 </a:t>
            </a:r>
            <a:r>
              <a:rPr lang="en-US" altLang="ko-KR" sz="1200" dirty="0" smtClean="0">
                <a:solidFill>
                  <a:schemeClr val="bg1"/>
                </a:solidFill>
              </a:rPr>
              <a:t>cat 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smtClean="0">
                <a:solidFill>
                  <a:schemeClr val="bg1"/>
                </a:solidFill>
              </a:rPr>
              <a:t>opt/test.txt</a:t>
            </a:r>
          </a:p>
          <a:p>
            <a:r>
              <a:rPr lang="en-US" altLang="ko-KR" sz="1200" dirty="0" err="1" smtClean="0">
                <a:solidFill>
                  <a:schemeClr val="bg1"/>
                </a:solidFill>
              </a:rPr>
              <a:t>abcdef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6197600" y="1349279"/>
            <a:ext cx="4836159" cy="466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58" y="1403943"/>
            <a:ext cx="726123" cy="690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6029" y="1564646"/>
            <a:ext cx="83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Node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EmptyDir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같은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내 여러 컨테이너가 공유 가능하다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실행되는 동안만 유지가 되며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삭제 시 데이터도 삭제 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520" y="2459841"/>
            <a:ext cx="590598" cy="56709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573520" y="2459841"/>
            <a:ext cx="3995243" cy="256936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Pod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347621" y="3073421"/>
            <a:ext cx="1818640" cy="751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Container1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8489455" y="3449341"/>
            <a:ext cx="1322722" cy="353726"/>
            <a:chOff x="8489455" y="3449341"/>
            <a:chExt cx="1322722" cy="353726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455" y="3449341"/>
              <a:ext cx="353726" cy="353726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8799336" y="3487704"/>
              <a:ext cx="10128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/opt/test.txt</a:t>
              </a:r>
              <a:endParaRPr lang="ko-KR" altLang="en-US" dirty="0"/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8347621" y="4073785"/>
            <a:ext cx="1818640" cy="751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Container2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8489455" y="4438842"/>
            <a:ext cx="1390048" cy="353726"/>
            <a:chOff x="8489455" y="3449341"/>
            <a:chExt cx="1390048" cy="353726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455" y="3449341"/>
              <a:ext cx="353726" cy="353726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8799336" y="3487704"/>
              <a:ext cx="10801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/data/test.txt</a:t>
              </a:r>
              <a:endParaRPr lang="ko-KR" altLang="en-US" dirty="0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6719036" y="3568038"/>
            <a:ext cx="1337221" cy="7518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 smtClean="0"/>
              <a:t>Volume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19" idx="1"/>
            <a:endCxn id="2" idx="3"/>
          </p:cNvCxnSpPr>
          <p:nvPr/>
        </p:nvCxnSpPr>
        <p:spPr>
          <a:xfrm flipH="1">
            <a:off x="8056257" y="3626204"/>
            <a:ext cx="433198" cy="317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24" idx="1"/>
            <a:endCxn id="2" idx="3"/>
          </p:cNvCxnSpPr>
          <p:nvPr/>
        </p:nvCxnSpPr>
        <p:spPr>
          <a:xfrm flipH="1" flipV="1">
            <a:off x="8056257" y="3943959"/>
            <a:ext cx="433198" cy="671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3"/>
          <p:cNvSpPr txBox="1"/>
          <p:nvPr/>
        </p:nvSpPr>
        <p:spPr>
          <a:xfrm>
            <a:off x="783080" y="1626278"/>
            <a:ext cx="4467360" cy="433965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Pod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labels:</a:t>
            </a:r>
          </a:p>
          <a:p>
            <a:r>
              <a:rPr lang="en-US" altLang="ko-KR" sz="1200" dirty="0"/>
              <a:t>    run: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spec:</a:t>
            </a:r>
          </a:p>
          <a:p>
            <a:r>
              <a:rPr lang="en-US" altLang="ko-KR" sz="1200" dirty="0"/>
              <a:t>  </a:t>
            </a:r>
            <a:r>
              <a:rPr lang="en-US" altLang="ko-KR" sz="1200" dirty="0" err="1"/>
              <a:t>initContainers</a:t>
            </a:r>
            <a:r>
              <a:rPr lang="en-US" altLang="ko-KR" sz="1200" dirty="0"/>
              <a:t>:</a:t>
            </a:r>
          </a:p>
          <a:p>
            <a:r>
              <a:rPr lang="en-US" altLang="ko-KR" sz="1200" dirty="0"/>
              <a:t>  - image: </a:t>
            </a:r>
            <a:r>
              <a:rPr lang="en-US" altLang="ko-KR" sz="1200" dirty="0" err="1"/>
              <a:t>busybox</a:t>
            </a:r>
            <a:endParaRPr lang="en-US" altLang="ko-KR" sz="1200" dirty="0"/>
          </a:p>
          <a:p>
            <a:r>
              <a:rPr lang="en-US" altLang="ko-KR" sz="1200" dirty="0"/>
              <a:t>    name: </a:t>
            </a:r>
            <a:r>
              <a:rPr lang="en-US" altLang="ko-KR" sz="1200" dirty="0" err="1"/>
              <a:t>busybox</a:t>
            </a:r>
            <a:endParaRPr lang="en-US" altLang="ko-KR" sz="1200" dirty="0"/>
          </a:p>
          <a:p>
            <a:r>
              <a:rPr lang="en-US" altLang="ko-KR" sz="1200" dirty="0"/>
              <a:t>    command: [ "/bin/</a:t>
            </a:r>
            <a:r>
              <a:rPr lang="en-US" altLang="ko-KR" sz="1200" dirty="0" err="1"/>
              <a:t>sh</a:t>
            </a:r>
            <a:r>
              <a:rPr lang="en-US" altLang="ko-KR" sz="1200" dirty="0"/>
              <a:t>", "-c", "echo Hello &gt; /data/test.txt" ]</a:t>
            </a:r>
          </a:p>
          <a:p>
            <a:r>
              <a:rPr lang="en-US" altLang="ko-KR" sz="1200" dirty="0"/>
              <a:t>    </a:t>
            </a:r>
            <a:r>
              <a:rPr lang="en-US" altLang="ko-KR" sz="1200" b="1" dirty="0" err="1">
                <a:solidFill>
                  <a:srgbClr val="FF0000"/>
                </a:solidFill>
              </a:rPr>
              <a:t>volumeMounts</a:t>
            </a:r>
            <a:r>
              <a:rPr lang="en-US" altLang="ko-KR" sz="1200" b="1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- name: empty-</a:t>
            </a:r>
            <a:r>
              <a:rPr lang="en-US" altLang="ko-KR" sz="1200" b="1" dirty="0" err="1">
                <a:solidFill>
                  <a:srgbClr val="FF0000"/>
                </a:solidFill>
              </a:rPr>
              <a:t>dir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  </a:t>
            </a:r>
            <a:r>
              <a:rPr lang="en-US" altLang="ko-KR" sz="1200" b="1" dirty="0" err="1">
                <a:solidFill>
                  <a:srgbClr val="FF0000"/>
                </a:solidFill>
              </a:rPr>
              <a:t>mountPath</a:t>
            </a:r>
            <a:r>
              <a:rPr lang="en-US" altLang="ko-KR" sz="1200" b="1" dirty="0">
                <a:solidFill>
                  <a:srgbClr val="FF0000"/>
                </a:solidFill>
              </a:rPr>
              <a:t>: /data</a:t>
            </a:r>
          </a:p>
          <a:p>
            <a:r>
              <a:rPr lang="en-US" altLang="ko-KR" sz="1200" dirty="0"/>
              <a:t>  containers:</a:t>
            </a:r>
          </a:p>
          <a:p>
            <a:r>
              <a:rPr lang="en-US" altLang="ko-KR" sz="1200" dirty="0"/>
              <a:t>  -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name: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/>
              <a:t>    </a:t>
            </a:r>
            <a:r>
              <a:rPr lang="en-US" altLang="ko-KR" sz="1200" b="1" dirty="0" err="1">
                <a:solidFill>
                  <a:srgbClr val="FF0000"/>
                </a:solidFill>
              </a:rPr>
              <a:t>volumeMounts</a:t>
            </a:r>
            <a:r>
              <a:rPr lang="en-US" altLang="ko-KR" sz="1200" b="1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- name: empty-</a:t>
            </a:r>
            <a:r>
              <a:rPr lang="en-US" altLang="ko-KR" sz="1200" b="1" dirty="0" err="1">
                <a:solidFill>
                  <a:srgbClr val="FF0000"/>
                </a:solidFill>
              </a:rPr>
              <a:t>dir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  </a:t>
            </a:r>
            <a:r>
              <a:rPr lang="en-US" altLang="ko-KR" sz="1200" b="1" dirty="0" err="1">
                <a:solidFill>
                  <a:srgbClr val="FF0000"/>
                </a:solidFill>
              </a:rPr>
              <a:t>mountPath</a:t>
            </a:r>
            <a:r>
              <a:rPr lang="en-US" altLang="ko-KR" sz="1200" b="1" dirty="0">
                <a:solidFill>
                  <a:srgbClr val="FF0000"/>
                </a:solidFill>
              </a:rPr>
              <a:t>: /opt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volumes: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- name: empty-</a:t>
            </a:r>
            <a:r>
              <a:rPr lang="en-US" altLang="ko-KR" sz="1200" b="1" dirty="0" err="1">
                <a:solidFill>
                  <a:srgbClr val="FF0000"/>
                </a:solidFill>
              </a:rPr>
              <a:t>dir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</a:t>
            </a:r>
            <a:r>
              <a:rPr lang="en-US" altLang="ko-KR" sz="1200" b="1" dirty="0" err="1">
                <a:solidFill>
                  <a:srgbClr val="FF0000"/>
                </a:solidFill>
              </a:rPr>
              <a:t>emptyDir</a:t>
            </a:r>
            <a:r>
              <a:rPr lang="en-US" altLang="ko-KR" sz="1200" b="1" dirty="0">
                <a:solidFill>
                  <a:srgbClr val="FF0000"/>
                </a:solidFill>
              </a:rPr>
              <a:t>: {}</a:t>
            </a:r>
          </a:p>
        </p:txBody>
      </p:sp>
      <p:sp>
        <p:nvSpPr>
          <p:cNvPr id="31" name="TextBox 3"/>
          <p:cNvSpPr txBox="1"/>
          <p:nvPr/>
        </p:nvSpPr>
        <p:spPr>
          <a:xfrm>
            <a:off x="783079" y="1349279"/>
            <a:ext cx="2445745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BBE0E3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emptydir.yaml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74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HostPath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각</a:t>
            </a:r>
            <a:r>
              <a:rPr lang="en-US" altLang="ko-KR" sz="1400" dirty="0" smtClean="0"/>
              <a:t> Node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Path </a:t>
            </a:r>
            <a:r>
              <a:rPr lang="ko-KR" altLang="en-US" sz="1400" dirty="0" smtClean="0"/>
              <a:t>사용</a:t>
            </a:r>
            <a:r>
              <a:rPr lang="en-US" altLang="ko-KR" sz="1400" dirty="0" smtClean="0"/>
              <a:t>, Pod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Path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있는 </a:t>
            </a:r>
            <a:r>
              <a:rPr lang="en-US" altLang="ko-KR" sz="1400" dirty="0" smtClean="0"/>
              <a:t>Volume </a:t>
            </a:r>
            <a:r>
              <a:rPr lang="ko-KR" altLang="en-US" sz="1400" dirty="0" smtClean="0"/>
              <a:t>데이터를 저장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다른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올라가게 되면 기존 </a:t>
            </a:r>
            <a:r>
              <a:rPr lang="en-US" altLang="ko-KR" sz="1400" dirty="0" smtClean="0"/>
              <a:t>Volume</a:t>
            </a:r>
            <a:r>
              <a:rPr lang="ko-KR" altLang="en-US" sz="1400" dirty="0" smtClean="0"/>
              <a:t>을 연결할 수 없다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9" name="그룹 8"/>
          <p:cNvGrpSpPr/>
          <p:nvPr/>
        </p:nvGrpSpPr>
        <p:grpSpPr>
          <a:xfrm>
            <a:off x="783079" y="1349279"/>
            <a:ext cx="4467361" cy="4062651"/>
            <a:chOff x="783079" y="1349279"/>
            <a:chExt cx="4467361" cy="4062651"/>
          </a:xfrm>
        </p:grpSpPr>
        <p:sp>
          <p:nvSpPr>
            <p:cNvPr id="30" name="TextBox 3"/>
            <p:cNvSpPr txBox="1"/>
            <p:nvPr/>
          </p:nvSpPr>
          <p:spPr>
            <a:xfrm>
              <a:off x="783080" y="1626278"/>
              <a:ext cx="4467360" cy="378565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kubernetes.io/hostname: worker3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node-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volumes: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- name: node-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dir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hostPath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path: /test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type: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DirectoryOrCreate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"/>
            <p:cNvSpPr txBox="1"/>
            <p:nvPr/>
          </p:nvSpPr>
          <p:spPr>
            <a:xfrm>
              <a:off x="783079" y="1349279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hostpath.yaml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" name="직사각형 27"/>
          <p:cNvSpPr/>
          <p:nvPr/>
        </p:nvSpPr>
        <p:spPr>
          <a:xfrm>
            <a:off x="7482544" y="1349279"/>
            <a:ext cx="3551215" cy="466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903" y="1365605"/>
            <a:ext cx="726123" cy="69073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43181" y="1564646"/>
            <a:ext cx="83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Node</a:t>
            </a:r>
            <a:endParaRPr lang="ko-KR" altLang="en-US" b="1" dirty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120" y="2459841"/>
            <a:ext cx="590598" cy="567091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7945120" y="2459841"/>
            <a:ext cx="2623643" cy="17983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Pod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8347621" y="3073421"/>
            <a:ext cx="1818640" cy="751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Container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8489455" y="3449341"/>
            <a:ext cx="1322722" cy="353726"/>
            <a:chOff x="8489455" y="3449341"/>
            <a:chExt cx="1322722" cy="353726"/>
          </a:xfrm>
        </p:grpSpPr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455" y="3449341"/>
              <a:ext cx="353726" cy="353726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8799336" y="3487704"/>
              <a:ext cx="10128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/opt/test.txt</a:t>
              </a:r>
              <a:endParaRPr lang="ko-KR" altLang="en-US" dirty="0"/>
            </a:p>
          </p:txBody>
        </p:sp>
      </p:grpSp>
      <p:cxnSp>
        <p:nvCxnSpPr>
          <p:cNvPr id="6" name="직선 연결선 5"/>
          <p:cNvCxnSpPr>
            <a:stCxn id="35" idx="2"/>
          </p:cNvCxnSpPr>
          <p:nvPr/>
        </p:nvCxnSpPr>
        <p:spPr>
          <a:xfrm>
            <a:off x="9256941" y="3825261"/>
            <a:ext cx="0" cy="10056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464461" y="4830930"/>
            <a:ext cx="1584959" cy="7518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 smtClean="0"/>
              <a:t>Volume</a:t>
            </a:r>
            <a:endParaRPr lang="ko-KR" altLang="en-US" dirty="0"/>
          </a:p>
        </p:txBody>
      </p:sp>
      <p:grpSp>
        <p:nvGrpSpPr>
          <p:cNvPr id="43" name="그룹 42"/>
          <p:cNvGrpSpPr/>
          <p:nvPr/>
        </p:nvGrpSpPr>
        <p:grpSpPr>
          <a:xfrm>
            <a:off x="8619696" y="5206850"/>
            <a:ext cx="1322722" cy="353726"/>
            <a:chOff x="8489455" y="3449341"/>
            <a:chExt cx="1322722" cy="353726"/>
          </a:xfrm>
        </p:grpSpPr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6" cstate="screen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455" y="3449341"/>
              <a:ext cx="353726" cy="353726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8799336" y="3487704"/>
              <a:ext cx="10128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</a:rPr>
                <a:t>/opt/test.txt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960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PV/PVC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영구 볼륨을 사용할 때 </a:t>
            </a:r>
            <a:r>
              <a:rPr lang="en-US" altLang="ko-KR" sz="1400" dirty="0" smtClean="0"/>
              <a:t>PV(</a:t>
            </a:r>
            <a:r>
              <a:rPr lang="en-US" altLang="ko-KR" sz="1400" dirty="0" err="1" smtClean="0"/>
              <a:t>PersistentVolume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PVC(</a:t>
            </a:r>
            <a:r>
              <a:rPr lang="en-US" altLang="ko-KR" sz="1400" dirty="0" err="1" smtClean="0"/>
              <a:t>PersistentVolumeClaim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를 사용한다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1330960" y="1188761"/>
            <a:ext cx="9579991" cy="2026900"/>
            <a:chOff x="1330960" y="1574841"/>
            <a:chExt cx="9579991" cy="2026900"/>
          </a:xfrm>
        </p:grpSpPr>
        <p:grpSp>
          <p:nvGrpSpPr>
            <p:cNvPr id="5" name="그룹 4"/>
            <p:cNvGrpSpPr/>
            <p:nvPr/>
          </p:nvGrpSpPr>
          <p:grpSpPr>
            <a:xfrm>
              <a:off x="1330960" y="2269259"/>
              <a:ext cx="1737361" cy="669439"/>
              <a:chOff x="1391920" y="2398881"/>
              <a:chExt cx="1737361" cy="669439"/>
            </a:xfrm>
          </p:grpSpPr>
          <p:pic>
            <p:nvPicPr>
              <p:cNvPr id="33" name="그림 32"/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91920" y="2398881"/>
                <a:ext cx="436880" cy="419491"/>
              </a:xfrm>
              <a:prstGeom prst="rect">
                <a:avLst/>
              </a:prstGeom>
            </p:spPr>
          </p:pic>
          <p:sp>
            <p:nvSpPr>
              <p:cNvPr id="34" name="직사각형 33"/>
              <p:cNvSpPr/>
              <p:nvPr/>
            </p:nvSpPr>
            <p:spPr>
              <a:xfrm>
                <a:off x="1391920" y="2398881"/>
                <a:ext cx="1737361" cy="669439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tx1"/>
                    </a:solidFill>
                  </a:rPr>
                  <a:t>Pod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직사각형 34"/>
            <p:cNvSpPr/>
            <p:nvPr/>
          </p:nvSpPr>
          <p:spPr>
            <a:xfrm>
              <a:off x="3821341" y="1924873"/>
              <a:ext cx="1818640" cy="13582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 smtClean="0">
                  <a:solidFill>
                    <a:schemeClr val="tx1"/>
                  </a:solidFill>
                </a:rPr>
                <a:t>PersitentVolumeClaim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9325992" y="1574841"/>
              <a:ext cx="1584959" cy="2026900"/>
              <a:chOff x="8970392" y="2636540"/>
              <a:chExt cx="1584959" cy="2026900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8970392" y="2636540"/>
                <a:ext cx="1584959" cy="20269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200" dirty="0" smtClean="0"/>
                  <a:t>Volume</a:t>
                </a:r>
                <a:endParaRPr lang="ko-KR" alt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9509436" y="2946442"/>
                <a:ext cx="54213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 smtClean="0">
                    <a:solidFill>
                      <a:schemeClr val="bg1"/>
                    </a:solidFill>
                  </a:rPr>
                  <a:t>Local</a:t>
                </a:r>
              </a:p>
              <a:p>
                <a:r>
                  <a:rPr lang="en-US" altLang="ko-KR" sz="1200" dirty="0" smtClean="0">
                    <a:solidFill>
                      <a:schemeClr val="bg1"/>
                    </a:solidFill>
                  </a:rPr>
                  <a:t>AWS</a:t>
                </a:r>
              </a:p>
              <a:p>
                <a:r>
                  <a:rPr lang="en-US" altLang="ko-KR" sz="1200" dirty="0" err="1" smtClean="0">
                    <a:solidFill>
                      <a:schemeClr val="bg1"/>
                    </a:solidFill>
                  </a:rPr>
                  <a:t>Git</a:t>
                </a:r>
                <a:endParaRPr lang="en-US" altLang="ko-KR" sz="1200" dirty="0" smtClean="0">
                  <a:solidFill>
                    <a:schemeClr val="bg1"/>
                  </a:solidFill>
                </a:endParaRPr>
              </a:p>
              <a:p>
                <a:r>
                  <a:rPr lang="en-US" altLang="ko-KR" sz="1200" dirty="0" smtClean="0">
                    <a:solidFill>
                      <a:schemeClr val="bg1"/>
                    </a:solidFill>
                  </a:rPr>
                  <a:t>NFS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직사각형 24"/>
            <p:cNvSpPr/>
            <p:nvPr/>
          </p:nvSpPr>
          <p:spPr>
            <a:xfrm>
              <a:off x="6573666" y="1924871"/>
              <a:ext cx="1818640" cy="13582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 smtClean="0">
                  <a:solidFill>
                    <a:schemeClr val="tx1"/>
                  </a:solidFill>
                </a:rPr>
                <a:t>PersitentVolume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7172" y="2800510"/>
              <a:ext cx="540000" cy="540000"/>
            </a:xfrm>
            <a:prstGeom prst="rect">
              <a:avLst/>
            </a:prstGeom>
          </p:spPr>
        </p:pic>
        <p:cxnSp>
          <p:nvCxnSpPr>
            <p:cNvPr id="9" name="직선 화살표 연결선 8"/>
            <p:cNvCxnSpPr>
              <a:stCxn id="34" idx="3"/>
              <a:endCxn id="35" idx="1"/>
            </p:cNvCxnSpPr>
            <p:nvPr/>
          </p:nvCxnSpPr>
          <p:spPr>
            <a:xfrm>
              <a:off x="3068321" y="2603979"/>
              <a:ext cx="75302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5" idx="3"/>
              <a:endCxn id="25" idx="1"/>
            </p:cNvCxnSpPr>
            <p:nvPr/>
          </p:nvCxnSpPr>
          <p:spPr>
            <a:xfrm flipV="1">
              <a:off x="5639981" y="2603978"/>
              <a:ext cx="933685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>
              <a:stCxn id="25" idx="3"/>
              <a:endCxn id="42" idx="1"/>
            </p:cNvCxnSpPr>
            <p:nvPr/>
          </p:nvCxnSpPr>
          <p:spPr>
            <a:xfrm flipV="1">
              <a:off x="8392306" y="2588291"/>
              <a:ext cx="933686" cy="156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2300"/>
              </p:ext>
            </p:extLst>
          </p:nvPr>
        </p:nvGraphicFramePr>
        <p:xfrm>
          <a:off x="961301" y="3608245"/>
          <a:ext cx="7303860" cy="25637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49021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5154839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23538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hostPath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노드의 특정 디렉터리를 볼륨으로 사용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노드에서만 가능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노드에서 공유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AWS EBS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AWS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블록 스토리지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GCE Persistent Disk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Cloud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블록 스토리지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5924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Azure Disk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Azure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제공하는 블록 스토리지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290776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CephFS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분산 파일 시스템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13391"/>
                  </a:ext>
                </a:extLst>
              </a:tr>
              <a:tr h="3326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GlusterFS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분산 스토리지 시스템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725184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11199" y="325441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PV </a:t>
            </a:r>
            <a:r>
              <a:rPr lang="ko-KR" altLang="en-US" sz="1400" dirty="0" smtClean="0"/>
              <a:t>지원 스토리지 유형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133262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독립적인 스토리지 리소스를 정의하는 객체이다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PVC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에서 요청하여 사용한다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PV </a:t>
            </a:r>
            <a:r>
              <a:rPr lang="ko-KR" altLang="en-US" sz="1400" dirty="0" smtClean="0"/>
              <a:t>주요 옵션</a:t>
            </a:r>
            <a:endParaRPr lang="en-US" altLang="ko-KR" sz="1400" dirty="0" smtClean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017615"/>
              </p:ext>
            </p:extLst>
          </p:nvPr>
        </p:nvGraphicFramePr>
        <p:xfrm>
          <a:off x="995679" y="1582354"/>
          <a:ext cx="5283201" cy="206361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1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3728720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accessModes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ReadWriteOnce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노드에서만 읽기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쓰기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ReadOnlyMany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노드에서 읽기 전용으로 마운트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ReadWriteMany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노드에서 읽기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쓰기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ReadWriteOncePod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에서만 읽기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쓰기 가능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(k8s 1.22+)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5924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71650"/>
              </p:ext>
            </p:extLst>
          </p:nvPr>
        </p:nvGraphicFramePr>
        <p:xfrm>
          <a:off x="995678" y="3949634"/>
          <a:ext cx="5598162" cy="11827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6082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2672080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persistentVolumeReclaimPolicy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PVC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후에도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남아 있음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Delete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PVC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해당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스토리지도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삭제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6878320" y="1439077"/>
            <a:ext cx="4965960" cy="3693319"/>
            <a:chOff x="6756400" y="1148902"/>
            <a:chExt cx="4965960" cy="3693319"/>
          </a:xfrm>
        </p:grpSpPr>
        <p:sp>
          <p:nvSpPr>
            <p:cNvPr id="19" name="TextBox 3"/>
            <p:cNvSpPr txBox="1"/>
            <p:nvPr/>
          </p:nvSpPr>
          <p:spPr>
            <a:xfrm>
              <a:off x="6756400" y="1425901"/>
              <a:ext cx="4965960" cy="341632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-test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capacity:</a:t>
              </a:r>
            </a:p>
            <a:p>
              <a:r>
                <a:rPr lang="en-US" altLang="ko-KR" sz="1200" dirty="0"/>
                <a:t>    storage: 2G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storageClassName</a:t>
              </a:r>
              <a:r>
                <a:rPr lang="en-US" altLang="ko-KR" sz="1200" dirty="0"/>
                <a:t>: manual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persistentVolumeReclaimPolicy</a:t>
              </a:r>
              <a:r>
                <a:rPr lang="en-US" altLang="ko-KR" sz="1200" dirty="0"/>
                <a:t>: Delete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hostPath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path: /test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nodeAffinity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required: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nodeSelectorTerms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- </a:t>
              </a:r>
              <a:r>
                <a:rPr lang="en-US" altLang="ko-KR" sz="1200" dirty="0" err="1"/>
                <a:t>matchExpressions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- {key: kubernetes.io/hostname, operator: In, values: [worker3]}</a:t>
              </a:r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pv_test.yaml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PVC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PersistentVolume</a:t>
            </a:r>
            <a:r>
              <a:rPr lang="en-US" altLang="ko-KR" sz="1400" dirty="0" smtClean="0"/>
              <a:t>(PV)</a:t>
            </a:r>
            <a:r>
              <a:rPr lang="ko-KR" altLang="en-US" sz="1400" dirty="0" smtClean="0"/>
              <a:t>을 요청하는 객체이다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직접 </a:t>
            </a:r>
            <a:r>
              <a:rPr lang="en-US" altLang="ko-KR" sz="1400" dirty="0" smtClean="0"/>
              <a:t>PV</a:t>
            </a:r>
            <a:r>
              <a:rPr lang="ko-KR" altLang="en-US" sz="1400" dirty="0" smtClean="0"/>
              <a:t>를 할당 받는 것이 아니라</a:t>
            </a:r>
            <a:r>
              <a:rPr lang="en-US" altLang="ko-KR" sz="1400" dirty="0" smtClean="0"/>
              <a:t>, PVC</a:t>
            </a:r>
            <a:r>
              <a:rPr lang="ko-KR" altLang="en-US" sz="1400" dirty="0" smtClean="0"/>
              <a:t>를 통해 필요한 </a:t>
            </a:r>
            <a:r>
              <a:rPr lang="ko-KR" altLang="en-US" sz="1400" dirty="0" err="1" smtClean="0"/>
              <a:t>스토리지를</a:t>
            </a:r>
            <a:r>
              <a:rPr lang="ko-KR" altLang="en-US" sz="1400" dirty="0" smtClean="0"/>
              <a:t> 요청하고 </a:t>
            </a:r>
            <a:r>
              <a:rPr lang="en-US" altLang="ko-KR" sz="1400" dirty="0" smtClean="0"/>
              <a:t>PV</a:t>
            </a:r>
            <a:r>
              <a:rPr lang="ko-KR" altLang="en-US" sz="1400" dirty="0" smtClean="0"/>
              <a:t>와 연결된다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75128" y="1449237"/>
            <a:ext cx="4965960" cy="2400657"/>
            <a:chOff x="6756400" y="1148902"/>
            <a:chExt cx="4965960" cy="2400657"/>
          </a:xfrm>
        </p:grpSpPr>
        <p:sp>
          <p:nvSpPr>
            <p:cNvPr id="19" name="TextBox 3"/>
            <p:cNvSpPr txBox="1"/>
            <p:nvPr/>
          </p:nvSpPr>
          <p:spPr>
            <a:xfrm>
              <a:off x="6756400" y="1425901"/>
              <a:ext cx="4965960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PersistentVolumeClaim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pvc</a:t>
              </a:r>
              <a:r>
                <a:rPr lang="en-US" altLang="ko-KR" sz="1200" dirty="0"/>
                <a:t>-test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resources:</a:t>
              </a:r>
            </a:p>
            <a:p>
              <a:r>
                <a:rPr lang="en-US" altLang="ko-KR" sz="1200" dirty="0"/>
                <a:t>    requests:</a:t>
              </a:r>
            </a:p>
            <a:p>
              <a:r>
                <a:rPr lang="en-US" altLang="ko-KR" sz="1200" dirty="0"/>
                <a:t>      storage: 1G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storageClassName</a:t>
              </a:r>
              <a:r>
                <a:rPr lang="en-US" altLang="ko-KR" sz="1200" dirty="0"/>
                <a:t>: "manual"</a:t>
              </a:r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pvc_test.yaml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292008" y="1449237"/>
            <a:ext cx="4965960" cy="3877985"/>
            <a:chOff x="6756400" y="1148902"/>
            <a:chExt cx="4965960" cy="3877985"/>
          </a:xfrm>
        </p:grpSpPr>
        <p:sp>
          <p:nvSpPr>
            <p:cNvPr id="11" name="TextBox 3"/>
            <p:cNvSpPr txBox="1"/>
            <p:nvPr/>
          </p:nvSpPr>
          <p:spPr>
            <a:xfrm>
              <a:off x="6756400" y="1425901"/>
              <a:ext cx="4965960" cy="360098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kubernetes.io/hostname: worker3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-storage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volumes: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- name: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pv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-storage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persistentVolumeClaim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claimName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pvc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-test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pv_pod.yaml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90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ConfigMap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&amp; Secret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이나 </a:t>
            </a: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객체에서 파일을 정의하여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안 컨테이너 디렉터리에 올릴 수 있다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75128" y="1449237"/>
            <a:ext cx="4965960" cy="2400657"/>
            <a:chOff x="6756400" y="1148902"/>
            <a:chExt cx="4965960" cy="2400657"/>
          </a:xfrm>
        </p:grpSpPr>
        <p:sp>
          <p:nvSpPr>
            <p:cNvPr id="19" name="TextBox 3"/>
            <p:cNvSpPr txBox="1"/>
            <p:nvPr/>
          </p:nvSpPr>
          <p:spPr>
            <a:xfrm>
              <a:off x="6756400" y="1425901"/>
              <a:ext cx="4965960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app-</a:t>
              </a:r>
              <a:r>
                <a:rPr lang="en-US" altLang="ko-KR" sz="1200" dirty="0" err="1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config.json</a:t>
              </a:r>
              <a:r>
                <a:rPr lang="en-US" altLang="ko-KR" sz="1200" dirty="0"/>
                <a:t>: |</a:t>
              </a:r>
            </a:p>
            <a:p>
              <a:r>
                <a:rPr lang="en-US" altLang="ko-KR" sz="1200" dirty="0"/>
                <a:t>    {</a:t>
              </a:r>
            </a:p>
            <a:p>
              <a:r>
                <a:rPr lang="en-US" altLang="ko-KR" sz="1200" dirty="0"/>
                <a:t>      "server": "example.com",</a:t>
              </a:r>
            </a:p>
            <a:p>
              <a:r>
                <a:rPr lang="en-US" altLang="ko-KR" sz="1200" dirty="0"/>
                <a:t>      "port": 8080,</a:t>
              </a:r>
            </a:p>
            <a:p>
              <a:r>
                <a:rPr lang="en-US" altLang="ko-KR" sz="1200" dirty="0"/>
                <a:t>      "debug": true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smtClean="0"/>
                <a:t>}</a:t>
              </a:r>
              <a:endParaRPr lang="en-US" altLang="ko-KR" sz="1200" dirty="0"/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configmap.yaml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292008" y="1449237"/>
            <a:ext cx="4965960" cy="3508653"/>
            <a:chOff x="6756400" y="1148902"/>
            <a:chExt cx="4965960" cy="3508653"/>
          </a:xfrm>
        </p:grpSpPr>
        <p:sp>
          <p:nvSpPr>
            <p:cNvPr id="11" name="TextBox 3"/>
            <p:cNvSpPr txBox="1"/>
            <p:nvPr/>
          </p:nvSpPr>
          <p:spPr>
            <a:xfrm>
              <a:off x="6756400" y="1425901"/>
              <a:ext cx="4965960" cy="323165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volumes: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- name: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configmap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configMap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name: app-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config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cfg_pod.yaml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16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개요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스토리지 </a:t>
            </a:r>
            <a:r>
              <a:rPr lang="ko-KR" altLang="en-US" sz="1400" dirty="0" err="1" smtClean="0"/>
              <a:t>프로비저닝</a:t>
            </a:r>
            <a:r>
              <a:rPr lang="ko-KR" altLang="en-US" sz="1400" dirty="0" smtClean="0"/>
              <a:t> 방식을 정의하는 리소스이다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StorageClass</a:t>
            </a:r>
            <a:r>
              <a:rPr lang="ko-KR" altLang="en-US" sz="1400" dirty="0" smtClean="0"/>
              <a:t>를 통해 </a:t>
            </a:r>
            <a:r>
              <a:rPr lang="en-US" altLang="ko-KR" sz="1400" dirty="0" err="1" smtClean="0"/>
              <a:t>PersistentVolume</a:t>
            </a:r>
            <a:r>
              <a:rPr lang="ko-KR" altLang="en-US" sz="1400" dirty="0" smtClean="0"/>
              <a:t>을 동적 또는 정적으로 생성하고 관리하는 방법을 제어할 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StorageClass</a:t>
            </a:r>
            <a:r>
              <a:rPr lang="ko-KR" altLang="en-US" sz="1400" dirty="0" smtClean="0"/>
              <a:t>는 특정 스토리지 시스템</a:t>
            </a:r>
            <a:r>
              <a:rPr lang="en-US" altLang="ko-KR" sz="1400" dirty="0" smtClean="0"/>
              <a:t>(AWS EBS, NFS, </a:t>
            </a:r>
            <a:r>
              <a:rPr lang="en-US" altLang="ko-KR" sz="1400" dirty="0" err="1" smtClean="0"/>
              <a:t>Ceph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등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을 사용하는 방식과 </a:t>
            </a:r>
            <a:r>
              <a:rPr lang="ko-KR" altLang="en-US" sz="1400" dirty="0" err="1" smtClean="0"/>
              <a:t>파라미터를</a:t>
            </a:r>
            <a:r>
              <a:rPr lang="ko-KR" altLang="en-US" sz="1400" dirty="0" smtClean="0"/>
              <a:t> 지정한다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636117" y="2873330"/>
            <a:ext cx="1737361" cy="669439"/>
            <a:chOff x="1391920" y="2398881"/>
            <a:chExt cx="1737361" cy="669439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1920" y="2398881"/>
              <a:ext cx="436880" cy="419491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1391920" y="2398881"/>
              <a:ext cx="1737361" cy="669439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Pod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3126498" y="2528944"/>
            <a:ext cx="1818640" cy="1358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tx1"/>
                </a:solidFill>
              </a:rPr>
              <a:t>PersitentVolumeClaim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0159112" y="2194377"/>
            <a:ext cx="1584959" cy="2026900"/>
            <a:chOff x="8970392" y="2636540"/>
            <a:chExt cx="1584959" cy="2026900"/>
          </a:xfrm>
        </p:grpSpPr>
        <p:sp>
          <p:nvSpPr>
            <p:cNvPr id="26" name="직사각형 25"/>
            <p:cNvSpPr/>
            <p:nvPr/>
          </p:nvSpPr>
          <p:spPr>
            <a:xfrm>
              <a:off x="8970392" y="2636540"/>
              <a:ext cx="1584959" cy="20269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smtClean="0"/>
                <a:t>Volume</a:t>
              </a:r>
              <a:endParaRPr lang="ko-KR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509436" y="2946442"/>
              <a:ext cx="54213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</a:rPr>
                <a:t>Local</a:t>
              </a:r>
            </a:p>
            <a:p>
              <a:r>
                <a:rPr lang="en-US" altLang="ko-KR" sz="1200" dirty="0" smtClean="0">
                  <a:solidFill>
                    <a:schemeClr val="bg1"/>
                  </a:solidFill>
                </a:rPr>
                <a:t>AWS</a:t>
              </a:r>
            </a:p>
            <a:p>
              <a:r>
                <a:rPr lang="en-US" altLang="ko-KR" sz="1200" dirty="0" err="1" smtClean="0">
                  <a:solidFill>
                    <a:schemeClr val="bg1"/>
                  </a:solidFill>
                </a:rPr>
                <a:t>Git</a:t>
              </a:r>
              <a:endParaRPr lang="en-US" altLang="ko-KR" sz="1200" dirty="0" smtClean="0">
                <a:solidFill>
                  <a:schemeClr val="bg1"/>
                </a:solidFill>
              </a:endParaRPr>
            </a:p>
            <a:p>
              <a:r>
                <a:rPr lang="en-US" altLang="ko-KR" sz="1200" dirty="0" smtClean="0">
                  <a:solidFill>
                    <a:schemeClr val="bg1"/>
                  </a:solidFill>
                </a:rPr>
                <a:t>NFS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7898155" y="2528944"/>
            <a:ext cx="1818640" cy="1358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tx1"/>
                </a:solidFill>
              </a:rPr>
              <a:t>PersitentVolume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 cstate="screen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292" y="3420046"/>
            <a:ext cx="540000" cy="540000"/>
          </a:xfrm>
          <a:prstGeom prst="rect">
            <a:avLst/>
          </a:prstGeom>
        </p:spPr>
      </p:pic>
      <p:cxnSp>
        <p:nvCxnSpPr>
          <p:cNvPr id="23" name="직선 화살표 연결선 22"/>
          <p:cNvCxnSpPr>
            <a:stCxn id="29" idx="3"/>
            <a:endCxn id="19" idx="1"/>
          </p:cNvCxnSpPr>
          <p:nvPr/>
        </p:nvCxnSpPr>
        <p:spPr>
          <a:xfrm>
            <a:off x="2373478" y="3208050"/>
            <a:ext cx="75302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3"/>
            <a:endCxn id="35" idx="1"/>
          </p:cNvCxnSpPr>
          <p:nvPr/>
        </p:nvCxnSpPr>
        <p:spPr>
          <a:xfrm flipV="1">
            <a:off x="4945138" y="3208050"/>
            <a:ext cx="69206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5637199" y="2681237"/>
            <a:ext cx="1818640" cy="1053624"/>
            <a:chOff x="3494638" y="5022056"/>
            <a:chExt cx="1818640" cy="1053624"/>
          </a:xfrm>
        </p:grpSpPr>
        <p:sp>
          <p:nvSpPr>
            <p:cNvPr id="35" name="직사각형 34"/>
            <p:cNvSpPr/>
            <p:nvPr/>
          </p:nvSpPr>
          <p:spPr>
            <a:xfrm>
              <a:off x="3494638" y="5022057"/>
              <a:ext cx="1818640" cy="10536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 smtClean="0">
                  <a:solidFill>
                    <a:schemeClr val="tx1"/>
                  </a:solidFill>
                </a:rPr>
                <a:t>StorageClass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4638" y="5022056"/>
              <a:ext cx="548417" cy="526590"/>
            </a:xfrm>
            <a:prstGeom prst="rect">
              <a:avLst/>
            </a:prstGeom>
          </p:spPr>
        </p:pic>
      </p:grpSp>
      <p:cxnSp>
        <p:nvCxnSpPr>
          <p:cNvPr id="49" name="직선 화살표 연결선 48"/>
          <p:cNvCxnSpPr>
            <a:stCxn id="35" idx="3"/>
            <a:endCxn id="21" idx="1"/>
          </p:cNvCxnSpPr>
          <p:nvPr/>
        </p:nvCxnSpPr>
        <p:spPr>
          <a:xfrm>
            <a:off x="7455839" y="3208050"/>
            <a:ext cx="44231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21" idx="3"/>
            <a:endCxn id="26" idx="1"/>
          </p:cNvCxnSpPr>
          <p:nvPr/>
        </p:nvCxnSpPr>
        <p:spPr>
          <a:xfrm flipV="1">
            <a:off x="9716795" y="3207827"/>
            <a:ext cx="442317" cy="2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23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옵션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95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Provisioner</a:t>
            </a:r>
            <a:endParaRPr lang="en-US" altLang="ko-KR" sz="1400" dirty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StorageClass</a:t>
            </a:r>
            <a:r>
              <a:rPr lang="ko-KR" altLang="en-US" sz="1200" dirty="0" smtClean="0"/>
              <a:t>에는 스토리지 </a:t>
            </a:r>
            <a:r>
              <a:rPr lang="en-US" altLang="ko-KR" sz="1200" dirty="0" err="1" smtClean="0"/>
              <a:t>Provisioner</a:t>
            </a:r>
            <a:r>
              <a:rPr lang="ko-KR" altLang="en-US" sz="1200" dirty="0" smtClean="0"/>
              <a:t>를 지정하여 어떤 스토리지 시스템을 사용할지 결정한다</a:t>
            </a:r>
            <a:r>
              <a:rPr lang="en-US" altLang="ko-KR" sz="12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VolumeBindingMode</a:t>
            </a:r>
            <a:endParaRPr lang="en-US" altLang="ko-KR" sz="1400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StorageClass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PV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PVC</a:t>
            </a:r>
            <a:r>
              <a:rPr lang="ko-KR" altLang="en-US" sz="1200" dirty="0" smtClean="0"/>
              <a:t>와 바인딩하는 방식을 설정한다</a:t>
            </a:r>
            <a:r>
              <a:rPr lang="en-US" altLang="ko-KR" sz="1200" dirty="0" smtClean="0"/>
              <a:t>.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95027"/>
              </p:ext>
            </p:extLst>
          </p:nvPr>
        </p:nvGraphicFramePr>
        <p:xfrm>
          <a:off x="1005839" y="1672122"/>
          <a:ext cx="6461761" cy="11827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1250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560511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Immediate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PVC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생성되면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바인딩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WaitForFirstConsumer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PVC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사용하는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스케줄링 될 때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바인딩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1199" y="2930330"/>
            <a:ext cx="98575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ReclaimPolicy</a:t>
            </a:r>
            <a:endParaRPr lang="en-US" altLang="ko-KR" sz="1400" dirty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Storage </a:t>
            </a:r>
            <a:r>
              <a:rPr lang="ko-KR" altLang="en-US" sz="1200" dirty="0" smtClean="0"/>
              <a:t>반환 정책을 정의한다</a:t>
            </a:r>
            <a:r>
              <a:rPr lang="en-US" altLang="ko-KR" sz="1200" dirty="0" smtClean="0"/>
              <a:t>.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147956"/>
              </p:ext>
            </p:extLst>
          </p:nvPr>
        </p:nvGraphicFramePr>
        <p:xfrm>
          <a:off x="1005839" y="3422773"/>
          <a:ext cx="6461761" cy="11827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1250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560511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스토리지를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보존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Delete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PVC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삭제되면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 삭제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93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설정 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Local-Storage </a:t>
            </a:r>
            <a:endParaRPr lang="en-US" altLang="ko-KR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199" y="2715998"/>
            <a:ext cx="98575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Default </a:t>
            </a:r>
            <a:r>
              <a:rPr lang="en-US" altLang="ko-KR" sz="1400" dirty="0" err="1" smtClean="0"/>
              <a:t>StorageClass</a:t>
            </a:r>
            <a:endParaRPr lang="en-US" altLang="ko-KR" sz="1400" dirty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내에서 하나의 </a:t>
            </a:r>
            <a:r>
              <a:rPr lang="en-US" altLang="ko-KR" sz="1200" dirty="0" err="1" smtClean="0"/>
              <a:t>StorageClass</a:t>
            </a:r>
            <a:r>
              <a:rPr lang="ko-KR" altLang="en-US" sz="1200" dirty="0" smtClean="0"/>
              <a:t>를 기본값으로 설정 가능하다</a:t>
            </a:r>
            <a:r>
              <a:rPr lang="en-US" altLang="ko-KR" sz="1200" dirty="0" smtClean="0"/>
              <a:t>.</a:t>
            </a:r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PVC</a:t>
            </a:r>
            <a:r>
              <a:rPr lang="ko-KR" altLang="en-US" sz="1200" dirty="0" smtClean="0"/>
              <a:t>에서 </a:t>
            </a:r>
            <a:r>
              <a:rPr lang="en-US" altLang="ko-KR" sz="1200" dirty="0" err="1" smtClean="0"/>
              <a:t>storageClassName</a:t>
            </a:r>
            <a:r>
              <a:rPr lang="ko-KR" altLang="en-US" sz="1200" dirty="0" smtClean="0"/>
              <a:t>을 생략하면 기본 </a:t>
            </a:r>
            <a:r>
              <a:rPr lang="en-US" altLang="ko-KR" sz="1200" dirty="0" err="1" smtClean="0"/>
              <a:t>StorageClass</a:t>
            </a:r>
            <a:r>
              <a:rPr lang="ko-KR" altLang="en-US" sz="1200" dirty="0" smtClean="0"/>
              <a:t>가 사용된다</a:t>
            </a:r>
            <a:r>
              <a:rPr lang="en-US" altLang="ko-KR" sz="1200" dirty="0" smtClean="0"/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978328" y="1023227"/>
            <a:ext cx="4965960" cy="1661994"/>
            <a:chOff x="978328" y="1023227"/>
            <a:chExt cx="4965960" cy="1661994"/>
          </a:xfrm>
        </p:grpSpPr>
        <p:sp>
          <p:nvSpPr>
            <p:cNvPr id="9" name="TextBox 3"/>
            <p:cNvSpPr txBox="1"/>
            <p:nvPr/>
          </p:nvSpPr>
          <p:spPr>
            <a:xfrm>
              <a:off x="978328" y="1300226"/>
              <a:ext cx="4965960" cy="1384995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/>
                <a:t>: storage.k8s.io/v1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StorageClass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local-storage</a:t>
              </a:r>
            </a:p>
            <a:p>
              <a:r>
                <a:rPr lang="en-US" altLang="ko-KR" sz="1200" dirty="0" err="1"/>
                <a:t>provisioner</a:t>
              </a:r>
              <a:r>
                <a:rPr lang="en-US" altLang="ko-KR" sz="1200" dirty="0"/>
                <a:t>: kubernetes.io/no-</a:t>
              </a:r>
              <a:r>
                <a:rPr lang="en-US" altLang="ko-KR" sz="1200" dirty="0" err="1"/>
                <a:t>provisioner</a:t>
              </a:r>
              <a:r>
                <a:rPr lang="en-US" altLang="ko-KR" sz="1200" dirty="0"/>
                <a:t> </a:t>
              </a:r>
              <a:endParaRPr lang="en-US" altLang="ko-KR" sz="1200" dirty="0" smtClean="0"/>
            </a:p>
            <a:p>
              <a:r>
                <a:rPr lang="en-US" altLang="ko-KR" sz="1200" dirty="0" err="1" smtClean="0"/>
                <a:t>volumeBindingMode</a:t>
              </a:r>
              <a:r>
                <a:rPr lang="en-US" altLang="ko-KR" sz="1200" dirty="0"/>
                <a:t>: </a:t>
              </a:r>
              <a:r>
                <a:rPr lang="en-US" altLang="ko-KR" sz="1200" dirty="0" err="1" smtClean="0"/>
                <a:t>WaitForFirstConsumer</a:t>
              </a:r>
              <a:endParaRPr lang="ko-KR" altLang="en-US" sz="1200" dirty="0"/>
            </a:p>
            <a:p>
              <a:r>
                <a:rPr lang="en-US" altLang="ko-KR" sz="1200" dirty="0" err="1"/>
                <a:t>reclaimPolicy</a:t>
              </a:r>
              <a:r>
                <a:rPr lang="en-US" altLang="ko-KR" sz="1200" dirty="0"/>
                <a:t>: Delete</a:t>
              </a:r>
            </a:p>
          </p:txBody>
        </p:sp>
        <p:sp>
          <p:nvSpPr>
            <p:cNvPr id="10" name="TextBox 3"/>
            <p:cNvSpPr txBox="1"/>
            <p:nvPr/>
          </p:nvSpPr>
          <p:spPr>
            <a:xfrm>
              <a:off x="978328" y="1023227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Local_sc.yaml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TextBox 20"/>
          <p:cNvSpPr txBox="1"/>
          <p:nvPr/>
        </p:nvSpPr>
        <p:spPr>
          <a:xfrm>
            <a:off x="1146450" y="3393106"/>
            <a:ext cx="603667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patch </a:t>
            </a:r>
            <a:r>
              <a:rPr lang="en-US" altLang="ko-KR" sz="1200" dirty="0" err="1">
                <a:solidFill>
                  <a:schemeClr val="bg1"/>
                </a:solidFill>
              </a:rPr>
              <a:t>storageclass</a:t>
            </a:r>
            <a:r>
              <a:rPr lang="en-US" altLang="ko-KR" sz="1200" dirty="0">
                <a:solidFill>
                  <a:schemeClr val="bg1"/>
                </a:solidFill>
              </a:rPr>
              <a:t> &lt;storage-class-name&gt; \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>
                <a:solidFill>
                  <a:schemeClr val="bg1"/>
                </a:solidFill>
              </a:rPr>
              <a:t>p '{"metadata": {"annotations":{"storageclass.kubernetes.io/</a:t>
            </a:r>
            <a:r>
              <a:rPr lang="en-US" altLang="ko-KR" sz="1200" dirty="0" err="1">
                <a:solidFill>
                  <a:schemeClr val="bg1"/>
                </a:solidFill>
              </a:rPr>
              <a:t>is-default-class":"true</a:t>
            </a:r>
            <a:r>
              <a:rPr lang="en-US" altLang="ko-KR" sz="1200" dirty="0">
                <a:solidFill>
                  <a:schemeClr val="bg1"/>
                </a:solidFill>
              </a:rPr>
              <a:t>"}}}'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199" y="39471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NFS-Storage </a:t>
            </a:r>
            <a:endParaRPr lang="en-US" altLang="ko-KR" sz="1400" dirty="0"/>
          </a:p>
        </p:txBody>
      </p:sp>
      <p:grpSp>
        <p:nvGrpSpPr>
          <p:cNvPr id="3" name="그룹 2"/>
          <p:cNvGrpSpPr/>
          <p:nvPr/>
        </p:nvGrpSpPr>
        <p:grpSpPr>
          <a:xfrm>
            <a:off x="978328" y="4254880"/>
            <a:ext cx="4965960" cy="2031325"/>
            <a:chOff x="978328" y="4254880"/>
            <a:chExt cx="4965960" cy="2031325"/>
          </a:xfrm>
        </p:grpSpPr>
        <p:sp>
          <p:nvSpPr>
            <p:cNvPr id="15" name="TextBox 3"/>
            <p:cNvSpPr txBox="1"/>
            <p:nvPr/>
          </p:nvSpPr>
          <p:spPr>
            <a:xfrm>
              <a:off x="978328" y="4531879"/>
              <a:ext cx="4965960" cy="175432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storage.k8s.io/v1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StorageClass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name: example-</a:t>
              </a:r>
              <a:r>
                <a:rPr lang="en-US" altLang="ko-KR" sz="1200" dirty="0" err="1"/>
                <a:t>nfs</a:t>
              </a:r>
              <a:endParaRPr lang="en-US" altLang="ko-KR" sz="1200" dirty="0"/>
            </a:p>
            <a:p>
              <a:r>
                <a:rPr lang="en-US" altLang="ko-KR" sz="1200" dirty="0" err="1"/>
                <a:t>provisioner</a:t>
              </a:r>
              <a:r>
                <a:rPr lang="en-US" altLang="ko-KR" sz="1200" dirty="0"/>
                <a:t>: example.com/external-</a:t>
              </a:r>
              <a:r>
                <a:rPr lang="en-US" altLang="ko-KR" sz="1200" dirty="0" err="1"/>
                <a:t>nfs</a:t>
              </a:r>
              <a:r>
                <a:rPr lang="en-US" altLang="ko-KR" sz="1200" dirty="0"/>
                <a:t> 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parameters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server: nfs-server.example.com</a:t>
              </a:r>
            </a:p>
            <a:p>
              <a:r>
                <a:rPr lang="en-US" altLang="ko-KR" sz="1200" dirty="0"/>
                <a:t>path: /share</a:t>
              </a:r>
            </a:p>
            <a:p>
              <a:r>
                <a:rPr lang="en-US" altLang="ko-KR" sz="1200" dirty="0" err="1"/>
                <a:t>readOnly</a:t>
              </a:r>
              <a:r>
                <a:rPr lang="en-US" altLang="ko-KR" sz="1200" dirty="0"/>
                <a:t>: "false"</a:t>
              </a:r>
              <a:endParaRPr lang="en-US" altLang="ko-KR" sz="1200" dirty="0" smtClean="0"/>
            </a:p>
          </p:txBody>
        </p:sp>
        <p:sp>
          <p:nvSpPr>
            <p:cNvPr id="16" name="TextBox 3"/>
            <p:cNvSpPr txBox="1"/>
            <p:nvPr/>
          </p:nvSpPr>
          <p:spPr>
            <a:xfrm>
              <a:off x="978328" y="4254880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nfs_sc.yaml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14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22599</TotalTime>
  <Words>1110</Words>
  <Application>Microsoft Office PowerPoint</Application>
  <PresentationFormat>와이드스크린</PresentationFormat>
  <Paragraphs>298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Pretendard SemiBold</vt:lpstr>
      <vt:lpstr>Univers LT Std 85 XBlk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549</cp:revision>
  <dcterms:created xsi:type="dcterms:W3CDTF">2022-09-15T01:21:24Z</dcterms:created>
  <dcterms:modified xsi:type="dcterms:W3CDTF">2025-03-05T00:10:13Z</dcterms:modified>
</cp:coreProperties>
</file>