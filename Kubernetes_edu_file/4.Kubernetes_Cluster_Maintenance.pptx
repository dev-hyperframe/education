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70" r:id="rId2"/>
    <p:sldId id="271" r:id="rId3"/>
    <p:sldId id="360" r:id="rId4"/>
    <p:sldId id="362" r:id="rId5"/>
    <p:sldId id="428" r:id="rId6"/>
    <p:sldId id="429" r:id="rId7"/>
    <p:sldId id="430" r:id="rId8"/>
    <p:sldId id="431" r:id="rId9"/>
    <p:sldId id="432" r:id="rId10"/>
    <p:sldId id="433" r:id="rId11"/>
    <p:sldId id="434" r:id="rId12"/>
    <p:sldId id="435" r:id="rId13"/>
    <p:sldId id="436" r:id="rId14"/>
    <p:sldId id="437" r:id="rId15"/>
    <p:sldId id="438" r:id="rId16"/>
    <p:sldId id="439" r:id="rId17"/>
    <p:sldId id="412" r:id="rId18"/>
    <p:sldId id="440" r:id="rId19"/>
    <p:sldId id="441" r:id="rId20"/>
    <p:sldId id="442" r:id="rId21"/>
    <p:sldId id="415" r:id="rId22"/>
    <p:sldId id="416" r:id="rId23"/>
    <p:sldId id="411" r:id="rId24"/>
    <p:sldId id="308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71AA387-4111-4890-AC9B-FCE55A5E05BE}">
          <p14:sldIdLst>
            <p14:sldId id="270"/>
            <p14:sldId id="271"/>
            <p14:sldId id="360"/>
            <p14:sldId id="362"/>
            <p14:sldId id="428"/>
            <p14:sldId id="429"/>
            <p14:sldId id="430"/>
            <p14:sldId id="431"/>
            <p14:sldId id="432"/>
            <p14:sldId id="433"/>
            <p14:sldId id="434"/>
            <p14:sldId id="435"/>
            <p14:sldId id="436"/>
            <p14:sldId id="437"/>
            <p14:sldId id="438"/>
            <p14:sldId id="439"/>
            <p14:sldId id="412"/>
            <p14:sldId id="440"/>
            <p14:sldId id="441"/>
            <p14:sldId id="442"/>
            <p14:sldId id="415"/>
            <p14:sldId id="416"/>
            <p14:sldId id="411"/>
            <p14:sldId id="30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85C8CD"/>
    <a:srgbClr val="BBE0E3"/>
    <a:srgbClr val="2366EF"/>
    <a:srgbClr val="7D9EBB"/>
    <a:srgbClr val="171C2C"/>
    <a:srgbClr val="0232AE"/>
    <a:srgbClr val="BACDFE"/>
    <a:srgbClr val="333333"/>
    <a:srgbClr val="95BC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6319" autoAdjust="0"/>
  </p:normalViewPr>
  <p:slideViewPr>
    <p:cSldViewPr snapToGrid="0">
      <p:cViewPr varScale="1">
        <p:scale>
          <a:sx n="87" d="100"/>
          <a:sy n="87" d="100"/>
        </p:scale>
        <p:origin x="145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7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E36D4-B224-4D49-A73E-0BF1A210728E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661C5-6DF4-4E77-80CD-DCF64012D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04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7304B-F283-4E41-A8FA-EB923FFBA2A0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92502-E94D-4E8D-8986-81BE1569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31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89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211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smtClean="0"/>
              <a:t>OS</a:t>
            </a:r>
            <a:r>
              <a:rPr lang="ko-KR" altLang="en-US" sz="1200" dirty="0" smtClean="0"/>
              <a:t>가 업그레이드 하는 경우 </a:t>
            </a:r>
            <a:r>
              <a:rPr lang="en-US" altLang="ko-KR" sz="1200" dirty="0" smtClean="0"/>
              <a:t>Node</a:t>
            </a:r>
            <a:r>
              <a:rPr lang="ko-KR" altLang="en-US" sz="1200" dirty="0" smtClean="0"/>
              <a:t>에 있는 </a:t>
            </a:r>
            <a:r>
              <a:rPr lang="en-US" altLang="ko-KR" sz="1200" dirty="0" smtClean="0"/>
              <a:t>Pod</a:t>
            </a:r>
            <a:r>
              <a:rPr lang="ko-KR" altLang="en-US" sz="1200" dirty="0" smtClean="0"/>
              <a:t>를 고려해야 한다</a:t>
            </a:r>
            <a:r>
              <a:rPr lang="en-US" altLang="ko-KR" sz="120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299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5721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232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smtClean="0"/>
              <a:t>Worker Node</a:t>
            </a:r>
            <a:r>
              <a:rPr lang="ko-KR" altLang="en-US" sz="1200" dirty="0" smtClean="0"/>
              <a:t>가 </a:t>
            </a:r>
            <a:r>
              <a:rPr lang="en-US" altLang="ko-KR" sz="1200" dirty="0" smtClean="0"/>
              <a:t>Master Node</a:t>
            </a:r>
            <a:r>
              <a:rPr lang="ko-KR" altLang="en-US" sz="1200" dirty="0" smtClean="0"/>
              <a:t>보다 버전이 높은 경우 </a:t>
            </a:r>
            <a:r>
              <a:rPr lang="en-US" altLang="ko-KR" sz="1200" dirty="0" smtClean="0"/>
              <a:t>Kubernetes</a:t>
            </a:r>
            <a:r>
              <a:rPr lang="en-US" altLang="ko-KR" sz="1200" baseline="0" dirty="0" smtClean="0"/>
              <a:t> Cluster</a:t>
            </a:r>
            <a:r>
              <a:rPr lang="ko-KR" altLang="en-US" sz="1200" baseline="0" dirty="0" smtClean="0"/>
              <a:t>에 </a:t>
            </a:r>
            <a:r>
              <a:rPr lang="en-US" altLang="ko-KR" sz="1200" baseline="0" dirty="0" smtClean="0"/>
              <a:t>join </a:t>
            </a:r>
            <a:r>
              <a:rPr lang="ko-KR" altLang="en-US" sz="1200" baseline="0" dirty="0" smtClean="0"/>
              <a:t>되지 않는다</a:t>
            </a:r>
            <a:r>
              <a:rPr lang="en-US" altLang="ko-KR" sz="1200" baseline="0" dirty="0" smtClean="0"/>
              <a:t>.</a:t>
            </a: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317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smtClean="0"/>
              <a:t>Master Node </a:t>
            </a:r>
            <a:r>
              <a:rPr lang="ko-KR" altLang="en-US" sz="1200" dirty="0" smtClean="0"/>
              <a:t>업그레이드 후에 </a:t>
            </a:r>
            <a:r>
              <a:rPr lang="en-US" altLang="ko-KR" sz="1200" dirty="0" smtClean="0"/>
              <a:t>Worker Node </a:t>
            </a:r>
            <a:r>
              <a:rPr lang="ko-KR" altLang="en-US" sz="1200" dirty="0" smtClean="0"/>
              <a:t>업그레이드를 진행한다</a:t>
            </a:r>
            <a:r>
              <a:rPr lang="en-US" altLang="ko-KR" sz="120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3505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smtClean="0"/>
              <a:t>Worker</a:t>
            </a:r>
            <a:r>
              <a:rPr lang="en-US" altLang="ko-KR" sz="1200" baseline="0" dirty="0" smtClean="0"/>
              <a:t> Node</a:t>
            </a:r>
            <a:r>
              <a:rPr lang="ko-KR" altLang="en-US" sz="1200" baseline="0" dirty="0" smtClean="0"/>
              <a:t>를 업그레이드 하는 방법은 </a:t>
            </a:r>
            <a:r>
              <a:rPr lang="en-US" altLang="ko-KR" sz="1200" baseline="0" dirty="0" smtClean="0"/>
              <a:t>3</a:t>
            </a:r>
            <a:r>
              <a:rPr lang="ko-KR" altLang="en-US" sz="1200" baseline="0" dirty="0" smtClean="0"/>
              <a:t>가지가 있다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r>
              <a:rPr lang="ko-KR" altLang="en-US" sz="1200" baseline="0" dirty="0" smtClean="0"/>
              <a:t>그 중 첫번째는 모든 </a:t>
            </a:r>
            <a:r>
              <a:rPr lang="en-US" altLang="ko-KR" sz="1200" baseline="0" dirty="0" smtClean="0"/>
              <a:t>Worker Node</a:t>
            </a:r>
            <a:r>
              <a:rPr lang="ko-KR" altLang="en-US" sz="1200" baseline="0" dirty="0" smtClean="0"/>
              <a:t>를 한번에 업그레이드 하는 방법이다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ko-KR" altLang="en-US" sz="1200" baseline="0" dirty="0" smtClean="0"/>
              <a:t>이 경우에는 서비스 </a:t>
            </a:r>
            <a:r>
              <a:rPr lang="ko-KR" altLang="en-US" sz="1200" baseline="0" dirty="0" err="1" smtClean="0"/>
              <a:t>다운타임이</a:t>
            </a:r>
            <a:r>
              <a:rPr lang="ko-KR" altLang="en-US" sz="1200" baseline="0" dirty="0" smtClean="0"/>
              <a:t> 발생하며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smtClean="0"/>
              <a:t>업그레이드 완료 후에 다시 서비스에 접속할 수 있다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r>
              <a:rPr lang="en-US" altLang="ko-KR" sz="1200" baseline="0" dirty="0" smtClean="0"/>
              <a:t>Worker node </a:t>
            </a:r>
            <a:r>
              <a:rPr lang="ko-KR" altLang="en-US" sz="1200" baseline="0" dirty="0" smtClean="0"/>
              <a:t>업그레이드 후에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가 다시 정상 기동 된다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8920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smtClean="0"/>
              <a:t>Worker</a:t>
            </a:r>
            <a:r>
              <a:rPr lang="en-US" altLang="ko-KR" sz="1200" baseline="0" dirty="0" smtClean="0"/>
              <a:t> Node</a:t>
            </a:r>
            <a:r>
              <a:rPr lang="ko-KR" altLang="en-US" sz="1200" baseline="0" dirty="0" smtClean="0"/>
              <a:t>를 업그레이드 하는 방법은 </a:t>
            </a:r>
            <a:r>
              <a:rPr lang="en-US" altLang="ko-KR" sz="1200" baseline="0" dirty="0" smtClean="0"/>
              <a:t>3</a:t>
            </a:r>
            <a:r>
              <a:rPr lang="ko-KR" altLang="en-US" sz="1200" baseline="0" dirty="0" smtClean="0"/>
              <a:t>가지가 있다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r>
              <a:rPr lang="ko-KR" altLang="en-US" sz="1200" baseline="0" dirty="0" smtClean="0"/>
              <a:t>그 중 첫번째는 모든 </a:t>
            </a:r>
            <a:r>
              <a:rPr lang="en-US" altLang="ko-KR" sz="1200" baseline="0" dirty="0" smtClean="0"/>
              <a:t>Worker Node</a:t>
            </a:r>
            <a:r>
              <a:rPr lang="ko-KR" altLang="en-US" sz="1200" baseline="0" dirty="0" smtClean="0"/>
              <a:t>를 한번에 업그레이드 하는 방법이다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ko-KR" altLang="en-US" sz="1200" baseline="0" dirty="0" smtClean="0"/>
              <a:t>이 경우에는 서비스 </a:t>
            </a:r>
            <a:r>
              <a:rPr lang="ko-KR" altLang="en-US" sz="1200" baseline="0" dirty="0" err="1" smtClean="0"/>
              <a:t>다운타임이</a:t>
            </a:r>
            <a:r>
              <a:rPr lang="ko-KR" altLang="en-US" sz="1200" baseline="0" dirty="0" smtClean="0"/>
              <a:t> 발생하며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smtClean="0"/>
              <a:t>업그레이드 완료 후에 다시 서비스에 접속할 수 있다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r>
              <a:rPr lang="en-US" altLang="ko-KR" sz="1200" baseline="0" dirty="0" smtClean="0"/>
              <a:t>Worker node </a:t>
            </a:r>
            <a:r>
              <a:rPr lang="ko-KR" altLang="en-US" sz="1200" baseline="0" dirty="0" smtClean="0"/>
              <a:t>업그레이드 후에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가 다시 정상 기동 된다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52167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err="1" smtClean="0"/>
              <a:t>Wokrer</a:t>
            </a:r>
            <a:r>
              <a:rPr lang="en-US" altLang="ko-KR" sz="1200" dirty="0" smtClean="0"/>
              <a:t> Node</a:t>
            </a:r>
            <a:r>
              <a:rPr lang="ko-KR" altLang="en-US" sz="1200" dirty="0" smtClean="0"/>
              <a:t>를 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개씩 업그레이드 하는 경우 서비스 중단 없이 업그레이드를 진행할 수 있다</a:t>
            </a:r>
            <a:r>
              <a:rPr lang="en-US" altLang="ko-KR" sz="1200" dirty="0" smtClean="0"/>
              <a:t>.</a:t>
            </a:r>
          </a:p>
          <a:p>
            <a:pPr marL="0" indent="0">
              <a:buFontTx/>
              <a:buNone/>
            </a:pPr>
            <a:r>
              <a:rPr lang="ko-KR" altLang="en-US" sz="1200" dirty="0" smtClean="0"/>
              <a:t>하지만 기존에 운영중인 </a:t>
            </a:r>
            <a:r>
              <a:rPr lang="en-US" altLang="ko-KR" sz="1200" dirty="0" smtClean="0"/>
              <a:t>Pod</a:t>
            </a:r>
            <a:r>
              <a:rPr lang="ko-KR" altLang="en-US" sz="1200" dirty="0" smtClean="0"/>
              <a:t>는 다른 </a:t>
            </a:r>
            <a:r>
              <a:rPr lang="en-US" altLang="ko-KR" sz="1200" dirty="0" smtClean="0"/>
              <a:t>Node</a:t>
            </a:r>
            <a:r>
              <a:rPr lang="ko-KR" altLang="en-US" sz="1200" dirty="0" smtClean="0"/>
              <a:t>에 배치가 된다</a:t>
            </a:r>
            <a:r>
              <a:rPr lang="en-US" altLang="ko-KR" sz="120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6349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56624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sz="1200" dirty="0" smtClean="0"/>
              <a:t>업그레이드된 </a:t>
            </a:r>
            <a:r>
              <a:rPr lang="en-US" altLang="ko-KR" sz="1200" dirty="0" smtClean="0"/>
              <a:t>Worker Node</a:t>
            </a:r>
            <a:r>
              <a:rPr lang="ko-KR" altLang="en-US" sz="1200" dirty="0" smtClean="0"/>
              <a:t>를 추가하는 경우 서비스 중단 </a:t>
            </a:r>
            <a:r>
              <a:rPr lang="ko-KR" altLang="en-US" sz="1200" baseline="0" dirty="0" smtClean="0"/>
              <a:t>없고 </a:t>
            </a:r>
            <a:r>
              <a:rPr lang="en-US" altLang="ko-KR" sz="1200" baseline="0" dirty="0" smtClean="0"/>
              <a:t>pod </a:t>
            </a:r>
            <a:r>
              <a:rPr lang="ko-KR" altLang="en-US" sz="1200" baseline="0" dirty="0" smtClean="0"/>
              <a:t>배치도 동일하게 업그레이드 가능하나</a:t>
            </a:r>
            <a:endParaRPr lang="en-US" altLang="ko-KR" sz="1200" dirty="0" smtClean="0"/>
          </a:p>
          <a:p>
            <a:pPr marL="0" indent="0">
              <a:buFontTx/>
              <a:buNone/>
            </a:pPr>
            <a:r>
              <a:rPr lang="en-US" altLang="ko-KR" sz="1200" dirty="0" smtClean="0"/>
              <a:t>Worker node</a:t>
            </a:r>
            <a:r>
              <a:rPr lang="ko-KR" altLang="en-US" sz="1200" dirty="0" smtClean="0"/>
              <a:t>를 추가해야하는 번거로움이 있다</a:t>
            </a:r>
            <a:r>
              <a:rPr lang="en-US" altLang="ko-KR" sz="120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8975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err="1" smtClean="0"/>
              <a:t>kubeadm</a:t>
            </a:r>
            <a:r>
              <a:rPr lang="ko-KR" altLang="en-US" sz="1200" dirty="0" smtClean="0"/>
              <a:t>은 업그레이드를 도와주는 명령어가 있다</a:t>
            </a:r>
            <a:r>
              <a:rPr lang="en-US" altLang="ko-KR" sz="1200" dirty="0" smtClean="0"/>
              <a:t>.</a:t>
            </a:r>
          </a:p>
          <a:p>
            <a:pPr marL="0" indent="0">
              <a:buFontTx/>
              <a:buNone/>
            </a:pPr>
            <a:r>
              <a:rPr lang="en-US" altLang="ko-KR" sz="1200" dirty="0" err="1" smtClean="0"/>
              <a:t>kukbeadm</a:t>
            </a:r>
            <a:r>
              <a:rPr lang="ko-KR" altLang="en-US" sz="1200" dirty="0" smtClean="0"/>
              <a:t>을 통해 업그레이드를 진행한 후 각 노드에 </a:t>
            </a:r>
            <a:r>
              <a:rPr lang="en-US" altLang="ko-KR" sz="1200" dirty="0" err="1" smtClean="0"/>
              <a:t>kubelet</a:t>
            </a:r>
            <a:r>
              <a:rPr lang="ko-KR" altLang="en-US" sz="1200" dirty="0" smtClean="0"/>
              <a:t>은 따로 업그레이드를 진행해야 한다</a:t>
            </a:r>
            <a:r>
              <a:rPr lang="en-US" altLang="ko-KR" sz="1200" dirty="0" smtClean="0"/>
              <a:t>.</a:t>
            </a:r>
          </a:p>
          <a:p>
            <a:pPr marL="0" indent="0">
              <a:buFontTx/>
              <a:buNone/>
            </a:pPr>
            <a:r>
              <a:rPr lang="en-US" altLang="ko-KR" sz="1200" dirty="0" err="1" smtClean="0"/>
              <a:t>kubeadm</a:t>
            </a:r>
            <a:r>
              <a:rPr lang="ko-KR" altLang="en-US" sz="1200" dirty="0" smtClean="0"/>
              <a:t>은 </a:t>
            </a:r>
            <a:r>
              <a:rPr lang="en-US" altLang="ko-KR" sz="1200" dirty="0" err="1" smtClean="0"/>
              <a:t>kubelet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업그레이드를 지원하지 않는다</a:t>
            </a:r>
            <a:r>
              <a:rPr lang="en-US" altLang="ko-KR" sz="120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dirty="0" smtClean="0"/>
          </a:p>
          <a:p>
            <a:pPr marL="0" indent="0">
              <a:buFontTx/>
              <a:buNone/>
            </a:pPr>
            <a:r>
              <a:rPr lang="en-US" altLang="ko-KR" sz="1200" dirty="0" smtClean="0"/>
              <a:t>Cluster </a:t>
            </a:r>
            <a:r>
              <a:rPr lang="ko-KR" altLang="en-US" sz="1200" dirty="0" smtClean="0"/>
              <a:t>업그레이드 전에 </a:t>
            </a:r>
            <a:r>
              <a:rPr lang="en-US" altLang="ko-KR" sz="1200" dirty="0" err="1" smtClean="0"/>
              <a:t>kubeadm</a:t>
            </a:r>
            <a:r>
              <a:rPr lang="ko-KR" altLang="en-US" sz="1200" dirty="0" smtClean="0"/>
              <a:t>을 먼저 업그레이드 해야 한다</a:t>
            </a:r>
            <a:r>
              <a:rPr lang="en-US" altLang="ko-KR" sz="120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75853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smtClean="0"/>
              <a:t>Cluster</a:t>
            </a:r>
            <a:r>
              <a:rPr lang="ko-KR" altLang="en-US" sz="1200" dirty="0" smtClean="0"/>
              <a:t>를 업그레이드 할 때 절차는 아래와 같다</a:t>
            </a:r>
            <a:r>
              <a:rPr lang="en-US" altLang="ko-KR" sz="120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7764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 smtClean="0"/>
              <a:t>쿠버네티스에서</a:t>
            </a:r>
            <a:r>
              <a:rPr lang="ko-KR" altLang="en-US" dirty="0" smtClean="0"/>
              <a:t> 뭘 </a:t>
            </a:r>
            <a:r>
              <a:rPr lang="ko-KR" altLang="en-US" dirty="0" err="1" smtClean="0"/>
              <a:t>백업해야되는지</a:t>
            </a:r>
            <a:r>
              <a:rPr lang="ko-KR" altLang="en-US" dirty="0" smtClean="0"/>
              <a:t> 봐야한다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ETCD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0690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78820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smtClean="0"/>
              <a:t>Resource Configuration</a:t>
            </a:r>
            <a:r>
              <a:rPr lang="ko-KR" altLang="en-US" sz="1200" dirty="0" smtClean="0"/>
              <a:t>은 팀원들끼리 공유 할 수 있도록 </a:t>
            </a:r>
            <a:r>
              <a:rPr lang="en-US" altLang="ko-KR" sz="1200" dirty="0" err="1" smtClean="0"/>
              <a:t>Git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저장소에 저장한다</a:t>
            </a:r>
            <a:r>
              <a:rPr lang="en-US" altLang="ko-KR" sz="120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dirty="0" smtClean="0"/>
          </a:p>
          <a:p>
            <a:pPr marL="0" indent="0">
              <a:buFontTx/>
              <a:buNone/>
            </a:pPr>
            <a:r>
              <a:rPr lang="ko-KR" altLang="en-US" sz="1200" dirty="0" smtClean="0"/>
              <a:t>선언적 명령어로 생성한 </a:t>
            </a:r>
            <a:r>
              <a:rPr lang="en-US" altLang="ko-KR" sz="1200" dirty="0" smtClean="0"/>
              <a:t>resource</a:t>
            </a:r>
            <a:r>
              <a:rPr lang="ko-KR" altLang="en-US" sz="1200" dirty="0" smtClean="0"/>
              <a:t>들은 따로 </a:t>
            </a:r>
            <a:r>
              <a:rPr lang="en-US" altLang="ko-KR" sz="1200" dirty="0" err="1" smtClean="0"/>
              <a:t>yaml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파일로 구성되어 있지 않지만</a:t>
            </a:r>
            <a:r>
              <a:rPr lang="en-US" altLang="ko-KR" sz="1200" dirty="0" smtClean="0"/>
              <a:t>, namespace</a:t>
            </a:r>
            <a:r>
              <a:rPr lang="ko-KR" altLang="en-US" sz="1200" dirty="0" smtClean="0"/>
              <a:t>를 생성한다거나</a:t>
            </a:r>
            <a:r>
              <a:rPr lang="en-US" altLang="ko-KR" sz="1200" dirty="0" smtClean="0"/>
              <a:t>, secret, </a:t>
            </a:r>
            <a:r>
              <a:rPr lang="en-US" altLang="ko-KR" sz="1200" dirty="0" err="1" smtClean="0"/>
              <a:t>configmap</a:t>
            </a:r>
            <a:r>
              <a:rPr lang="ko-KR" altLang="en-US" sz="1200" dirty="0" smtClean="0"/>
              <a:t>을 생성한다거나 하는 경우</a:t>
            </a:r>
            <a:endParaRPr lang="en-US" altLang="ko-KR" sz="1200" dirty="0" smtClean="0"/>
          </a:p>
          <a:p>
            <a:pPr marL="0" indent="0">
              <a:buFontTx/>
              <a:buNone/>
            </a:pPr>
            <a:r>
              <a:rPr lang="ko-KR" altLang="en-US" sz="1200" dirty="0" smtClean="0"/>
              <a:t>바로 명령어를 통해 </a:t>
            </a:r>
            <a:r>
              <a:rPr lang="en-US" altLang="ko-KR" sz="1200" dirty="0" smtClean="0"/>
              <a:t>resource</a:t>
            </a:r>
            <a:r>
              <a:rPr lang="ko-KR" altLang="en-US" sz="1200" dirty="0" smtClean="0"/>
              <a:t>를 생성하지만 </a:t>
            </a:r>
            <a:r>
              <a:rPr lang="en-US" altLang="ko-KR" sz="1200" dirty="0" err="1" smtClean="0"/>
              <a:t>yaml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형태로 </a:t>
            </a:r>
            <a:r>
              <a:rPr lang="ko-KR" altLang="en-US" sz="1200" dirty="0" err="1" smtClean="0"/>
              <a:t>뺄수는</a:t>
            </a:r>
            <a:r>
              <a:rPr lang="ko-KR" altLang="en-US" sz="1200" dirty="0" smtClean="0"/>
              <a:t> 있다</a:t>
            </a:r>
            <a:r>
              <a:rPr lang="en-US" altLang="ko-KR" sz="1200" dirty="0" smtClean="0"/>
              <a:t>.</a:t>
            </a:r>
            <a:r>
              <a:rPr lang="ko-KR" altLang="en-US" sz="1200" dirty="0" smtClean="0"/>
              <a:t> </a:t>
            </a:r>
            <a:endParaRPr lang="en-US" altLang="ko-KR" sz="1200" dirty="0" smtClean="0"/>
          </a:p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3212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smtClean="0"/>
              <a:t>ETCD</a:t>
            </a:r>
            <a:r>
              <a:rPr lang="ko-KR" altLang="en-US" sz="1200" dirty="0" smtClean="0"/>
              <a:t>는 클러스터 자체 정보와 클러스터 내부에서 생성된 모든 리소스가 여기 저장된다</a:t>
            </a:r>
            <a:r>
              <a:rPr lang="en-US" altLang="ko-KR" sz="1200" dirty="0" smtClean="0"/>
              <a:t>.</a:t>
            </a:r>
          </a:p>
          <a:p>
            <a:pPr marL="0" indent="0">
              <a:buFontTx/>
              <a:buNone/>
            </a:pPr>
            <a:r>
              <a:rPr lang="ko-KR" altLang="en-US" sz="1200" dirty="0" smtClean="0"/>
              <a:t>리소스를 백업하는 대시 서버 자체를 백업할 수 있다</a:t>
            </a:r>
            <a:r>
              <a:rPr lang="en-US" altLang="ko-KR" sz="120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dirty="0" smtClean="0"/>
          </a:p>
          <a:p>
            <a:pPr marL="0" indent="0">
              <a:buFontTx/>
              <a:buNone/>
            </a:pPr>
            <a:r>
              <a:rPr lang="en-US" altLang="ko-KR" sz="1200" dirty="0" smtClean="0"/>
              <a:t>ETCD</a:t>
            </a:r>
            <a:r>
              <a:rPr lang="ko-KR" altLang="en-US" sz="1200" dirty="0" smtClean="0"/>
              <a:t>는 </a:t>
            </a:r>
            <a:r>
              <a:rPr lang="en-US" altLang="ko-KR" sz="1200" dirty="0" smtClean="0"/>
              <a:t>Master Server</a:t>
            </a:r>
            <a:r>
              <a:rPr lang="ko-KR" altLang="en-US" sz="1200" dirty="0" smtClean="0"/>
              <a:t>에 존재한다</a:t>
            </a:r>
            <a:r>
              <a:rPr lang="en-US" altLang="ko-KR" sz="120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dirty="0" smtClean="0"/>
          </a:p>
          <a:p>
            <a:pPr marL="0" indent="0">
              <a:buFontTx/>
              <a:buNone/>
            </a:pPr>
            <a:r>
              <a:rPr lang="ko-KR" altLang="en-US" sz="1200" dirty="0" smtClean="0"/>
              <a:t>클러스터 자체 정보와 리소스 정보는 이 디렉터리에 저장 된다</a:t>
            </a:r>
            <a:r>
              <a:rPr lang="en-US" altLang="ko-KR" sz="1200" dirty="0" smtClean="0"/>
              <a:t>.</a:t>
            </a:r>
            <a:r>
              <a:rPr lang="ko-KR" altLang="en-US" sz="1200" dirty="0" smtClean="0"/>
              <a:t> </a:t>
            </a:r>
            <a:endParaRPr lang="en-US" altLang="ko-KR" sz="1200" dirty="0" smtClean="0"/>
          </a:p>
          <a:p>
            <a:pPr marL="0" indent="0">
              <a:buFontTx/>
              <a:buNone/>
            </a:pPr>
            <a:r>
              <a:rPr lang="ko-KR" altLang="en-US" sz="1200" dirty="0" smtClean="0"/>
              <a:t>디렉터리는 </a:t>
            </a:r>
            <a:r>
              <a:rPr lang="en-US" altLang="ko-KR" sz="1200" dirty="0" err="1" smtClean="0"/>
              <a:t>etcd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설정 </a:t>
            </a:r>
            <a:r>
              <a:rPr lang="en-US" altLang="ko-KR" sz="1200" dirty="0" err="1" smtClean="0"/>
              <a:t>yaml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파일 내에서 확인이 가능하다</a:t>
            </a:r>
            <a:r>
              <a:rPr lang="en-US" altLang="ko-KR" sz="120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3244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smtClean="0"/>
              <a:t>ETCD </a:t>
            </a:r>
            <a:r>
              <a:rPr lang="ko-KR" altLang="en-US" sz="1200" dirty="0" smtClean="0"/>
              <a:t>참고 사이트 </a:t>
            </a:r>
            <a:r>
              <a:rPr lang="en-US" altLang="ko-KR" sz="1200" dirty="0" smtClean="0"/>
              <a:t>: https://github.com/etcd-io/etcd/releases</a:t>
            </a:r>
          </a:p>
          <a:p>
            <a:pPr marL="0" indent="0">
              <a:buFontTx/>
              <a:buNone/>
            </a:pPr>
            <a:endParaRPr lang="en-US" altLang="ko-KR" sz="1200" dirty="0" smtClean="0"/>
          </a:p>
          <a:p>
            <a:pPr marL="0" indent="0">
              <a:buFontTx/>
              <a:buNone/>
            </a:pPr>
            <a:r>
              <a:rPr lang="en-US" altLang="ko-KR" sz="1200" dirty="0" err="1" smtClean="0"/>
              <a:t>Etcdctl</a:t>
            </a:r>
            <a:r>
              <a:rPr lang="ko-KR" altLang="en-US" sz="1200" dirty="0" smtClean="0"/>
              <a:t>을 사용하기 위해서는 따로 설치를 진행해줘야 한다</a:t>
            </a:r>
            <a:r>
              <a:rPr lang="en-US" altLang="ko-KR" sz="120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dirty="0" smtClean="0"/>
          </a:p>
          <a:p>
            <a:pPr marL="0" indent="0">
              <a:buFontTx/>
              <a:buNone/>
            </a:pPr>
            <a:r>
              <a:rPr lang="en-US" altLang="ko-KR" sz="1200" dirty="0" smtClean="0"/>
              <a:t>ETCD </a:t>
            </a:r>
            <a:r>
              <a:rPr lang="ko-KR" altLang="en-US" sz="1200" dirty="0" smtClean="0"/>
              <a:t>서버를 복구하기 전에 </a:t>
            </a:r>
            <a:r>
              <a:rPr lang="en-US" altLang="ko-KR" sz="1200" dirty="0" err="1" smtClean="0"/>
              <a:t>kube-apiserver</a:t>
            </a:r>
            <a:r>
              <a:rPr lang="ko-KR" altLang="en-US" sz="1200" dirty="0" smtClean="0"/>
              <a:t>를 </a:t>
            </a:r>
            <a:r>
              <a:rPr lang="ko-KR" altLang="en-US" sz="1200" dirty="0" err="1" smtClean="0"/>
              <a:t>다운해야</a:t>
            </a:r>
            <a:r>
              <a:rPr lang="ko-KR" altLang="en-US" sz="1200" dirty="0" smtClean="0"/>
              <a:t> 한다</a:t>
            </a:r>
            <a:r>
              <a:rPr lang="en-US" altLang="ko-KR" sz="1200" dirty="0" smtClean="0"/>
              <a:t>. Cluster</a:t>
            </a:r>
            <a:r>
              <a:rPr lang="ko-KR" altLang="en-US" sz="1200" dirty="0" smtClean="0"/>
              <a:t>를 </a:t>
            </a:r>
            <a:r>
              <a:rPr lang="ko-KR" altLang="en-US" sz="1200" dirty="0" err="1" smtClean="0"/>
              <a:t>재구성할때</a:t>
            </a:r>
            <a:r>
              <a:rPr lang="ko-KR" altLang="en-US" sz="1200" dirty="0" smtClean="0"/>
              <a:t> </a:t>
            </a:r>
            <a:r>
              <a:rPr lang="en-US" altLang="ko-KR" sz="1200" dirty="0" err="1" smtClean="0"/>
              <a:t>apiserver</a:t>
            </a:r>
            <a:r>
              <a:rPr lang="ko-KR" altLang="en-US" sz="1200" dirty="0" smtClean="0"/>
              <a:t>에 </a:t>
            </a:r>
            <a:r>
              <a:rPr lang="ko-KR" altLang="en-US" sz="1200" dirty="0" err="1" smtClean="0"/>
              <a:t>디펜던시</a:t>
            </a:r>
            <a:r>
              <a:rPr lang="ko-KR" altLang="en-US" sz="1200" dirty="0" smtClean="0"/>
              <a:t> 되어 있기 때문이다</a:t>
            </a:r>
            <a:r>
              <a:rPr lang="en-US" altLang="ko-KR" sz="1200" dirty="0" smtClean="0"/>
              <a:t>.</a:t>
            </a:r>
          </a:p>
          <a:p>
            <a:pPr marL="0" indent="0">
              <a:buFontTx/>
              <a:buNone/>
            </a:pPr>
            <a:r>
              <a:rPr lang="en-US" altLang="ko-KR" sz="1200" dirty="0" smtClean="0"/>
              <a:t>Static</a:t>
            </a:r>
            <a:r>
              <a:rPr lang="en-US" altLang="ko-KR" sz="1200" baseline="0" dirty="0" smtClean="0"/>
              <a:t> pod</a:t>
            </a:r>
            <a:r>
              <a:rPr lang="ko-KR" altLang="en-US" sz="1200" baseline="0" dirty="0" smtClean="0"/>
              <a:t>로 구성되어 있다면 </a:t>
            </a:r>
            <a:r>
              <a:rPr lang="en-US" altLang="ko-KR" sz="1200" baseline="0" dirty="0" smtClean="0"/>
              <a:t>/</a:t>
            </a:r>
            <a:r>
              <a:rPr lang="en-US" altLang="ko-KR" sz="1200" baseline="0" dirty="0" err="1" smtClean="0"/>
              <a:t>etc</a:t>
            </a:r>
            <a:r>
              <a:rPr lang="en-US" altLang="ko-KR" sz="1200" baseline="0" dirty="0" smtClean="0"/>
              <a:t>/</a:t>
            </a:r>
            <a:r>
              <a:rPr lang="en-US" altLang="ko-KR" sz="1200" baseline="0" dirty="0" err="1" smtClean="0"/>
              <a:t>kubernetes</a:t>
            </a:r>
            <a:r>
              <a:rPr lang="en-US" altLang="ko-KR" sz="1200" baseline="0" dirty="0" smtClean="0"/>
              <a:t>/</a:t>
            </a:r>
            <a:r>
              <a:rPr lang="en-US" altLang="ko-KR" sz="1200" baseline="0" dirty="0" err="1" smtClean="0"/>
              <a:t>manifes</a:t>
            </a:r>
            <a:r>
              <a:rPr lang="ko-KR" altLang="en-US" sz="1200" baseline="0" dirty="0" smtClean="0"/>
              <a:t>에 파일이름 바꿔주거나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smtClean="0"/>
              <a:t>다른 경로로 옮기게 되면 </a:t>
            </a:r>
            <a:r>
              <a:rPr lang="en-US" altLang="ko-KR" sz="1200" baseline="0" dirty="0" err="1" smtClean="0"/>
              <a:t>kubelet</a:t>
            </a:r>
            <a:r>
              <a:rPr lang="ko-KR" altLang="en-US" sz="1200" baseline="0" dirty="0" smtClean="0"/>
              <a:t>이 이를 감지하고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를 내려준다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r>
              <a:rPr lang="ko-KR" altLang="en-US" sz="1200" baseline="0" dirty="0" err="1" smtClean="0"/>
              <a:t>복구시에는</a:t>
            </a:r>
            <a:r>
              <a:rPr lang="ko-KR" altLang="en-US" sz="1200" baseline="0" dirty="0" smtClean="0"/>
              <a:t> 다시 해당 경로에 파일을 위치 시키면 된다</a:t>
            </a:r>
            <a:r>
              <a:rPr lang="en-US" altLang="ko-KR" sz="1200" baseline="0" dirty="0" smtClean="0"/>
              <a:t>.</a:t>
            </a:r>
            <a:endParaRPr lang="en-US" altLang="ko-KR" sz="1200" dirty="0" smtClean="0"/>
          </a:p>
          <a:p>
            <a:pPr marL="0" indent="0">
              <a:buFontTx/>
              <a:buNone/>
            </a:pPr>
            <a:endParaRPr lang="en-US" altLang="ko-KR" sz="1200" dirty="0" smtClean="0"/>
          </a:p>
          <a:p>
            <a:pPr marL="0" indent="0">
              <a:buFontTx/>
              <a:buNone/>
            </a:pPr>
            <a:r>
              <a:rPr lang="ko-KR" altLang="en-US" sz="1200" dirty="0" smtClean="0"/>
              <a:t>복구 </a:t>
            </a:r>
            <a:r>
              <a:rPr lang="ko-KR" altLang="en-US" sz="1200" dirty="0" err="1" smtClean="0"/>
              <a:t>진행시에</a:t>
            </a:r>
            <a:r>
              <a:rPr lang="ko-KR" altLang="en-US" sz="1200" dirty="0" smtClean="0"/>
              <a:t> 데이터 디렉토리가 기존과 겹치지 않게 변경해준다</a:t>
            </a:r>
            <a:r>
              <a:rPr lang="en-US" altLang="ko-KR" sz="120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07481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Rollout</a:t>
            </a:r>
            <a:r>
              <a:rPr lang="en-US" altLang="ko-KR" baseline="0" dirty="0" smtClean="0"/>
              <a:t> restart</a:t>
            </a:r>
            <a:r>
              <a:rPr lang="ko-KR" altLang="en-US" baseline="0" dirty="0" smtClean="0"/>
              <a:t>가 일어나게 되면 </a:t>
            </a:r>
            <a:r>
              <a:rPr lang="en-US" altLang="ko-KR" baseline="0" dirty="0" err="1" smtClean="0"/>
              <a:t>replicasets</a:t>
            </a:r>
            <a:r>
              <a:rPr lang="ko-KR" altLang="en-US" baseline="0" dirty="0" smtClean="0"/>
              <a:t>가 새로 만들어지게 된다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이미지가 변경되는 경우 </a:t>
            </a:r>
            <a:r>
              <a:rPr lang="en-US" altLang="ko-KR" baseline="0" dirty="0" smtClean="0"/>
              <a:t>upgrade</a:t>
            </a:r>
            <a:r>
              <a:rPr lang="ko-KR" altLang="en-US" baseline="0" dirty="0" smtClean="0"/>
              <a:t>가 발생하게 된다</a:t>
            </a:r>
            <a:r>
              <a:rPr lang="en-US" altLang="ko-KR" baseline="0" dirty="0" smtClean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523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Rollout</a:t>
            </a:r>
            <a:r>
              <a:rPr lang="en-US" altLang="ko-KR" baseline="0" dirty="0" smtClean="0"/>
              <a:t> restart</a:t>
            </a:r>
            <a:r>
              <a:rPr lang="ko-KR" altLang="en-US" baseline="0" dirty="0" smtClean="0"/>
              <a:t>가 일어나게 되면 </a:t>
            </a:r>
            <a:r>
              <a:rPr lang="en-US" altLang="ko-KR" baseline="0" dirty="0" err="1" smtClean="0"/>
              <a:t>replicasets</a:t>
            </a:r>
            <a:r>
              <a:rPr lang="ko-KR" altLang="en-US" baseline="0" dirty="0" smtClean="0"/>
              <a:t>가 새로 만들어지게 된다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이미지가 변경되는 경우 </a:t>
            </a:r>
            <a:r>
              <a:rPr lang="en-US" altLang="ko-KR" baseline="0" dirty="0" smtClean="0"/>
              <a:t>upgrade</a:t>
            </a:r>
            <a:r>
              <a:rPr lang="ko-KR" altLang="en-US" baseline="0" dirty="0" smtClean="0"/>
              <a:t>가 발생하게 된다</a:t>
            </a:r>
            <a:r>
              <a:rPr lang="en-US" altLang="ko-KR" baseline="0" dirty="0" smtClean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701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en-US" altLang="ko-K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kubectl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rollout undo deployment </a:t>
            </a:r>
            <a:r>
              <a:rPr lang="en-US" altLang="ko-K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myapp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-deploy --to-revision=2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명령어를 사용해서 특정 버전 부분으로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rollback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할 수 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Kubectl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rollout restart deployment</a:t>
            </a:r>
            <a:r>
              <a:rPr lang="en-US" altLang="ko-K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myapp</a:t>
            </a:r>
            <a:r>
              <a:rPr lang="en-US" altLang="ko-K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-deploy --record=</a:t>
            </a:r>
            <a:r>
              <a:rPr lang="ko-KR" altLang="en-US" sz="1200" b="0" i="0" kern="1200" baseline="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변경이유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5289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 txBox="1">
            <a:spLocks/>
          </p:cNvSpPr>
          <p:nvPr userDrawn="1"/>
        </p:nvSpPr>
        <p:spPr>
          <a:xfrm>
            <a:off x="11560552" y="6504396"/>
            <a:ext cx="490526" cy="233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418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271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218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32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10775568" y="6262414"/>
            <a:ext cx="959232" cy="595586"/>
          </a:xfrm>
          <a:prstGeom prst="rect">
            <a:avLst/>
          </a:prstGeom>
        </p:spPr>
        <p:txBody>
          <a:bodyPr vert="horz" lIns="91447" tIns="45725" rIns="91447" bIns="45725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50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50" charset="-127"/>
              </a:rPr>
              <a:pPr marL="0" marR="0" lvl="0" indent="0" algn="r" defTabSz="91450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5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object 8"/>
          <p:cNvSpPr/>
          <p:nvPr userDrawn="1"/>
        </p:nvSpPr>
        <p:spPr>
          <a:xfrm>
            <a:off x="580644" y="6318503"/>
            <a:ext cx="11057890" cy="0"/>
          </a:xfrm>
          <a:custGeom>
            <a:avLst/>
            <a:gdLst/>
            <a:ahLst/>
            <a:cxnLst/>
            <a:rect l="l" t="t" r="r" b="b"/>
            <a:pathLst>
              <a:path w="11057890">
                <a:moveTo>
                  <a:pt x="0" y="0"/>
                </a:moveTo>
                <a:lnTo>
                  <a:pt x="11057509" y="0"/>
                </a:lnTo>
              </a:path>
            </a:pathLst>
          </a:custGeom>
          <a:ln w="6350">
            <a:solidFill>
              <a:srgbClr val="DBDB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직사각형 12"/>
          <p:cNvSpPr/>
          <p:nvPr userDrawn="1"/>
        </p:nvSpPr>
        <p:spPr>
          <a:xfrm>
            <a:off x="491124" y="6428173"/>
            <a:ext cx="24721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Copyrightⓒ </a:t>
            </a:r>
            <a:r>
              <a:rPr lang="en-US" altLang="ko-KR" sz="800" dirty="0" smtClean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2025 </a:t>
            </a:r>
            <a:r>
              <a:rPr lang="en-US" altLang="ko-KR" sz="800" dirty="0" err="1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TmaxSoft</a:t>
            </a:r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317" y="338424"/>
            <a:ext cx="1157417" cy="11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6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393CA-1A98-4091-B4F8-8CF82E62BE0C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F8EB2-BEDB-4375-BAD0-E61FA200F7A6}" type="datetimeFigureOut">
              <a:rPr lang="ko-KR" altLang="en-US" smtClean="0"/>
              <a:pPr/>
              <a:t>2025-03-05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64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microsoft.com/office/2007/relationships/hdphoto" Target="../media/hdphoto2.wdp"/><Relationship Id="rId5" Type="http://schemas.openxmlformats.org/officeDocument/2006/relationships/image" Target="../media/image17.png"/><Relationship Id="rId10" Type="http://schemas.openxmlformats.org/officeDocument/2006/relationships/image" Target="../media/image20.png"/><Relationship Id="rId4" Type="http://schemas.microsoft.com/office/2007/relationships/hdphoto" Target="../media/hdphoto1.wdp"/><Relationship Id="rId9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microsoft.com/office/2007/relationships/hdphoto" Target="../media/hdphoto2.wdp"/><Relationship Id="rId5" Type="http://schemas.openxmlformats.org/officeDocument/2006/relationships/image" Target="../media/image17.png"/><Relationship Id="rId4" Type="http://schemas.microsoft.com/office/2007/relationships/hdphoto" Target="../media/hdphoto1.wdp"/><Relationship Id="rId9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48855" y="4346799"/>
            <a:ext cx="2670034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2025.02.26.</a:t>
            </a:r>
            <a:endParaRPr lang="en-US" altLang="ko-KR" sz="1400" b="1" dirty="0" smtClean="0">
              <a:ln w="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solidFill>
                <a:srgbClr val="95BCF0"/>
              </a:solidFill>
              <a:latin typeface="+mj-lt"/>
              <a:ea typeface="맑은 고딕" panose="020B0503020000020004" pitchFamily="50" charset="-127"/>
              <a:cs typeface="뉴티맥스고딕 CJK"/>
            </a:endParaRPr>
          </a:p>
          <a:p>
            <a:pPr>
              <a:spcBef>
                <a:spcPts val="500"/>
              </a:spcBef>
            </a:pPr>
            <a:r>
              <a:rPr lang="ko-KR" altLang="en-US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조성환</a:t>
            </a:r>
            <a:endParaRPr lang="en-US" altLang="ko-KR" sz="1400" b="1" dirty="0">
              <a:ln w="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solidFill>
                <a:srgbClr val="95BCF0"/>
              </a:solidFill>
              <a:latin typeface="+mj-lt"/>
              <a:ea typeface="맑은 고딕" panose="020B0503020000020004" pitchFamily="50" charset="-127"/>
              <a:cs typeface="뉴티맥스고딕 CJ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8855" y="6328660"/>
            <a:ext cx="31967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 </a:t>
            </a:r>
            <a:r>
              <a:rPr lang="en-US" altLang="ko-KR" sz="1000" b="1" dirty="0" smtClean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 </a:t>
            </a:r>
            <a:r>
              <a:rPr lang="en-US" altLang="ko-KR" sz="1000" b="1" dirty="0" err="1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TmaxSoft</a:t>
            </a:r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24571" y="6201983"/>
            <a:ext cx="2086430" cy="431891"/>
          </a:xfrm>
          <a:prstGeom prst="rect">
            <a:avLst/>
          </a:prstGeom>
        </p:spPr>
      </p:pic>
      <p:sp>
        <p:nvSpPr>
          <p:cNvPr id="8" name="object 27"/>
          <p:cNvSpPr txBox="1">
            <a:spLocks/>
          </p:cNvSpPr>
          <p:nvPr/>
        </p:nvSpPr>
        <p:spPr>
          <a:xfrm>
            <a:off x="848855" y="1420448"/>
            <a:ext cx="9171445" cy="1876797"/>
          </a:xfrm>
          <a:prstGeom prst="rect">
            <a:avLst/>
          </a:prstGeom>
        </p:spPr>
        <p:txBody>
          <a:bodyPr vert="horz" wrap="square" lIns="0" tIns="17146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>
              <a:lnSpc>
                <a:spcPct val="100000"/>
              </a:lnSpc>
              <a:spcBef>
                <a:spcPts val="135"/>
              </a:spcBef>
            </a:pPr>
            <a:r>
              <a:rPr lang="en-US" sz="60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Kubernetes Cluster</a:t>
            </a:r>
          </a:p>
          <a:p>
            <a:pPr marL="12701">
              <a:lnSpc>
                <a:spcPct val="100000"/>
              </a:lnSpc>
              <a:spcBef>
                <a:spcPts val="135"/>
              </a:spcBef>
            </a:pPr>
            <a:r>
              <a:rPr lang="en-US" sz="60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Maintenance</a:t>
            </a:r>
            <a:endParaRPr lang="en-US" sz="6000" b="1" dirty="0">
              <a:solidFill>
                <a:srgbClr val="95BCF0"/>
              </a:solidFill>
              <a:latin typeface="Univers LT Std 85 XBlk" panose="020B0904040702020204" pitchFamily="34" charset="0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24465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 txBox="1"/>
          <p:nvPr/>
        </p:nvSpPr>
        <p:spPr>
          <a:xfrm>
            <a:off x="6162121" y="3254174"/>
            <a:ext cx="2120641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en-US" sz="1200" b="1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OS Upgrade</a:t>
            </a:r>
            <a:endParaRPr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8" name="object 3"/>
          <p:cNvSpPr txBox="1"/>
          <p:nvPr/>
        </p:nvSpPr>
        <p:spPr>
          <a:xfrm>
            <a:off x="6162122" y="3863373"/>
            <a:ext cx="1801066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en-US" altLang="ko-KR" sz="1200" b="1" spc="-4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Cluster Upgrade</a:t>
            </a:r>
            <a:endParaRPr lang="ko-KR" altLang="en-US"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6162121" y="4472572"/>
            <a:ext cx="1557115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en-US" altLang="ko-KR" sz="1200" b="1" spc="-4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Backup &amp; Restore</a:t>
            </a:r>
            <a:endParaRPr lang="ko-KR" altLang="en-US"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14" name="object 9"/>
          <p:cNvSpPr txBox="1"/>
          <p:nvPr/>
        </p:nvSpPr>
        <p:spPr>
          <a:xfrm>
            <a:off x="9217147" y="3276656"/>
            <a:ext cx="21622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sz="1100" dirty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03</a:t>
            </a:r>
          </a:p>
        </p:txBody>
      </p:sp>
      <p:sp>
        <p:nvSpPr>
          <p:cNvPr id="15" name="object 10"/>
          <p:cNvSpPr txBox="1"/>
          <p:nvPr/>
        </p:nvSpPr>
        <p:spPr>
          <a:xfrm>
            <a:off x="9217147" y="3902770"/>
            <a:ext cx="223691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lang="en-US" sz="110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05</a:t>
            </a:r>
            <a:endParaRPr sz="1100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Lucida Sans Unicode"/>
            </a:endParaRPr>
          </a:p>
        </p:txBody>
      </p:sp>
      <p:sp>
        <p:nvSpPr>
          <p:cNvPr id="16" name="object 11"/>
          <p:cNvSpPr txBox="1"/>
          <p:nvPr/>
        </p:nvSpPr>
        <p:spPr>
          <a:xfrm>
            <a:off x="9217147" y="4528884"/>
            <a:ext cx="223251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lang="en-US" sz="110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16</a:t>
            </a:r>
            <a:endParaRPr sz="1100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Lucida Sans Unicode"/>
            </a:endParaRPr>
          </a:p>
        </p:txBody>
      </p:sp>
      <p:sp>
        <p:nvSpPr>
          <p:cNvPr id="22" name="object 17"/>
          <p:cNvSpPr/>
          <p:nvPr/>
        </p:nvSpPr>
        <p:spPr>
          <a:xfrm>
            <a:off x="6173663" y="3636263"/>
            <a:ext cx="2780564" cy="45719"/>
          </a:xfrm>
          <a:custGeom>
            <a:avLst/>
            <a:gdLst/>
            <a:ahLst/>
            <a:cxnLst/>
            <a:rect l="l" t="t" r="r" b="b"/>
            <a:pathLst>
              <a:path w="2585719">
                <a:moveTo>
                  <a:pt x="2585607" y="0"/>
                </a:moveTo>
                <a:lnTo>
                  <a:pt x="0" y="0"/>
                </a:lnTo>
              </a:path>
            </a:pathLst>
          </a:custGeom>
          <a:ln w="15706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/>
          <a:lstStyle/>
          <a:p>
            <a:endParaRPr sz="1050" dirty="0">
              <a:solidFill>
                <a:srgbClr val="333333"/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23" name="object 18"/>
          <p:cNvSpPr/>
          <p:nvPr/>
        </p:nvSpPr>
        <p:spPr>
          <a:xfrm>
            <a:off x="6173663" y="4245462"/>
            <a:ext cx="2780564" cy="45719"/>
          </a:xfrm>
          <a:custGeom>
            <a:avLst/>
            <a:gdLst/>
            <a:ahLst/>
            <a:cxnLst/>
            <a:rect l="l" t="t" r="r" b="b"/>
            <a:pathLst>
              <a:path w="2585719">
                <a:moveTo>
                  <a:pt x="2585607" y="0"/>
                </a:moveTo>
                <a:lnTo>
                  <a:pt x="0" y="0"/>
                </a:lnTo>
              </a:path>
            </a:pathLst>
          </a:custGeom>
          <a:ln w="15706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/>
          <a:lstStyle/>
          <a:p>
            <a:endParaRPr sz="1050" dirty="0">
              <a:solidFill>
                <a:srgbClr val="333333"/>
              </a:solidFill>
              <a:latin typeface="+mj-lt"/>
              <a:ea typeface="맑은 고딕" panose="020B0503020000020004" pitchFamily="50" charset="-127"/>
            </a:endParaRPr>
          </a:p>
        </p:txBody>
      </p:sp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987950" y="1974133"/>
            <a:ext cx="8339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Contents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7" name="object 18"/>
          <p:cNvSpPr/>
          <p:nvPr/>
        </p:nvSpPr>
        <p:spPr>
          <a:xfrm>
            <a:off x="6173663" y="4864852"/>
            <a:ext cx="2780564" cy="45719"/>
          </a:xfrm>
          <a:custGeom>
            <a:avLst/>
            <a:gdLst/>
            <a:ahLst/>
            <a:cxnLst/>
            <a:rect l="l" t="t" r="r" b="b"/>
            <a:pathLst>
              <a:path w="2585719">
                <a:moveTo>
                  <a:pt x="2585607" y="0"/>
                </a:moveTo>
                <a:lnTo>
                  <a:pt x="0" y="0"/>
                </a:lnTo>
              </a:path>
            </a:pathLst>
          </a:custGeom>
          <a:ln w="15706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/>
          <a:lstStyle/>
          <a:p>
            <a:endParaRPr sz="1050" dirty="0">
              <a:solidFill>
                <a:srgbClr val="333333"/>
              </a:solidFill>
              <a:latin typeface="+mj-lt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168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30949" y="3105835"/>
            <a:ext cx="6461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OS Upgrade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3422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OS Upgrade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OS</a:t>
            </a:r>
            <a:r>
              <a:rPr lang="ko-KR" altLang="en-US" sz="1400" dirty="0"/>
              <a:t> </a:t>
            </a:r>
            <a:r>
              <a:rPr lang="ko-KR" altLang="en-US" sz="1400" dirty="0" smtClean="0"/>
              <a:t>업그레이드 하는 경우 </a:t>
            </a:r>
            <a:r>
              <a:rPr lang="en-US" altLang="ko-KR" sz="1400" dirty="0" smtClean="0"/>
              <a:t>Node</a:t>
            </a:r>
            <a:r>
              <a:rPr lang="ko-KR" altLang="en-US" sz="1400" dirty="0" smtClean="0"/>
              <a:t>에 있는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를 고려해야 한다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  <p:grpSp>
        <p:nvGrpSpPr>
          <p:cNvPr id="2" name="그룹 1"/>
          <p:cNvGrpSpPr/>
          <p:nvPr/>
        </p:nvGrpSpPr>
        <p:grpSpPr>
          <a:xfrm>
            <a:off x="636117" y="3093139"/>
            <a:ext cx="2064944" cy="3128803"/>
            <a:chOff x="636117" y="3093139"/>
            <a:chExt cx="2064944" cy="3128803"/>
          </a:xfrm>
        </p:grpSpPr>
        <p:sp>
          <p:nvSpPr>
            <p:cNvPr id="49" name="직사각형 48"/>
            <p:cNvSpPr/>
            <p:nvPr/>
          </p:nvSpPr>
          <p:spPr>
            <a:xfrm>
              <a:off x="636118" y="3093139"/>
              <a:ext cx="2064943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0" name="그림 49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3093139"/>
              <a:ext cx="714376" cy="649585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1350493" y="3243017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Master</a:t>
              </a:r>
              <a:endParaRPr lang="ko-KR" altLang="en-US" b="1" dirty="0"/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6194755" y="3093137"/>
            <a:ext cx="2064944" cy="3128803"/>
            <a:chOff x="636117" y="3093139"/>
            <a:chExt cx="2064944" cy="3128803"/>
          </a:xfrm>
        </p:grpSpPr>
        <p:sp>
          <p:nvSpPr>
            <p:cNvPr id="59" name="직사각형 58"/>
            <p:cNvSpPr/>
            <p:nvPr/>
          </p:nvSpPr>
          <p:spPr>
            <a:xfrm>
              <a:off x="636118" y="3093139"/>
              <a:ext cx="2064943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0" name="그림 59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3093139"/>
              <a:ext cx="714376" cy="649585"/>
            </a:xfrm>
            <a:prstGeom prst="rect">
              <a:avLst/>
            </a:prstGeom>
          </p:spPr>
        </p:pic>
        <p:sp>
          <p:nvSpPr>
            <p:cNvPr id="61" name="TextBox 60"/>
            <p:cNvSpPr txBox="1"/>
            <p:nvPr/>
          </p:nvSpPr>
          <p:spPr>
            <a:xfrm>
              <a:off x="1350493" y="3243017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Node02</a:t>
              </a:r>
              <a:endParaRPr lang="ko-KR" altLang="en-US" b="1" dirty="0"/>
            </a:p>
          </p:txBody>
        </p:sp>
      </p:grpSp>
      <p:grpSp>
        <p:nvGrpSpPr>
          <p:cNvPr id="62" name="그룹 61"/>
          <p:cNvGrpSpPr/>
          <p:nvPr/>
        </p:nvGrpSpPr>
        <p:grpSpPr>
          <a:xfrm>
            <a:off x="8974074" y="3093137"/>
            <a:ext cx="2064944" cy="3128803"/>
            <a:chOff x="636117" y="3093139"/>
            <a:chExt cx="2064944" cy="3128803"/>
          </a:xfrm>
        </p:grpSpPr>
        <p:sp>
          <p:nvSpPr>
            <p:cNvPr id="83" name="직사각형 82"/>
            <p:cNvSpPr/>
            <p:nvPr/>
          </p:nvSpPr>
          <p:spPr>
            <a:xfrm>
              <a:off x="636118" y="3093139"/>
              <a:ext cx="2064943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4" name="그림 83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3093139"/>
              <a:ext cx="714376" cy="649585"/>
            </a:xfrm>
            <a:prstGeom prst="rect">
              <a:avLst/>
            </a:prstGeom>
          </p:spPr>
        </p:pic>
        <p:sp>
          <p:nvSpPr>
            <p:cNvPr id="85" name="TextBox 84"/>
            <p:cNvSpPr txBox="1"/>
            <p:nvPr/>
          </p:nvSpPr>
          <p:spPr>
            <a:xfrm>
              <a:off x="1350493" y="3243017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Node03</a:t>
              </a:r>
              <a:endParaRPr lang="ko-KR" altLang="en-US" b="1" dirty="0"/>
            </a:p>
          </p:txBody>
        </p:sp>
      </p:grpSp>
      <p:sp>
        <p:nvSpPr>
          <p:cNvPr id="87" name="타원 86"/>
          <p:cNvSpPr/>
          <p:nvPr/>
        </p:nvSpPr>
        <p:spPr>
          <a:xfrm>
            <a:off x="6665368" y="4129724"/>
            <a:ext cx="374573" cy="36355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54" name="그룹 53"/>
          <p:cNvGrpSpPr/>
          <p:nvPr/>
        </p:nvGrpSpPr>
        <p:grpSpPr>
          <a:xfrm>
            <a:off x="3415436" y="3093138"/>
            <a:ext cx="2064944" cy="3128803"/>
            <a:chOff x="636117" y="3093139"/>
            <a:chExt cx="2064944" cy="3128803"/>
          </a:xfrm>
        </p:grpSpPr>
        <p:sp>
          <p:nvSpPr>
            <p:cNvPr id="55" name="직사각형 54"/>
            <p:cNvSpPr/>
            <p:nvPr/>
          </p:nvSpPr>
          <p:spPr>
            <a:xfrm>
              <a:off x="636118" y="3093139"/>
              <a:ext cx="2064943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3093139"/>
              <a:ext cx="714376" cy="649585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1350493" y="3243017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Node01</a:t>
              </a:r>
              <a:endParaRPr lang="ko-KR" altLang="en-US" b="1" dirty="0"/>
            </a:p>
          </p:txBody>
        </p:sp>
      </p:grpSp>
      <p:sp>
        <p:nvSpPr>
          <p:cNvPr id="86" name="타원 85"/>
          <p:cNvSpPr/>
          <p:nvPr/>
        </p:nvSpPr>
        <p:spPr>
          <a:xfrm>
            <a:off x="3886049" y="4129724"/>
            <a:ext cx="374573" cy="36355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89" name="타원 88"/>
          <p:cNvSpPr/>
          <p:nvPr/>
        </p:nvSpPr>
        <p:spPr>
          <a:xfrm>
            <a:off x="4495927" y="4129724"/>
            <a:ext cx="374573" cy="36355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0" name="타원 89"/>
          <p:cNvSpPr/>
          <p:nvPr/>
        </p:nvSpPr>
        <p:spPr>
          <a:xfrm>
            <a:off x="7337286" y="4129724"/>
            <a:ext cx="374573" cy="36355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1" name="타원 90"/>
          <p:cNvSpPr/>
          <p:nvPr/>
        </p:nvSpPr>
        <p:spPr>
          <a:xfrm>
            <a:off x="9501163" y="4129724"/>
            <a:ext cx="374573" cy="36355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4" name="그룹 3"/>
          <p:cNvGrpSpPr/>
          <p:nvPr/>
        </p:nvGrpSpPr>
        <p:grpSpPr>
          <a:xfrm>
            <a:off x="711199" y="1023227"/>
            <a:ext cx="11048411" cy="574713"/>
            <a:chOff x="711199" y="1023227"/>
            <a:chExt cx="11048411" cy="574713"/>
          </a:xfrm>
        </p:grpSpPr>
        <p:sp>
          <p:nvSpPr>
            <p:cNvPr id="92" name="TextBox 91"/>
            <p:cNvSpPr txBox="1"/>
            <p:nvPr/>
          </p:nvSpPr>
          <p:spPr>
            <a:xfrm>
              <a:off x="711199" y="1023227"/>
              <a:ext cx="98575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0000" indent="-180000">
                <a:buFont typeface="Wingdings" panose="05000000000000000000" pitchFamily="2" charset="2"/>
                <a:buChar char="§"/>
              </a:pPr>
              <a:r>
                <a:rPr lang="en-US" altLang="ko-KR" sz="1400" dirty="0" smtClean="0"/>
                <a:t>Node</a:t>
              </a:r>
              <a:r>
                <a:rPr lang="ko-KR" altLang="en-US" sz="1400" dirty="0" smtClean="0"/>
                <a:t>에 존재하는 </a:t>
              </a:r>
              <a:r>
                <a:rPr lang="en-US" altLang="ko-KR" sz="1400" dirty="0" smtClean="0"/>
                <a:t>Pod</a:t>
              </a:r>
              <a:r>
                <a:rPr lang="ko-KR" altLang="en-US" sz="1400" dirty="0" smtClean="0"/>
                <a:t>를 다른 </a:t>
              </a:r>
              <a:r>
                <a:rPr lang="en-US" altLang="ko-KR" sz="1400" dirty="0" smtClean="0"/>
                <a:t>Pod</a:t>
              </a:r>
              <a:r>
                <a:rPr lang="ko-KR" altLang="en-US" sz="1400" dirty="0" smtClean="0"/>
                <a:t>에 옮기고</a:t>
              </a:r>
              <a:r>
                <a:rPr lang="en-US" altLang="ko-KR" sz="1400" dirty="0" smtClean="0"/>
                <a:t>, </a:t>
              </a:r>
              <a:r>
                <a:rPr lang="ko-KR" altLang="en-US" sz="1400" dirty="0" smtClean="0"/>
                <a:t>스케줄링 되지 않게 하는 명령어</a:t>
              </a:r>
              <a:endParaRPr lang="en-US" altLang="ko-KR" sz="1200" dirty="0"/>
            </a:p>
          </p:txBody>
        </p:sp>
        <p:sp>
          <p:nvSpPr>
            <p:cNvPr id="93" name="TextBox 5"/>
            <p:cNvSpPr txBox="1"/>
            <p:nvPr/>
          </p:nvSpPr>
          <p:spPr>
            <a:xfrm>
              <a:off x="956044" y="1320941"/>
              <a:ext cx="10803566" cy="276999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>
                  <a:solidFill>
                    <a:schemeClr val="bg1"/>
                  </a:solidFill>
                </a:rPr>
                <a:t>$ </a:t>
              </a:r>
              <a:r>
                <a:rPr lang="en-US" altLang="ko-KR" sz="1200" dirty="0" err="1">
                  <a:solidFill>
                    <a:schemeClr val="bg1"/>
                  </a:solidFill>
                </a:rPr>
                <a:t>kubectl</a:t>
              </a:r>
              <a:r>
                <a:rPr lang="en-US" altLang="ko-KR" sz="1200" dirty="0">
                  <a:solidFill>
                    <a:schemeClr val="bg1"/>
                  </a:solidFill>
                </a:rPr>
                <a:t> </a:t>
              </a:r>
              <a:r>
                <a:rPr lang="en-US" altLang="ko-KR" sz="1200" dirty="0" smtClean="0">
                  <a:solidFill>
                    <a:schemeClr val="bg1"/>
                  </a:solidFill>
                </a:rPr>
                <a:t>drain node01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711199" y="1628718"/>
            <a:ext cx="11048411" cy="578321"/>
            <a:chOff x="711199" y="1628718"/>
            <a:chExt cx="11048411" cy="578321"/>
          </a:xfrm>
        </p:grpSpPr>
        <p:sp>
          <p:nvSpPr>
            <p:cNvPr id="94" name="TextBox 93"/>
            <p:cNvSpPr txBox="1"/>
            <p:nvPr/>
          </p:nvSpPr>
          <p:spPr>
            <a:xfrm>
              <a:off x="711199" y="1628718"/>
              <a:ext cx="98575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0000" indent="-180000">
                <a:buFont typeface="Wingdings" panose="05000000000000000000" pitchFamily="2" charset="2"/>
                <a:buChar char="§"/>
              </a:pPr>
              <a:r>
                <a:rPr lang="en-US" altLang="ko-KR" sz="1400" dirty="0" smtClean="0"/>
                <a:t>Node</a:t>
              </a:r>
              <a:r>
                <a:rPr lang="ko-KR" altLang="en-US" sz="1400" dirty="0" smtClean="0"/>
                <a:t>에 다시 </a:t>
              </a:r>
              <a:r>
                <a:rPr lang="en-US" altLang="ko-KR" sz="1400" dirty="0" smtClean="0"/>
                <a:t>Pod </a:t>
              </a:r>
              <a:r>
                <a:rPr lang="ko-KR" altLang="en-US" sz="1400" dirty="0" smtClean="0"/>
                <a:t>스케줄링 되게 하는 명령어</a:t>
              </a:r>
              <a:endParaRPr lang="en-US" altLang="ko-KR" sz="1200" dirty="0"/>
            </a:p>
          </p:txBody>
        </p:sp>
        <p:sp>
          <p:nvSpPr>
            <p:cNvPr id="95" name="TextBox 5"/>
            <p:cNvSpPr txBox="1"/>
            <p:nvPr/>
          </p:nvSpPr>
          <p:spPr>
            <a:xfrm>
              <a:off x="956044" y="1930040"/>
              <a:ext cx="10803566" cy="276999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>
                  <a:solidFill>
                    <a:schemeClr val="bg1"/>
                  </a:solidFill>
                </a:rPr>
                <a:t>$ </a:t>
              </a:r>
              <a:r>
                <a:rPr lang="en-US" altLang="ko-KR" sz="1200" dirty="0" err="1">
                  <a:solidFill>
                    <a:schemeClr val="bg1"/>
                  </a:solidFill>
                </a:rPr>
                <a:t>kubectl</a:t>
              </a:r>
              <a:r>
                <a:rPr lang="en-US" altLang="ko-KR" sz="1200" dirty="0">
                  <a:solidFill>
                    <a:schemeClr val="bg1"/>
                  </a:solidFill>
                </a:rPr>
                <a:t> </a:t>
              </a:r>
              <a:r>
                <a:rPr lang="en-US" altLang="ko-KR" sz="1200" dirty="0" err="1" smtClean="0">
                  <a:solidFill>
                    <a:schemeClr val="bg1"/>
                  </a:solidFill>
                </a:rPr>
                <a:t>uncordon</a:t>
              </a:r>
              <a:r>
                <a:rPr lang="en-US" altLang="ko-KR" sz="1200" dirty="0" smtClean="0">
                  <a:solidFill>
                    <a:schemeClr val="bg1"/>
                  </a:solidFill>
                </a:rPr>
                <a:t> node01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6" name="그룹 95"/>
          <p:cNvGrpSpPr/>
          <p:nvPr/>
        </p:nvGrpSpPr>
        <p:grpSpPr>
          <a:xfrm>
            <a:off x="711199" y="2256127"/>
            <a:ext cx="11048411" cy="578321"/>
            <a:chOff x="711199" y="1628718"/>
            <a:chExt cx="11048411" cy="578321"/>
          </a:xfrm>
        </p:grpSpPr>
        <p:sp>
          <p:nvSpPr>
            <p:cNvPr id="97" name="TextBox 96"/>
            <p:cNvSpPr txBox="1"/>
            <p:nvPr/>
          </p:nvSpPr>
          <p:spPr>
            <a:xfrm>
              <a:off x="711199" y="1628718"/>
              <a:ext cx="98575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0000" indent="-180000">
                <a:buFont typeface="Wingdings" panose="05000000000000000000" pitchFamily="2" charset="2"/>
                <a:buChar char="§"/>
              </a:pPr>
              <a:r>
                <a:rPr lang="en-US" altLang="ko-KR" sz="1400" dirty="0" smtClean="0"/>
                <a:t>Node</a:t>
              </a:r>
              <a:r>
                <a:rPr lang="ko-KR" altLang="en-US" sz="1400" dirty="0" smtClean="0"/>
                <a:t>에 </a:t>
              </a:r>
              <a:r>
                <a:rPr lang="en-US" altLang="ko-KR" sz="1400" dirty="0" smtClean="0"/>
                <a:t>Pod</a:t>
              </a:r>
              <a:r>
                <a:rPr lang="ko-KR" altLang="en-US" sz="1400" dirty="0" smtClean="0"/>
                <a:t>는 그대로 있고</a:t>
              </a:r>
              <a:r>
                <a:rPr lang="en-US" altLang="ko-KR" sz="1400" dirty="0" smtClean="0"/>
                <a:t>, </a:t>
              </a:r>
              <a:r>
                <a:rPr lang="ko-KR" altLang="en-US" sz="1400" dirty="0" smtClean="0"/>
                <a:t>스케줄링 되지 않는 명령어</a:t>
              </a:r>
              <a:endParaRPr lang="en-US" altLang="ko-KR" sz="1200" dirty="0"/>
            </a:p>
          </p:txBody>
        </p:sp>
        <p:sp>
          <p:nvSpPr>
            <p:cNvPr id="98" name="TextBox 5"/>
            <p:cNvSpPr txBox="1"/>
            <p:nvPr/>
          </p:nvSpPr>
          <p:spPr>
            <a:xfrm>
              <a:off x="956044" y="1930040"/>
              <a:ext cx="10803566" cy="276999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>
                  <a:solidFill>
                    <a:schemeClr val="bg1"/>
                  </a:solidFill>
                </a:rPr>
                <a:t>$ </a:t>
              </a:r>
              <a:r>
                <a:rPr lang="en-US" altLang="ko-KR" sz="1200" dirty="0" err="1">
                  <a:solidFill>
                    <a:schemeClr val="bg1"/>
                  </a:solidFill>
                </a:rPr>
                <a:t>kubectl</a:t>
              </a:r>
              <a:r>
                <a:rPr lang="en-US" altLang="ko-KR" sz="1200" dirty="0">
                  <a:solidFill>
                    <a:schemeClr val="bg1"/>
                  </a:solidFill>
                </a:rPr>
                <a:t> </a:t>
              </a:r>
              <a:r>
                <a:rPr lang="en-US" altLang="ko-KR" sz="1200" dirty="0" smtClean="0">
                  <a:solidFill>
                    <a:schemeClr val="bg1"/>
                  </a:solidFill>
                </a:rPr>
                <a:t>cordon node02</a:t>
              </a:r>
              <a:endParaRPr lang="en-US" altLang="ko-KR" sz="12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5022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2.22222E-6 L 0.23334 0.0831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67" y="4144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2.22222E-6 L 0.52487 -0.00717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237" y="-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86" grpId="1" animBg="1"/>
      <p:bldP spid="86" grpId="2" animBg="1"/>
      <p:bldP spid="86" grpId="3" animBg="1"/>
      <p:bldP spid="86" grpId="4" animBg="1"/>
      <p:bldP spid="89" grpId="0" animBg="1"/>
      <p:bldP spid="89" grpId="1" animBg="1"/>
      <p:bldP spid="89" grpId="2" animBg="1"/>
      <p:bldP spid="89" grpId="3" animBg="1"/>
      <p:bldP spid="89" grpId="4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30949" y="3105835"/>
            <a:ext cx="6461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Cluster Upgrade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982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Cluster Software Version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3" name="모서리가 둥근 직사각형 62"/>
          <p:cNvSpPr/>
          <p:nvPr/>
        </p:nvSpPr>
        <p:spPr>
          <a:xfrm>
            <a:off x="748954" y="1580228"/>
            <a:ext cx="2224683" cy="37457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dirty="0" err="1">
                <a:solidFill>
                  <a:schemeClr val="tx1"/>
                </a:solidFill>
              </a:rPr>
              <a:t>kube-apiserver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4" name="TextBox 4"/>
          <p:cNvSpPr txBox="1"/>
          <p:nvPr/>
        </p:nvSpPr>
        <p:spPr>
          <a:xfrm>
            <a:off x="1266384" y="1954802"/>
            <a:ext cx="1189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dirty="0"/>
              <a:t>v1.10</a:t>
            </a:r>
            <a:endParaRPr lang="ko-KR" altLang="en-US" dirty="0"/>
          </a:p>
        </p:txBody>
      </p:sp>
      <p:sp>
        <p:nvSpPr>
          <p:cNvPr id="65" name="모서리가 둥근 직사각형 64"/>
          <p:cNvSpPr/>
          <p:nvPr/>
        </p:nvSpPr>
        <p:spPr>
          <a:xfrm>
            <a:off x="748954" y="2449866"/>
            <a:ext cx="2224683" cy="37457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controller-manager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6" name="TextBox 61"/>
          <p:cNvSpPr txBox="1"/>
          <p:nvPr/>
        </p:nvSpPr>
        <p:spPr>
          <a:xfrm>
            <a:off x="1161904" y="2824440"/>
            <a:ext cx="1398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dirty="0"/>
              <a:t>v1.9, v1.10</a:t>
            </a:r>
            <a:endParaRPr lang="ko-KR" altLang="en-US" dirty="0"/>
          </a:p>
        </p:txBody>
      </p:sp>
      <p:sp>
        <p:nvSpPr>
          <p:cNvPr id="67" name="모서리가 둥근 직사각형 66"/>
          <p:cNvSpPr/>
          <p:nvPr/>
        </p:nvSpPr>
        <p:spPr>
          <a:xfrm>
            <a:off x="3271817" y="2449866"/>
            <a:ext cx="2224683" cy="37457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dirty="0" err="1">
                <a:solidFill>
                  <a:schemeClr val="tx1"/>
                </a:solidFill>
              </a:rPr>
              <a:t>kube</a:t>
            </a:r>
            <a:r>
              <a:rPr lang="en-US" altLang="ko-KR" sz="1600" dirty="0">
                <a:solidFill>
                  <a:schemeClr val="tx1"/>
                </a:solidFill>
              </a:rPr>
              <a:t>-scheduler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8" name="TextBox 63"/>
          <p:cNvSpPr txBox="1"/>
          <p:nvPr/>
        </p:nvSpPr>
        <p:spPr>
          <a:xfrm>
            <a:off x="3684767" y="2824439"/>
            <a:ext cx="1398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dirty="0"/>
              <a:t>v1.9, v1.10</a:t>
            </a:r>
            <a:endParaRPr lang="ko-KR" altLang="en-US" dirty="0"/>
          </a:p>
        </p:txBody>
      </p:sp>
      <p:sp>
        <p:nvSpPr>
          <p:cNvPr id="69" name="모서리가 둥근 직사각형 68"/>
          <p:cNvSpPr/>
          <p:nvPr/>
        </p:nvSpPr>
        <p:spPr>
          <a:xfrm>
            <a:off x="5794679" y="2449866"/>
            <a:ext cx="2224683" cy="37457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dirty="0" err="1">
                <a:solidFill>
                  <a:schemeClr val="tx1"/>
                </a:solidFill>
              </a:rPr>
              <a:t>kubectl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0" name="TextBox 65"/>
          <p:cNvSpPr txBox="1"/>
          <p:nvPr/>
        </p:nvSpPr>
        <p:spPr>
          <a:xfrm>
            <a:off x="6089288" y="2824438"/>
            <a:ext cx="1635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dirty="0"/>
              <a:t>v1.9, v1.10, v1.11</a:t>
            </a:r>
            <a:endParaRPr lang="ko-KR" altLang="en-US" dirty="0"/>
          </a:p>
        </p:txBody>
      </p:sp>
      <p:sp>
        <p:nvSpPr>
          <p:cNvPr id="71" name="모서리가 둥근 직사각형 70"/>
          <p:cNvSpPr/>
          <p:nvPr/>
        </p:nvSpPr>
        <p:spPr>
          <a:xfrm>
            <a:off x="748954" y="3319504"/>
            <a:ext cx="2224683" cy="37457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dirty="0" err="1">
                <a:solidFill>
                  <a:schemeClr val="tx1"/>
                </a:solidFill>
              </a:rPr>
              <a:t>kubelet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2" name="TextBox 68"/>
          <p:cNvSpPr txBox="1"/>
          <p:nvPr/>
        </p:nvSpPr>
        <p:spPr>
          <a:xfrm>
            <a:off x="1012814" y="3694077"/>
            <a:ext cx="16969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dirty="0"/>
              <a:t>v1.8, v1.9, v1.10</a:t>
            </a:r>
            <a:endParaRPr lang="ko-KR" altLang="en-US" dirty="0"/>
          </a:p>
        </p:txBody>
      </p:sp>
      <p:sp>
        <p:nvSpPr>
          <p:cNvPr id="73" name="모서리가 둥근 직사각형 72"/>
          <p:cNvSpPr/>
          <p:nvPr/>
        </p:nvSpPr>
        <p:spPr>
          <a:xfrm>
            <a:off x="3271817" y="3319504"/>
            <a:ext cx="2224683" cy="37457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dirty="0" err="1">
                <a:solidFill>
                  <a:schemeClr val="tx1"/>
                </a:solidFill>
              </a:rPr>
              <a:t>kube</a:t>
            </a:r>
            <a:r>
              <a:rPr lang="en-US" altLang="ko-KR" sz="1600" dirty="0">
                <a:solidFill>
                  <a:schemeClr val="tx1"/>
                </a:solidFill>
              </a:rPr>
              <a:t>-proxy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4" name="TextBox 71"/>
          <p:cNvSpPr txBox="1"/>
          <p:nvPr/>
        </p:nvSpPr>
        <p:spPr>
          <a:xfrm>
            <a:off x="3535677" y="3694077"/>
            <a:ext cx="16969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dirty="0"/>
              <a:t>v1.8, v1.9, v1.10</a:t>
            </a:r>
            <a:endParaRPr lang="ko-KR" alt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711199" y="715450"/>
            <a:ext cx="9857564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Kubernetes Cluster </a:t>
            </a:r>
            <a:r>
              <a:rPr lang="ko-KR" altLang="en-US" sz="1400" dirty="0" smtClean="0"/>
              <a:t>내 각 </a:t>
            </a:r>
            <a:r>
              <a:rPr lang="en-US" altLang="ko-KR" sz="1400" dirty="0" smtClean="0"/>
              <a:t>SW </a:t>
            </a:r>
            <a:r>
              <a:rPr lang="ko-KR" altLang="en-US" sz="1400" dirty="0" smtClean="0"/>
              <a:t>마다 </a:t>
            </a:r>
            <a:r>
              <a:rPr lang="en-US" altLang="ko-KR" sz="1400" dirty="0" smtClean="0"/>
              <a:t>Version</a:t>
            </a:r>
            <a:r>
              <a:rPr lang="ko-KR" altLang="en-US" sz="1400" dirty="0" smtClean="0"/>
              <a:t>은 다르게 구성할 수 있다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각 구성 </a:t>
            </a:r>
            <a:r>
              <a:rPr lang="en-US" altLang="ko-KR" sz="1400" dirty="0" smtClean="0"/>
              <a:t>SW Version </a:t>
            </a:r>
            <a:r>
              <a:rPr lang="ko-KR" altLang="en-US" sz="1400" dirty="0" smtClean="0"/>
              <a:t>업그레이드는 </a:t>
            </a:r>
            <a:r>
              <a:rPr lang="en-US" altLang="ko-KR" sz="1400" dirty="0" smtClean="0"/>
              <a:t>1</a:t>
            </a:r>
            <a:r>
              <a:rPr lang="ko-KR" altLang="en-US" sz="1400" dirty="0" smtClean="0"/>
              <a:t>단계씩 업그레이드 하는 것을 권고 한다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  <p:grpSp>
        <p:nvGrpSpPr>
          <p:cNvPr id="20" name="그룹 19"/>
          <p:cNvGrpSpPr/>
          <p:nvPr/>
        </p:nvGrpSpPr>
        <p:grpSpPr>
          <a:xfrm>
            <a:off x="9464953" y="1541721"/>
            <a:ext cx="2179626" cy="3838353"/>
            <a:chOff x="9464953" y="1541721"/>
            <a:chExt cx="2179626" cy="3838353"/>
          </a:xfrm>
        </p:grpSpPr>
        <p:cxnSp>
          <p:nvCxnSpPr>
            <p:cNvPr id="8" name="직선 연결선 7"/>
            <p:cNvCxnSpPr/>
            <p:nvPr/>
          </p:nvCxnSpPr>
          <p:spPr>
            <a:xfrm flipH="1">
              <a:off x="10366745" y="1541721"/>
              <a:ext cx="31897" cy="38383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0366741" y="4450474"/>
              <a:ext cx="10231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/>
                <a:t>v1.10.0</a:t>
              </a:r>
              <a:endParaRPr lang="ko-KR" altLang="en-US" dirty="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0366742" y="3778880"/>
              <a:ext cx="10231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/>
                <a:t>v1.11.0</a:t>
              </a:r>
              <a:endParaRPr lang="ko-KR" altLang="en-US" dirty="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0366742" y="3107286"/>
              <a:ext cx="10231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/>
                <a:t>v1.12.0</a:t>
              </a:r>
              <a:endParaRPr lang="ko-KR" altLang="en-US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10366742" y="2429572"/>
              <a:ext cx="10231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/>
                <a:t>v1.13.0</a:t>
              </a:r>
              <a:endParaRPr lang="ko-KR" altLang="en-US" dirty="0"/>
            </a:p>
          </p:txBody>
        </p:sp>
        <p:sp>
          <p:nvSpPr>
            <p:cNvPr id="17" name="왼쪽으로 구부러진 화살표 16"/>
            <p:cNvSpPr/>
            <p:nvPr/>
          </p:nvSpPr>
          <p:spPr>
            <a:xfrm rot="11001110">
              <a:off x="9464953" y="2483054"/>
              <a:ext cx="674969" cy="2171476"/>
            </a:xfrm>
            <a:prstGeom prst="curvedLef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오른쪽으로 구부러진 화살표 18"/>
            <p:cNvSpPr/>
            <p:nvPr/>
          </p:nvSpPr>
          <p:spPr>
            <a:xfrm rot="10532871">
              <a:off x="11144849" y="3977244"/>
              <a:ext cx="499730" cy="689773"/>
            </a:xfrm>
            <a:prstGeom prst="curvedRight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5" name="오른쪽으로 구부러진 화살표 124"/>
            <p:cNvSpPr/>
            <p:nvPr/>
          </p:nvSpPr>
          <p:spPr>
            <a:xfrm rot="10532871">
              <a:off x="11140015" y="3283284"/>
              <a:ext cx="499730" cy="689773"/>
            </a:xfrm>
            <a:prstGeom prst="curvedRight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6" name="오른쪽으로 구부러진 화살표 125"/>
            <p:cNvSpPr/>
            <p:nvPr/>
          </p:nvSpPr>
          <p:spPr>
            <a:xfrm rot="10532871">
              <a:off x="11135180" y="2550104"/>
              <a:ext cx="499730" cy="689773"/>
            </a:xfrm>
            <a:prstGeom prst="curvedRight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3192266" y="4604362"/>
            <a:ext cx="2209970" cy="1023525"/>
            <a:chOff x="3192266" y="4604362"/>
            <a:chExt cx="2209970" cy="1023525"/>
          </a:xfrm>
        </p:grpSpPr>
        <p:sp>
          <p:nvSpPr>
            <p:cNvPr id="21" name="TextBox 20"/>
            <p:cNvSpPr txBox="1"/>
            <p:nvPr/>
          </p:nvSpPr>
          <p:spPr>
            <a:xfrm>
              <a:off x="3213817" y="4604362"/>
              <a:ext cx="207452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dirty="0" smtClean="0"/>
                <a:t>v.1.26.15</a:t>
              </a:r>
              <a:endParaRPr lang="ko-KR" altLang="en-US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192266" y="5320110"/>
              <a:ext cx="6804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 smtClean="0"/>
                <a:t>major</a:t>
              </a:r>
              <a:endParaRPr lang="ko-KR" altLang="en-US" dirty="0"/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3956862" y="5320110"/>
              <a:ext cx="6804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 smtClean="0"/>
                <a:t>minor</a:t>
              </a:r>
              <a:endParaRPr lang="ko-KR" altLang="en-US" dirty="0"/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4721753" y="5320109"/>
              <a:ext cx="68048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p</a:t>
              </a:r>
              <a:r>
                <a:rPr lang="en-US" altLang="ko-KR" sz="1400" dirty="0" smtClean="0"/>
                <a:t>atch</a:t>
              </a:r>
              <a:endParaRPr lang="ko-KR" altLang="en-US" dirty="0"/>
            </a:p>
          </p:txBody>
        </p:sp>
        <p:cxnSp>
          <p:nvCxnSpPr>
            <p:cNvPr id="24" name="직선 연결선 23"/>
            <p:cNvCxnSpPr>
              <a:stCxn id="22" idx="0"/>
            </p:cNvCxnSpPr>
            <p:nvPr/>
          </p:nvCxnSpPr>
          <p:spPr>
            <a:xfrm flipV="1">
              <a:off x="3532508" y="5018567"/>
              <a:ext cx="340241" cy="3015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직선 연결선 128"/>
            <p:cNvCxnSpPr>
              <a:stCxn id="127" idx="0"/>
            </p:cNvCxnSpPr>
            <p:nvPr/>
          </p:nvCxnSpPr>
          <p:spPr>
            <a:xfrm flipH="1" flipV="1">
              <a:off x="4297103" y="5018567"/>
              <a:ext cx="1" cy="3015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직선 연결선 129"/>
            <p:cNvCxnSpPr>
              <a:stCxn id="128" idx="0"/>
            </p:cNvCxnSpPr>
            <p:nvPr/>
          </p:nvCxnSpPr>
          <p:spPr>
            <a:xfrm flipH="1" flipV="1">
              <a:off x="4855012" y="5018567"/>
              <a:ext cx="206983" cy="3015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16235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Master Node Upgrade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636117" y="1721531"/>
            <a:ext cx="2064944" cy="3128803"/>
            <a:chOff x="636117" y="3093139"/>
            <a:chExt cx="2064944" cy="3128803"/>
          </a:xfrm>
        </p:grpSpPr>
        <p:sp>
          <p:nvSpPr>
            <p:cNvPr id="49" name="직사각형 48"/>
            <p:cNvSpPr/>
            <p:nvPr/>
          </p:nvSpPr>
          <p:spPr>
            <a:xfrm>
              <a:off x="636118" y="3093139"/>
              <a:ext cx="2064943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0" name="그림 49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3093139"/>
              <a:ext cx="714376" cy="649585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1350493" y="3243017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Master</a:t>
              </a:r>
              <a:endParaRPr lang="ko-KR" altLang="en-US" b="1" dirty="0"/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6194755" y="1721529"/>
            <a:ext cx="2064944" cy="3128803"/>
            <a:chOff x="636117" y="3093139"/>
            <a:chExt cx="2064944" cy="3128803"/>
          </a:xfrm>
        </p:grpSpPr>
        <p:sp>
          <p:nvSpPr>
            <p:cNvPr id="59" name="직사각형 58"/>
            <p:cNvSpPr/>
            <p:nvPr/>
          </p:nvSpPr>
          <p:spPr>
            <a:xfrm>
              <a:off x="636118" y="3093139"/>
              <a:ext cx="2064943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0" name="그림 59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3093139"/>
              <a:ext cx="714376" cy="649585"/>
            </a:xfrm>
            <a:prstGeom prst="rect">
              <a:avLst/>
            </a:prstGeom>
          </p:spPr>
        </p:pic>
        <p:sp>
          <p:nvSpPr>
            <p:cNvPr id="61" name="TextBox 60"/>
            <p:cNvSpPr txBox="1"/>
            <p:nvPr/>
          </p:nvSpPr>
          <p:spPr>
            <a:xfrm>
              <a:off x="1350493" y="3243017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Node02</a:t>
              </a:r>
              <a:endParaRPr lang="ko-KR" altLang="en-US" b="1" dirty="0"/>
            </a:p>
          </p:txBody>
        </p:sp>
      </p:grpSp>
      <p:grpSp>
        <p:nvGrpSpPr>
          <p:cNvPr id="62" name="그룹 61"/>
          <p:cNvGrpSpPr/>
          <p:nvPr/>
        </p:nvGrpSpPr>
        <p:grpSpPr>
          <a:xfrm>
            <a:off x="8974074" y="1721529"/>
            <a:ext cx="2064944" cy="3128803"/>
            <a:chOff x="636117" y="3093139"/>
            <a:chExt cx="2064944" cy="3128803"/>
          </a:xfrm>
        </p:grpSpPr>
        <p:sp>
          <p:nvSpPr>
            <p:cNvPr id="83" name="직사각형 82"/>
            <p:cNvSpPr/>
            <p:nvPr/>
          </p:nvSpPr>
          <p:spPr>
            <a:xfrm>
              <a:off x="636118" y="3093139"/>
              <a:ext cx="2064943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4" name="그림 83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3093139"/>
              <a:ext cx="714376" cy="649585"/>
            </a:xfrm>
            <a:prstGeom prst="rect">
              <a:avLst/>
            </a:prstGeom>
          </p:spPr>
        </p:pic>
        <p:sp>
          <p:nvSpPr>
            <p:cNvPr id="85" name="TextBox 84"/>
            <p:cNvSpPr txBox="1"/>
            <p:nvPr/>
          </p:nvSpPr>
          <p:spPr>
            <a:xfrm>
              <a:off x="1350493" y="3243017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Node03</a:t>
              </a:r>
              <a:endParaRPr lang="ko-KR" altLang="en-US" b="1" dirty="0"/>
            </a:p>
          </p:txBody>
        </p:sp>
      </p:grpSp>
      <p:sp>
        <p:nvSpPr>
          <p:cNvPr id="87" name="타원 86"/>
          <p:cNvSpPr/>
          <p:nvPr/>
        </p:nvSpPr>
        <p:spPr>
          <a:xfrm>
            <a:off x="6665368" y="2758116"/>
            <a:ext cx="374573" cy="36355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54" name="그룹 53"/>
          <p:cNvGrpSpPr/>
          <p:nvPr/>
        </p:nvGrpSpPr>
        <p:grpSpPr>
          <a:xfrm>
            <a:off x="3415436" y="1721530"/>
            <a:ext cx="2064944" cy="3128803"/>
            <a:chOff x="636117" y="3093139"/>
            <a:chExt cx="2064944" cy="3128803"/>
          </a:xfrm>
        </p:grpSpPr>
        <p:sp>
          <p:nvSpPr>
            <p:cNvPr id="55" name="직사각형 54"/>
            <p:cNvSpPr/>
            <p:nvPr/>
          </p:nvSpPr>
          <p:spPr>
            <a:xfrm>
              <a:off x="636118" y="3093139"/>
              <a:ext cx="2064943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3093139"/>
              <a:ext cx="714376" cy="649585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1350493" y="3243017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Node01</a:t>
              </a:r>
              <a:endParaRPr lang="ko-KR" altLang="en-US" b="1" dirty="0"/>
            </a:p>
          </p:txBody>
        </p:sp>
      </p:grpSp>
      <p:sp>
        <p:nvSpPr>
          <p:cNvPr id="86" name="타원 85"/>
          <p:cNvSpPr/>
          <p:nvPr/>
        </p:nvSpPr>
        <p:spPr>
          <a:xfrm>
            <a:off x="3886049" y="2758116"/>
            <a:ext cx="374573" cy="36355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89" name="타원 88"/>
          <p:cNvSpPr/>
          <p:nvPr/>
        </p:nvSpPr>
        <p:spPr>
          <a:xfrm>
            <a:off x="4495927" y="2758116"/>
            <a:ext cx="374573" cy="36355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0" name="타원 89"/>
          <p:cNvSpPr/>
          <p:nvPr/>
        </p:nvSpPr>
        <p:spPr>
          <a:xfrm>
            <a:off x="7337286" y="2758116"/>
            <a:ext cx="374573" cy="36355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1" name="타원 90"/>
          <p:cNvSpPr/>
          <p:nvPr/>
        </p:nvSpPr>
        <p:spPr>
          <a:xfrm>
            <a:off x="9501163" y="2758116"/>
            <a:ext cx="374573" cy="36355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222744" y="4391247"/>
            <a:ext cx="86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v1.24</a:t>
            </a:r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4017290" y="4391247"/>
            <a:ext cx="86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v1.24</a:t>
            </a:r>
            <a:endParaRPr lang="ko-KR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6796609" y="4391247"/>
            <a:ext cx="86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v1.24</a:t>
            </a:r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9575927" y="4391247"/>
            <a:ext cx="86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v1.24</a:t>
            </a:r>
            <a:endParaRPr lang="ko-KR" altLang="en-US" dirty="0"/>
          </a:p>
        </p:txBody>
      </p:sp>
      <p:sp>
        <p:nvSpPr>
          <p:cNvPr id="38" name="원형 화살표 37"/>
          <p:cNvSpPr/>
          <p:nvPr/>
        </p:nvSpPr>
        <p:spPr>
          <a:xfrm>
            <a:off x="1398589" y="2678228"/>
            <a:ext cx="540000" cy="54000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3422852"/>
              <a:gd name="adj5" fmla="val 12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11199" y="715450"/>
            <a:ext cx="9857564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Master Node </a:t>
            </a:r>
            <a:r>
              <a:rPr lang="ko-KR" altLang="en-US" sz="1400" dirty="0" smtClean="0"/>
              <a:t>업그레이드 후에 </a:t>
            </a:r>
            <a:r>
              <a:rPr lang="en-US" altLang="ko-KR" sz="1400" dirty="0" smtClean="0"/>
              <a:t>Worker Node </a:t>
            </a:r>
            <a:r>
              <a:rPr lang="ko-KR" altLang="en-US" sz="1400" dirty="0" smtClean="0"/>
              <a:t>업그레이드를 진행해야 한다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Master Node </a:t>
            </a:r>
            <a:r>
              <a:rPr lang="ko-KR" altLang="en-US" sz="1400" dirty="0" smtClean="0"/>
              <a:t>업그레이드 시</a:t>
            </a:r>
            <a:r>
              <a:rPr lang="en-US" altLang="ko-KR" sz="1400" dirty="0" smtClean="0"/>
              <a:t>, Worker Node</a:t>
            </a:r>
            <a:r>
              <a:rPr lang="ko-KR" altLang="en-US" sz="1400" dirty="0" smtClean="0"/>
              <a:t>에 서비스는 영향을 받지 않지만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새 앱을 배포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삭제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수정은 불가하다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2122520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26 0.36574 L 0 0 Z " pathEditMode="relative" ptsTypes="AAA">
                                      <p:cBhvr>
                                        <p:cTn id="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26 0.36574 L 0 0 Z " pathEditMode="relative" ptsTypes="AAA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26 0.36574 L 0 0 Z " pathEditMode="relative" ptsTypes="AAA">
                                      <p:cBhvr>
                                        <p:cTn id="1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8" grpId="0" animBg="1"/>
      <p:bldP spid="38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Master Node Upgrade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636117" y="1721531"/>
            <a:ext cx="2064944" cy="3128803"/>
            <a:chOff x="636117" y="3093139"/>
            <a:chExt cx="2064944" cy="3128803"/>
          </a:xfrm>
        </p:grpSpPr>
        <p:sp>
          <p:nvSpPr>
            <p:cNvPr id="49" name="직사각형 48"/>
            <p:cNvSpPr/>
            <p:nvPr/>
          </p:nvSpPr>
          <p:spPr>
            <a:xfrm>
              <a:off x="636118" y="3093139"/>
              <a:ext cx="2064943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0" name="그림 49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3093139"/>
              <a:ext cx="714376" cy="649585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1350493" y="3243017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Master</a:t>
              </a:r>
              <a:endParaRPr lang="ko-KR" altLang="en-US" b="1" dirty="0"/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6194755" y="1721529"/>
            <a:ext cx="2064944" cy="3128803"/>
            <a:chOff x="636117" y="3093139"/>
            <a:chExt cx="2064944" cy="3128803"/>
          </a:xfrm>
        </p:grpSpPr>
        <p:sp>
          <p:nvSpPr>
            <p:cNvPr id="59" name="직사각형 58"/>
            <p:cNvSpPr/>
            <p:nvPr/>
          </p:nvSpPr>
          <p:spPr>
            <a:xfrm>
              <a:off x="636118" y="3093139"/>
              <a:ext cx="2064943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0" name="그림 59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3093139"/>
              <a:ext cx="714376" cy="649585"/>
            </a:xfrm>
            <a:prstGeom prst="rect">
              <a:avLst/>
            </a:prstGeom>
          </p:spPr>
        </p:pic>
        <p:sp>
          <p:nvSpPr>
            <p:cNvPr id="61" name="TextBox 60"/>
            <p:cNvSpPr txBox="1"/>
            <p:nvPr/>
          </p:nvSpPr>
          <p:spPr>
            <a:xfrm>
              <a:off x="1350493" y="3243017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Node02</a:t>
              </a:r>
              <a:endParaRPr lang="ko-KR" altLang="en-US" b="1" dirty="0"/>
            </a:p>
          </p:txBody>
        </p:sp>
      </p:grpSp>
      <p:grpSp>
        <p:nvGrpSpPr>
          <p:cNvPr id="62" name="그룹 61"/>
          <p:cNvGrpSpPr/>
          <p:nvPr/>
        </p:nvGrpSpPr>
        <p:grpSpPr>
          <a:xfrm>
            <a:off x="8974074" y="1721529"/>
            <a:ext cx="2064944" cy="3128803"/>
            <a:chOff x="636117" y="3093139"/>
            <a:chExt cx="2064944" cy="3128803"/>
          </a:xfrm>
        </p:grpSpPr>
        <p:sp>
          <p:nvSpPr>
            <p:cNvPr id="83" name="직사각형 82"/>
            <p:cNvSpPr/>
            <p:nvPr/>
          </p:nvSpPr>
          <p:spPr>
            <a:xfrm>
              <a:off x="636118" y="3093139"/>
              <a:ext cx="2064943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4" name="그림 83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3093139"/>
              <a:ext cx="714376" cy="649585"/>
            </a:xfrm>
            <a:prstGeom prst="rect">
              <a:avLst/>
            </a:prstGeom>
          </p:spPr>
        </p:pic>
        <p:sp>
          <p:nvSpPr>
            <p:cNvPr id="85" name="TextBox 84"/>
            <p:cNvSpPr txBox="1"/>
            <p:nvPr/>
          </p:nvSpPr>
          <p:spPr>
            <a:xfrm>
              <a:off x="1350493" y="3243017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Node03</a:t>
              </a:r>
              <a:endParaRPr lang="ko-KR" altLang="en-US" b="1" dirty="0"/>
            </a:p>
          </p:txBody>
        </p:sp>
      </p:grpSp>
      <p:sp>
        <p:nvSpPr>
          <p:cNvPr id="87" name="타원 86"/>
          <p:cNvSpPr/>
          <p:nvPr/>
        </p:nvSpPr>
        <p:spPr>
          <a:xfrm>
            <a:off x="6665368" y="2758116"/>
            <a:ext cx="374573" cy="36355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54" name="그룹 53"/>
          <p:cNvGrpSpPr/>
          <p:nvPr/>
        </p:nvGrpSpPr>
        <p:grpSpPr>
          <a:xfrm>
            <a:off x="3415436" y="1721530"/>
            <a:ext cx="2064944" cy="3128803"/>
            <a:chOff x="636117" y="3093139"/>
            <a:chExt cx="2064944" cy="3128803"/>
          </a:xfrm>
        </p:grpSpPr>
        <p:sp>
          <p:nvSpPr>
            <p:cNvPr id="55" name="직사각형 54"/>
            <p:cNvSpPr/>
            <p:nvPr/>
          </p:nvSpPr>
          <p:spPr>
            <a:xfrm>
              <a:off x="636118" y="3093139"/>
              <a:ext cx="2064943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3093139"/>
              <a:ext cx="714376" cy="649585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1350493" y="3243017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Node01</a:t>
              </a:r>
              <a:endParaRPr lang="ko-KR" altLang="en-US" b="1" dirty="0"/>
            </a:p>
          </p:txBody>
        </p:sp>
      </p:grpSp>
      <p:sp>
        <p:nvSpPr>
          <p:cNvPr id="86" name="타원 85"/>
          <p:cNvSpPr/>
          <p:nvPr/>
        </p:nvSpPr>
        <p:spPr>
          <a:xfrm>
            <a:off x="3886049" y="2758116"/>
            <a:ext cx="374573" cy="36355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89" name="타원 88"/>
          <p:cNvSpPr/>
          <p:nvPr/>
        </p:nvSpPr>
        <p:spPr>
          <a:xfrm>
            <a:off x="4495927" y="2758116"/>
            <a:ext cx="374573" cy="36355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0" name="타원 89"/>
          <p:cNvSpPr/>
          <p:nvPr/>
        </p:nvSpPr>
        <p:spPr>
          <a:xfrm>
            <a:off x="7337286" y="2758116"/>
            <a:ext cx="374573" cy="36355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1" name="타원 90"/>
          <p:cNvSpPr/>
          <p:nvPr/>
        </p:nvSpPr>
        <p:spPr>
          <a:xfrm>
            <a:off x="9501163" y="2758116"/>
            <a:ext cx="374573" cy="36355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222744" y="4391247"/>
            <a:ext cx="86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v1.25</a:t>
            </a:r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4017290" y="4391247"/>
            <a:ext cx="86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v1.24</a:t>
            </a:r>
            <a:endParaRPr lang="ko-KR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6796609" y="4391247"/>
            <a:ext cx="86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v1.24</a:t>
            </a:r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9575927" y="4391247"/>
            <a:ext cx="86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v1.24</a:t>
            </a:r>
            <a:endParaRPr lang="ko-KR" altLang="en-US" dirty="0"/>
          </a:p>
        </p:txBody>
      </p:sp>
      <p:sp>
        <p:nvSpPr>
          <p:cNvPr id="29" name="직사각형 28"/>
          <p:cNvSpPr/>
          <p:nvPr/>
        </p:nvSpPr>
        <p:spPr>
          <a:xfrm>
            <a:off x="3183515" y="1619402"/>
            <a:ext cx="8001936" cy="333537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711199" y="715450"/>
            <a:ext cx="9857564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Master Node </a:t>
            </a:r>
            <a:r>
              <a:rPr lang="ko-KR" altLang="en-US" sz="1400" dirty="0" smtClean="0"/>
              <a:t>업그레이드 후에 </a:t>
            </a:r>
            <a:r>
              <a:rPr lang="en-US" altLang="ko-KR" sz="1400" dirty="0" smtClean="0"/>
              <a:t>Worker Node </a:t>
            </a:r>
            <a:r>
              <a:rPr lang="ko-KR" altLang="en-US" sz="1400" dirty="0" smtClean="0"/>
              <a:t>업그레이드를 진행해야 한다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Master Node </a:t>
            </a:r>
            <a:r>
              <a:rPr lang="ko-KR" altLang="en-US" sz="1400" dirty="0" smtClean="0"/>
              <a:t>업그레이드 시</a:t>
            </a:r>
            <a:r>
              <a:rPr lang="en-US" altLang="ko-KR" sz="1400" dirty="0" smtClean="0"/>
              <a:t>, Worker Node</a:t>
            </a:r>
            <a:r>
              <a:rPr lang="ko-KR" altLang="en-US" sz="1400" dirty="0" smtClean="0"/>
              <a:t>에 서비스는 영향을 받지 않지만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새 앱을 배포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삭제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수정은 불가하다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972675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Worker Node Upgrade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636117" y="1721531"/>
            <a:ext cx="2064944" cy="3128803"/>
            <a:chOff x="636117" y="3093139"/>
            <a:chExt cx="2064944" cy="3128803"/>
          </a:xfrm>
        </p:grpSpPr>
        <p:sp>
          <p:nvSpPr>
            <p:cNvPr id="49" name="직사각형 48"/>
            <p:cNvSpPr/>
            <p:nvPr/>
          </p:nvSpPr>
          <p:spPr>
            <a:xfrm>
              <a:off x="636118" y="3093139"/>
              <a:ext cx="2064943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0" name="그림 49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3093139"/>
              <a:ext cx="714376" cy="649585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1350493" y="3243017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Master</a:t>
              </a:r>
              <a:endParaRPr lang="ko-KR" altLang="en-US" b="1" dirty="0"/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6194755" y="1721529"/>
            <a:ext cx="2064944" cy="3128803"/>
            <a:chOff x="636117" y="3093139"/>
            <a:chExt cx="2064944" cy="3128803"/>
          </a:xfrm>
        </p:grpSpPr>
        <p:sp>
          <p:nvSpPr>
            <p:cNvPr id="59" name="직사각형 58"/>
            <p:cNvSpPr/>
            <p:nvPr/>
          </p:nvSpPr>
          <p:spPr>
            <a:xfrm>
              <a:off x="636118" y="3093139"/>
              <a:ext cx="2064943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0" name="그림 59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3093139"/>
              <a:ext cx="714376" cy="649585"/>
            </a:xfrm>
            <a:prstGeom prst="rect">
              <a:avLst/>
            </a:prstGeom>
          </p:spPr>
        </p:pic>
        <p:sp>
          <p:nvSpPr>
            <p:cNvPr id="61" name="TextBox 60"/>
            <p:cNvSpPr txBox="1"/>
            <p:nvPr/>
          </p:nvSpPr>
          <p:spPr>
            <a:xfrm>
              <a:off x="1350493" y="3243017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Node02</a:t>
              </a:r>
              <a:endParaRPr lang="ko-KR" altLang="en-US" b="1" dirty="0"/>
            </a:p>
          </p:txBody>
        </p:sp>
      </p:grpSp>
      <p:grpSp>
        <p:nvGrpSpPr>
          <p:cNvPr id="62" name="그룹 61"/>
          <p:cNvGrpSpPr/>
          <p:nvPr/>
        </p:nvGrpSpPr>
        <p:grpSpPr>
          <a:xfrm>
            <a:off x="8974074" y="1721529"/>
            <a:ext cx="2064944" cy="3128803"/>
            <a:chOff x="636117" y="3093139"/>
            <a:chExt cx="2064944" cy="3128803"/>
          </a:xfrm>
        </p:grpSpPr>
        <p:sp>
          <p:nvSpPr>
            <p:cNvPr id="83" name="직사각형 82"/>
            <p:cNvSpPr/>
            <p:nvPr/>
          </p:nvSpPr>
          <p:spPr>
            <a:xfrm>
              <a:off x="636118" y="3093139"/>
              <a:ext cx="2064943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4" name="그림 83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3093139"/>
              <a:ext cx="714376" cy="649585"/>
            </a:xfrm>
            <a:prstGeom prst="rect">
              <a:avLst/>
            </a:prstGeom>
          </p:spPr>
        </p:pic>
        <p:sp>
          <p:nvSpPr>
            <p:cNvPr id="85" name="TextBox 84"/>
            <p:cNvSpPr txBox="1"/>
            <p:nvPr/>
          </p:nvSpPr>
          <p:spPr>
            <a:xfrm>
              <a:off x="1350493" y="3243017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Node03</a:t>
              </a:r>
              <a:endParaRPr lang="ko-KR" altLang="en-US" b="1" dirty="0"/>
            </a:p>
          </p:txBody>
        </p:sp>
      </p:grpSp>
      <p:sp>
        <p:nvSpPr>
          <p:cNvPr id="87" name="타원 86"/>
          <p:cNvSpPr/>
          <p:nvPr/>
        </p:nvSpPr>
        <p:spPr>
          <a:xfrm>
            <a:off x="6665368" y="2758116"/>
            <a:ext cx="374573" cy="36355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54" name="그룹 53"/>
          <p:cNvGrpSpPr/>
          <p:nvPr/>
        </p:nvGrpSpPr>
        <p:grpSpPr>
          <a:xfrm>
            <a:off x="3415436" y="1721530"/>
            <a:ext cx="2064944" cy="3128803"/>
            <a:chOff x="636117" y="3093139"/>
            <a:chExt cx="2064944" cy="3128803"/>
          </a:xfrm>
        </p:grpSpPr>
        <p:sp>
          <p:nvSpPr>
            <p:cNvPr id="55" name="직사각형 54"/>
            <p:cNvSpPr/>
            <p:nvPr/>
          </p:nvSpPr>
          <p:spPr>
            <a:xfrm>
              <a:off x="636118" y="3093139"/>
              <a:ext cx="2064943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3093139"/>
              <a:ext cx="714376" cy="649585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1350493" y="3243017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Node01</a:t>
              </a:r>
              <a:endParaRPr lang="ko-KR" altLang="en-US" b="1" dirty="0"/>
            </a:p>
          </p:txBody>
        </p:sp>
      </p:grpSp>
      <p:sp>
        <p:nvSpPr>
          <p:cNvPr id="86" name="타원 85"/>
          <p:cNvSpPr/>
          <p:nvPr/>
        </p:nvSpPr>
        <p:spPr>
          <a:xfrm>
            <a:off x="3886049" y="2758116"/>
            <a:ext cx="374573" cy="36355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89" name="타원 88"/>
          <p:cNvSpPr/>
          <p:nvPr/>
        </p:nvSpPr>
        <p:spPr>
          <a:xfrm>
            <a:off x="4495927" y="2758116"/>
            <a:ext cx="374573" cy="36355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0" name="타원 89"/>
          <p:cNvSpPr/>
          <p:nvPr/>
        </p:nvSpPr>
        <p:spPr>
          <a:xfrm>
            <a:off x="7337286" y="2758116"/>
            <a:ext cx="374573" cy="36355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1" name="타원 90"/>
          <p:cNvSpPr/>
          <p:nvPr/>
        </p:nvSpPr>
        <p:spPr>
          <a:xfrm>
            <a:off x="9501163" y="2758116"/>
            <a:ext cx="374573" cy="36355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222744" y="4391247"/>
            <a:ext cx="86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v1.25</a:t>
            </a:r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4017290" y="4391247"/>
            <a:ext cx="86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v1.24</a:t>
            </a:r>
            <a:endParaRPr lang="ko-KR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6796609" y="4391247"/>
            <a:ext cx="86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v1.24</a:t>
            </a:r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9575927" y="4391247"/>
            <a:ext cx="86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v1.24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모든 </a:t>
            </a:r>
            <a:r>
              <a:rPr lang="en-US" altLang="ko-KR" sz="1400" dirty="0" smtClean="0"/>
              <a:t>Worker Node</a:t>
            </a:r>
            <a:r>
              <a:rPr lang="ko-KR" altLang="en-US" sz="1400" dirty="0" smtClean="0"/>
              <a:t>를 한번에 업그레이드 진행</a:t>
            </a:r>
            <a:endParaRPr lang="en-US" altLang="ko-KR" sz="1400" dirty="0" smtClean="0"/>
          </a:p>
        </p:txBody>
      </p:sp>
      <p:sp>
        <p:nvSpPr>
          <p:cNvPr id="31" name="원형 화살표 30"/>
          <p:cNvSpPr/>
          <p:nvPr/>
        </p:nvSpPr>
        <p:spPr>
          <a:xfrm>
            <a:off x="4177908" y="3285930"/>
            <a:ext cx="540000" cy="54000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3422852"/>
              <a:gd name="adj5" fmla="val 12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원형 화살표 31"/>
          <p:cNvSpPr/>
          <p:nvPr/>
        </p:nvSpPr>
        <p:spPr>
          <a:xfrm>
            <a:off x="7003256" y="3285930"/>
            <a:ext cx="540000" cy="54000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3422852"/>
              <a:gd name="adj5" fmla="val 12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2" name="원형 화살표 41"/>
          <p:cNvSpPr/>
          <p:nvPr/>
        </p:nvSpPr>
        <p:spPr>
          <a:xfrm>
            <a:off x="9736545" y="3285930"/>
            <a:ext cx="540000" cy="54000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3422852"/>
              <a:gd name="adj5" fmla="val 12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914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26 0.39375 L 0 0 Z " pathEditMode="relative" ptsTypes="AAA">
                                      <p:cBhvr>
                                        <p:cTn id="12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26 0.39375 L 0 0 Z " pathEditMode="relative" ptsTypes="AAA">
                                      <p:cBhvr>
                                        <p:cTn id="14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26 0.39375 L 0 0 Z " pathEditMode="relative" ptsTypes="AAA">
                                      <p:cBhvr>
                                        <p:cTn id="1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26 0.39375 L 0 0 Z " pathEditMode="relative" ptsTypes="AAA">
                                      <p:cBhvr>
                                        <p:cTn id="18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26 0.39375 L 0 0 Z " pathEditMode="relative" ptsTypes="AAA">
                                      <p:cBhvr>
                                        <p:cTn id="20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26 0.39375 L 0 0 Z " pathEditMode="relative" ptsTypes="AAA">
                                      <p:cBhvr>
                                        <p:cTn id="22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26 0.39375 L 0 0 Z " pathEditMode="relative" ptsTypes="AAA">
                                      <p:cBhvr>
                                        <p:cTn id="24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26 0.39375 L 0 0 Z " pathEditMode="relative" ptsTypes="AAA">
                                      <p:cBhvr>
                                        <p:cTn id="26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26 0.39375 L 0 0 Z " pathEditMode="relative" ptsTypes="AAA">
                                      <p:cBhvr>
                                        <p:cTn id="28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26 0.39375 L 0 0 Z " pathEditMode="relative" ptsTypes="AAA">
                                      <p:cBhvr>
                                        <p:cTn id="30" dur="2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26 0.39375 L 0 0 Z " pathEditMode="relative" ptsTypes="AAA">
                                      <p:cBhvr>
                                        <p:cTn id="32" dur="2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26 0.39375 L 0 0 Z " pathEditMode="relative" ptsTypes="AAA">
                                      <p:cBhvr>
                                        <p:cTn id="34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26 0.39375 L 0 0 Z " pathEditMode="relative" ptsTypes="AAA">
                                      <p:cBhvr>
                                        <p:cTn id="3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26 0.39375 L 0 0 Z " pathEditMode="relative" ptsTypes="AAA">
                                      <p:cBhvr>
                                        <p:cTn id="3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6" grpId="0" animBg="1"/>
      <p:bldP spid="89" grpId="0" animBg="1"/>
      <p:bldP spid="90" grpId="0" animBg="1"/>
      <p:bldP spid="91" grpId="0" animBg="1"/>
      <p:bldP spid="35" grpId="0"/>
      <p:bldP spid="36" grpId="0"/>
      <p:bldP spid="37" grpId="0"/>
      <p:bldP spid="31" grpId="0" animBg="1"/>
      <p:bldP spid="31" grpId="1" animBg="1"/>
      <p:bldP spid="32" grpId="0" animBg="1"/>
      <p:bldP spid="32" grpId="1" animBg="1"/>
      <p:bldP spid="42" grpId="0" animBg="1"/>
      <p:bldP spid="42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Worker Node Upgrade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636117" y="1721531"/>
            <a:ext cx="2064944" cy="3128803"/>
            <a:chOff x="636117" y="3093139"/>
            <a:chExt cx="2064944" cy="3128803"/>
          </a:xfrm>
        </p:grpSpPr>
        <p:sp>
          <p:nvSpPr>
            <p:cNvPr id="49" name="직사각형 48"/>
            <p:cNvSpPr/>
            <p:nvPr/>
          </p:nvSpPr>
          <p:spPr>
            <a:xfrm>
              <a:off x="636118" y="3093139"/>
              <a:ext cx="2064943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0" name="그림 49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3093139"/>
              <a:ext cx="714376" cy="649585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1350493" y="3243017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Master</a:t>
              </a:r>
              <a:endParaRPr lang="ko-KR" altLang="en-US" b="1" dirty="0"/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6194755" y="1721529"/>
            <a:ext cx="2064944" cy="3128803"/>
            <a:chOff x="636117" y="3093139"/>
            <a:chExt cx="2064944" cy="3128803"/>
          </a:xfrm>
        </p:grpSpPr>
        <p:sp>
          <p:nvSpPr>
            <p:cNvPr id="59" name="직사각형 58"/>
            <p:cNvSpPr/>
            <p:nvPr/>
          </p:nvSpPr>
          <p:spPr>
            <a:xfrm>
              <a:off x="636118" y="3093139"/>
              <a:ext cx="2064943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0" name="그림 59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3093139"/>
              <a:ext cx="714376" cy="649585"/>
            </a:xfrm>
            <a:prstGeom prst="rect">
              <a:avLst/>
            </a:prstGeom>
          </p:spPr>
        </p:pic>
        <p:sp>
          <p:nvSpPr>
            <p:cNvPr id="61" name="TextBox 60"/>
            <p:cNvSpPr txBox="1"/>
            <p:nvPr/>
          </p:nvSpPr>
          <p:spPr>
            <a:xfrm>
              <a:off x="1350493" y="3243017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Node02</a:t>
              </a:r>
              <a:endParaRPr lang="ko-KR" altLang="en-US" b="1" dirty="0"/>
            </a:p>
          </p:txBody>
        </p:sp>
      </p:grpSp>
      <p:grpSp>
        <p:nvGrpSpPr>
          <p:cNvPr id="62" name="그룹 61"/>
          <p:cNvGrpSpPr/>
          <p:nvPr/>
        </p:nvGrpSpPr>
        <p:grpSpPr>
          <a:xfrm>
            <a:off x="8974074" y="1721529"/>
            <a:ext cx="2064944" cy="3128803"/>
            <a:chOff x="636117" y="3093139"/>
            <a:chExt cx="2064944" cy="3128803"/>
          </a:xfrm>
        </p:grpSpPr>
        <p:sp>
          <p:nvSpPr>
            <p:cNvPr id="83" name="직사각형 82"/>
            <p:cNvSpPr/>
            <p:nvPr/>
          </p:nvSpPr>
          <p:spPr>
            <a:xfrm>
              <a:off x="636118" y="3093139"/>
              <a:ext cx="2064943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4" name="그림 83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3093139"/>
              <a:ext cx="714376" cy="649585"/>
            </a:xfrm>
            <a:prstGeom prst="rect">
              <a:avLst/>
            </a:prstGeom>
          </p:spPr>
        </p:pic>
        <p:sp>
          <p:nvSpPr>
            <p:cNvPr id="85" name="TextBox 84"/>
            <p:cNvSpPr txBox="1"/>
            <p:nvPr/>
          </p:nvSpPr>
          <p:spPr>
            <a:xfrm>
              <a:off x="1350493" y="3243017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Node03</a:t>
              </a:r>
              <a:endParaRPr lang="ko-KR" altLang="en-US" b="1" dirty="0"/>
            </a:p>
          </p:txBody>
        </p:sp>
      </p:grpSp>
      <p:sp>
        <p:nvSpPr>
          <p:cNvPr id="87" name="타원 86"/>
          <p:cNvSpPr/>
          <p:nvPr/>
        </p:nvSpPr>
        <p:spPr>
          <a:xfrm>
            <a:off x="6665368" y="2758116"/>
            <a:ext cx="374573" cy="36355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54" name="그룹 53"/>
          <p:cNvGrpSpPr/>
          <p:nvPr/>
        </p:nvGrpSpPr>
        <p:grpSpPr>
          <a:xfrm>
            <a:off x="3415436" y="1721530"/>
            <a:ext cx="2064944" cy="3128803"/>
            <a:chOff x="636117" y="3093139"/>
            <a:chExt cx="2064944" cy="3128803"/>
          </a:xfrm>
        </p:grpSpPr>
        <p:sp>
          <p:nvSpPr>
            <p:cNvPr id="55" name="직사각형 54"/>
            <p:cNvSpPr/>
            <p:nvPr/>
          </p:nvSpPr>
          <p:spPr>
            <a:xfrm>
              <a:off x="636118" y="3093139"/>
              <a:ext cx="2064943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3093139"/>
              <a:ext cx="714376" cy="649585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1350493" y="3243017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Node01</a:t>
              </a:r>
              <a:endParaRPr lang="ko-KR" altLang="en-US" b="1" dirty="0"/>
            </a:p>
          </p:txBody>
        </p:sp>
      </p:grpSp>
      <p:sp>
        <p:nvSpPr>
          <p:cNvPr id="86" name="타원 85"/>
          <p:cNvSpPr/>
          <p:nvPr/>
        </p:nvSpPr>
        <p:spPr>
          <a:xfrm>
            <a:off x="3886049" y="2758116"/>
            <a:ext cx="374573" cy="36355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89" name="타원 88"/>
          <p:cNvSpPr/>
          <p:nvPr/>
        </p:nvSpPr>
        <p:spPr>
          <a:xfrm>
            <a:off x="4495927" y="2758116"/>
            <a:ext cx="374573" cy="36355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0" name="타원 89"/>
          <p:cNvSpPr/>
          <p:nvPr/>
        </p:nvSpPr>
        <p:spPr>
          <a:xfrm>
            <a:off x="7337286" y="2758116"/>
            <a:ext cx="374573" cy="36355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1" name="타원 90"/>
          <p:cNvSpPr/>
          <p:nvPr/>
        </p:nvSpPr>
        <p:spPr>
          <a:xfrm>
            <a:off x="9501163" y="2758116"/>
            <a:ext cx="374573" cy="36355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222744" y="4391247"/>
            <a:ext cx="86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v1.25</a:t>
            </a:r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4017290" y="4391247"/>
            <a:ext cx="86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v1.25</a:t>
            </a:r>
            <a:endParaRPr lang="ko-KR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6796609" y="4391247"/>
            <a:ext cx="86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v1.25</a:t>
            </a:r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9575927" y="4391247"/>
            <a:ext cx="86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v1.25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모든 </a:t>
            </a:r>
            <a:r>
              <a:rPr lang="en-US" altLang="ko-KR" sz="1400" dirty="0" smtClean="0"/>
              <a:t>Worker Node</a:t>
            </a:r>
            <a:r>
              <a:rPr lang="ko-KR" altLang="en-US" sz="1400" dirty="0" smtClean="0"/>
              <a:t>를 한번에 업그레이드 진행</a:t>
            </a:r>
            <a:endParaRPr lang="en-US" altLang="ko-KR" sz="1400" dirty="0" smtClean="0"/>
          </a:p>
        </p:txBody>
      </p:sp>
    </p:spTree>
    <p:extLst>
      <p:ext uri="{BB962C8B-B14F-4D97-AF65-F5344CB8AC3E}">
        <p14:creationId xmlns:p14="http://schemas.microsoft.com/office/powerpoint/2010/main" val="2252203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Worker Node Upgrade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636117" y="1721531"/>
            <a:ext cx="2064944" cy="3128803"/>
            <a:chOff x="636117" y="3093139"/>
            <a:chExt cx="2064944" cy="3128803"/>
          </a:xfrm>
        </p:grpSpPr>
        <p:sp>
          <p:nvSpPr>
            <p:cNvPr id="49" name="직사각형 48"/>
            <p:cNvSpPr/>
            <p:nvPr/>
          </p:nvSpPr>
          <p:spPr>
            <a:xfrm>
              <a:off x="636118" y="3093139"/>
              <a:ext cx="2064943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0" name="그림 49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3093139"/>
              <a:ext cx="714376" cy="649585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1350493" y="3243017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Master</a:t>
              </a:r>
              <a:endParaRPr lang="ko-KR" altLang="en-US" b="1" dirty="0"/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6194755" y="1721529"/>
            <a:ext cx="2064944" cy="3128803"/>
            <a:chOff x="636117" y="3093139"/>
            <a:chExt cx="2064944" cy="3128803"/>
          </a:xfrm>
        </p:grpSpPr>
        <p:sp>
          <p:nvSpPr>
            <p:cNvPr id="59" name="직사각형 58"/>
            <p:cNvSpPr/>
            <p:nvPr/>
          </p:nvSpPr>
          <p:spPr>
            <a:xfrm>
              <a:off x="636118" y="3093139"/>
              <a:ext cx="2064943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0" name="그림 59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3093139"/>
              <a:ext cx="714376" cy="649585"/>
            </a:xfrm>
            <a:prstGeom prst="rect">
              <a:avLst/>
            </a:prstGeom>
          </p:spPr>
        </p:pic>
        <p:sp>
          <p:nvSpPr>
            <p:cNvPr id="61" name="TextBox 60"/>
            <p:cNvSpPr txBox="1"/>
            <p:nvPr/>
          </p:nvSpPr>
          <p:spPr>
            <a:xfrm>
              <a:off x="1350493" y="3243017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Node02</a:t>
              </a:r>
              <a:endParaRPr lang="ko-KR" altLang="en-US" b="1" dirty="0"/>
            </a:p>
          </p:txBody>
        </p:sp>
      </p:grpSp>
      <p:grpSp>
        <p:nvGrpSpPr>
          <p:cNvPr id="62" name="그룹 61"/>
          <p:cNvGrpSpPr/>
          <p:nvPr/>
        </p:nvGrpSpPr>
        <p:grpSpPr>
          <a:xfrm>
            <a:off x="8974074" y="1721529"/>
            <a:ext cx="2064944" cy="3128803"/>
            <a:chOff x="636117" y="3093139"/>
            <a:chExt cx="2064944" cy="3128803"/>
          </a:xfrm>
        </p:grpSpPr>
        <p:sp>
          <p:nvSpPr>
            <p:cNvPr id="83" name="직사각형 82"/>
            <p:cNvSpPr/>
            <p:nvPr/>
          </p:nvSpPr>
          <p:spPr>
            <a:xfrm>
              <a:off x="636118" y="3093139"/>
              <a:ext cx="2064943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4" name="그림 83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3093139"/>
              <a:ext cx="714376" cy="649585"/>
            </a:xfrm>
            <a:prstGeom prst="rect">
              <a:avLst/>
            </a:prstGeom>
          </p:spPr>
        </p:pic>
        <p:sp>
          <p:nvSpPr>
            <p:cNvPr id="85" name="TextBox 84"/>
            <p:cNvSpPr txBox="1"/>
            <p:nvPr/>
          </p:nvSpPr>
          <p:spPr>
            <a:xfrm>
              <a:off x="1350493" y="3243017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Node03</a:t>
              </a:r>
              <a:endParaRPr lang="ko-KR" altLang="en-US" b="1" dirty="0"/>
            </a:p>
          </p:txBody>
        </p:sp>
      </p:grpSp>
      <p:sp>
        <p:nvSpPr>
          <p:cNvPr id="87" name="타원 86"/>
          <p:cNvSpPr/>
          <p:nvPr/>
        </p:nvSpPr>
        <p:spPr>
          <a:xfrm>
            <a:off x="6665368" y="2758116"/>
            <a:ext cx="374573" cy="36355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54" name="그룹 53"/>
          <p:cNvGrpSpPr/>
          <p:nvPr/>
        </p:nvGrpSpPr>
        <p:grpSpPr>
          <a:xfrm>
            <a:off x="3415436" y="1721530"/>
            <a:ext cx="2064944" cy="3128803"/>
            <a:chOff x="636117" y="3093139"/>
            <a:chExt cx="2064944" cy="3128803"/>
          </a:xfrm>
        </p:grpSpPr>
        <p:sp>
          <p:nvSpPr>
            <p:cNvPr id="55" name="직사각형 54"/>
            <p:cNvSpPr/>
            <p:nvPr/>
          </p:nvSpPr>
          <p:spPr>
            <a:xfrm>
              <a:off x="636118" y="3093139"/>
              <a:ext cx="2064943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3093139"/>
              <a:ext cx="714376" cy="649585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1350493" y="3243017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Node01</a:t>
              </a:r>
              <a:endParaRPr lang="ko-KR" altLang="en-US" b="1" dirty="0"/>
            </a:p>
          </p:txBody>
        </p:sp>
      </p:grpSp>
      <p:sp>
        <p:nvSpPr>
          <p:cNvPr id="86" name="타원 85"/>
          <p:cNvSpPr/>
          <p:nvPr/>
        </p:nvSpPr>
        <p:spPr>
          <a:xfrm>
            <a:off x="3886049" y="2758116"/>
            <a:ext cx="374573" cy="36355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89" name="타원 88"/>
          <p:cNvSpPr/>
          <p:nvPr/>
        </p:nvSpPr>
        <p:spPr>
          <a:xfrm>
            <a:off x="4495927" y="2758116"/>
            <a:ext cx="374573" cy="36355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0" name="타원 89"/>
          <p:cNvSpPr/>
          <p:nvPr/>
        </p:nvSpPr>
        <p:spPr>
          <a:xfrm>
            <a:off x="7337286" y="2758116"/>
            <a:ext cx="374573" cy="36355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1" name="타원 90"/>
          <p:cNvSpPr/>
          <p:nvPr/>
        </p:nvSpPr>
        <p:spPr>
          <a:xfrm>
            <a:off x="9501163" y="2758116"/>
            <a:ext cx="374573" cy="36355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222744" y="4391247"/>
            <a:ext cx="86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v1.25</a:t>
            </a:r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4017290" y="4391247"/>
            <a:ext cx="86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v1.24</a:t>
            </a:r>
            <a:endParaRPr lang="ko-KR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6796609" y="4391247"/>
            <a:ext cx="86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v1.24</a:t>
            </a:r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9575927" y="4391247"/>
            <a:ext cx="86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v1.24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Worker Node 1</a:t>
            </a:r>
            <a:r>
              <a:rPr lang="ko-KR" altLang="en-US" sz="1400" dirty="0" smtClean="0"/>
              <a:t>개씩 업그레이드 진행</a:t>
            </a:r>
            <a:endParaRPr lang="en-US" altLang="ko-KR" sz="1400" dirty="0" smtClean="0"/>
          </a:p>
        </p:txBody>
      </p:sp>
      <p:sp>
        <p:nvSpPr>
          <p:cNvPr id="29" name="원형 화살표 28"/>
          <p:cNvSpPr/>
          <p:nvPr/>
        </p:nvSpPr>
        <p:spPr>
          <a:xfrm>
            <a:off x="4177908" y="3285930"/>
            <a:ext cx="540000" cy="54000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3422852"/>
              <a:gd name="adj5" fmla="val 12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6634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2683 0.00162 " pathEditMode="relative" ptsTypes="AA">
                                      <p:cBhvr>
                                        <p:cTn id="6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7799 0.10231 " pathEditMode="relative" ptsTypes="AA">
                                      <p:cBhvr>
                                        <p:cTn id="8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26 0.3706 L 0 0 Z " pathEditMode="relative" ptsTypes="AAA">
                                      <p:cBhvr>
                                        <p:cTn id="14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26 0.3706 L 0 0 Z " pathEditMode="relative" ptsTypes="AAA">
                                      <p:cBhvr>
                                        <p:cTn id="16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26 0.3706 L 0 0 Z " pathEditMode="relative" ptsTypes="AAA">
                                      <p:cBhvr>
                                        <p:cTn id="18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89" grpId="0" animBg="1"/>
      <p:bldP spid="35" grpId="0"/>
      <p:bldP spid="29" grpId="0" animBg="1"/>
      <p:bldP spid="29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Worker Node Upgrade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636117" y="1721531"/>
            <a:ext cx="2064944" cy="3128803"/>
            <a:chOff x="636117" y="3093139"/>
            <a:chExt cx="2064944" cy="3128803"/>
          </a:xfrm>
        </p:grpSpPr>
        <p:sp>
          <p:nvSpPr>
            <p:cNvPr id="49" name="직사각형 48"/>
            <p:cNvSpPr/>
            <p:nvPr/>
          </p:nvSpPr>
          <p:spPr>
            <a:xfrm>
              <a:off x="636118" y="3093139"/>
              <a:ext cx="2064943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0" name="그림 49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3093139"/>
              <a:ext cx="714376" cy="649585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1350493" y="3243017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Master</a:t>
              </a:r>
              <a:endParaRPr lang="ko-KR" altLang="en-US" b="1" dirty="0"/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6194755" y="1721529"/>
            <a:ext cx="2064944" cy="3128803"/>
            <a:chOff x="636117" y="3093139"/>
            <a:chExt cx="2064944" cy="3128803"/>
          </a:xfrm>
        </p:grpSpPr>
        <p:sp>
          <p:nvSpPr>
            <p:cNvPr id="59" name="직사각형 58"/>
            <p:cNvSpPr/>
            <p:nvPr/>
          </p:nvSpPr>
          <p:spPr>
            <a:xfrm>
              <a:off x="636118" y="3093139"/>
              <a:ext cx="2064943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0" name="그림 59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3093139"/>
              <a:ext cx="714376" cy="649585"/>
            </a:xfrm>
            <a:prstGeom prst="rect">
              <a:avLst/>
            </a:prstGeom>
          </p:spPr>
        </p:pic>
        <p:sp>
          <p:nvSpPr>
            <p:cNvPr id="61" name="TextBox 60"/>
            <p:cNvSpPr txBox="1"/>
            <p:nvPr/>
          </p:nvSpPr>
          <p:spPr>
            <a:xfrm>
              <a:off x="1350493" y="3243017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Node02</a:t>
              </a:r>
              <a:endParaRPr lang="ko-KR" altLang="en-US" b="1" dirty="0"/>
            </a:p>
          </p:txBody>
        </p:sp>
      </p:grpSp>
      <p:grpSp>
        <p:nvGrpSpPr>
          <p:cNvPr id="62" name="그룹 61"/>
          <p:cNvGrpSpPr/>
          <p:nvPr/>
        </p:nvGrpSpPr>
        <p:grpSpPr>
          <a:xfrm>
            <a:off x="8974074" y="1721529"/>
            <a:ext cx="2064944" cy="3128803"/>
            <a:chOff x="636117" y="3093139"/>
            <a:chExt cx="2064944" cy="3128803"/>
          </a:xfrm>
        </p:grpSpPr>
        <p:sp>
          <p:nvSpPr>
            <p:cNvPr id="83" name="직사각형 82"/>
            <p:cNvSpPr/>
            <p:nvPr/>
          </p:nvSpPr>
          <p:spPr>
            <a:xfrm>
              <a:off x="636118" y="3093139"/>
              <a:ext cx="2064943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4" name="그림 83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3093139"/>
              <a:ext cx="714376" cy="649585"/>
            </a:xfrm>
            <a:prstGeom prst="rect">
              <a:avLst/>
            </a:prstGeom>
          </p:spPr>
        </p:pic>
        <p:sp>
          <p:nvSpPr>
            <p:cNvPr id="85" name="TextBox 84"/>
            <p:cNvSpPr txBox="1"/>
            <p:nvPr/>
          </p:nvSpPr>
          <p:spPr>
            <a:xfrm>
              <a:off x="1350493" y="3243017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Node03</a:t>
              </a:r>
              <a:endParaRPr lang="ko-KR" altLang="en-US" b="1" dirty="0"/>
            </a:p>
          </p:txBody>
        </p:sp>
      </p:grpSp>
      <p:sp>
        <p:nvSpPr>
          <p:cNvPr id="87" name="타원 86"/>
          <p:cNvSpPr/>
          <p:nvPr/>
        </p:nvSpPr>
        <p:spPr>
          <a:xfrm>
            <a:off x="6665368" y="2758116"/>
            <a:ext cx="374573" cy="36355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54" name="그룹 53"/>
          <p:cNvGrpSpPr/>
          <p:nvPr/>
        </p:nvGrpSpPr>
        <p:grpSpPr>
          <a:xfrm>
            <a:off x="3415436" y="1721530"/>
            <a:ext cx="2064944" cy="3128803"/>
            <a:chOff x="636117" y="3093139"/>
            <a:chExt cx="2064944" cy="3128803"/>
          </a:xfrm>
        </p:grpSpPr>
        <p:sp>
          <p:nvSpPr>
            <p:cNvPr id="55" name="직사각형 54"/>
            <p:cNvSpPr/>
            <p:nvPr/>
          </p:nvSpPr>
          <p:spPr>
            <a:xfrm>
              <a:off x="636118" y="3093139"/>
              <a:ext cx="2064943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3093139"/>
              <a:ext cx="714376" cy="649585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1350493" y="3243017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Node01</a:t>
              </a:r>
              <a:endParaRPr lang="ko-KR" altLang="en-US" b="1" dirty="0"/>
            </a:p>
          </p:txBody>
        </p:sp>
      </p:grpSp>
      <p:sp>
        <p:nvSpPr>
          <p:cNvPr id="86" name="타원 85"/>
          <p:cNvSpPr/>
          <p:nvPr/>
        </p:nvSpPr>
        <p:spPr>
          <a:xfrm>
            <a:off x="10215537" y="2758116"/>
            <a:ext cx="374573" cy="36355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89" name="타원 88"/>
          <p:cNvSpPr/>
          <p:nvPr/>
        </p:nvSpPr>
        <p:spPr>
          <a:xfrm>
            <a:off x="6665367" y="3416305"/>
            <a:ext cx="374573" cy="36355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0" name="타원 89"/>
          <p:cNvSpPr/>
          <p:nvPr/>
        </p:nvSpPr>
        <p:spPr>
          <a:xfrm>
            <a:off x="7337286" y="2758116"/>
            <a:ext cx="374573" cy="36355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1" name="타원 90"/>
          <p:cNvSpPr/>
          <p:nvPr/>
        </p:nvSpPr>
        <p:spPr>
          <a:xfrm>
            <a:off x="9501163" y="2758116"/>
            <a:ext cx="374573" cy="36355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222744" y="4391247"/>
            <a:ext cx="86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v1.25</a:t>
            </a:r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4017290" y="4391247"/>
            <a:ext cx="86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v1.25</a:t>
            </a:r>
            <a:endParaRPr lang="ko-KR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6796609" y="4391247"/>
            <a:ext cx="86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v1.24</a:t>
            </a:r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9575927" y="4391247"/>
            <a:ext cx="861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v1.24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Worker Node 1</a:t>
            </a:r>
            <a:r>
              <a:rPr lang="ko-KR" altLang="en-US" sz="1400" dirty="0" smtClean="0"/>
              <a:t>개씩 업그레이드 진행</a:t>
            </a:r>
            <a:endParaRPr lang="en-US" altLang="ko-KR" sz="1400" dirty="0" smtClean="0"/>
          </a:p>
        </p:txBody>
      </p:sp>
      <p:sp>
        <p:nvSpPr>
          <p:cNvPr id="31" name="원형 화살표 30"/>
          <p:cNvSpPr/>
          <p:nvPr/>
        </p:nvSpPr>
        <p:spPr>
          <a:xfrm>
            <a:off x="7003256" y="3285930"/>
            <a:ext cx="540000" cy="54000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3422852"/>
              <a:gd name="adj5" fmla="val 12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원형 화살표 31"/>
          <p:cNvSpPr/>
          <p:nvPr/>
        </p:nvSpPr>
        <p:spPr>
          <a:xfrm>
            <a:off x="9736545" y="3285930"/>
            <a:ext cx="540000" cy="54000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3422852"/>
              <a:gd name="adj5" fmla="val 12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180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Worker Node Upgrade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636117" y="1721531"/>
            <a:ext cx="2064944" cy="3128803"/>
            <a:chOff x="636117" y="1721531"/>
            <a:chExt cx="2064944" cy="3128803"/>
          </a:xfrm>
        </p:grpSpPr>
        <p:sp>
          <p:nvSpPr>
            <p:cNvPr id="49" name="직사각형 48"/>
            <p:cNvSpPr/>
            <p:nvPr/>
          </p:nvSpPr>
          <p:spPr>
            <a:xfrm>
              <a:off x="636119" y="1721531"/>
              <a:ext cx="1756208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0" name="그림 49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1721531"/>
              <a:ext cx="714376" cy="649585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1350493" y="1871409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Master</a:t>
              </a:r>
              <a:endParaRPr lang="ko-KR" altLang="en-US" b="1" dirty="0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222744" y="4391247"/>
              <a:ext cx="8612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/>
                <a:t>v1.25</a:t>
              </a:r>
              <a:endParaRPr lang="ko-KR" altLang="en-US" dirty="0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Worker Node 1</a:t>
            </a:r>
            <a:r>
              <a:rPr lang="ko-KR" altLang="en-US" sz="1400" dirty="0" smtClean="0"/>
              <a:t>개 추가 하여 진행</a:t>
            </a:r>
            <a:endParaRPr lang="en-US" altLang="ko-KR" sz="1400" dirty="0" smtClean="0"/>
          </a:p>
        </p:txBody>
      </p:sp>
      <p:grpSp>
        <p:nvGrpSpPr>
          <p:cNvPr id="32" name="그룹 31"/>
          <p:cNvGrpSpPr/>
          <p:nvPr/>
        </p:nvGrpSpPr>
        <p:grpSpPr>
          <a:xfrm>
            <a:off x="2978952" y="1721530"/>
            <a:ext cx="2064944" cy="3128803"/>
            <a:chOff x="636117" y="1721531"/>
            <a:chExt cx="2064944" cy="3128803"/>
          </a:xfrm>
        </p:grpSpPr>
        <p:sp>
          <p:nvSpPr>
            <p:cNvPr id="33" name="직사각형 32"/>
            <p:cNvSpPr/>
            <p:nvPr/>
          </p:nvSpPr>
          <p:spPr>
            <a:xfrm>
              <a:off x="636119" y="1721531"/>
              <a:ext cx="1756208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4" name="그림 33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1721531"/>
              <a:ext cx="714376" cy="649585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1350493" y="1871409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Node01</a:t>
              </a:r>
              <a:endParaRPr lang="ko-KR" altLang="en-US" b="1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222744" y="4391247"/>
              <a:ext cx="8612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/>
                <a:t>v1.24</a:t>
              </a:r>
              <a:endParaRPr lang="ko-KR" altLang="en-US" dirty="0"/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5321787" y="1721529"/>
            <a:ext cx="2064944" cy="3128803"/>
            <a:chOff x="636117" y="1721531"/>
            <a:chExt cx="2064944" cy="3128803"/>
          </a:xfrm>
        </p:grpSpPr>
        <p:sp>
          <p:nvSpPr>
            <p:cNvPr id="41" name="직사각형 40"/>
            <p:cNvSpPr/>
            <p:nvPr/>
          </p:nvSpPr>
          <p:spPr>
            <a:xfrm>
              <a:off x="636119" y="1721531"/>
              <a:ext cx="1756208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2" name="그림 41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1721531"/>
              <a:ext cx="714376" cy="649585"/>
            </a:xfrm>
            <a:prstGeom prst="rect">
              <a:avLst/>
            </a:prstGeom>
          </p:spPr>
        </p:pic>
        <p:sp>
          <p:nvSpPr>
            <p:cNvPr id="43" name="TextBox 42"/>
            <p:cNvSpPr txBox="1"/>
            <p:nvPr/>
          </p:nvSpPr>
          <p:spPr>
            <a:xfrm>
              <a:off x="1350493" y="1871409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Node02</a:t>
              </a:r>
              <a:endParaRPr lang="ko-KR" altLang="en-US" b="1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222744" y="4391247"/>
              <a:ext cx="8612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/>
                <a:t>v1.24</a:t>
              </a:r>
              <a:endParaRPr lang="ko-KR" altLang="en-US" dirty="0"/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7792371" y="1721528"/>
            <a:ext cx="2064944" cy="3128803"/>
            <a:chOff x="636117" y="1721531"/>
            <a:chExt cx="2064944" cy="3128803"/>
          </a:xfrm>
        </p:grpSpPr>
        <p:sp>
          <p:nvSpPr>
            <p:cNvPr id="46" name="직사각형 45"/>
            <p:cNvSpPr/>
            <p:nvPr/>
          </p:nvSpPr>
          <p:spPr>
            <a:xfrm>
              <a:off x="636119" y="1721531"/>
              <a:ext cx="1756208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7" name="그림 46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1721531"/>
              <a:ext cx="714376" cy="649585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1350493" y="1871409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Node03</a:t>
              </a:r>
              <a:endParaRPr lang="ko-KR" altLang="en-US" b="1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222744" y="4391247"/>
              <a:ext cx="8612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/>
                <a:t>v1.24</a:t>
              </a:r>
              <a:endParaRPr lang="ko-KR" altLang="en-US" dirty="0"/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10144568" y="1721528"/>
            <a:ext cx="2064944" cy="3128803"/>
            <a:chOff x="636117" y="1721531"/>
            <a:chExt cx="2064944" cy="3128803"/>
          </a:xfrm>
        </p:grpSpPr>
        <p:sp>
          <p:nvSpPr>
            <p:cNvPr id="63" name="직사각형 62"/>
            <p:cNvSpPr/>
            <p:nvPr/>
          </p:nvSpPr>
          <p:spPr>
            <a:xfrm>
              <a:off x="636119" y="1721531"/>
              <a:ext cx="1756208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4" name="그림 63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1721531"/>
              <a:ext cx="714376" cy="649585"/>
            </a:xfrm>
            <a:prstGeom prst="rect">
              <a:avLst/>
            </a:prstGeom>
          </p:spPr>
        </p:pic>
        <p:sp>
          <p:nvSpPr>
            <p:cNvPr id="65" name="TextBox 64"/>
            <p:cNvSpPr txBox="1"/>
            <p:nvPr/>
          </p:nvSpPr>
          <p:spPr>
            <a:xfrm>
              <a:off x="1350493" y="1871409"/>
              <a:ext cx="135056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New </a:t>
              </a:r>
            </a:p>
            <a:p>
              <a:r>
                <a:rPr lang="en-US" altLang="ko-KR" b="1" dirty="0" smtClean="0"/>
                <a:t>Node</a:t>
              </a:r>
              <a:endParaRPr lang="ko-KR" altLang="en-US" b="1" dirty="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222744" y="4391247"/>
              <a:ext cx="8612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/>
                <a:t>v1.25</a:t>
              </a:r>
              <a:endParaRPr lang="ko-KR" altLang="en-US" dirty="0"/>
            </a:p>
          </p:txBody>
        </p:sp>
      </p:grpSp>
      <p:sp>
        <p:nvSpPr>
          <p:cNvPr id="67" name="타원 66"/>
          <p:cNvSpPr/>
          <p:nvPr/>
        </p:nvSpPr>
        <p:spPr>
          <a:xfrm>
            <a:off x="5698735" y="2757261"/>
            <a:ext cx="374573" cy="36355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8" name="타원 67"/>
          <p:cNvSpPr/>
          <p:nvPr/>
        </p:nvSpPr>
        <p:spPr>
          <a:xfrm>
            <a:off x="3364832" y="2757261"/>
            <a:ext cx="374573" cy="36355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9" name="타원 68"/>
          <p:cNvSpPr/>
          <p:nvPr/>
        </p:nvSpPr>
        <p:spPr>
          <a:xfrm>
            <a:off x="3974710" y="2757261"/>
            <a:ext cx="374573" cy="36355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0" name="타원 69"/>
          <p:cNvSpPr/>
          <p:nvPr/>
        </p:nvSpPr>
        <p:spPr>
          <a:xfrm>
            <a:off x="6370653" y="2757261"/>
            <a:ext cx="374573" cy="36355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1" name="타원 70"/>
          <p:cNvSpPr/>
          <p:nvPr/>
        </p:nvSpPr>
        <p:spPr>
          <a:xfrm>
            <a:off x="8534530" y="2757261"/>
            <a:ext cx="374573" cy="363556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9388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2.22222E-6 L 0.5888 -0.0060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440" y="-30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2.22222E-6 L 0.59778 -0.00509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883" y="-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kubeadm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Upgrade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/>
              <a:t>k</a:t>
            </a:r>
            <a:r>
              <a:rPr lang="en-US" altLang="ko-KR" sz="1400" dirty="0" err="1" smtClean="0"/>
              <a:t>ubeadm</a:t>
            </a:r>
            <a:r>
              <a:rPr lang="ko-KR" altLang="en-US" sz="1400" dirty="0" smtClean="0"/>
              <a:t>을 이용하여 현재 </a:t>
            </a:r>
            <a:r>
              <a:rPr lang="en-US" altLang="ko-KR" sz="1400" dirty="0" smtClean="0"/>
              <a:t>Cluster Version</a:t>
            </a:r>
            <a:r>
              <a:rPr lang="ko-KR" altLang="en-US" sz="1400" dirty="0" smtClean="0"/>
              <a:t>과 </a:t>
            </a:r>
            <a:r>
              <a:rPr lang="en-US" altLang="ko-KR" sz="1400" dirty="0" smtClean="0"/>
              <a:t>Upgrade </a:t>
            </a:r>
            <a:r>
              <a:rPr lang="ko-KR" altLang="en-US" sz="1400" dirty="0" smtClean="0"/>
              <a:t>가능한 </a:t>
            </a:r>
            <a:r>
              <a:rPr lang="en-US" altLang="ko-KR" sz="1400" dirty="0" smtClean="0"/>
              <a:t>Stable Version</a:t>
            </a:r>
            <a:r>
              <a:rPr lang="ko-KR" altLang="en-US" sz="1400" dirty="0" smtClean="0"/>
              <a:t>을 확인할 수 있다</a:t>
            </a:r>
            <a:r>
              <a:rPr lang="en-US" altLang="ko-KR" sz="1400" dirty="0" smtClean="0"/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8415" y="1211854"/>
            <a:ext cx="6626425" cy="4977117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11199" y="1211854"/>
            <a:ext cx="4147240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kubeadm</a:t>
            </a:r>
            <a:r>
              <a:rPr lang="en-US" altLang="ko-KR" sz="1200" dirty="0" smtClean="0">
                <a:solidFill>
                  <a:schemeClr val="bg1"/>
                </a:solidFill>
              </a:rPr>
              <a:t> upgrade plan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5028415" y="1949986"/>
            <a:ext cx="3741012" cy="63897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5028415" y="3205908"/>
            <a:ext cx="2749493" cy="9143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5028414" y="4308934"/>
            <a:ext cx="4831681" cy="5164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6584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Kubernetes Cluster Upgrade Process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1. Master Node</a:t>
            </a:r>
            <a:r>
              <a:rPr lang="ko-KR" altLang="en-US" sz="1400" dirty="0" smtClean="0"/>
              <a:t>에서 </a:t>
            </a:r>
            <a:r>
              <a:rPr lang="en-US" altLang="ko-KR" sz="1400" dirty="0" err="1" smtClean="0"/>
              <a:t>kubeadm</a:t>
            </a:r>
            <a:r>
              <a:rPr lang="en-US" altLang="ko-KR" sz="1400" dirty="0" smtClean="0"/>
              <a:t> upgrade </a:t>
            </a:r>
            <a:r>
              <a:rPr lang="ko-KR" altLang="en-US" sz="1400" dirty="0" smtClean="0"/>
              <a:t>진행</a:t>
            </a:r>
            <a:endParaRPr lang="en-US" altLang="ko-KR" sz="1400" dirty="0" smtClean="0"/>
          </a:p>
        </p:txBody>
      </p:sp>
      <p:sp>
        <p:nvSpPr>
          <p:cNvPr id="5" name="TextBox 5"/>
          <p:cNvSpPr txBox="1"/>
          <p:nvPr/>
        </p:nvSpPr>
        <p:spPr>
          <a:xfrm>
            <a:off x="975604" y="1023227"/>
            <a:ext cx="10581090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smtClean="0">
                <a:solidFill>
                  <a:schemeClr val="bg1"/>
                </a:solidFill>
              </a:rPr>
              <a:t>apt-get upgrade -y kubeadm-1.26.15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199" y="1331004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2</a:t>
            </a:r>
            <a:r>
              <a:rPr lang="en-US" altLang="ko-KR" sz="1400" dirty="0" smtClean="0"/>
              <a:t>. Master Node</a:t>
            </a:r>
            <a:r>
              <a:rPr lang="ko-KR" altLang="en-US" sz="1400" dirty="0" smtClean="0"/>
              <a:t>에서 </a:t>
            </a:r>
            <a:r>
              <a:rPr lang="en-US" altLang="ko-KR" sz="1400" dirty="0" smtClean="0"/>
              <a:t>Cluster Upgrade </a:t>
            </a:r>
            <a:r>
              <a:rPr lang="ko-KR" altLang="en-US" sz="1400" dirty="0" smtClean="0"/>
              <a:t>진행</a:t>
            </a:r>
            <a:endParaRPr lang="en-US" altLang="ko-KR" sz="1400" dirty="0" smtClean="0"/>
          </a:p>
        </p:txBody>
      </p:sp>
      <p:sp>
        <p:nvSpPr>
          <p:cNvPr id="10" name="TextBox 5"/>
          <p:cNvSpPr txBox="1"/>
          <p:nvPr/>
        </p:nvSpPr>
        <p:spPr>
          <a:xfrm>
            <a:off x="975604" y="1638781"/>
            <a:ext cx="10581090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kubeadm</a:t>
            </a:r>
            <a:r>
              <a:rPr lang="en-US" altLang="ko-KR" sz="1200" dirty="0" smtClean="0">
                <a:solidFill>
                  <a:schemeClr val="bg1"/>
                </a:solidFill>
              </a:rPr>
              <a:t> upgrade apply v1.26.15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199" y="1977336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3. Master Node </a:t>
            </a:r>
            <a:r>
              <a:rPr lang="en-US" altLang="ko-KR" sz="1400" dirty="0" err="1" smtClean="0"/>
              <a:t>kubelet</a:t>
            </a:r>
            <a:r>
              <a:rPr lang="en-US" altLang="ko-KR" sz="1400" dirty="0" smtClean="0"/>
              <a:t> upgrade </a:t>
            </a:r>
            <a:r>
              <a:rPr lang="ko-KR" altLang="en-US" sz="1400" dirty="0" smtClean="0"/>
              <a:t>진행</a:t>
            </a:r>
            <a:endParaRPr lang="en-US" altLang="ko-KR" sz="1400" dirty="0" smtClean="0"/>
          </a:p>
        </p:txBody>
      </p:sp>
      <p:sp>
        <p:nvSpPr>
          <p:cNvPr id="13" name="TextBox 5"/>
          <p:cNvSpPr txBox="1"/>
          <p:nvPr/>
        </p:nvSpPr>
        <p:spPr>
          <a:xfrm>
            <a:off x="975604" y="2285113"/>
            <a:ext cx="10581090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smtClean="0">
                <a:solidFill>
                  <a:schemeClr val="bg1"/>
                </a:solidFill>
              </a:rPr>
              <a:t>apt-get upgrade -y kubelet-1.26.15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systemctl</a:t>
            </a:r>
            <a:r>
              <a:rPr lang="en-US" altLang="ko-KR" sz="1200" dirty="0" smtClean="0">
                <a:solidFill>
                  <a:schemeClr val="bg1"/>
                </a:solidFill>
              </a:rPr>
              <a:t> restart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kubelet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1199" y="2808334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4</a:t>
            </a:r>
            <a:r>
              <a:rPr lang="en-US" altLang="ko-KR" sz="1400" dirty="0" smtClean="0"/>
              <a:t>. Worker Node </a:t>
            </a:r>
            <a:r>
              <a:rPr lang="ko-KR" altLang="en-US" sz="1400" dirty="0" smtClean="0"/>
              <a:t>정보 확인</a:t>
            </a:r>
            <a:endParaRPr lang="en-US" altLang="ko-KR" sz="1400" dirty="0" smtClean="0"/>
          </a:p>
        </p:txBody>
      </p:sp>
      <p:sp>
        <p:nvSpPr>
          <p:cNvPr id="15" name="TextBox 5"/>
          <p:cNvSpPr txBox="1"/>
          <p:nvPr/>
        </p:nvSpPr>
        <p:spPr>
          <a:xfrm>
            <a:off x="975604" y="3116111"/>
            <a:ext cx="10581090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get nodes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1199" y="3454666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5. Worker Node</a:t>
            </a:r>
            <a:r>
              <a:rPr lang="ko-KR" altLang="en-US" sz="1400" dirty="0" smtClean="0"/>
              <a:t>에서 기동 중인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다른 </a:t>
            </a:r>
            <a:r>
              <a:rPr lang="en-US" altLang="ko-KR" sz="1400" dirty="0" smtClean="0"/>
              <a:t>Node</a:t>
            </a:r>
            <a:r>
              <a:rPr lang="ko-KR" altLang="en-US" sz="1400" dirty="0" smtClean="0"/>
              <a:t>로 이관</a:t>
            </a:r>
            <a:endParaRPr lang="en-US" altLang="ko-KR" sz="1400" dirty="0" smtClean="0"/>
          </a:p>
        </p:txBody>
      </p:sp>
      <p:sp>
        <p:nvSpPr>
          <p:cNvPr id="17" name="TextBox 5"/>
          <p:cNvSpPr txBox="1"/>
          <p:nvPr/>
        </p:nvSpPr>
        <p:spPr>
          <a:xfrm>
            <a:off x="975604" y="3762443"/>
            <a:ext cx="10581090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drain node01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1199" y="4100998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6</a:t>
            </a:r>
            <a:r>
              <a:rPr lang="en-US" altLang="ko-KR" sz="1400" dirty="0" smtClean="0"/>
              <a:t>. Worker Node Upgrade </a:t>
            </a:r>
            <a:r>
              <a:rPr lang="ko-KR" altLang="en-US" sz="1400" dirty="0" smtClean="0"/>
              <a:t>진행</a:t>
            </a:r>
            <a:endParaRPr lang="en-US" altLang="ko-KR" sz="1400" dirty="0" smtClean="0"/>
          </a:p>
        </p:txBody>
      </p:sp>
      <p:sp>
        <p:nvSpPr>
          <p:cNvPr id="19" name="TextBox 5"/>
          <p:cNvSpPr txBox="1"/>
          <p:nvPr/>
        </p:nvSpPr>
        <p:spPr>
          <a:xfrm>
            <a:off x="975604" y="4408775"/>
            <a:ext cx="10581090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apt-get upgrade -y kubelet-1.26.15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apt-get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uncordon</a:t>
            </a:r>
            <a:r>
              <a:rPr lang="en-US" altLang="ko-KR" sz="1200" dirty="0" smtClean="0">
                <a:solidFill>
                  <a:schemeClr val="bg1"/>
                </a:solidFill>
              </a:rPr>
              <a:t> node01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854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30949" y="3105835"/>
            <a:ext cx="6461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Backup &amp; Restore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2802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Backup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대상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9857564" cy="866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Pod, Service, Controller</a:t>
            </a:r>
            <a:r>
              <a:rPr lang="ko-KR" altLang="en-US" sz="1400" dirty="0" smtClean="0"/>
              <a:t>와 같은 </a:t>
            </a: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파일</a:t>
            </a:r>
            <a:endParaRPr lang="en-US" altLang="ko-KR" sz="1400" dirty="0" smtClean="0"/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Etcd</a:t>
            </a:r>
            <a:r>
              <a:rPr lang="ko-KR" altLang="en-US" sz="1400" dirty="0" smtClean="0"/>
              <a:t>에 저장된 </a:t>
            </a:r>
            <a:r>
              <a:rPr lang="en-US" altLang="ko-KR" sz="1400" dirty="0" smtClean="0"/>
              <a:t>Data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PV</a:t>
            </a:r>
            <a:r>
              <a:rPr lang="ko-KR" altLang="en-US" sz="1400" dirty="0" smtClean="0"/>
              <a:t>로 연결된 </a:t>
            </a:r>
            <a:r>
              <a:rPr lang="en-US" altLang="ko-KR" sz="1400" dirty="0" smtClean="0"/>
              <a:t>Disk </a:t>
            </a:r>
            <a:r>
              <a:rPr lang="ko-KR" altLang="en-US" sz="1400" dirty="0" smtClean="0"/>
              <a:t>공간에 </a:t>
            </a:r>
            <a:r>
              <a:rPr lang="en-US" altLang="ko-KR" sz="1400" dirty="0" smtClean="0"/>
              <a:t>Data</a:t>
            </a:r>
            <a:endParaRPr lang="en-US" altLang="ko-KR" sz="1200" dirty="0"/>
          </a:p>
        </p:txBody>
      </p:sp>
      <p:pic>
        <p:nvPicPr>
          <p:cNvPr id="64" name="그림 6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696" y="2320163"/>
            <a:ext cx="1575412" cy="157541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745912" y="3895575"/>
            <a:ext cx="1531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/>
              <a:t>Resource Configuration</a:t>
            </a:r>
            <a:endParaRPr lang="ko-KR" altLang="en-US" dirty="0"/>
          </a:p>
        </p:txBody>
      </p:sp>
      <p:pic>
        <p:nvPicPr>
          <p:cNvPr id="67" name="그림 6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9286" y="1906838"/>
            <a:ext cx="2071172" cy="1988737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029200" y="3933367"/>
            <a:ext cx="15313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 smtClean="0"/>
              <a:t>etcd</a:t>
            </a:r>
            <a:endParaRPr lang="ko-KR" altLang="en-US" dirty="0"/>
          </a:p>
        </p:txBody>
      </p:sp>
      <p:pic>
        <p:nvPicPr>
          <p:cNvPr id="70" name="그림 6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656" y="1928872"/>
            <a:ext cx="2048224" cy="1966703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8410096" y="3895575"/>
            <a:ext cx="15313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/>
              <a:t>PV Storage</a:t>
            </a:r>
            <a:endParaRPr lang="ko-KR" altLang="en-US" dirty="0"/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A12EF142-AAA3-4929-9580-C28C2C5A7394}"/>
              </a:ext>
            </a:extLst>
          </p:cNvPr>
          <p:cNvCxnSpPr/>
          <p:nvPr/>
        </p:nvCxnSpPr>
        <p:spPr>
          <a:xfrm>
            <a:off x="7609791" y="2171699"/>
            <a:ext cx="2864" cy="206243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A12EF142-AAA3-4929-9580-C28C2C5A7394}"/>
              </a:ext>
            </a:extLst>
          </p:cNvPr>
          <p:cNvCxnSpPr/>
          <p:nvPr/>
        </p:nvCxnSpPr>
        <p:spPr>
          <a:xfrm>
            <a:off x="3879018" y="2171699"/>
            <a:ext cx="2864" cy="206243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0445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Resource Configuration Backup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Resource Configuration</a:t>
            </a:r>
            <a:r>
              <a:rPr lang="ko-KR" altLang="en-US" sz="1400" dirty="0" smtClean="0"/>
              <a:t>은 </a:t>
            </a:r>
            <a:r>
              <a:rPr lang="en-US" altLang="ko-KR" sz="1400" dirty="0" err="1" smtClean="0"/>
              <a:t>Git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저장소에 </a:t>
            </a:r>
            <a:r>
              <a:rPr lang="en-US" altLang="ko-KR" sz="1400" dirty="0" smtClean="0"/>
              <a:t>Backup</a:t>
            </a:r>
            <a:r>
              <a:rPr lang="ko-KR" altLang="en-US" sz="1400" dirty="0" smtClean="0"/>
              <a:t>을 하는 경우가 많다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  <p:pic>
        <p:nvPicPr>
          <p:cNvPr id="64" name="그림 6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696" y="2320163"/>
            <a:ext cx="1575412" cy="157541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745912" y="3895575"/>
            <a:ext cx="1531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/>
              <a:t>Resource Configuration</a:t>
            </a:r>
            <a:endParaRPr lang="ko-KR" altLang="en-US" dirty="0"/>
          </a:p>
        </p:txBody>
      </p:sp>
      <p:pic>
        <p:nvPicPr>
          <p:cNvPr id="12" name="Picture 32" descr="Gitlab Logo and symbol, meaning, history, PNG, brand"/>
          <p:cNvPicPr>
            <a:picLocks noChangeAspect="1" noChangeArrowheads="1"/>
          </p:cNvPicPr>
          <p:nvPr/>
        </p:nvPicPr>
        <p:blipFill rotWithShape="1"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52" b="24057"/>
          <a:stretch/>
        </p:blipFill>
        <p:spPr bwMode="auto">
          <a:xfrm>
            <a:off x="4634990" y="2320163"/>
            <a:ext cx="1157308" cy="32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5">
            <a:clrChange>
              <a:clrFrom>
                <a:srgbClr val="F7FDFB"/>
              </a:clrFrom>
              <a:clrTo>
                <a:srgbClr val="F7FDF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32352" y="2796697"/>
            <a:ext cx="1180505" cy="415756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429" y="3313366"/>
            <a:ext cx="1306671" cy="484339"/>
          </a:xfrm>
          <a:prstGeom prst="rect">
            <a:avLst/>
          </a:prstGeom>
        </p:spPr>
      </p:pic>
      <p:sp>
        <p:nvSpPr>
          <p:cNvPr id="2" name="오른쪽 화살표 1"/>
          <p:cNvSpPr/>
          <p:nvPr/>
        </p:nvSpPr>
        <p:spPr>
          <a:xfrm>
            <a:off x="3382178" y="2897436"/>
            <a:ext cx="1057620" cy="3150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5"/>
          <p:cNvSpPr txBox="1"/>
          <p:nvPr/>
        </p:nvSpPr>
        <p:spPr>
          <a:xfrm>
            <a:off x="6180462" y="1256196"/>
            <a:ext cx="3483754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create namespace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db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7" name="TextBox 5"/>
          <p:cNvSpPr txBox="1"/>
          <p:nvPr/>
        </p:nvSpPr>
        <p:spPr>
          <a:xfrm>
            <a:off x="6180462" y="1683332"/>
            <a:ext cx="5618603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create </a:t>
            </a:r>
            <a:r>
              <a:rPr lang="en-US" altLang="ko-KR" sz="1200" dirty="0" err="1">
                <a:solidFill>
                  <a:schemeClr val="bg1"/>
                </a:solidFill>
              </a:rPr>
              <a:t>configmap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env</a:t>
            </a:r>
            <a:r>
              <a:rPr lang="en-US" altLang="ko-KR" sz="1200" dirty="0">
                <a:solidFill>
                  <a:schemeClr val="bg1"/>
                </a:solidFill>
              </a:rPr>
              <a:t>-sample-</a:t>
            </a:r>
            <a:r>
              <a:rPr lang="en-US" altLang="ko-KR" sz="1200" dirty="0" err="1">
                <a:solidFill>
                  <a:schemeClr val="bg1"/>
                </a:solidFill>
              </a:rPr>
              <a:t>config</a:t>
            </a:r>
            <a:r>
              <a:rPr lang="en-US" altLang="ko-KR" sz="1200" dirty="0">
                <a:solidFill>
                  <a:schemeClr val="bg1"/>
                </a:solidFill>
              </a:rPr>
              <a:t> --</a:t>
            </a:r>
            <a:r>
              <a:rPr lang="en-US" altLang="ko-KR" sz="1200" dirty="0" smtClean="0">
                <a:solidFill>
                  <a:schemeClr val="bg1"/>
                </a:solidFill>
              </a:rPr>
              <a:t>from-literal=SAMPLE=value1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6180462" y="2110468"/>
            <a:ext cx="5618603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get namespace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db</a:t>
            </a:r>
            <a:r>
              <a:rPr lang="en-US" altLang="ko-KR" sz="1200" dirty="0" smtClean="0">
                <a:solidFill>
                  <a:schemeClr val="bg1"/>
                </a:solidFill>
              </a:rPr>
              <a:t> -o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yaml</a:t>
            </a:r>
            <a:r>
              <a:rPr lang="en-US" altLang="ko-KR" sz="1200" dirty="0" smtClean="0">
                <a:solidFill>
                  <a:schemeClr val="bg1"/>
                </a:solidFill>
              </a:rPr>
              <a:t> &gt;&gt;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dbnamespace.yaml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6180462" y="2995730"/>
            <a:ext cx="4350599" cy="1477328"/>
            <a:chOff x="7600397" y="1003344"/>
            <a:chExt cx="4350599" cy="1477328"/>
          </a:xfrm>
        </p:grpSpPr>
        <p:sp>
          <p:nvSpPr>
            <p:cNvPr id="20" name="TextBox 3"/>
            <p:cNvSpPr txBox="1"/>
            <p:nvPr/>
          </p:nvSpPr>
          <p:spPr>
            <a:xfrm>
              <a:off x="7600397" y="1280343"/>
              <a:ext cx="4350599" cy="1200329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Namespace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kubernetes.io/metadata.name: </a:t>
              </a:r>
              <a:r>
                <a:rPr lang="en-US" altLang="ko-KR" sz="1200" dirty="0" err="1"/>
                <a:t>db</a:t>
              </a:r>
              <a:endParaRPr lang="en-US" altLang="ko-KR" sz="1200" dirty="0"/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 smtClean="0"/>
                <a:t>db</a:t>
              </a:r>
              <a:endParaRPr lang="en-US" altLang="ko-KR" sz="1200" dirty="0"/>
            </a:p>
          </p:txBody>
        </p:sp>
        <p:sp>
          <p:nvSpPr>
            <p:cNvPr id="21" name="TextBox 3"/>
            <p:cNvSpPr txBox="1"/>
            <p:nvPr/>
          </p:nvSpPr>
          <p:spPr>
            <a:xfrm>
              <a:off x="7600397" y="1003344"/>
              <a:ext cx="163173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dbnamespace.yaml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711199" y="4778239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모든 </a:t>
            </a:r>
            <a:r>
              <a:rPr lang="en-US" altLang="ko-KR" sz="1400" dirty="0" smtClean="0"/>
              <a:t>Resource Configuration </a:t>
            </a: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파일로 저장할 수 있다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  <p:sp>
        <p:nvSpPr>
          <p:cNvPr id="25" name="TextBox 5"/>
          <p:cNvSpPr txBox="1"/>
          <p:nvPr/>
        </p:nvSpPr>
        <p:spPr>
          <a:xfrm>
            <a:off x="980501" y="5086015"/>
            <a:ext cx="10818564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get all --all-namespaces -o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yaml</a:t>
            </a:r>
            <a:r>
              <a:rPr lang="en-US" altLang="ko-KR" sz="1200" dirty="0" smtClean="0">
                <a:solidFill>
                  <a:schemeClr val="bg1"/>
                </a:solidFill>
              </a:rPr>
              <a:t> &gt;&gt; all-deploy-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services.yaml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846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24" grpId="0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ETCD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ETCD</a:t>
            </a:r>
            <a:r>
              <a:rPr lang="ko-KR" altLang="en-US" sz="1400" dirty="0" smtClean="0"/>
              <a:t>는 클러스터 자체 정보와 클러스터 내부에서 생성된 모든 리소스가 저장되는 곳이다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  <p:sp>
        <p:nvSpPr>
          <p:cNvPr id="16" name="TextBox 5"/>
          <p:cNvSpPr txBox="1"/>
          <p:nvPr/>
        </p:nvSpPr>
        <p:spPr>
          <a:xfrm>
            <a:off x="6356732" y="1260561"/>
            <a:ext cx="3483754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smtClean="0">
                <a:solidFill>
                  <a:schemeClr val="bg1"/>
                </a:solidFill>
              </a:rPr>
              <a:t>vi 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etc</a:t>
            </a:r>
            <a:r>
              <a:rPr lang="en-US" altLang="ko-KR" sz="1200" dirty="0" smtClean="0">
                <a:solidFill>
                  <a:schemeClr val="bg1"/>
                </a:solidFill>
              </a:rPr>
              <a:t>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kubernetes</a:t>
            </a:r>
            <a:r>
              <a:rPr lang="en-US" altLang="ko-KR" sz="1200" dirty="0" smtClean="0">
                <a:solidFill>
                  <a:schemeClr val="bg1"/>
                </a:solidFill>
              </a:rPr>
              <a:t>/manifest/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etcd.yaml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980501" y="1260561"/>
            <a:ext cx="2478795" cy="3128803"/>
            <a:chOff x="980501" y="1260561"/>
            <a:chExt cx="2478795" cy="3128803"/>
          </a:xfrm>
        </p:grpSpPr>
        <p:sp>
          <p:nvSpPr>
            <p:cNvPr id="23" name="직사각형 22"/>
            <p:cNvSpPr/>
            <p:nvPr/>
          </p:nvSpPr>
          <p:spPr>
            <a:xfrm>
              <a:off x="980502" y="1260561"/>
              <a:ext cx="2478794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0501" y="1260561"/>
              <a:ext cx="714376" cy="649585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1694877" y="1410439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Master</a:t>
              </a:r>
              <a:endParaRPr lang="ko-KR" altLang="en-US" b="1" dirty="0"/>
            </a:p>
          </p:txBody>
        </p:sp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4381" y="2113518"/>
              <a:ext cx="970785" cy="932147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1514101" y="3045665"/>
              <a:ext cx="15313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 err="1" smtClean="0"/>
                <a:t>etcd</a:t>
              </a:r>
              <a:endParaRPr lang="ko-KR" altLang="en-US" dirty="0"/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6356732" y="1741979"/>
            <a:ext cx="4350599" cy="4247317"/>
            <a:chOff x="7600397" y="1003344"/>
            <a:chExt cx="4350599" cy="4247317"/>
          </a:xfrm>
        </p:grpSpPr>
        <p:sp>
          <p:nvSpPr>
            <p:cNvPr id="30" name="TextBox 3"/>
            <p:cNvSpPr txBox="1"/>
            <p:nvPr/>
          </p:nvSpPr>
          <p:spPr>
            <a:xfrm>
              <a:off x="7600397" y="1280343"/>
              <a:ext cx="4350599" cy="3970318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annotations:</a:t>
              </a:r>
            </a:p>
            <a:p>
              <a:r>
                <a:rPr lang="en-US" altLang="ko-KR" sz="1200" dirty="0"/>
                <a:t>    kubeadm.kubernetes.io/</a:t>
              </a:r>
              <a:r>
                <a:rPr lang="en-US" altLang="ko-KR" sz="1200" dirty="0" err="1"/>
                <a:t>etcd.advertise</a:t>
              </a:r>
              <a:r>
                <a:rPr lang="en-US" altLang="ko-KR" sz="1200" dirty="0"/>
                <a:t>-client-</a:t>
              </a:r>
              <a:r>
                <a:rPr lang="en-US" altLang="ko-KR" sz="1200" dirty="0" err="1"/>
                <a:t>urls</a:t>
              </a:r>
              <a:r>
                <a:rPr lang="en-US" altLang="ko-KR" sz="1200" dirty="0"/>
                <a:t>: https://192.168.219.153:2379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creationTimestamp</a:t>
              </a:r>
              <a:r>
                <a:rPr lang="en-US" altLang="ko-KR" sz="1200" dirty="0"/>
                <a:t>: null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component: </a:t>
              </a:r>
              <a:r>
                <a:rPr lang="en-US" altLang="ko-KR" sz="1200" dirty="0" err="1"/>
                <a:t>etcd</a:t>
              </a:r>
              <a:endParaRPr lang="en-US" altLang="ko-KR" sz="1200" dirty="0"/>
            </a:p>
            <a:p>
              <a:r>
                <a:rPr lang="en-US" altLang="ko-KR" sz="1200" dirty="0"/>
                <a:t>    tier: control-plane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etcd</a:t>
              </a:r>
              <a:endParaRPr lang="en-US" altLang="ko-KR" sz="1200" dirty="0"/>
            </a:p>
            <a:p>
              <a:r>
                <a:rPr lang="en-US" altLang="ko-KR" sz="1200" dirty="0"/>
                <a:t>  namespace: </a:t>
              </a:r>
              <a:r>
                <a:rPr lang="en-US" altLang="ko-KR" sz="1200" dirty="0" err="1"/>
                <a:t>kube</a:t>
              </a:r>
              <a:r>
                <a:rPr lang="en-US" altLang="ko-KR" sz="1200" dirty="0"/>
                <a:t>-system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- command:</a:t>
              </a:r>
            </a:p>
            <a:p>
              <a:r>
                <a:rPr lang="en-US" altLang="ko-KR" sz="1200" dirty="0"/>
                <a:t>    - </a:t>
              </a:r>
              <a:r>
                <a:rPr lang="en-US" altLang="ko-KR" sz="1200" dirty="0" err="1"/>
                <a:t>etcd</a:t>
              </a:r>
              <a:endParaRPr lang="en-US" altLang="ko-KR" sz="1200" dirty="0"/>
            </a:p>
            <a:p>
              <a:r>
                <a:rPr lang="en-US" altLang="ko-KR" sz="1200" dirty="0"/>
                <a:t>    - --advertise-client-</a:t>
              </a:r>
              <a:r>
                <a:rPr lang="en-US" altLang="ko-KR" sz="1200" dirty="0" err="1"/>
                <a:t>urls</a:t>
              </a:r>
              <a:r>
                <a:rPr lang="en-US" altLang="ko-KR" sz="1200" dirty="0"/>
                <a:t>=https://192.168.219.153:2379</a:t>
              </a:r>
            </a:p>
            <a:p>
              <a:r>
                <a:rPr lang="en-US" altLang="ko-KR" sz="1200" dirty="0"/>
                <a:t>    - --cert-file=/</a:t>
              </a:r>
              <a:r>
                <a:rPr lang="en-US" altLang="ko-KR" sz="1200" dirty="0" err="1"/>
                <a:t>etc</a:t>
              </a:r>
              <a:r>
                <a:rPr lang="en-US" altLang="ko-KR" sz="1200" dirty="0"/>
                <a:t>/</a:t>
              </a:r>
              <a:r>
                <a:rPr lang="en-US" altLang="ko-KR" sz="1200" dirty="0" err="1"/>
                <a:t>kubernetes</a:t>
              </a:r>
              <a:r>
                <a:rPr lang="en-US" altLang="ko-KR" sz="1200" dirty="0"/>
                <a:t>/</a:t>
              </a:r>
              <a:r>
                <a:rPr lang="en-US" altLang="ko-KR" sz="1200" dirty="0" err="1"/>
                <a:t>pki</a:t>
              </a:r>
              <a:r>
                <a:rPr lang="en-US" altLang="ko-KR" sz="1200" dirty="0"/>
                <a:t>/</a:t>
              </a:r>
              <a:r>
                <a:rPr lang="en-US" altLang="ko-KR" sz="1200" dirty="0" err="1"/>
                <a:t>etcd</a:t>
              </a:r>
              <a:r>
                <a:rPr lang="en-US" altLang="ko-KR" sz="1200" dirty="0"/>
                <a:t>/server.crt</a:t>
              </a:r>
            </a:p>
            <a:p>
              <a:r>
                <a:rPr lang="en-US" altLang="ko-KR" sz="1200" dirty="0"/>
                <a:t>    - --client-cert-</a:t>
              </a:r>
              <a:r>
                <a:rPr lang="en-US" altLang="ko-KR" sz="1200" dirty="0" err="1"/>
                <a:t>auth</a:t>
              </a:r>
              <a:r>
                <a:rPr lang="en-US" altLang="ko-KR" sz="1200" dirty="0"/>
                <a:t>=true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- --data-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dir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=/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var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/lib/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etcd</a:t>
              </a:r>
              <a:endParaRPr lang="en-US" altLang="ko-KR" sz="1200" b="1" dirty="0" smtClean="0">
                <a:solidFill>
                  <a:srgbClr val="FF0000"/>
                </a:solidFill>
              </a:endParaRPr>
            </a:p>
            <a:p>
              <a:r>
                <a:rPr lang="en-US" altLang="ko-KR" sz="1200" dirty="0" smtClean="0"/>
                <a:t>…(</a:t>
              </a:r>
              <a:r>
                <a:rPr lang="ko-KR" altLang="en-US" sz="1200" dirty="0" smtClean="0"/>
                <a:t>생략</a:t>
              </a:r>
              <a:r>
                <a:rPr lang="en-US" altLang="ko-KR" sz="1200" dirty="0" smtClean="0"/>
                <a:t>)</a:t>
              </a:r>
              <a:endParaRPr lang="en-US" altLang="ko-KR" sz="1200" dirty="0"/>
            </a:p>
          </p:txBody>
        </p:sp>
        <p:sp>
          <p:nvSpPr>
            <p:cNvPr id="31" name="TextBox 3"/>
            <p:cNvSpPr txBox="1"/>
            <p:nvPr/>
          </p:nvSpPr>
          <p:spPr>
            <a:xfrm>
              <a:off x="7600397" y="1003344"/>
              <a:ext cx="163173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etcd.yaml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1017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ETCD Backup &amp; Restore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ETCD Backup</a:t>
            </a:r>
            <a:endParaRPr lang="en-US" altLang="ko-KR" sz="1200" dirty="0"/>
          </a:p>
        </p:txBody>
      </p:sp>
      <p:sp>
        <p:nvSpPr>
          <p:cNvPr id="16" name="TextBox 5"/>
          <p:cNvSpPr txBox="1"/>
          <p:nvPr/>
        </p:nvSpPr>
        <p:spPr>
          <a:xfrm>
            <a:off x="969483" y="1023227"/>
            <a:ext cx="10576193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ETCDCTL_API=3 ./</a:t>
            </a:r>
            <a:r>
              <a:rPr lang="en-US" altLang="ko-KR" sz="1200" dirty="0" err="1">
                <a:solidFill>
                  <a:schemeClr val="bg1"/>
                </a:solidFill>
              </a:rPr>
              <a:t>etcdctl</a:t>
            </a:r>
            <a:r>
              <a:rPr lang="en-US" altLang="ko-KR" sz="1200" dirty="0">
                <a:solidFill>
                  <a:schemeClr val="bg1"/>
                </a:solidFill>
              </a:rPr>
              <a:t> --endpoints=https://127.0.0.1:2379 --</a:t>
            </a:r>
            <a:r>
              <a:rPr lang="en-US" altLang="ko-KR" sz="1200" dirty="0" err="1">
                <a:solidFill>
                  <a:schemeClr val="bg1"/>
                </a:solidFill>
              </a:rPr>
              <a:t>cacert</a:t>
            </a:r>
            <a:r>
              <a:rPr lang="en-US" altLang="ko-KR" sz="1200" dirty="0">
                <a:solidFill>
                  <a:schemeClr val="bg1"/>
                </a:solidFill>
              </a:rPr>
              <a:t> 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etc</a:t>
            </a:r>
            <a:r>
              <a:rPr lang="en-US" altLang="ko-KR" sz="1200" dirty="0" smtClean="0">
                <a:solidFill>
                  <a:schemeClr val="bg1"/>
                </a:solidFill>
              </a:rPr>
              <a:t>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kubernetes</a:t>
            </a:r>
            <a:r>
              <a:rPr lang="en-US" altLang="ko-KR" sz="1200" dirty="0" smtClean="0">
                <a:solidFill>
                  <a:schemeClr val="bg1"/>
                </a:solidFill>
              </a:rPr>
              <a:t>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pki</a:t>
            </a:r>
            <a:r>
              <a:rPr lang="en-US" altLang="ko-KR" sz="1200" dirty="0" smtClean="0">
                <a:solidFill>
                  <a:schemeClr val="bg1"/>
                </a:solidFill>
              </a:rPr>
              <a:t>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etcd</a:t>
            </a:r>
            <a:r>
              <a:rPr lang="en-US" altLang="ko-KR" sz="1200" dirty="0" smtClean="0">
                <a:solidFill>
                  <a:schemeClr val="bg1"/>
                </a:solidFill>
              </a:rPr>
              <a:t>/ca.crt \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--</a:t>
            </a:r>
            <a:r>
              <a:rPr lang="en-US" altLang="ko-KR" sz="1200" dirty="0">
                <a:solidFill>
                  <a:schemeClr val="bg1"/>
                </a:solidFill>
              </a:rPr>
              <a:t>cert /</a:t>
            </a:r>
            <a:r>
              <a:rPr lang="en-US" altLang="ko-KR" sz="1200" dirty="0" err="1">
                <a:solidFill>
                  <a:schemeClr val="bg1"/>
                </a:solidFill>
              </a:rPr>
              <a:t>etc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en-US" altLang="ko-KR" sz="1200" dirty="0" err="1">
                <a:solidFill>
                  <a:schemeClr val="bg1"/>
                </a:solidFill>
              </a:rPr>
              <a:t>kubernetes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en-US" altLang="ko-KR" sz="1200" dirty="0" err="1">
                <a:solidFill>
                  <a:schemeClr val="bg1"/>
                </a:solidFill>
              </a:rPr>
              <a:t>pki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en-US" altLang="ko-KR" sz="1200" dirty="0" err="1">
                <a:solidFill>
                  <a:schemeClr val="bg1"/>
                </a:solidFill>
              </a:rPr>
              <a:t>etcd</a:t>
            </a:r>
            <a:r>
              <a:rPr lang="en-US" altLang="ko-KR" sz="1200" dirty="0">
                <a:solidFill>
                  <a:schemeClr val="bg1"/>
                </a:solidFill>
              </a:rPr>
              <a:t>/server.crt </a:t>
            </a:r>
            <a:r>
              <a:rPr lang="en-US" altLang="ko-KR" sz="1200" dirty="0" smtClean="0">
                <a:solidFill>
                  <a:schemeClr val="bg1"/>
                </a:solidFill>
              </a:rPr>
              <a:t>\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--</a:t>
            </a:r>
            <a:r>
              <a:rPr lang="en-US" altLang="ko-KR" sz="1200" dirty="0">
                <a:solidFill>
                  <a:schemeClr val="bg1"/>
                </a:solidFill>
              </a:rPr>
              <a:t>key /</a:t>
            </a:r>
            <a:r>
              <a:rPr lang="en-US" altLang="ko-KR" sz="1200" dirty="0" err="1">
                <a:solidFill>
                  <a:schemeClr val="bg1"/>
                </a:solidFill>
              </a:rPr>
              <a:t>etc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en-US" altLang="ko-KR" sz="1200" dirty="0" err="1">
                <a:solidFill>
                  <a:schemeClr val="bg1"/>
                </a:solidFill>
              </a:rPr>
              <a:t>kubernetes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en-US" altLang="ko-KR" sz="1200" dirty="0" err="1">
                <a:solidFill>
                  <a:schemeClr val="bg1"/>
                </a:solidFill>
              </a:rPr>
              <a:t>pki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en-US" altLang="ko-KR" sz="1200" dirty="0" err="1">
                <a:solidFill>
                  <a:schemeClr val="bg1"/>
                </a:solidFill>
              </a:rPr>
              <a:t>etcd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en-US" altLang="ko-KR" sz="1200" dirty="0" err="1">
                <a:solidFill>
                  <a:schemeClr val="bg1"/>
                </a:solidFill>
              </a:rPr>
              <a:t>server.key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\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snapshot </a:t>
            </a:r>
            <a:r>
              <a:rPr lang="en-US" altLang="ko-KR" sz="1200" dirty="0">
                <a:solidFill>
                  <a:schemeClr val="bg1"/>
                </a:solidFill>
              </a:rPr>
              <a:t>save ./snapshot-pre-</a:t>
            </a:r>
            <a:r>
              <a:rPr lang="en-US" altLang="ko-KR" sz="1200" dirty="0" err="1">
                <a:solidFill>
                  <a:schemeClr val="bg1"/>
                </a:solidFill>
              </a:rPr>
              <a:t>boot.db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1199" y="1930993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ETCD Snapshot Status </a:t>
            </a:r>
            <a:r>
              <a:rPr lang="ko-KR" altLang="en-US" sz="1400" dirty="0" smtClean="0"/>
              <a:t>확인</a:t>
            </a:r>
            <a:endParaRPr lang="en-US" altLang="ko-KR" sz="1200" dirty="0"/>
          </a:p>
        </p:txBody>
      </p:sp>
      <p:sp>
        <p:nvSpPr>
          <p:cNvPr id="15" name="TextBox 5"/>
          <p:cNvSpPr txBox="1"/>
          <p:nvPr/>
        </p:nvSpPr>
        <p:spPr>
          <a:xfrm>
            <a:off x="969483" y="2238770"/>
            <a:ext cx="10576193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ETCDCTL_API=3 ./</a:t>
            </a:r>
            <a:r>
              <a:rPr lang="en-US" altLang="ko-KR" sz="1200" dirty="0" err="1">
                <a:solidFill>
                  <a:schemeClr val="bg1"/>
                </a:solidFill>
              </a:rPr>
              <a:t>etcdutl</a:t>
            </a:r>
            <a:r>
              <a:rPr lang="en-US" altLang="ko-KR" sz="1200" dirty="0">
                <a:solidFill>
                  <a:schemeClr val="bg1"/>
                </a:solidFill>
              </a:rPr>
              <a:t> snapshot status ./snapshot-pre-</a:t>
            </a:r>
            <a:r>
              <a:rPr lang="en-US" altLang="ko-KR" sz="1200" dirty="0" err="1">
                <a:solidFill>
                  <a:schemeClr val="bg1"/>
                </a:solidFill>
              </a:rPr>
              <a:t>boot.db</a:t>
            </a:r>
            <a:r>
              <a:rPr lang="en-US" altLang="ko-KR" sz="1200" dirty="0">
                <a:solidFill>
                  <a:schemeClr val="bg1"/>
                </a:solidFill>
              </a:rPr>
              <a:t> -w table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+----------+--------------+------------+----------------+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|   HASH   | REVISION  </a:t>
            </a:r>
            <a:r>
              <a:rPr lang="en-US" altLang="ko-KR" sz="1200" dirty="0" smtClean="0">
                <a:solidFill>
                  <a:schemeClr val="bg1"/>
                </a:solidFill>
              </a:rPr>
              <a:t>  | </a:t>
            </a:r>
            <a:r>
              <a:rPr lang="en-US" altLang="ko-KR" sz="1200" dirty="0">
                <a:solidFill>
                  <a:schemeClr val="bg1"/>
                </a:solidFill>
              </a:rPr>
              <a:t>TOTAL KEYS | TOTAL SIZE </a:t>
            </a:r>
            <a:r>
              <a:rPr lang="en-US" altLang="ko-KR" sz="1200" dirty="0" smtClean="0">
                <a:solidFill>
                  <a:schemeClr val="bg1"/>
                </a:solidFill>
              </a:rPr>
              <a:t> |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+----------+--------------+------------+----------------+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| ea990888 | 189941359 |       2378 |      48 MB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|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+----------+--------------+------------+----------------+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1199" y="3515868"/>
            <a:ext cx="9857564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ETCD Restore</a:t>
            </a:r>
          </a:p>
          <a:p>
            <a:pPr marL="360000" indent="-1800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ETCD </a:t>
            </a:r>
            <a:r>
              <a:rPr lang="ko-KR" altLang="en-US" sz="1200" dirty="0" smtClean="0"/>
              <a:t>서버 복구 전에 </a:t>
            </a:r>
            <a:r>
              <a:rPr lang="en-US" altLang="ko-KR" sz="1200" dirty="0" err="1" smtClean="0"/>
              <a:t>kube-apiserver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다운</a:t>
            </a:r>
            <a:endParaRPr lang="en-US" altLang="ko-KR" sz="1200" dirty="0" smtClean="0"/>
          </a:p>
          <a:p>
            <a:pPr marL="360000" indent="-1800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360000" indent="-1800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200" dirty="0" smtClean="0"/>
              <a:t>복구 진행</a:t>
            </a:r>
            <a:endParaRPr lang="en-US" altLang="ko-KR" sz="1200" dirty="0" smtClean="0"/>
          </a:p>
          <a:p>
            <a:pPr marL="360000" indent="-1800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360000" indent="-1800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/</a:t>
            </a:r>
            <a:r>
              <a:rPr lang="en-US" altLang="ko-KR" sz="1200" dirty="0" err="1" smtClean="0"/>
              <a:t>etc</a:t>
            </a:r>
            <a:r>
              <a:rPr lang="en-US" altLang="ko-KR" sz="1200" dirty="0" smtClean="0"/>
              <a:t>/</a:t>
            </a:r>
            <a:r>
              <a:rPr lang="en-US" altLang="ko-KR" sz="1200" dirty="0" err="1" smtClean="0"/>
              <a:t>kubernetes</a:t>
            </a:r>
            <a:r>
              <a:rPr lang="en-US" altLang="ko-KR" sz="1200" dirty="0" smtClean="0"/>
              <a:t>/manifest/</a:t>
            </a:r>
            <a:r>
              <a:rPr lang="en-US" altLang="ko-KR" sz="1200" dirty="0" err="1" smtClean="0"/>
              <a:t>etcd.yaml</a:t>
            </a:r>
            <a:r>
              <a:rPr lang="ko-KR" altLang="en-US" sz="1200" dirty="0" smtClean="0"/>
              <a:t>에서 </a:t>
            </a:r>
            <a:r>
              <a:rPr lang="en-US" altLang="ko-KR" sz="1200" dirty="0" smtClean="0"/>
              <a:t>--data-</a:t>
            </a:r>
            <a:r>
              <a:rPr lang="en-US" altLang="ko-KR" sz="1200" dirty="0" err="1" smtClean="0"/>
              <a:t>dir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변경 후 </a:t>
            </a:r>
            <a:r>
              <a:rPr lang="en-US" altLang="ko-KR" sz="1200" dirty="0" err="1" smtClean="0"/>
              <a:t>etcd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재 기동</a:t>
            </a:r>
            <a:endParaRPr lang="en-US" altLang="ko-KR" sz="1200" dirty="0" smtClean="0"/>
          </a:p>
          <a:p>
            <a:pPr marL="360000" indent="-1800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err="1"/>
              <a:t>k</a:t>
            </a:r>
            <a:r>
              <a:rPr lang="en-US" altLang="ko-KR" sz="1200" dirty="0" err="1" smtClean="0"/>
              <a:t>ube-apiserver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재 기동</a:t>
            </a:r>
            <a:endParaRPr lang="en-US" altLang="ko-KR" sz="1200" dirty="0"/>
          </a:p>
        </p:txBody>
      </p:sp>
      <p:sp>
        <p:nvSpPr>
          <p:cNvPr id="21" name="TextBox 5"/>
          <p:cNvSpPr txBox="1"/>
          <p:nvPr/>
        </p:nvSpPr>
        <p:spPr>
          <a:xfrm>
            <a:off x="1145753" y="4136551"/>
            <a:ext cx="10399923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smtClean="0">
                <a:solidFill>
                  <a:schemeClr val="bg1"/>
                </a:solidFill>
              </a:rPr>
              <a:t>mv 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etc</a:t>
            </a:r>
            <a:r>
              <a:rPr lang="en-US" altLang="ko-KR" sz="1200" dirty="0" smtClean="0">
                <a:solidFill>
                  <a:schemeClr val="bg1"/>
                </a:solidFill>
              </a:rPr>
              <a:t>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kubernetest</a:t>
            </a:r>
            <a:r>
              <a:rPr lang="en-US" altLang="ko-KR" sz="1200" dirty="0" smtClean="0">
                <a:solidFill>
                  <a:schemeClr val="bg1"/>
                </a:solidFill>
              </a:rPr>
              <a:t>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kube-apiserver.yaml</a:t>
            </a:r>
            <a:r>
              <a:rPr lang="en-US" altLang="ko-KR" sz="1200" dirty="0" smtClean="0">
                <a:solidFill>
                  <a:schemeClr val="bg1"/>
                </a:solidFill>
              </a:rPr>
              <a:t> 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etc</a:t>
            </a:r>
            <a:r>
              <a:rPr lang="en-US" altLang="ko-KR" sz="1200" dirty="0" smtClean="0">
                <a:solidFill>
                  <a:schemeClr val="bg1"/>
                </a:solidFill>
              </a:rPr>
              <a:t>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kubernetes</a:t>
            </a:r>
            <a:r>
              <a:rPr lang="en-US" altLang="ko-KR" sz="1200" dirty="0" smtClean="0">
                <a:solidFill>
                  <a:schemeClr val="bg1"/>
                </a:solidFill>
              </a:rPr>
              <a:t>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kube-apiserver_backup.yaml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2" name="TextBox 5"/>
          <p:cNvSpPr txBox="1"/>
          <p:nvPr/>
        </p:nvSpPr>
        <p:spPr>
          <a:xfrm>
            <a:off x="1145752" y="4757234"/>
            <a:ext cx="10399923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ETCDCTL_API=3 ./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etcdctl</a:t>
            </a:r>
            <a:r>
              <a:rPr lang="en-US" altLang="ko-KR" sz="1200" dirty="0" smtClean="0">
                <a:solidFill>
                  <a:schemeClr val="bg1"/>
                </a:solidFill>
              </a:rPr>
              <a:t> snapshot restore snapshot-pre-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boot.db</a:t>
            </a:r>
            <a:r>
              <a:rPr lang="en-US" altLang="ko-KR" sz="1200" dirty="0" smtClean="0">
                <a:solidFill>
                  <a:schemeClr val="bg1"/>
                </a:solidFill>
              </a:rPr>
              <a:t> --data-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dir</a:t>
            </a:r>
            <a:r>
              <a:rPr lang="en-US" altLang="ko-KR" sz="1200" dirty="0" smtClean="0">
                <a:solidFill>
                  <a:schemeClr val="bg1"/>
                </a:solidFill>
              </a:rPr>
              <a:t> 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var</a:t>
            </a:r>
            <a:r>
              <a:rPr lang="en-US" altLang="ko-KR" sz="1200" dirty="0" smtClean="0">
                <a:solidFill>
                  <a:schemeClr val="bg1"/>
                </a:solidFill>
              </a:rPr>
              <a:t>/lib/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etcd</a:t>
            </a:r>
            <a:r>
              <a:rPr lang="en-US" altLang="ko-KR" sz="1200" dirty="0" smtClean="0">
                <a:solidFill>
                  <a:schemeClr val="bg1"/>
                </a:solidFill>
              </a:rPr>
              <a:t>-from-backup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4" name="TextBox 5"/>
          <p:cNvSpPr txBox="1"/>
          <p:nvPr/>
        </p:nvSpPr>
        <p:spPr>
          <a:xfrm>
            <a:off x="1145752" y="5645997"/>
            <a:ext cx="10399923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mv 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etc</a:t>
            </a:r>
            <a:r>
              <a:rPr lang="en-US" altLang="ko-KR" sz="1200" dirty="0" smtClean="0">
                <a:solidFill>
                  <a:schemeClr val="bg1"/>
                </a:solidFill>
              </a:rPr>
              <a:t>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kubernetest</a:t>
            </a:r>
            <a:r>
              <a:rPr lang="en-US" altLang="ko-KR" sz="1200" dirty="0" smtClean="0">
                <a:solidFill>
                  <a:schemeClr val="bg1"/>
                </a:solidFill>
              </a:rPr>
              <a:t>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kube-apiserver_backup.yaml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etc</a:t>
            </a:r>
            <a:r>
              <a:rPr lang="en-US" altLang="ko-KR" sz="1200" dirty="0" smtClean="0">
                <a:solidFill>
                  <a:schemeClr val="bg1"/>
                </a:solidFill>
              </a:rPr>
              <a:t>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kubernetes</a:t>
            </a:r>
            <a:r>
              <a:rPr lang="en-US" altLang="ko-KR" sz="1200" dirty="0" smtClean="0">
                <a:solidFill>
                  <a:schemeClr val="bg1"/>
                </a:solidFill>
              </a:rPr>
              <a:t>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kube-apiserver.yaml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744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Upgrade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11199" y="863950"/>
            <a:ext cx="10474251" cy="26444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425575" y="1013828"/>
            <a:ext cx="2425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Deployments</a:t>
            </a:r>
            <a:endParaRPr lang="ko-KR" altLang="en-US" b="1" dirty="0"/>
          </a:p>
        </p:txBody>
      </p:sp>
      <p:grpSp>
        <p:nvGrpSpPr>
          <p:cNvPr id="2" name="그룹 1"/>
          <p:cNvGrpSpPr/>
          <p:nvPr/>
        </p:nvGrpSpPr>
        <p:grpSpPr>
          <a:xfrm>
            <a:off x="1425576" y="1736818"/>
            <a:ext cx="4188416" cy="1483334"/>
            <a:chOff x="1425576" y="1736818"/>
            <a:chExt cx="4188416" cy="1483334"/>
          </a:xfrm>
        </p:grpSpPr>
        <p:sp>
          <p:nvSpPr>
            <p:cNvPr id="12" name="모서리가 둥근 직사각형 11"/>
            <p:cNvSpPr/>
            <p:nvPr/>
          </p:nvSpPr>
          <p:spPr>
            <a:xfrm>
              <a:off x="1425576" y="1736818"/>
              <a:ext cx="4188416" cy="1483334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D9E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141058" y="1954804"/>
              <a:ext cx="1469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/>
                <a:t>ReplicaSet-1</a:t>
              </a:r>
              <a:endParaRPr lang="ko-KR" altLang="en-US" b="1" dirty="0"/>
            </a:p>
          </p:txBody>
        </p:sp>
        <p:sp>
          <p:nvSpPr>
            <p:cNvPr id="14" name="모서리가 둥근 직사각형 13"/>
            <p:cNvSpPr/>
            <p:nvPr/>
          </p:nvSpPr>
          <p:spPr>
            <a:xfrm>
              <a:off x="1730522" y="2574299"/>
              <a:ext cx="1729409" cy="46632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Pod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모서리가 둥근 직사각형 14"/>
            <p:cNvSpPr/>
            <p:nvPr/>
          </p:nvSpPr>
          <p:spPr>
            <a:xfrm>
              <a:off x="3610563" y="2574299"/>
              <a:ext cx="1729409" cy="46632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Pod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3" cstate="screen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0522" y="2574299"/>
              <a:ext cx="299811" cy="284441"/>
            </a:xfrm>
            <a:prstGeom prst="rect">
              <a:avLst/>
            </a:prstGeom>
          </p:spPr>
        </p:pic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3" cstate="screen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14971" y="2576182"/>
              <a:ext cx="299811" cy="284441"/>
            </a:xfrm>
            <a:prstGeom prst="rect">
              <a:avLst/>
            </a:prstGeom>
          </p:spPr>
        </p:pic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5" cstate="screen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18" b="99482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5626" y="1768651"/>
              <a:ext cx="544707" cy="523027"/>
            </a:xfrm>
            <a:prstGeom prst="rect">
              <a:avLst/>
            </a:prstGeom>
          </p:spPr>
        </p:pic>
      </p:grpSp>
      <p:pic>
        <p:nvPicPr>
          <p:cNvPr id="23" name="그림 22"/>
          <p:cNvPicPr>
            <a:picLocks noChangeAspect="1"/>
          </p:cNvPicPr>
          <p:nvPr/>
        </p:nvPicPr>
        <p:blipFill>
          <a:blip r:embed="rId7" cstate="screen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99482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02" y="894508"/>
            <a:ext cx="633172" cy="607971"/>
          </a:xfrm>
          <a:prstGeom prst="rect">
            <a:avLst/>
          </a:prstGeom>
        </p:spPr>
      </p:pic>
      <p:grpSp>
        <p:nvGrpSpPr>
          <p:cNvPr id="41" name="그룹 40"/>
          <p:cNvGrpSpPr/>
          <p:nvPr/>
        </p:nvGrpSpPr>
        <p:grpSpPr>
          <a:xfrm>
            <a:off x="6252759" y="1736818"/>
            <a:ext cx="4188416" cy="1483334"/>
            <a:chOff x="1425576" y="1736818"/>
            <a:chExt cx="4188416" cy="1483334"/>
          </a:xfrm>
        </p:grpSpPr>
        <p:sp>
          <p:nvSpPr>
            <p:cNvPr id="43" name="모서리가 둥근 직사각형 42"/>
            <p:cNvSpPr/>
            <p:nvPr/>
          </p:nvSpPr>
          <p:spPr>
            <a:xfrm>
              <a:off x="1425576" y="1736818"/>
              <a:ext cx="4188416" cy="1483334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D9E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141058" y="1954804"/>
              <a:ext cx="1469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/>
                <a:t>ReplicaSet-2</a:t>
              </a:r>
              <a:endParaRPr lang="ko-KR" altLang="en-US" b="1" dirty="0"/>
            </a:p>
          </p:txBody>
        </p:sp>
        <p:sp>
          <p:nvSpPr>
            <p:cNvPr id="45" name="모서리가 둥근 직사각형 44"/>
            <p:cNvSpPr/>
            <p:nvPr/>
          </p:nvSpPr>
          <p:spPr>
            <a:xfrm>
              <a:off x="1730522" y="2574299"/>
              <a:ext cx="1729409" cy="46632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Pod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모서리가 둥근 직사각형 45"/>
            <p:cNvSpPr/>
            <p:nvPr/>
          </p:nvSpPr>
          <p:spPr>
            <a:xfrm>
              <a:off x="3610563" y="2574299"/>
              <a:ext cx="1729409" cy="46632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Pod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47" name="그림 46"/>
            <p:cNvPicPr>
              <a:picLocks noChangeAspect="1"/>
            </p:cNvPicPr>
            <p:nvPr/>
          </p:nvPicPr>
          <p:blipFill>
            <a:blip r:embed="rId3" cstate="screen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0522" y="2574299"/>
              <a:ext cx="299811" cy="284441"/>
            </a:xfrm>
            <a:prstGeom prst="rect">
              <a:avLst/>
            </a:prstGeom>
          </p:spPr>
        </p:pic>
        <p:pic>
          <p:nvPicPr>
            <p:cNvPr id="48" name="그림 47"/>
            <p:cNvPicPr>
              <a:picLocks noChangeAspect="1"/>
            </p:cNvPicPr>
            <p:nvPr/>
          </p:nvPicPr>
          <p:blipFill>
            <a:blip r:embed="rId3" cstate="screen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14971" y="2576182"/>
              <a:ext cx="299811" cy="284441"/>
            </a:xfrm>
            <a:prstGeom prst="rect">
              <a:avLst/>
            </a:prstGeom>
          </p:spPr>
        </p:pic>
        <p:pic>
          <p:nvPicPr>
            <p:cNvPr id="49" name="그림 48"/>
            <p:cNvPicPr>
              <a:picLocks noChangeAspect="1"/>
            </p:cNvPicPr>
            <p:nvPr/>
          </p:nvPicPr>
          <p:blipFill>
            <a:blip r:embed="rId5" cstate="screen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18" b="99482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5626" y="1768651"/>
              <a:ext cx="544707" cy="523027"/>
            </a:xfrm>
            <a:prstGeom prst="rect">
              <a:avLst/>
            </a:prstGeom>
          </p:spPr>
        </p:pic>
      </p:grpSp>
      <p:grpSp>
        <p:nvGrpSpPr>
          <p:cNvPr id="22" name="그룹 21"/>
          <p:cNvGrpSpPr/>
          <p:nvPr/>
        </p:nvGrpSpPr>
        <p:grpSpPr>
          <a:xfrm>
            <a:off x="708993" y="3789326"/>
            <a:ext cx="6981825" cy="1028700"/>
            <a:chOff x="708993" y="3789326"/>
            <a:chExt cx="6981825" cy="1028700"/>
          </a:xfrm>
        </p:grpSpPr>
        <p:pic>
          <p:nvPicPr>
            <p:cNvPr id="20" name="그림 1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08993" y="3789326"/>
              <a:ext cx="6981825" cy="1028700"/>
            </a:xfrm>
            <a:prstGeom prst="rect">
              <a:avLst/>
            </a:prstGeom>
          </p:spPr>
        </p:pic>
        <p:sp>
          <p:nvSpPr>
            <p:cNvPr id="4" name="직사각형 3"/>
            <p:cNvSpPr/>
            <p:nvPr/>
          </p:nvSpPr>
          <p:spPr>
            <a:xfrm>
              <a:off x="708993" y="4061398"/>
              <a:ext cx="1741871" cy="75662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684186" y="5018263"/>
            <a:ext cx="7191376" cy="771525"/>
            <a:chOff x="684186" y="5018263"/>
            <a:chExt cx="7191376" cy="771525"/>
          </a:xfrm>
        </p:grpSpPr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84186" y="5018263"/>
              <a:ext cx="7191375" cy="771525"/>
            </a:xfrm>
            <a:prstGeom prst="rect">
              <a:avLst/>
            </a:prstGeom>
          </p:spPr>
        </p:pic>
        <p:sp>
          <p:nvSpPr>
            <p:cNvPr id="50" name="직사각형 49"/>
            <p:cNvSpPr/>
            <p:nvPr/>
          </p:nvSpPr>
          <p:spPr>
            <a:xfrm>
              <a:off x="708994" y="5300690"/>
              <a:ext cx="7166568" cy="20697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5527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Rollback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11199" y="863950"/>
            <a:ext cx="10474251" cy="26444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425575" y="1013828"/>
            <a:ext cx="2425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Deployments</a:t>
            </a:r>
            <a:endParaRPr lang="ko-KR" altLang="en-US" b="1" dirty="0"/>
          </a:p>
        </p:txBody>
      </p:sp>
      <p:grpSp>
        <p:nvGrpSpPr>
          <p:cNvPr id="2" name="그룹 1"/>
          <p:cNvGrpSpPr/>
          <p:nvPr/>
        </p:nvGrpSpPr>
        <p:grpSpPr>
          <a:xfrm>
            <a:off x="1425576" y="1736818"/>
            <a:ext cx="4188416" cy="1483334"/>
            <a:chOff x="1425576" y="1736818"/>
            <a:chExt cx="4188416" cy="1483334"/>
          </a:xfrm>
        </p:grpSpPr>
        <p:sp>
          <p:nvSpPr>
            <p:cNvPr id="12" name="모서리가 둥근 직사각형 11"/>
            <p:cNvSpPr/>
            <p:nvPr/>
          </p:nvSpPr>
          <p:spPr>
            <a:xfrm>
              <a:off x="1425576" y="1736818"/>
              <a:ext cx="4188416" cy="1483334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D9E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141058" y="1954804"/>
              <a:ext cx="1469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/>
                <a:t>ReplicaSet-1</a:t>
              </a:r>
              <a:endParaRPr lang="ko-KR" altLang="en-US" b="1" dirty="0"/>
            </a:p>
          </p:txBody>
        </p:sp>
        <p:sp>
          <p:nvSpPr>
            <p:cNvPr id="14" name="모서리가 둥근 직사각형 13"/>
            <p:cNvSpPr/>
            <p:nvPr/>
          </p:nvSpPr>
          <p:spPr>
            <a:xfrm>
              <a:off x="1730522" y="2574299"/>
              <a:ext cx="1729409" cy="46632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Pod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모서리가 둥근 직사각형 14"/>
            <p:cNvSpPr/>
            <p:nvPr/>
          </p:nvSpPr>
          <p:spPr>
            <a:xfrm>
              <a:off x="3610563" y="2574299"/>
              <a:ext cx="1729409" cy="46632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Pod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3" cstate="screen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0522" y="2574299"/>
              <a:ext cx="299811" cy="284441"/>
            </a:xfrm>
            <a:prstGeom prst="rect">
              <a:avLst/>
            </a:prstGeom>
          </p:spPr>
        </p:pic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3" cstate="screen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14971" y="2576182"/>
              <a:ext cx="299811" cy="284441"/>
            </a:xfrm>
            <a:prstGeom prst="rect">
              <a:avLst/>
            </a:prstGeom>
          </p:spPr>
        </p:pic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5" cstate="screen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18" b="99482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5626" y="1768651"/>
              <a:ext cx="544707" cy="523027"/>
            </a:xfrm>
            <a:prstGeom prst="rect">
              <a:avLst/>
            </a:prstGeom>
          </p:spPr>
        </p:pic>
      </p:grpSp>
      <p:pic>
        <p:nvPicPr>
          <p:cNvPr id="23" name="그림 22"/>
          <p:cNvPicPr>
            <a:picLocks noChangeAspect="1"/>
          </p:cNvPicPr>
          <p:nvPr/>
        </p:nvPicPr>
        <p:blipFill>
          <a:blip r:embed="rId7" cstate="screen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99482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02" y="894508"/>
            <a:ext cx="633172" cy="607971"/>
          </a:xfrm>
          <a:prstGeom prst="rect">
            <a:avLst/>
          </a:prstGeom>
        </p:spPr>
      </p:pic>
      <p:grpSp>
        <p:nvGrpSpPr>
          <p:cNvPr id="41" name="그룹 40"/>
          <p:cNvGrpSpPr/>
          <p:nvPr/>
        </p:nvGrpSpPr>
        <p:grpSpPr>
          <a:xfrm>
            <a:off x="6252759" y="1736818"/>
            <a:ext cx="4188416" cy="1483334"/>
            <a:chOff x="1425576" y="1736818"/>
            <a:chExt cx="4188416" cy="1483334"/>
          </a:xfrm>
        </p:grpSpPr>
        <p:sp>
          <p:nvSpPr>
            <p:cNvPr id="43" name="모서리가 둥근 직사각형 42"/>
            <p:cNvSpPr/>
            <p:nvPr/>
          </p:nvSpPr>
          <p:spPr>
            <a:xfrm>
              <a:off x="1425576" y="1736818"/>
              <a:ext cx="4188416" cy="1483334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D9E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141058" y="1954804"/>
              <a:ext cx="1469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/>
                <a:t>ReplicaSet-2</a:t>
              </a:r>
              <a:endParaRPr lang="ko-KR" altLang="en-US" b="1" dirty="0"/>
            </a:p>
          </p:txBody>
        </p:sp>
        <p:sp>
          <p:nvSpPr>
            <p:cNvPr id="45" name="모서리가 둥근 직사각형 44"/>
            <p:cNvSpPr/>
            <p:nvPr/>
          </p:nvSpPr>
          <p:spPr>
            <a:xfrm>
              <a:off x="1730522" y="2574299"/>
              <a:ext cx="1729409" cy="46632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Pod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모서리가 둥근 직사각형 45"/>
            <p:cNvSpPr/>
            <p:nvPr/>
          </p:nvSpPr>
          <p:spPr>
            <a:xfrm>
              <a:off x="3610563" y="2574299"/>
              <a:ext cx="1729409" cy="46632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ysClr val="windowText" lastClr="000000"/>
                  </a:solidFill>
                </a:rPr>
                <a:t>Pod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47" name="그림 46"/>
            <p:cNvPicPr>
              <a:picLocks noChangeAspect="1"/>
            </p:cNvPicPr>
            <p:nvPr/>
          </p:nvPicPr>
          <p:blipFill>
            <a:blip r:embed="rId3" cstate="screen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0522" y="2574299"/>
              <a:ext cx="299811" cy="284441"/>
            </a:xfrm>
            <a:prstGeom prst="rect">
              <a:avLst/>
            </a:prstGeom>
          </p:spPr>
        </p:pic>
        <p:pic>
          <p:nvPicPr>
            <p:cNvPr id="48" name="그림 47"/>
            <p:cNvPicPr>
              <a:picLocks noChangeAspect="1"/>
            </p:cNvPicPr>
            <p:nvPr/>
          </p:nvPicPr>
          <p:blipFill>
            <a:blip r:embed="rId3" cstate="screen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36" b="96373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14971" y="2576182"/>
              <a:ext cx="299811" cy="284441"/>
            </a:xfrm>
            <a:prstGeom prst="rect">
              <a:avLst/>
            </a:prstGeom>
          </p:spPr>
        </p:pic>
        <p:pic>
          <p:nvPicPr>
            <p:cNvPr id="49" name="그림 48"/>
            <p:cNvPicPr>
              <a:picLocks noChangeAspect="1"/>
            </p:cNvPicPr>
            <p:nvPr/>
          </p:nvPicPr>
          <p:blipFill>
            <a:blip r:embed="rId5" cstate="screen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518" b="99482" l="498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5626" y="1768651"/>
              <a:ext cx="544707" cy="523027"/>
            </a:xfrm>
            <a:prstGeom prst="rect">
              <a:avLst/>
            </a:prstGeom>
          </p:spPr>
        </p:pic>
      </p:grpSp>
      <p:grpSp>
        <p:nvGrpSpPr>
          <p:cNvPr id="6" name="그룹 5"/>
          <p:cNvGrpSpPr/>
          <p:nvPr/>
        </p:nvGrpSpPr>
        <p:grpSpPr>
          <a:xfrm>
            <a:off x="711199" y="3971804"/>
            <a:ext cx="7210425" cy="1476375"/>
            <a:chOff x="870054" y="3695357"/>
            <a:chExt cx="7210425" cy="1476375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70054" y="3695357"/>
              <a:ext cx="7210425" cy="1476375"/>
            </a:xfrm>
            <a:prstGeom prst="rect">
              <a:avLst/>
            </a:prstGeom>
          </p:spPr>
        </p:pic>
        <p:sp>
          <p:nvSpPr>
            <p:cNvPr id="50" name="직사각형 49"/>
            <p:cNvSpPr/>
            <p:nvPr/>
          </p:nvSpPr>
          <p:spPr>
            <a:xfrm>
              <a:off x="870054" y="3954145"/>
              <a:ext cx="7166568" cy="52216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870054" y="4997282"/>
              <a:ext cx="7166568" cy="17445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55148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Command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Deployment Controller </a:t>
            </a:r>
            <a:r>
              <a:rPr lang="ko-KR" altLang="en-US" sz="1400" dirty="0" smtClean="0"/>
              <a:t>재 시작</a:t>
            </a:r>
            <a:endParaRPr lang="en-US" altLang="ko-KR" sz="1200" dirty="0"/>
          </a:p>
        </p:txBody>
      </p:sp>
      <p:sp>
        <p:nvSpPr>
          <p:cNvPr id="48" name="TextBox 5"/>
          <p:cNvSpPr txBox="1"/>
          <p:nvPr/>
        </p:nvSpPr>
        <p:spPr>
          <a:xfrm>
            <a:off x="956044" y="1023227"/>
            <a:ext cx="10803566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rollout </a:t>
            </a:r>
            <a:r>
              <a:rPr lang="en-US" altLang="ko-KR" sz="1200" dirty="0" smtClean="0">
                <a:solidFill>
                  <a:schemeClr val="bg1"/>
                </a:solidFill>
              </a:rPr>
              <a:t>restart deployment [DEPLOYMENT_NAME]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11199" y="1331004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Rollout </a:t>
            </a:r>
            <a:r>
              <a:rPr lang="ko-KR" altLang="en-US" sz="1400" dirty="0" smtClean="0"/>
              <a:t>상태 확인</a:t>
            </a:r>
            <a:endParaRPr lang="en-US" altLang="ko-KR" sz="1200" dirty="0"/>
          </a:p>
        </p:txBody>
      </p:sp>
      <p:sp>
        <p:nvSpPr>
          <p:cNvPr id="50" name="TextBox 5"/>
          <p:cNvSpPr txBox="1"/>
          <p:nvPr/>
        </p:nvSpPr>
        <p:spPr>
          <a:xfrm>
            <a:off x="956044" y="1638781"/>
            <a:ext cx="10803566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rollout status </a:t>
            </a:r>
            <a:r>
              <a:rPr lang="en-US" altLang="ko-KR" sz="1200" dirty="0" smtClean="0">
                <a:solidFill>
                  <a:schemeClr val="bg1"/>
                </a:solidFill>
              </a:rPr>
              <a:t>deployment </a:t>
            </a:r>
            <a:r>
              <a:rPr lang="en-US" altLang="ko-KR" sz="1200" dirty="0">
                <a:solidFill>
                  <a:schemeClr val="bg1"/>
                </a:solidFill>
              </a:rPr>
              <a:t>[DEPLOYMENT_NAME]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1199" y="1977336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Rollout </a:t>
            </a:r>
            <a:r>
              <a:rPr lang="ko-KR" altLang="en-US" sz="1400" dirty="0" smtClean="0"/>
              <a:t>이력 확인</a:t>
            </a:r>
            <a:endParaRPr lang="en-US" altLang="ko-KR" sz="1200" dirty="0"/>
          </a:p>
        </p:txBody>
      </p:sp>
      <p:sp>
        <p:nvSpPr>
          <p:cNvPr id="54" name="TextBox 5"/>
          <p:cNvSpPr txBox="1"/>
          <p:nvPr/>
        </p:nvSpPr>
        <p:spPr>
          <a:xfrm>
            <a:off x="956044" y="2285113"/>
            <a:ext cx="10803566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rollout </a:t>
            </a:r>
            <a:r>
              <a:rPr lang="en-US" altLang="ko-KR" sz="1200" dirty="0" smtClean="0">
                <a:solidFill>
                  <a:schemeClr val="bg1"/>
                </a:solidFill>
              </a:rPr>
              <a:t>history deployment </a:t>
            </a:r>
            <a:r>
              <a:rPr lang="en-US" altLang="ko-KR" sz="1200" dirty="0">
                <a:solidFill>
                  <a:schemeClr val="bg1"/>
                </a:solidFill>
              </a:rPr>
              <a:t>[DEPLOYMENT_NAME]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1199" y="2623668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Rollback</a:t>
            </a:r>
            <a:endParaRPr lang="en-US" altLang="ko-KR" sz="1200" dirty="0"/>
          </a:p>
        </p:txBody>
      </p:sp>
      <p:sp>
        <p:nvSpPr>
          <p:cNvPr id="56" name="TextBox 5"/>
          <p:cNvSpPr txBox="1"/>
          <p:nvPr/>
        </p:nvSpPr>
        <p:spPr>
          <a:xfrm>
            <a:off x="956044" y="2931445"/>
            <a:ext cx="10803566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rollout </a:t>
            </a:r>
            <a:r>
              <a:rPr lang="en-US" altLang="ko-KR" sz="1200" dirty="0" smtClean="0">
                <a:solidFill>
                  <a:schemeClr val="bg1"/>
                </a:solidFill>
              </a:rPr>
              <a:t>undo deployment </a:t>
            </a:r>
            <a:r>
              <a:rPr lang="en-US" altLang="ko-KR" sz="1200" dirty="0">
                <a:solidFill>
                  <a:schemeClr val="bg1"/>
                </a:solidFill>
              </a:rPr>
              <a:t>[DEPLOYMENT_NAME]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1199" y="3266292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Update</a:t>
            </a:r>
            <a:endParaRPr lang="en-US" altLang="ko-KR" sz="1200" dirty="0"/>
          </a:p>
        </p:txBody>
      </p:sp>
      <p:sp>
        <p:nvSpPr>
          <p:cNvPr id="58" name="TextBox 5"/>
          <p:cNvSpPr txBox="1"/>
          <p:nvPr/>
        </p:nvSpPr>
        <p:spPr>
          <a:xfrm>
            <a:off x="956044" y="3574069"/>
            <a:ext cx="10803566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apply -f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deployments.yaml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$ 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set image deployments/[DEPLOYMENT_NAME] [</a:t>
            </a:r>
            <a:r>
              <a:rPr lang="ko-KR" altLang="en-US" sz="1200" dirty="0">
                <a:solidFill>
                  <a:schemeClr val="bg1"/>
                </a:solidFill>
              </a:rPr>
              <a:t>컨테이너이름</a:t>
            </a:r>
            <a:r>
              <a:rPr lang="en-US" altLang="ko-KR" sz="1200" dirty="0" smtClean="0">
                <a:solidFill>
                  <a:schemeClr val="bg1"/>
                </a:solidFill>
              </a:rPr>
              <a:t>]=[</a:t>
            </a:r>
            <a:r>
              <a:rPr lang="ko-KR" altLang="en-US" sz="1200" dirty="0" smtClean="0">
                <a:solidFill>
                  <a:schemeClr val="bg1"/>
                </a:solidFill>
              </a:rPr>
              <a:t>새로운 이미지 이름</a:t>
            </a:r>
            <a:r>
              <a:rPr lang="en-US" altLang="ko-KR" sz="1200" dirty="0" smtClean="0">
                <a:solidFill>
                  <a:schemeClr val="bg1"/>
                </a:solidFill>
              </a:rPr>
              <a:t>]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891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2524" y="2094660"/>
            <a:ext cx="4942186" cy="795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219"/>
              </a:lnSpc>
            </a:pPr>
            <a:r>
              <a:rPr sz="5400" spc="-104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WRTDIQ+SpoqaHanSans-Bold"/>
              </a:rPr>
              <a:t>감사합니다.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1464" y="4996703"/>
            <a:ext cx="5687935" cy="969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본사   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황새울로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258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번길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29,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티맥스수내타워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R&amp;D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센터 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정자일로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45, </a:t>
            </a:r>
            <a:r>
              <a:rPr lang="ko-KR" altLang="en-US" sz="105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티맥스타워</a:t>
            </a:r>
            <a:endParaRPr lang="en-US" altLang="ko-KR" sz="1050" dirty="0" smtClean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BVOPUE+SpoqaHanSans-Bold"/>
            </a:endParaRPr>
          </a:p>
          <a:p>
            <a:pPr>
              <a:lnSpc>
                <a:spcPct val="150000"/>
              </a:lnSpc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홈페이지</a:t>
            </a: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www.tmaxsoft.com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대표번호</a:t>
            </a: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031-8018-1000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464" y="4336547"/>
            <a:ext cx="2254733" cy="46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258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19312</TotalTime>
  <Words>1372</Words>
  <Application>Microsoft Office PowerPoint</Application>
  <PresentationFormat>와이드스크린</PresentationFormat>
  <Paragraphs>322</Paragraphs>
  <Slides>24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5" baseType="lpstr">
      <vt:lpstr>BVOPUE+SpoqaHanSans-Bold</vt:lpstr>
      <vt:lpstr>Pretendard SemiBold</vt:lpstr>
      <vt:lpstr>Univers LT Std 85 XBlk</vt:lpstr>
      <vt:lpstr>WRTDIQ+SpoqaHanSans-Bold</vt:lpstr>
      <vt:lpstr>뉴티맥스고딕 CJK</vt:lpstr>
      <vt:lpstr>맑은 고딕</vt:lpstr>
      <vt:lpstr>Arial</vt:lpstr>
      <vt:lpstr>Arial Black</vt:lpstr>
      <vt:lpstr>Lucida Sans Unicode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Tmax</dc:creator>
  <cp:lastModifiedBy>조 성환</cp:lastModifiedBy>
  <cp:revision>453</cp:revision>
  <dcterms:created xsi:type="dcterms:W3CDTF">2022-09-15T01:21:24Z</dcterms:created>
  <dcterms:modified xsi:type="dcterms:W3CDTF">2025-03-05T00:09:32Z</dcterms:modified>
</cp:coreProperties>
</file>