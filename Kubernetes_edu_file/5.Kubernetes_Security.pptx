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270" r:id="rId2"/>
    <p:sldId id="271" r:id="rId3"/>
    <p:sldId id="360" r:id="rId4"/>
    <p:sldId id="362" r:id="rId5"/>
    <p:sldId id="429" r:id="rId6"/>
    <p:sldId id="443" r:id="rId7"/>
    <p:sldId id="446" r:id="rId8"/>
    <p:sldId id="445" r:id="rId9"/>
    <p:sldId id="447" r:id="rId10"/>
    <p:sldId id="448" r:id="rId11"/>
    <p:sldId id="449" r:id="rId12"/>
    <p:sldId id="450" r:id="rId13"/>
    <p:sldId id="444" r:id="rId14"/>
    <p:sldId id="451" r:id="rId15"/>
    <p:sldId id="452" r:id="rId16"/>
    <p:sldId id="453" r:id="rId17"/>
    <p:sldId id="454" r:id="rId18"/>
    <p:sldId id="455" r:id="rId19"/>
    <p:sldId id="456" r:id="rId20"/>
    <p:sldId id="457" r:id="rId21"/>
    <p:sldId id="458" r:id="rId22"/>
    <p:sldId id="459" r:id="rId23"/>
    <p:sldId id="460" r:id="rId24"/>
    <p:sldId id="461" r:id="rId25"/>
    <p:sldId id="465" r:id="rId26"/>
    <p:sldId id="462" r:id="rId27"/>
    <p:sldId id="464" r:id="rId28"/>
    <p:sldId id="463" r:id="rId29"/>
    <p:sldId id="466" r:id="rId30"/>
    <p:sldId id="467" r:id="rId31"/>
    <p:sldId id="468" r:id="rId32"/>
    <p:sldId id="469" r:id="rId33"/>
    <p:sldId id="470" r:id="rId34"/>
    <p:sldId id="471" r:id="rId35"/>
    <p:sldId id="430" r:id="rId36"/>
    <p:sldId id="472" r:id="rId37"/>
    <p:sldId id="473" r:id="rId38"/>
    <p:sldId id="474" r:id="rId39"/>
    <p:sldId id="475" r:id="rId40"/>
    <p:sldId id="476" r:id="rId41"/>
    <p:sldId id="308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271"/>
            <p14:sldId id="360"/>
            <p14:sldId id="362"/>
            <p14:sldId id="429"/>
            <p14:sldId id="443"/>
            <p14:sldId id="446"/>
            <p14:sldId id="445"/>
            <p14:sldId id="447"/>
            <p14:sldId id="448"/>
            <p14:sldId id="449"/>
            <p14:sldId id="450"/>
            <p14:sldId id="444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5"/>
            <p14:sldId id="462"/>
            <p14:sldId id="464"/>
            <p14:sldId id="463"/>
            <p14:sldId id="466"/>
            <p14:sldId id="467"/>
            <p14:sldId id="468"/>
            <p14:sldId id="469"/>
            <p14:sldId id="470"/>
            <p14:sldId id="471"/>
            <p14:sldId id="430"/>
            <p14:sldId id="472"/>
            <p14:sldId id="473"/>
            <p14:sldId id="474"/>
            <p14:sldId id="475"/>
            <p14:sldId id="476"/>
            <p14:sldId id="308"/>
          </p14:sldIdLst>
        </p14:section>
        <p14:section name="참고자료" id="{3E4C63C9-86AB-4892-9757-FDF83E75978B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85C8CD"/>
    <a:srgbClr val="BBE0E3"/>
    <a:srgbClr val="2366EF"/>
    <a:srgbClr val="7D9EBB"/>
    <a:srgbClr val="171C2C"/>
    <a:srgbClr val="0232AE"/>
    <a:srgbClr val="BACDFE"/>
    <a:srgbClr val="333333"/>
    <a:srgbClr val="95B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82181" autoAdjust="0"/>
  </p:normalViewPr>
  <p:slideViewPr>
    <p:cSldViewPr snapToGrid="0">
      <p:cViewPr varScale="1">
        <p:scale>
          <a:sx n="94" d="100"/>
          <a:sy n="94" d="100"/>
        </p:scale>
        <p:origin x="11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2025-02-27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9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1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299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dirty="0" err="1" smtClean="0"/>
              <a:t>쿠버네티스</a:t>
            </a:r>
            <a:r>
              <a:rPr lang="ko-KR" altLang="en-US" sz="1200" dirty="0" smtClean="0"/>
              <a:t> 클러스터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차 보안은 </a:t>
            </a:r>
            <a:r>
              <a:rPr lang="en-US" altLang="ko-KR" sz="1200" dirty="0" err="1" smtClean="0"/>
              <a:t>kube-apiserver</a:t>
            </a:r>
            <a:r>
              <a:rPr lang="ko-KR" altLang="en-US" sz="1200" dirty="0" smtClean="0"/>
              <a:t> 접근이다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dirty="0" smtClean="0"/>
              <a:t>누가 사용하는가</a:t>
            </a:r>
            <a:r>
              <a:rPr lang="en-US" altLang="ko-KR" sz="1200" dirty="0" smtClean="0"/>
              <a:t>? </a:t>
            </a:r>
            <a:r>
              <a:rPr lang="ko-KR" altLang="en-US" sz="1200" dirty="0" smtClean="0"/>
              <a:t>사용자에게 주어진 권한은 무엇인가</a:t>
            </a:r>
            <a:r>
              <a:rPr lang="en-US" altLang="ko-KR" sz="1200" dirty="0" smtClean="0"/>
              <a:t>?</a:t>
            </a:r>
            <a:r>
              <a:rPr lang="ko-KR" altLang="en-US" sz="1200" dirty="0" smtClean="0"/>
              <a:t>를 고려해야 한다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dirty="0" smtClean="0"/>
              <a:t>모든 사용자는 </a:t>
            </a:r>
            <a:r>
              <a:rPr lang="en-US" altLang="ko-KR" sz="1200" dirty="0" err="1" smtClean="0"/>
              <a:t>kube-apiserver</a:t>
            </a:r>
            <a:r>
              <a:rPr lang="ko-KR" altLang="en-US" sz="1200" dirty="0" smtClean="0"/>
              <a:t>를 통해 </a:t>
            </a:r>
            <a:r>
              <a:rPr lang="en-US" altLang="ko-KR" sz="1200" dirty="0" smtClean="0"/>
              <a:t>Kubernetes</a:t>
            </a:r>
            <a:r>
              <a:rPr lang="en-US" altLang="ko-KR" sz="1200" baseline="0" dirty="0" smtClean="0"/>
              <a:t> Cluster</a:t>
            </a:r>
            <a:r>
              <a:rPr lang="ko-KR" altLang="en-US" sz="1200" baseline="0" dirty="0" smtClean="0"/>
              <a:t>와 통신하게 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관리자는 </a:t>
            </a:r>
            <a:r>
              <a:rPr lang="en-US" altLang="ko-KR" sz="1200" baseline="0" dirty="0" err="1" smtClean="0"/>
              <a:t>kubectl</a:t>
            </a:r>
            <a:r>
              <a:rPr lang="ko-KR" altLang="en-US" sz="1200" baseline="0" dirty="0" smtClean="0"/>
              <a:t>을 통해 </a:t>
            </a:r>
            <a:r>
              <a:rPr lang="en-US" altLang="ko-KR" sz="1200" baseline="0" dirty="0" err="1" smtClean="0"/>
              <a:t>apiserver</a:t>
            </a:r>
            <a:r>
              <a:rPr lang="ko-KR" altLang="en-US" sz="1200" baseline="0" dirty="0" smtClean="0"/>
              <a:t>와 통신하고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개발자는 </a:t>
            </a:r>
            <a:r>
              <a:rPr lang="en-US" altLang="ko-KR" sz="1200" baseline="0" dirty="0" err="1" smtClean="0"/>
              <a:t>apiserver</a:t>
            </a:r>
            <a:r>
              <a:rPr lang="en-US" altLang="ko-KR" sz="1200" baseline="0" dirty="0" smtClean="0"/>
              <a:t> http </a:t>
            </a:r>
            <a:r>
              <a:rPr lang="ko-KR" altLang="en-US" sz="1200" baseline="0" dirty="0" smtClean="0"/>
              <a:t>호출을 통해 통신하게 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사용자가 요청을 처리하기전에 </a:t>
            </a:r>
            <a:r>
              <a:rPr lang="en-US" altLang="ko-KR" sz="1200" baseline="0" dirty="0" err="1" smtClean="0"/>
              <a:t>apiserver</a:t>
            </a:r>
            <a:r>
              <a:rPr lang="ko-KR" altLang="en-US" sz="1200" baseline="0" dirty="0" smtClean="0"/>
              <a:t>에 대한 사용자 인증을 먼저 하게 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그럼 </a:t>
            </a:r>
            <a:r>
              <a:rPr lang="en-US" altLang="ko-KR" sz="1200" baseline="0" dirty="0" err="1" smtClean="0"/>
              <a:t>kube</a:t>
            </a:r>
            <a:r>
              <a:rPr lang="en-US" altLang="ko-KR" sz="1200" baseline="0" dirty="0" smtClean="0"/>
              <a:t> </a:t>
            </a:r>
            <a:r>
              <a:rPr lang="en-US" altLang="ko-KR" sz="1200" baseline="0" dirty="0" err="1" smtClean="0"/>
              <a:t>apiserver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인증은 어떻게 이루어 질까</a:t>
            </a:r>
            <a:r>
              <a:rPr lang="en-US" altLang="ko-KR" sz="1200" baseline="0" dirty="0" smtClean="0"/>
              <a:t>?</a:t>
            </a:r>
            <a:br>
              <a:rPr lang="en-US" altLang="ko-KR" sz="1200" baseline="0" dirty="0" smtClean="0"/>
            </a:b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3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err="1" smtClean="0"/>
              <a:t>Kube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apiserver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인증하는 방법은 </a:t>
            </a:r>
            <a:r>
              <a:rPr lang="en-US" altLang="ko-KR" sz="1200" dirty="0" smtClean="0"/>
              <a:t>4</a:t>
            </a:r>
            <a:r>
              <a:rPr lang="ko-KR" altLang="en-US" sz="1200" dirty="0" smtClean="0"/>
              <a:t>가지가 있다</a:t>
            </a:r>
            <a:r>
              <a:rPr lang="en-US" altLang="ko-KR" sz="120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암호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사용자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사용자 </a:t>
            </a:r>
            <a:r>
              <a:rPr lang="en-US" altLang="ko-KR" sz="1200" baseline="0" dirty="0" smtClean="0"/>
              <a:t>ID, Group ID</a:t>
            </a:r>
            <a:r>
              <a:rPr lang="ko-KR" altLang="en-US" sz="1200" baseline="0" dirty="0" smtClean="0"/>
              <a:t>를 지정한 파일 사용</a:t>
            </a: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Token, </a:t>
            </a:r>
            <a:r>
              <a:rPr lang="ko-KR" altLang="en-US" sz="1200" baseline="0" dirty="0" smtClean="0"/>
              <a:t>사용자 </a:t>
            </a:r>
            <a:r>
              <a:rPr lang="en-US" altLang="ko-KR" sz="1200" baseline="0" dirty="0" smtClean="0"/>
              <a:t>,</a:t>
            </a:r>
            <a:r>
              <a:rPr lang="ko-KR" altLang="en-US" sz="1200" baseline="0" dirty="0" smtClean="0"/>
              <a:t>사용자 </a:t>
            </a:r>
            <a:r>
              <a:rPr lang="en-US" altLang="ko-KR" sz="1200" baseline="0" dirty="0" smtClean="0"/>
              <a:t>ID, Group ID</a:t>
            </a:r>
            <a:r>
              <a:rPr lang="ko-KR" altLang="en-US" sz="1200" baseline="0" dirty="0" smtClean="0"/>
              <a:t>를 지정한 파일 사용</a:t>
            </a: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err="1" smtClean="0"/>
              <a:t>Certifcate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파일 사용</a:t>
            </a: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타사 인증 프로토콜 연결이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smtClean="0"/>
          </a:p>
          <a:p>
            <a:pPr marL="0" indent="0">
              <a:buFontTx/>
              <a:buNone/>
            </a:pPr>
            <a:endParaRPr lang="en-US" altLang="ko-KR" sz="1200" baseline="0" smtClean="0"/>
          </a:p>
          <a:p>
            <a:pPr marL="0" indent="0">
              <a:buFontTx/>
              <a:buNone/>
            </a:pPr>
            <a:r>
              <a:rPr lang="en-US" altLang="ko-KR" sz="1200" baseline="0" smtClean="0"/>
              <a:t>Static Password File, Static Token File</a:t>
            </a:r>
            <a:r>
              <a:rPr lang="ko-KR" altLang="en-US" sz="1200" baseline="0" smtClean="0"/>
              <a:t>은 </a:t>
            </a:r>
            <a:r>
              <a:rPr lang="en-US" altLang="ko-KR" sz="1200" baseline="0" smtClean="0"/>
              <a:t>Kubernetes 1.18 version </a:t>
            </a:r>
            <a:r>
              <a:rPr lang="ko-KR" altLang="en-US" sz="1200" baseline="0" smtClean="0"/>
              <a:t>이후 부터는 </a:t>
            </a:r>
            <a:r>
              <a:rPr lang="en-US" altLang="ko-KR" sz="1200" baseline="0" smtClean="0"/>
              <a:t>deprecated </a:t>
            </a:r>
            <a:r>
              <a:rPr lang="ko-KR" altLang="en-US" sz="1200" baseline="0" smtClean="0"/>
              <a:t>되어 더 이상 사용할 수 없다</a:t>
            </a:r>
            <a:r>
              <a:rPr lang="en-US" altLang="ko-KR" sz="1200" baseline="0" smtClean="0"/>
              <a:t>.</a:t>
            </a:r>
            <a:r>
              <a:rPr lang="en-US" altLang="ko-KR" sz="1200" baseline="0" dirty="0" smtClean="0"/>
              <a:t/>
            </a:r>
            <a:br>
              <a:rPr lang="en-US" altLang="ko-KR" sz="1200" baseline="0" dirty="0" smtClean="0"/>
            </a:b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628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Kubernetes</a:t>
            </a:r>
            <a:r>
              <a:rPr lang="ko-KR" altLang="en-US" baseline="0" dirty="0" smtClean="0"/>
              <a:t>안에서 인증서를 이용한 보안을 살펴보자</a:t>
            </a:r>
            <a:r>
              <a:rPr lang="en-US" altLang="ko-KR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Admin, scheduler, controller-manager,</a:t>
            </a:r>
            <a:r>
              <a:rPr lang="en-US" altLang="ko-KR" sz="1200" baseline="0" dirty="0" smtClean="0"/>
              <a:t> </a:t>
            </a:r>
            <a:r>
              <a:rPr lang="en-US" altLang="ko-KR" sz="1200" baseline="0" dirty="0" err="1" smtClean="0"/>
              <a:t>kube</a:t>
            </a:r>
            <a:r>
              <a:rPr lang="en-US" altLang="ko-KR" sz="1200" baseline="0" dirty="0" smtClean="0"/>
              <a:t>-proxy</a:t>
            </a:r>
            <a:r>
              <a:rPr lang="ko-KR" altLang="en-US" sz="1200" baseline="0" dirty="0" smtClean="0"/>
              <a:t>가 기본적으로 </a:t>
            </a:r>
            <a:r>
              <a:rPr lang="en-US" altLang="ko-KR" sz="1200" baseline="0" dirty="0" err="1" smtClean="0"/>
              <a:t>api</a:t>
            </a:r>
            <a:r>
              <a:rPr lang="en-US" altLang="ko-KR" sz="1200" baseline="0" dirty="0" smtClean="0"/>
              <a:t> server</a:t>
            </a:r>
            <a:r>
              <a:rPr lang="ko-KR" altLang="en-US" sz="1200" baseline="0" dirty="0" smtClean="0"/>
              <a:t>와 통신하기 위해서는</a:t>
            </a: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각각의 클라이언트 인증서가 필요하다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150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Kubernetes</a:t>
            </a:r>
            <a:r>
              <a:rPr lang="ko-KR" altLang="en-US" baseline="0" dirty="0" smtClean="0"/>
              <a:t>안에서 인증서를 이용한 보안을 살펴보자</a:t>
            </a:r>
            <a:r>
              <a:rPr lang="en-US" altLang="ko-KR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Kubernetes</a:t>
            </a:r>
            <a:r>
              <a:rPr lang="en-US" altLang="ko-KR" sz="1200" baseline="0" dirty="0" smtClean="0"/>
              <a:t> Client</a:t>
            </a:r>
            <a:r>
              <a:rPr lang="ko-KR" altLang="en-US" sz="1200" baseline="0" dirty="0" smtClean="0"/>
              <a:t>가 사용하는 인증서와 </a:t>
            </a:r>
            <a:r>
              <a:rPr lang="en-US" altLang="ko-KR" sz="1200" baseline="0" dirty="0" smtClean="0"/>
              <a:t>Server</a:t>
            </a:r>
            <a:r>
              <a:rPr lang="ko-KR" altLang="en-US" sz="1200" baseline="0" dirty="0" smtClean="0"/>
              <a:t>쪽 인증서가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Client </a:t>
            </a:r>
            <a:r>
              <a:rPr lang="ko-KR" altLang="en-US" sz="1200" baseline="0" dirty="0" smtClean="0"/>
              <a:t>인증서를 이용하여 서버에 접근할 수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인증서는 </a:t>
            </a:r>
            <a:r>
              <a:rPr lang="en-US" altLang="ko-KR" sz="1200" baseline="0" dirty="0" smtClean="0"/>
              <a:t>/</a:t>
            </a:r>
            <a:r>
              <a:rPr lang="en-US" altLang="ko-KR" sz="1200" baseline="0" dirty="0" err="1" smtClean="0"/>
              <a:t>etc</a:t>
            </a:r>
            <a:r>
              <a:rPr lang="en-US" altLang="ko-KR" sz="1200" baseline="0" dirty="0" smtClean="0"/>
              <a:t>/</a:t>
            </a:r>
            <a:r>
              <a:rPr lang="en-US" altLang="ko-KR" sz="1200" baseline="0" dirty="0" err="1" smtClean="0"/>
              <a:t>kubernetes</a:t>
            </a:r>
            <a:r>
              <a:rPr lang="en-US" altLang="ko-KR" sz="1200" baseline="0" dirty="0" smtClean="0"/>
              <a:t>/</a:t>
            </a:r>
            <a:r>
              <a:rPr lang="en-US" altLang="ko-KR" sz="1200" baseline="0" dirty="0" err="1" smtClean="0"/>
              <a:t>pki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디렉터리에서 관리되고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en-US" altLang="ko-KR" sz="1200" baseline="0" dirty="0" err="1" smtClean="0"/>
              <a:t>Kubelet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인증서는 </a:t>
            </a:r>
            <a:r>
              <a:rPr lang="en-US" altLang="ko-KR" sz="1200" baseline="0" dirty="0" smtClean="0"/>
              <a:t>/</a:t>
            </a:r>
            <a:r>
              <a:rPr lang="en-US" altLang="ko-KR" sz="1200" baseline="0" dirty="0" err="1" smtClean="0"/>
              <a:t>var</a:t>
            </a:r>
            <a:r>
              <a:rPr lang="en-US" altLang="ko-KR" sz="1200" baseline="0" dirty="0" smtClean="0"/>
              <a:t>/lib/</a:t>
            </a:r>
            <a:r>
              <a:rPr lang="en-US" altLang="ko-KR" sz="1200" baseline="0" dirty="0" err="1" smtClean="0"/>
              <a:t>kubelet</a:t>
            </a:r>
            <a:r>
              <a:rPr lang="en-US" altLang="ko-KR" sz="1200" baseline="0" dirty="0" smtClean="0"/>
              <a:t>/</a:t>
            </a:r>
            <a:r>
              <a:rPr lang="en-US" altLang="ko-KR" sz="1200" baseline="0" dirty="0" err="1" smtClean="0"/>
              <a:t>pki</a:t>
            </a:r>
            <a:r>
              <a:rPr lang="en-US" altLang="ko-KR" sz="1200" baseline="0" dirty="0" smtClean="0"/>
              <a:t>/ </a:t>
            </a:r>
            <a:r>
              <a:rPr lang="ko-KR" altLang="en-US" sz="1200" baseline="0" dirty="0" smtClean="0"/>
              <a:t>안에서 관리되고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476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Master </a:t>
            </a:r>
            <a:r>
              <a:rPr lang="ko-KR" altLang="en-US" sz="1200" baseline="0" dirty="0" smtClean="0"/>
              <a:t>노드에는 여러 인증서들이 존재하고</a:t>
            </a:r>
            <a:r>
              <a:rPr lang="en-US" altLang="ko-KR" sz="1200" baseline="0" dirty="0" smtClean="0"/>
              <a:t>, CA </a:t>
            </a:r>
            <a:r>
              <a:rPr lang="ko-KR" altLang="en-US" sz="1200" baseline="0" dirty="0" smtClean="0"/>
              <a:t>인증서도 존재한다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err="1" smtClean="0"/>
              <a:t>쿠버네티스에는</a:t>
            </a:r>
            <a:r>
              <a:rPr lang="ko-KR" altLang="en-US" sz="1200" baseline="0" dirty="0" smtClean="0"/>
              <a:t> 내장 </a:t>
            </a:r>
            <a:r>
              <a:rPr lang="en-US" altLang="ko-KR" sz="1200" baseline="0" dirty="0" smtClean="0"/>
              <a:t>Certificate API</a:t>
            </a:r>
            <a:r>
              <a:rPr lang="ko-KR" altLang="en-US" sz="1200" baseline="0" dirty="0" smtClean="0"/>
              <a:t>가 존재하고 있어서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인증서를 요청하고 만료되면 자동으로 갱신되게 할 수 있다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만약 클러스터에 사용자가 필요하면</a:t>
            </a: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사용자는 개인 키를 만들어 </a:t>
            </a:r>
            <a:r>
              <a:rPr lang="en-US" altLang="ko-KR" sz="1200" baseline="0" dirty="0" smtClean="0"/>
              <a:t>CSR</a:t>
            </a:r>
            <a:r>
              <a:rPr lang="ko-KR" altLang="en-US" sz="1200" baseline="0" dirty="0" smtClean="0"/>
              <a:t>만들어서 관리자에게 요청한다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관리자는 받은 </a:t>
            </a:r>
            <a:r>
              <a:rPr lang="en-US" altLang="ko-KR" sz="1200" baseline="0" dirty="0" smtClean="0"/>
              <a:t>CSR</a:t>
            </a:r>
            <a:r>
              <a:rPr lang="ko-KR" altLang="en-US" sz="1200" baseline="0" dirty="0" smtClean="0"/>
              <a:t>을 이용하여 </a:t>
            </a:r>
            <a:r>
              <a:rPr lang="en-US" altLang="ko-KR" sz="1200" baseline="0" dirty="0" smtClean="0"/>
              <a:t>Certificate API</a:t>
            </a:r>
            <a:r>
              <a:rPr lang="ko-KR" altLang="en-US" sz="1200" baseline="0" dirty="0" smtClean="0"/>
              <a:t>를 통해 인증서를 생성해서 사용자에게 건네 준다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참고 </a:t>
            </a:r>
            <a:r>
              <a:rPr lang="en-US" altLang="ko-KR" sz="1200" baseline="0" dirty="0" smtClean="0"/>
              <a:t>URL : https://kubernetes.io/docs/reference/access-authn-authz/certificate-signing-requests/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2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903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생성된 </a:t>
            </a:r>
            <a:r>
              <a:rPr lang="en-US" altLang="ko-KR" sz="1200" baseline="0" dirty="0" smtClean="0"/>
              <a:t>user.crt, cluster.crt </a:t>
            </a:r>
            <a:r>
              <a:rPr lang="ko-KR" altLang="en-US" sz="1200" baseline="0" dirty="0" smtClean="0"/>
              <a:t>인증서를 추가 사용자에게 전달한다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cat </a:t>
            </a:r>
            <a:r>
              <a:rPr lang="en-US" altLang="ko-KR" sz="1200" baseline="0" dirty="0" err="1" smtClean="0"/>
              <a:t>admin.conf</a:t>
            </a:r>
            <a:r>
              <a:rPr lang="en-US" altLang="ko-KR" sz="1200" baseline="0" dirty="0" smtClean="0"/>
              <a:t> | </a:t>
            </a:r>
            <a:r>
              <a:rPr lang="en-US" altLang="ko-KR" sz="1200" baseline="0" dirty="0" err="1" smtClean="0"/>
              <a:t>grep</a:t>
            </a:r>
            <a:r>
              <a:rPr lang="en-US" altLang="ko-KR" sz="1200" baseline="0" dirty="0" smtClean="0"/>
              <a:t> certificate-authority-data | </a:t>
            </a:r>
            <a:r>
              <a:rPr lang="en-US" altLang="ko-KR" sz="1200" baseline="0" dirty="0" err="1" smtClean="0"/>
              <a:t>awk</a:t>
            </a:r>
            <a:r>
              <a:rPr lang="en-US" altLang="ko-KR" sz="1200" baseline="0" dirty="0" smtClean="0"/>
              <a:t> '{print $2}' | base64 -d &gt;&gt; cluster.crt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387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사용자는 전달 받은 인증서를 통해 </a:t>
            </a:r>
            <a:r>
              <a:rPr lang="en-US" altLang="ko-KR" sz="1200" baseline="0" dirty="0" err="1" smtClean="0"/>
              <a:t>kubeconfig</a:t>
            </a:r>
            <a:r>
              <a:rPr lang="ko-KR" altLang="en-US" sz="1200" baseline="0" dirty="0" smtClean="0"/>
              <a:t>를 작성해야 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Kubectl</a:t>
            </a:r>
            <a:r>
              <a:rPr lang="ko-KR" altLang="en-US" sz="1200" baseline="0" dirty="0" smtClean="0"/>
              <a:t>이 설치되어 있다는 가정하에 진행한다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260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Kubernetes</a:t>
            </a:r>
            <a:r>
              <a:rPr lang="ko-KR" altLang="en-US" baseline="0" dirty="0" smtClean="0"/>
              <a:t>안에서 인증서를 이용한 보안을 살펴보자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5927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Kubectl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명령어 툴은 </a:t>
            </a:r>
            <a:r>
              <a:rPr lang="en-US" altLang="ko-KR" sz="1200" baseline="0" dirty="0" err="1" smtClean="0"/>
              <a:t>kubeconfig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파일을 사용하여 클러스터의 선택과 클러스터의 </a:t>
            </a:r>
            <a:r>
              <a:rPr lang="en-US" altLang="ko-KR" sz="1200" baseline="0" dirty="0" smtClean="0"/>
              <a:t>API </a:t>
            </a:r>
            <a:r>
              <a:rPr lang="ko-KR" altLang="en-US" sz="1200" baseline="0" dirty="0" smtClean="0"/>
              <a:t>서버와의 통신에 필요한 정보를 찾는다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Kubeconfig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smtClean="0"/>
              <a:t>cluster, context, user</a:t>
            </a:r>
            <a:r>
              <a:rPr lang="ko-KR" altLang="en-US" sz="1200" baseline="0" dirty="0" smtClean="0"/>
              <a:t>로 이루어져 있다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9475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071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3283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Kubernetes</a:t>
            </a:r>
            <a:r>
              <a:rPr lang="ko-KR" altLang="en-US" baseline="0" dirty="0" smtClean="0"/>
              <a:t>안에서 인증서를 이용한 보안을 살펴보자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001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인증 부분을 </a:t>
            </a:r>
            <a:r>
              <a:rPr lang="ko-KR" altLang="en-US" sz="1200" baseline="0" dirty="0" err="1" smtClean="0"/>
              <a:t>보기전에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smtClean="0"/>
              <a:t>Kubernetes API Group</a:t>
            </a:r>
            <a:r>
              <a:rPr lang="ko-KR" altLang="en-US" sz="1200" baseline="0" dirty="0" smtClean="0"/>
              <a:t>을 먼저 살펴보겠습니다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8202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인증 부분을 </a:t>
            </a:r>
            <a:r>
              <a:rPr lang="ko-KR" altLang="en-US" sz="1200" baseline="0" dirty="0" err="1" smtClean="0"/>
              <a:t>보기전에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smtClean="0"/>
              <a:t>Kubernetes API Group</a:t>
            </a:r>
            <a:r>
              <a:rPr lang="ko-KR" altLang="en-US" sz="1200" baseline="0" dirty="0" smtClean="0"/>
              <a:t>을 먼저 살펴보겠습니다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1292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일반적으로 </a:t>
            </a:r>
            <a:r>
              <a:rPr lang="en-US" altLang="ko-KR" sz="1200" baseline="0" dirty="0" smtClean="0"/>
              <a:t>Kubernetes API Server</a:t>
            </a:r>
            <a:r>
              <a:rPr lang="ko-KR" altLang="en-US" sz="1200" baseline="0" dirty="0" smtClean="0"/>
              <a:t>에는 접근 할 수가 없다</a:t>
            </a:r>
            <a:r>
              <a:rPr lang="en-US" altLang="ko-KR" sz="1200" baseline="0" dirty="0" smtClean="0"/>
              <a:t>. 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허가 받은 인증서를 사용하여 연결 하거나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kube</a:t>
            </a:r>
            <a:r>
              <a:rPr lang="en-US" altLang="ko-KR" sz="1200" baseline="0" dirty="0" smtClean="0"/>
              <a:t> proxy</a:t>
            </a:r>
            <a:r>
              <a:rPr lang="ko-KR" altLang="en-US" sz="1200" baseline="0" dirty="0" smtClean="0"/>
              <a:t>를 사용해야지 </a:t>
            </a:r>
            <a:r>
              <a:rPr lang="en-US" altLang="ko-KR" sz="1200" baseline="0" dirty="0" err="1" smtClean="0"/>
              <a:t>api</a:t>
            </a:r>
            <a:r>
              <a:rPr lang="en-US" altLang="ko-KR" sz="1200" baseline="0" dirty="0" smtClean="0"/>
              <a:t> serve</a:t>
            </a:r>
            <a:r>
              <a:rPr lang="ko-KR" altLang="en-US" sz="1200" baseline="0" dirty="0" smtClean="0"/>
              <a:t>에 접근할 수 있다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04260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err="1" smtClean="0"/>
              <a:t>인증과정은</a:t>
            </a:r>
            <a:r>
              <a:rPr lang="ko-KR" altLang="en-US" sz="1200" baseline="0" dirty="0" smtClean="0"/>
              <a:t> 왜 필요한가</a:t>
            </a:r>
            <a:r>
              <a:rPr lang="en-US" altLang="ko-KR" sz="1200" baseline="0" dirty="0" smtClean="0"/>
              <a:t>?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Admin</a:t>
            </a:r>
            <a:r>
              <a:rPr lang="ko-KR" altLang="en-US" sz="1200" baseline="0" dirty="0" smtClean="0"/>
              <a:t>은 관리자로서 모든 리소스를 조회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삭제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생성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변경 할 수 있다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하지만 추후에 개발자 혹은 서브 관리자가 같은 권한을 갖게 된다면 문제가 발생할 수 있고 사용자에 업무에 따라 권한을 제한할 필요가 있다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사용자가 인증서를 통해 </a:t>
            </a:r>
            <a:r>
              <a:rPr lang="en-US" altLang="ko-KR" sz="1200" baseline="0" dirty="0" err="1" smtClean="0"/>
              <a:t>kube-apiserver</a:t>
            </a:r>
            <a:r>
              <a:rPr lang="ko-KR" altLang="en-US" sz="1200" baseline="0" dirty="0" smtClean="0"/>
              <a:t>에 접근 하듯이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kubelet</a:t>
            </a:r>
            <a:r>
              <a:rPr lang="ko-KR" altLang="en-US" sz="1200" baseline="0" dirty="0" smtClean="0"/>
              <a:t>도 </a:t>
            </a:r>
            <a:r>
              <a:rPr lang="en-US" altLang="ko-KR" sz="1200" baseline="0" dirty="0" err="1" smtClean="0"/>
              <a:t>kubelet_client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인증서를 통해 </a:t>
            </a:r>
            <a:r>
              <a:rPr lang="en-US" altLang="ko-KR" sz="1200" baseline="0" dirty="0" err="1" smtClean="0"/>
              <a:t>kube-apiserver</a:t>
            </a:r>
            <a:r>
              <a:rPr lang="ko-KR" altLang="en-US" sz="1200" baseline="0" dirty="0" smtClean="0"/>
              <a:t>에 접근한다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Kubelet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인증서 위치는</a:t>
            </a: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/</a:t>
            </a:r>
            <a:r>
              <a:rPr lang="en-US" altLang="ko-KR" sz="1200" baseline="0" dirty="0" err="1" smtClean="0"/>
              <a:t>var</a:t>
            </a:r>
            <a:r>
              <a:rPr lang="en-US" altLang="ko-KR" sz="1200" baseline="0" dirty="0" smtClean="0"/>
              <a:t>/lib/</a:t>
            </a:r>
            <a:r>
              <a:rPr lang="en-US" altLang="ko-KR" sz="1200" baseline="0" dirty="0" err="1" smtClean="0"/>
              <a:t>kubelet</a:t>
            </a:r>
            <a:r>
              <a:rPr lang="en-US" altLang="ko-KR" sz="1200" baseline="0" dirty="0" smtClean="0"/>
              <a:t>/</a:t>
            </a:r>
            <a:r>
              <a:rPr lang="en-US" altLang="ko-KR" sz="1200" baseline="0" dirty="0" err="1" smtClean="0"/>
              <a:t>pki</a:t>
            </a:r>
            <a:r>
              <a:rPr lang="ko-KR" altLang="en-US" sz="1200" baseline="0" dirty="0" smtClean="0"/>
              <a:t>에 존재한다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1641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RBAC</a:t>
            </a:r>
            <a:r>
              <a:rPr lang="ko-KR" altLang="en-US" sz="1200" baseline="0" dirty="0" smtClean="0"/>
              <a:t>를 만들어서 필요한 역할 추가 하기만 하면 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사용자 별로 역할 권한을 </a:t>
            </a:r>
            <a:r>
              <a:rPr lang="ko-KR" altLang="en-US" sz="1200" baseline="0" dirty="0" err="1" smtClean="0"/>
              <a:t>묶을수</a:t>
            </a:r>
            <a:r>
              <a:rPr lang="ko-KR" altLang="en-US" sz="1200" baseline="0" dirty="0" smtClean="0"/>
              <a:t> 있다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역할에 </a:t>
            </a:r>
            <a:r>
              <a:rPr lang="ko-KR" altLang="en-US" sz="1200" baseline="0" dirty="0" err="1" smtClean="0"/>
              <a:t>컨피그맵을</a:t>
            </a:r>
            <a:r>
              <a:rPr lang="ko-KR" altLang="en-US" sz="1200" baseline="0" dirty="0" smtClean="0"/>
              <a:t> 생성할 수 있는 권한을 추가하면 모든 개발자는 </a:t>
            </a:r>
            <a:r>
              <a:rPr lang="ko-KR" altLang="en-US" sz="1200" baseline="0" dirty="0" err="1" smtClean="0"/>
              <a:t>컨피그맵을</a:t>
            </a:r>
            <a:r>
              <a:rPr lang="ko-KR" altLang="en-US" sz="1200" baseline="0" dirty="0" smtClean="0"/>
              <a:t> 생성할 수 </a:t>
            </a:r>
            <a:r>
              <a:rPr lang="ko-KR" altLang="en-US" sz="1200" baseline="0" dirty="0" err="1" smtClean="0"/>
              <a:t>있게된다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7327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Jenkins</a:t>
            </a:r>
            <a:r>
              <a:rPr lang="ko-KR" altLang="en-US" sz="1200" baseline="0" dirty="0" smtClean="0"/>
              <a:t>를 사용하는 </a:t>
            </a:r>
            <a:r>
              <a:rPr lang="en-US" altLang="ko-KR" sz="1200" baseline="0" dirty="0" smtClean="0"/>
              <a:t>User</a:t>
            </a:r>
            <a:r>
              <a:rPr lang="ko-KR" altLang="en-US" sz="1200" baseline="0" dirty="0" smtClean="0"/>
              <a:t>가 </a:t>
            </a:r>
            <a:r>
              <a:rPr lang="en-US" altLang="ko-KR" sz="1200" baseline="0" dirty="0" smtClean="0"/>
              <a:t>Kubernetes Cluster</a:t>
            </a:r>
            <a:r>
              <a:rPr lang="ko-KR" altLang="en-US" sz="1200" baseline="0" dirty="0" smtClean="0"/>
              <a:t>에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에 접근할 수 있을까</a:t>
            </a:r>
            <a:r>
              <a:rPr lang="en-US" altLang="ko-KR" sz="1200" baseline="0" dirty="0" smtClean="0"/>
              <a:t>? </a:t>
            </a:r>
            <a:r>
              <a:rPr lang="ko-KR" altLang="en-US" sz="1200" baseline="0" dirty="0" smtClean="0"/>
              <a:t>라는 요청을 하게 되면</a:t>
            </a: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API Server</a:t>
            </a:r>
            <a:r>
              <a:rPr lang="ko-KR" altLang="en-US" sz="1200" baseline="0" dirty="0" smtClean="0"/>
              <a:t>가 접근을 허락하는 응답을 해준다</a:t>
            </a:r>
            <a:r>
              <a:rPr lang="en-US" altLang="ko-KR" sz="1200" baseline="0" dirty="0" smtClean="0"/>
              <a:t>. </a:t>
            </a:r>
            <a:r>
              <a:rPr lang="ko-KR" altLang="en-US" sz="1200" baseline="0" dirty="0" smtClean="0"/>
              <a:t>해당 응답에 근거해 외부 </a:t>
            </a:r>
            <a:r>
              <a:rPr lang="en-US" altLang="ko-KR" sz="1200" baseline="0" dirty="0" smtClean="0"/>
              <a:t>SW</a:t>
            </a:r>
            <a:r>
              <a:rPr lang="ko-KR" altLang="en-US" sz="1200" baseline="0" dirty="0" smtClean="0"/>
              <a:t>는 접근을 허락 받는다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6576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인증 모드는 항상 허용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노드</a:t>
            </a:r>
            <a:r>
              <a:rPr lang="en-US" altLang="ko-KR" sz="1200" baseline="0" dirty="0" smtClean="0"/>
              <a:t>., RBAC, </a:t>
            </a:r>
            <a:r>
              <a:rPr lang="en-US" altLang="ko-KR" sz="1200" baseline="0" dirty="0" err="1" smtClean="0"/>
              <a:t>Webhokk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항상 거부가 있다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해당 모드 설정은 </a:t>
            </a:r>
            <a:r>
              <a:rPr lang="en-US" altLang="ko-KR" sz="1200" baseline="0" dirty="0" err="1" smtClean="0"/>
              <a:t>apiserver</a:t>
            </a:r>
            <a:r>
              <a:rPr lang="ko-KR" altLang="en-US" sz="1200" baseline="0" dirty="0" smtClean="0"/>
              <a:t>에서 인증 승인 모드 부분에서 설정이 가능하다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아래 예시는 </a:t>
            </a:r>
            <a:r>
              <a:rPr lang="en-US" altLang="ko-KR" sz="1200" baseline="0" dirty="0" smtClean="0"/>
              <a:t>Node</a:t>
            </a:r>
            <a:r>
              <a:rPr lang="ko-KR" altLang="en-US" sz="1200" baseline="0" dirty="0" smtClean="0"/>
              <a:t>에서 먼저 인증 승인을 하고 </a:t>
            </a:r>
            <a:r>
              <a:rPr lang="en-US" altLang="ko-KR" sz="1200" baseline="0" dirty="0" smtClean="0"/>
              <a:t>Node</a:t>
            </a:r>
            <a:r>
              <a:rPr lang="ko-KR" altLang="en-US" sz="1200" baseline="0" dirty="0" smtClean="0"/>
              <a:t>인증이 거부되면 </a:t>
            </a:r>
            <a:r>
              <a:rPr lang="en-US" altLang="ko-KR" sz="1200" baseline="0" dirty="0" smtClean="0"/>
              <a:t>RBAC</a:t>
            </a:r>
            <a:r>
              <a:rPr lang="ko-KR" altLang="en-US" sz="1200" baseline="0" dirty="0" smtClean="0"/>
              <a:t>방식으로 인증 승인을 진행한다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601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Kubernetes</a:t>
            </a:r>
            <a:r>
              <a:rPr lang="ko-KR" altLang="en-US" baseline="0" dirty="0" smtClean="0"/>
              <a:t>안에서 인증서를 이용한 보안을 살펴보자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7969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아래는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를 컨트롤할 수 있는 권한과 </a:t>
            </a:r>
            <a:r>
              <a:rPr lang="en-US" altLang="ko-KR" sz="1200" baseline="0" dirty="0" err="1" smtClean="0"/>
              <a:t>configmap</a:t>
            </a:r>
            <a:r>
              <a:rPr lang="ko-KR" altLang="en-US" sz="1200" baseline="0" dirty="0" smtClean="0"/>
              <a:t>을 생성할 수 있는 권한을 준 예이다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Role</a:t>
            </a:r>
            <a:r>
              <a:rPr lang="ko-KR" altLang="en-US" sz="1200" baseline="0" dirty="0" smtClean="0"/>
              <a:t>을 만든 뒤 </a:t>
            </a:r>
            <a:r>
              <a:rPr lang="en-US" altLang="ko-KR" sz="1200" baseline="0" dirty="0" smtClean="0"/>
              <a:t>dev-user</a:t>
            </a:r>
            <a:r>
              <a:rPr lang="ko-KR" altLang="en-US" sz="1200" baseline="0" dirty="0" smtClean="0"/>
              <a:t>에게 해당 역할을 부여하기 위해서는 </a:t>
            </a:r>
            <a:r>
              <a:rPr lang="en-US" altLang="ko-KR" sz="1200" baseline="0" dirty="0" err="1" smtClean="0"/>
              <a:t>rolebinding</a:t>
            </a:r>
            <a:r>
              <a:rPr lang="ko-KR" altLang="en-US" sz="1200" baseline="0" dirty="0" smtClean="0"/>
              <a:t>을 작성하여 묶어줘야 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0379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특정 리소스에만 권한을 부여할 수 있다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아래 예시는 </a:t>
            </a:r>
            <a:r>
              <a:rPr lang="en-US" altLang="ko-KR" sz="1200" baseline="0" dirty="0" smtClean="0"/>
              <a:t>blue, orange pod</a:t>
            </a:r>
            <a:r>
              <a:rPr lang="ko-KR" altLang="en-US" sz="1200" baseline="0" dirty="0" smtClean="0"/>
              <a:t>만 컨트롤할 수 있는 권한이다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4039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7571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Clusterrole</a:t>
            </a:r>
            <a:r>
              <a:rPr lang="ko-KR" altLang="en-US" sz="1200" baseline="0" dirty="0" smtClean="0"/>
              <a:t>과 </a:t>
            </a:r>
            <a:r>
              <a:rPr lang="en-US" altLang="ko-KR" sz="1200" baseline="0" dirty="0" err="1" smtClean="0"/>
              <a:t>clusterrolebinding</a:t>
            </a:r>
            <a:r>
              <a:rPr lang="ko-KR" altLang="en-US" sz="1200" baseline="0" dirty="0" smtClean="0"/>
              <a:t>은 네임스페이스에 제한되지 않고 </a:t>
            </a:r>
            <a:r>
              <a:rPr lang="en-US" altLang="ko-KR" sz="1200" baseline="0" dirty="0" smtClean="0"/>
              <a:t>Cluster </a:t>
            </a:r>
            <a:r>
              <a:rPr lang="ko-KR" altLang="en-US" sz="1200" baseline="0" dirty="0" smtClean="0"/>
              <a:t>범위에서 적용된다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5492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err="1" smtClean="0"/>
              <a:t>ClusterRole</a:t>
            </a:r>
            <a:r>
              <a:rPr lang="ko-KR" altLang="en-US" sz="1200" baseline="0" dirty="0" smtClean="0"/>
              <a:t>을 통해 </a:t>
            </a:r>
            <a:r>
              <a:rPr lang="en-US" altLang="ko-KR" sz="1200" baseline="0" dirty="0" smtClean="0"/>
              <a:t>Pod </a:t>
            </a:r>
            <a:r>
              <a:rPr lang="ko-KR" altLang="en-US" sz="1200" baseline="0" dirty="0" smtClean="0"/>
              <a:t>접근 제어도 생성할 수 있다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1464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사람이 </a:t>
            </a:r>
            <a:r>
              <a:rPr lang="en-US" altLang="ko-KR" sz="1200" baseline="0" dirty="0" smtClean="0"/>
              <a:t>Kubernetes API</a:t>
            </a:r>
            <a:r>
              <a:rPr lang="ko-KR" altLang="en-US" sz="1200" baseline="0" dirty="0" smtClean="0"/>
              <a:t>를 사용할 때는 </a:t>
            </a:r>
            <a:r>
              <a:rPr lang="en-US" altLang="ko-KR" sz="1200" baseline="0" dirty="0" err="1" smtClean="0"/>
              <a:t>kubectl</a:t>
            </a:r>
            <a:r>
              <a:rPr lang="ko-KR" altLang="en-US" sz="1200" baseline="0" dirty="0" smtClean="0"/>
              <a:t>을 통해 인증하지만</a:t>
            </a:r>
            <a:r>
              <a:rPr lang="en-US" altLang="ko-KR" sz="1200" baseline="0" dirty="0" smtClean="0"/>
              <a:t>, Pod </a:t>
            </a:r>
            <a:r>
              <a:rPr lang="ko-KR" altLang="en-US" sz="1200" baseline="0" dirty="0" smtClean="0"/>
              <a:t>내부의 어플리케이션</a:t>
            </a:r>
            <a:r>
              <a:rPr lang="en-US" altLang="ko-KR" sz="1200" baseline="0" dirty="0" smtClean="0"/>
              <a:t>(CI/CD, </a:t>
            </a:r>
            <a:r>
              <a:rPr lang="ko-KR" altLang="en-US" sz="1200" baseline="0" dirty="0" smtClean="0"/>
              <a:t>컨트롤러 등</a:t>
            </a:r>
            <a:r>
              <a:rPr lang="en-US" altLang="ko-KR" sz="1200" baseline="0" dirty="0" smtClean="0"/>
              <a:t>)</a:t>
            </a:r>
            <a:r>
              <a:rPr lang="ko-KR" altLang="en-US" sz="1200" baseline="0" dirty="0" smtClean="0"/>
              <a:t>과 상호작용할 때는 </a:t>
            </a:r>
            <a:r>
              <a:rPr lang="en-US" altLang="ko-KR" sz="1200" baseline="0" dirty="0" err="1" smtClean="0"/>
              <a:t>ServiceAccount</a:t>
            </a:r>
            <a:r>
              <a:rPr lang="ko-KR" altLang="en-US" sz="1200" baseline="0" dirty="0" smtClean="0"/>
              <a:t>를 사용한다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예를 들어 </a:t>
            </a:r>
            <a:r>
              <a:rPr lang="ko-KR" altLang="en-US" sz="1200" baseline="0" dirty="0" err="1" smtClean="0"/>
              <a:t>쿠버네티스</a:t>
            </a:r>
            <a:r>
              <a:rPr lang="ko-KR" altLang="en-US" sz="1200" baseline="0" dirty="0" smtClean="0"/>
              <a:t> 대시보드에서 </a:t>
            </a:r>
            <a:r>
              <a:rPr lang="en-US" altLang="ko-KR" sz="1200" baseline="0" dirty="0" smtClean="0"/>
              <a:t>Pod </a:t>
            </a:r>
            <a:r>
              <a:rPr lang="ko-KR" altLang="en-US" sz="1200" baseline="0" dirty="0" smtClean="0"/>
              <a:t>정보를 </a:t>
            </a:r>
            <a:r>
              <a:rPr lang="ko-KR" altLang="en-US" sz="1200" baseline="0" dirty="0" err="1" smtClean="0"/>
              <a:t>가져올때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smtClean="0"/>
              <a:t>Kubernetes Cluster </a:t>
            </a:r>
            <a:r>
              <a:rPr lang="en-US" altLang="ko-KR" sz="1200" baseline="0" dirty="0" err="1" smtClean="0"/>
              <a:t>apiserver</a:t>
            </a:r>
            <a:r>
              <a:rPr lang="ko-KR" altLang="en-US" sz="1200" baseline="0" dirty="0" smtClean="0"/>
              <a:t>에 접근 하여 가져와야 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/>
              <a:t>이 과정에서 </a:t>
            </a:r>
            <a:r>
              <a:rPr lang="en-US" altLang="ko-KR" sz="1200" baseline="0" dirty="0" err="1" smtClean="0"/>
              <a:t>kube-apiserver</a:t>
            </a:r>
            <a:r>
              <a:rPr lang="ko-KR" altLang="en-US" sz="1200" baseline="0" dirty="0" smtClean="0"/>
              <a:t>로 부터 접근 승인을 얻어야 한다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1460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Test</a:t>
            </a:r>
            <a:r>
              <a:rPr lang="ko-KR" altLang="en-US" sz="1200" baseline="0" dirty="0" smtClean="0"/>
              <a:t>라는 이름에 </a:t>
            </a:r>
            <a:r>
              <a:rPr lang="en-US" altLang="ko-KR" sz="1200" baseline="0" dirty="0" err="1" smtClean="0"/>
              <a:t>serviceaccount</a:t>
            </a:r>
            <a:r>
              <a:rPr lang="ko-KR" altLang="en-US" sz="1200" baseline="0" dirty="0" smtClean="0"/>
              <a:t>를 생성</a:t>
            </a: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>
                <a:solidFill>
                  <a:srgbClr val="FF0000"/>
                </a:solidFill>
              </a:rPr>
              <a:t>Kubernetes Version 1.24 </a:t>
            </a:r>
            <a:r>
              <a:rPr lang="ko-KR" altLang="en-US" sz="1200" baseline="0" dirty="0" smtClean="0">
                <a:solidFill>
                  <a:srgbClr val="FF0000"/>
                </a:solidFill>
              </a:rPr>
              <a:t>이상 부터는 </a:t>
            </a:r>
            <a:r>
              <a:rPr lang="en-US" altLang="ko-KR" sz="1200" baseline="0" dirty="0" err="1" smtClean="0">
                <a:solidFill>
                  <a:srgbClr val="FF0000"/>
                </a:solidFill>
              </a:rPr>
              <a:t>serviceaccount</a:t>
            </a:r>
            <a:r>
              <a:rPr lang="en-US" altLang="ko-KR" sz="1200" baseline="0" dirty="0" smtClean="0">
                <a:solidFill>
                  <a:srgbClr val="FF0000"/>
                </a:solidFill>
              </a:rPr>
              <a:t> </a:t>
            </a:r>
            <a:r>
              <a:rPr lang="ko-KR" altLang="en-US" sz="1200" baseline="0" dirty="0" smtClean="0">
                <a:solidFill>
                  <a:srgbClr val="FF0000"/>
                </a:solidFill>
              </a:rPr>
              <a:t>생성시 자동으로 </a:t>
            </a:r>
            <a:r>
              <a:rPr lang="en-US" altLang="ko-KR" sz="1200" baseline="0" dirty="0" smtClean="0">
                <a:solidFill>
                  <a:srgbClr val="FF0000"/>
                </a:solidFill>
              </a:rPr>
              <a:t>Token</a:t>
            </a:r>
            <a:r>
              <a:rPr lang="ko-KR" altLang="en-US" sz="1200" baseline="0" dirty="0" smtClean="0">
                <a:solidFill>
                  <a:srgbClr val="FF0000"/>
                </a:solidFill>
              </a:rPr>
              <a:t>을 만들지 않는다</a:t>
            </a:r>
            <a:r>
              <a:rPr lang="en-US" altLang="ko-KR" sz="1200" baseline="0" dirty="0" smtClean="0">
                <a:solidFill>
                  <a:srgbClr val="FF0000"/>
                </a:solidFill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aseline="0" dirty="0" smtClean="0">
                <a:solidFill>
                  <a:srgbClr val="FF0000"/>
                </a:solidFill>
              </a:rPr>
              <a:t>따로 생성해줘야 한다</a:t>
            </a:r>
            <a:r>
              <a:rPr lang="en-US" altLang="ko-KR" sz="1200" baseline="0" dirty="0" smtClean="0">
                <a:solidFill>
                  <a:srgbClr val="FF0000"/>
                </a:solidFill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Create </a:t>
            </a:r>
            <a:r>
              <a:rPr lang="ko-KR" altLang="en-US" sz="1200" baseline="0" dirty="0" smtClean="0"/>
              <a:t>명령어로 생성한 </a:t>
            </a:r>
            <a:r>
              <a:rPr lang="en-US" altLang="ko-KR" sz="1200" baseline="0" dirty="0" smtClean="0"/>
              <a:t>token</a:t>
            </a:r>
            <a:r>
              <a:rPr lang="ko-KR" altLang="en-US" sz="1200" baseline="0" dirty="0" smtClean="0"/>
              <a:t>은 일회성으로 확인이 가능하고</a:t>
            </a:r>
            <a:r>
              <a:rPr lang="en-US" altLang="ko-KR" sz="1200" baseline="0" dirty="0" smtClean="0"/>
              <a:t>, secret</a:t>
            </a:r>
            <a:r>
              <a:rPr lang="ko-KR" altLang="en-US" sz="1200" baseline="0" dirty="0" smtClean="0"/>
              <a:t>으로 생성하게 되면 </a:t>
            </a:r>
            <a:r>
              <a:rPr lang="en-US" altLang="ko-KR" sz="1200" baseline="0" dirty="0" err="1" smtClean="0"/>
              <a:t>kubectl</a:t>
            </a:r>
            <a:r>
              <a:rPr lang="en-US" altLang="ko-KR" sz="1200" baseline="0" dirty="0" smtClean="0"/>
              <a:t> get secret</a:t>
            </a:r>
            <a:r>
              <a:rPr lang="ko-KR" altLang="en-US" sz="1200" baseline="0" dirty="0" smtClean="0"/>
              <a:t>을 통해 </a:t>
            </a:r>
            <a:r>
              <a:rPr lang="en-US" altLang="ko-KR" sz="1200" baseline="0" dirty="0" smtClean="0"/>
              <a:t>token </a:t>
            </a:r>
            <a:r>
              <a:rPr lang="ko-KR" altLang="en-US" sz="1200" baseline="0" dirty="0" smtClean="0"/>
              <a:t>확인이 가능하다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9601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에 특정 </a:t>
            </a:r>
            <a:r>
              <a:rPr lang="en-US" altLang="ko-KR" sz="1200" baseline="0" dirty="0" err="1" smtClean="0"/>
              <a:t>ServiceAccount</a:t>
            </a:r>
            <a:r>
              <a:rPr lang="ko-KR" altLang="en-US" sz="1200" baseline="0" dirty="0" smtClean="0"/>
              <a:t>를 사용하여</a:t>
            </a:r>
            <a:r>
              <a:rPr lang="en-US" altLang="ko-KR" sz="1200" baseline="0" dirty="0" smtClean="0"/>
              <a:t>, </a:t>
            </a:r>
            <a:r>
              <a:rPr lang="ko-KR" altLang="en-US" sz="1200" baseline="0" dirty="0" smtClean="0"/>
              <a:t>자동으로 </a:t>
            </a:r>
            <a:r>
              <a:rPr lang="en-US" altLang="ko-KR" sz="1200" baseline="0" dirty="0" smtClean="0"/>
              <a:t>Token</a:t>
            </a:r>
            <a:r>
              <a:rPr lang="ko-KR" altLang="en-US" sz="1200" baseline="0" dirty="0" smtClean="0"/>
              <a:t>이 마운트 되게 설정한다</a:t>
            </a:r>
            <a:r>
              <a:rPr lang="en-US" altLang="ko-KR" sz="1200" baseline="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7494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Kubernetes</a:t>
            </a:r>
            <a:r>
              <a:rPr lang="ko-KR" altLang="en-US" baseline="0" dirty="0" smtClean="0"/>
              <a:t>안에서 인증서를 이용한 보안을 살펴보자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0197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3173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altLang="ko-KR" sz="1200" dirty="0" smtClean="0"/>
              <a:t>Security</a:t>
            </a:r>
            <a:r>
              <a:rPr lang="en-US" altLang="ko-KR" sz="1200" baseline="0" dirty="0" smtClean="0"/>
              <a:t> </a:t>
            </a:r>
            <a:r>
              <a:rPr lang="en-US" altLang="ko-KR" sz="1200" baseline="0" dirty="0" err="1" smtClean="0"/>
              <a:t>contex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smtClean="0"/>
              <a:t>pod </a:t>
            </a:r>
            <a:r>
              <a:rPr lang="ko-KR" altLang="en-US" sz="1200" baseline="0" dirty="0" smtClean="0"/>
              <a:t>레벨과 </a:t>
            </a:r>
            <a:r>
              <a:rPr lang="en-US" altLang="ko-KR" sz="1200" baseline="0" dirty="0" smtClean="0"/>
              <a:t>container </a:t>
            </a:r>
            <a:r>
              <a:rPr lang="ko-KR" altLang="en-US" sz="1200" baseline="0" dirty="0" smtClean="0"/>
              <a:t>레벨에서 설정할 수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만약 같은 설정이 들어가게 되면 </a:t>
            </a:r>
            <a:r>
              <a:rPr lang="en-US" altLang="ko-KR" sz="1200" baseline="0" dirty="0" err="1" smtClean="0"/>
              <a:t>containe</a:t>
            </a:r>
            <a:r>
              <a:rPr lang="ko-KR" altLang="en-US" sz="1200" baseline="0" dirty="0" smtClean="0"/>
              <a:t>에 설정한 </a:t>
            </a:r>
            <a:r>
              <a:rPr lang="en-US" altLang="ko-KR" sz="1200" baseline="0" dirty="0" smtClean="0"/>
              <a:t>security </a:t>
            </a:r>
            <a:r>
              <a:rPr lang="en-US" altLang="ko-KR" sz="1200" baseline="0" dirty="0" err="1" smtClean="0"/>
              <a:t>contex</a:t>
            </a:r>
            <a:r>
              <a:rPr lang="ko-KR" altLang="en-US" sz="1200" baseline="0" dirty="0" smtClean="0"/>
              <a:t>가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에 설정한 </a:t>
            </a:r>
            <a:r>
              <a:rPr lang="en-US" altLang="ko-KR" sz="1200" baseline="0" dirty="0" smtClean="0"/>
              <a:t>security context</a:t>
            </a:r>
            <a:r>
              <a:rPr lang="ko-KR" altLang="en-US" sz="1200" baseline="0" dirty="0" smtClean="0"/>
              <a:t>보다 우선 적용 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에서 사용한 </a:t>
            </a:r>
            <a:r>
              <a:rPr lang="en-US" altLang="ko-KR" sz="1200" baseline="0" dirty="0" smtClean="0"/>
              <a:t>security context</a:t>
            </a:r>
            <a:r>
              <a:rPr lang="ko-KR" altLang="en-US" sz="1200" baseline="0" dirty="0" smtClean="0"/>
              <a:t>는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에서 </a:t>
            </a:r>
            <a:r>
              <a:rPr lang="ko-KR" altLang="en-US" sz="1200" baseline="0" dirty="0" err="1" smtClean="0"/>
              <a:t>기동중인</a:t>
            </a:r>
            <a:r>
              <a:rPr lang="ko-KR" altLang="en-US" sz="1200" baseline="0" dirty="0" smtClean="0"/>
              <a:t> 모든 컨테이너에 적용된다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53537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2532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dirty="0" smtClean="0"/>
              <a:t>아래 그림 </a:t>
            </a:r>
            <a:r>
              <a:rPr lang="ko-KR" altLang="en-US" sz="1200" dirty="0" err="1" smtClean="0"/>
              <a:t>처럼</a:t>
            </a:r>
            <a:r>
              <a:rPr lang="ko-KR" altLang="en-US" sz="1200" dirty="0" smtClean="0"/>
              <a:t> 현재 서비스가 구성 중이라고 가정해보자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60521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dirty="0" err="1" smtClean="0"/>
              <a:t>쿠버네티스</a:t>
            </a:r>
            <a:r>
              <a:rPr lang="ko-KR" altLang="en-US" sz="1200" dirty="0" smtClean="0"/>
              <a:t> 클러스터는 기본적으로 클러스터내 모든 </a:t>
            </a:r>
            <a:r>
              <a:rPr lang="ko-KR" altLang="en-US" sz="1200" dirty="0" err="1" smtClean="0"/>
              <a:t>파드</a:t>
            </a:r>
            <a:r>
              <a:rPr lang="ko-KR" altLang="en-US" sz="1200" dirty="0" smtClean="0"/>
              <a:t> 및 서비스에 대해서는</a:t>
            </a:r>
            <a:r>
              <a:rPr lang="ko-KR" altLang="en-US" sz="1200" baseline="0" dirty="0" smtClean="0"/>
              <a:t> 네트워크 접근이 가능하다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Network Policy</a:t>
            </a:r>
            <a:r>
              <a:rPr lang="ko-KR" altLang="en-US" sz="1200" baseline="0" dirty="0" smtClean="0"/>
              <a:t>를 사용하여 특정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에 </a:t>
            </a:r>
            <a:r>
              <a:rPr lang="en-US" altLang="ko-KR" sz="1200" baseline="0" dirty="0" smtClean="0"/>
              <a:t>Ingress, Egress</a:t>
            </a:r>
            <a:r>
              <a:rPr lang="ko-KR" altLang="en-US" sz="1200" baseline="0" dirty="0" smtClean="0"/>
              <a:t>를 제어할 수 있다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r>
              <a:rPr lang="ko-KR" altLang="en-US" sz="1200" baseline="0" dirty="0" smtClean="0"/>
              <a:t>만약 </a:t>
            </a:r>
            <a:r>
              <a:rPr lang="en-US" altLang="ko-KR" sz="1200" baseline="0" dirty="0" smtClean="0"/>
              <a:t>Web Front Pod</a:t>
            </a:r>
            <a:r>
              <a:rPr lang="ko-KR" altLang="en-US" sz="1200" baseline="0" dirty="0" smtClean="0"/>
              <a:t>에서 </a:t>
            </a:r>
            <a:r>
              <a:rPr lang="en-US" altLang="ko-KR" sz="1200" baseline="0" dirty="0" smtClean="0"/>
              <a:t>PostgreSQL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와 통신을 막고 싶다면 </a:t>
            </a:r>
            <a:r>
              <a:rPr lang="en-US" altLang="ko-KR" sz="1200" baseline="0" dirty="0" smtClean="0"/>
              <a:t>Network Policy</a:t>
            </a:r>
            <a:r>
              <a:rPr lang="ko-KR" altLang="en-US" sz="1200" baseline="0" dirty="0" smtClean="0"/>
              <a:t>를 적용하면 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dirty="0" smtClean="0"/>
              <a:t>PostgreSQL</a:t>
            </a:r>
            <a:r>
              <a:rPr lang="en-US" altLang="ko-KR" sz="1200" baseline="0" dirty="0" smtClean="0"/>
              <a:t> 5432 Port </a:t>
            </a:r>
            <a:r>
              <a:rPr lang="ko-KR" altLang="en-US" sz="1200" baseline="0" dirty="0" smtClean="0"/>
              <a:t>기준으로 </a:t>
            </a:r>
            <a:r>
              <a:rPr lang="en-US" altLang="ko-KR" sz="1200" baseline="0" dirty="0" smtClean="0"/>
              <a:t>Ingress</a:t>
            </a:r>
            <a:r>
              <a:rPr lang="ko-KR" altLang="en-US" sz="1200" baseline="0" dirty="0" smtClean="0"/>
              <a:t> 네트워크 정책을 설정해야 하며 </a:t>
            </a:r>
            <a:r>
              <a:rPr lang="en-US" altLang="ko-KR" sz="1200" baseline="0" dirty="0" smtClean="0"/>
              <a:t>Backend API </a:t>
            </a:r>
            <a:r>
              <a:rPr lang="ko-KR" altLang="en-US" sz="1200" baseline="0" dirty="0" err="1" smtClean="0"/>
              <a:t>서버에게서만</a:t>
            </a:r>
            <a:r>
              <a:rPr lang="ko-KR" altLang="en-US" sz="1200" baseline="0" dirty="0" smtClean="0"/>
              <a:t> 요청을 받게 설정해야 한다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97596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ko-KR" altLang="en-US" sz="1200" dirty="0" smtClean="0"/>
              <a:t>해당 정책은 </a:t>
            </a:r>
            <a:r>
              <a:rPr lang="en-US" altLang="ko-KR" sz="1200" dirty="0" smtClean="0"/>
              <a:t>pod label</a:t>
            </a:r>
            <a:r>
              <a:rPr lang="ko-KR" altLang="en-US" sz="1200" dirty="0" smtClean="0"/>
              <a:t>인 </a:t>
            </a:r>
            <a:r>
              <a:rPr lang="en-US" altLang="ko-KR" sz="1200" dirty="0" err="1" smtClean="0"/>
              <a:t>role:db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인</a:t>
            </a:r>
            <a:r>
              <a:rPr lang="ko-KR" altLang="en-US" sz="1200" baseline="0" dirty="0" smtClean="0"/>
              <a:t>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에는 모두 적용된다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err="1" smtClean="0"/>
              <a:t>Api</a:t>
            </a:r>
            <a:r>
              <a:rPr lang="en-US" altLang="ko-KR" sz="1200" baseline="0" dirty="0" smtClean="0"/>
              <a:t>-pod</a:t>
            </a:r>
            <a:r>
              <a:rPr lang="ko-KR" altLang="en-US" sz="1200" baseline="0" dirty="0" smtClean="0"/>
              <a:t>로 </a:t>
            </a:r>
            <a:r>
              <a:rPr lang="ko-KR" altLang="en-US" sz="1200" baseline="0" dirty="0" err="1" smtClean="0"/>
              <a:t>부터만</a:t>
            </a:r>
            <a:r>
              <a:rPr lang="ko-KR" altLang="en-US" sz="1200" baseline="0" dirty="0" smtClean="0"/>
              <a:t> 요청을 받게 되는 설정이다</a:t>
            </a:r>
            <a:r>
              <a:rPr lang="en-US" altLang="ko-KR" sz="1200" baseline="0" dirty="0" smtClean="0"/>
              <a:t>.</a:t>
            </a:r>
          </a:p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r>
              <a:rPr lang="en-US" altLang="ko-KR" sz="1200" baseline="0" dirty="0" smtClean="0"/>
              <a:t>Flannel</a:t>
            </a:r>
            <a:r>
              <a:rPr lang="ko-KR" altLang="en-US" sz="1200" baseline="0" dirty="0" smtClean="0"/>
              <a:t>은 네트워크 정책을 지원하지 않는다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76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2025-02-27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jpeg"/><Relationship Id="rId5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2025.02.27.</a:t>
            </a: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888525"/>
            <a:ext cx="9171445" cy="940643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 Security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/>
          <p:nvPr/>
        </p:nvSpPr>
        <p:spPr>
          <a:xfrm>
            <a:off x="6162121" y="3254174"/>
            <a:ext cx="2120641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sz="1200" b="1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Security</a:t>
            </a:r>
            <a:endParaRPr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6162122" y="3863373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err="1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kubeconfig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6162121" y="4472572"/>
            <a:ext cx="1557115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Authorization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9217147" y="3276656"/>
            <a:ext cx="21622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sz="1100" dirty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03</a:t>
            </a:r>
          </a:p>
        </p:txBody>
      </p:sp>
      <p:sp>
        <p:nvSpPr>
          <p:cNvPr id="15" name="object 10"/>
          <p:cNvSpPr txBox="1"/>
          <p:nvPr/>
        </p:nvSpPr>
        <p:spPr>
          <a:xfrm>
            <a:off x="9217147" y="3902770"/>
            <a:ext cx="22369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13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16" name="object 11"/>
          <p:cNvSpPr txBox="1"/>
          <p:nvPr/>
        </p:nvSpPr>
        <p:spPr>
          <a:xfrm>
            <a:off x="9217147" y="4528884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17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22" name="object 17"/>
          <p:cNvSpPr/>
          <p:nvPr/>
        </p:nvSpPr>
        <p:spPr>
          <a:xfrm>
            <a:off x="6173663" y="3636263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3" name="object 18"/>
          <p:cNvSpPr/>
          <p:nvPr/>
        </p:nvSpPr>
        <p:spPr>
          <a:xfrm>
            <a:off x="6173663" y="4245462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87950" y="1974133"/>
            <a:ext cx="83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7" name="object 4"/>
          <p:cNvSpPr txBox="1"/>
          <p:nvPr/>
        </p:nvSpPr>
        <p:spPr>
          <a:xfrm>
            <a:off x="6173663" y="5081772"/>
            <a:ext cx="1385652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RBAC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8" name="object 11"/>
          <p:cNvSpPr txBox="1"/>
          <p:nvPr/>
        </p:nvSpPr>
        <p:spPr>
          <a:xfrm>
            <a:off x="9228688" y="5104254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25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19" name="object 18"/>
          <p:cNvSpPr/>
          <p:nvPr/>
        </p:nvSpPr>
        <p:spPr>
          <a:xfrm>
            <a:off x="6185204" y="4854661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0" name="object 4"/>
          <p:cNvSpPr txBox="1"/>
          <p:nvPr/>
        </p:nvSpPr>
        <p:spPr>
          <a:xfrm>
            <a:off x="6173663" y="5679081"/>
            <a:ext cx="1385652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Security Context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21" name="object 11"/>
          <p:cNvSpPr txBox="1"/>
          <p:nvPr/>
        </p:nvSpPr>
        <p:spPr>
          <a:xfrm>
            <a:off x="9228688" y="5701563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34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24" name="object 18"/>
          <p:cNvSpPr/>
          <p:nvPr/>
        </p:nvSpPr>
        <p:spPr>
          <a:xfrm>
            <a:off x="6185204" y="5451970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5" name="object 4"/>
          <p:cNvSpPr txBox="1"/>
          <p:nvPr/>
        </p:nvSpPr>
        <p:spPr>
          <a:xfrm>
            <a:off x="6173663" y="6277310"/>
            <a:ext cx="1385652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Network Policy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26" name="object 11"/>
          <p:cNvSpPr txBox="1"/>
          <p:nvPr/>
        </p:nvSpPr>
        <p:spPr>
          <a:xfrm>
            <a:off x="9228688" y="6299792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3</a:t>
            </a:r>
            <a:r>
              <a:rPr lang="en-US" sz="1100" dirty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7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28" name="object 18"/>
          <p:cNvSpPr/>
          <p:nvPr/>
        </p:nvSpPr>
        <p:spPr>
          <a:xfrm>
            <a:off x="6185204" y="6050199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9" name="object 18"/>
          <p:cNvSpPr/>
          <p:nvPr/>
        </p:nvSpPr>
        <p:spPr>
          <a:xfrm>
            <a:off x="6185204" y="6634001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168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Security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Security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Security</a:t>
            </a:r>
            <a:r>
              <a:rPr lang="ko-KR" altLang="en-US" sz="1400" dirty="0" smtClean="0"/>
              <a:t>는 클러스터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네트워크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컨테이너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워크로드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인증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데이터 보호 등 여러 영역에서 다뤄진다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</a:t>
            </a:r>
            <a:r>
              <a:rPr lang="ko-KR" altLang="en-US" sz="1400" dirty="0" smtClean="0"/>
              <a:t>보안 주요 영역</a:t>
            </a:r>
            <a:endParaRPr lang="en-US" altLang="ko-KR" sz="1200" dirty="0"/>
          </a:p>
        </p:txBody>
      </p: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72067"/>
              </p:ext>
            </p:extLst>
          </p:nvPr>
        </p:nvGraphicFramePr>
        <p:xfrm>
          <a:off x="817524" y="1278697"/>
          <a:ext cx="10922000" cy="338489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40086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7370284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  <a:gridCol w="2011630">
                  <a:extLst>
                    <a:ext uri="{9D8B030D-6E8A-4147-A177-3AD203B41FA5}">
                      <a16:colId xmlns:a16="http://schemas.microsoft.com/office/drawing/2014/main" val="1032010708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보안 영역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</a:t>
                      </a:r>
                      <a:r>
                        <a:rPr lang="en-US" altLang="ko-K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Solution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네트워크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Pod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간 통신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Service, Ingress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Istio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컨테이너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컨테이너 이미지 검증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환경 보호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Trivy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Clair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워크로드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RBAC(Role-Based Access Control), Pod Security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인증 및 접근 제어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및 서비스 인증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네임스페이스 격리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17061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노드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kubelet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etcd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호스트 보호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26822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Secret, 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ConfigMap</a:t>
                      </a:r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보호 및 저장소 암호화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88236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런타임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중인 컨테이너 이상 감지 및 보호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Falco, </a:t>
                      </a:r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Sysdig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3075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502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Authentication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Cluster 1</a:t>
            </a:r>
            <a:r>
              <a:rPr lang="ko-KR" altLang="en-US" sz="1400" dirty="0" smtClean="0"/>
              <a:t>차 보안은 </a:t>
            </a:r>
            <a:r>
              <a:rPr lang="en-US" altLang="ko-KR" sz="1400" dirty="0" err="1" smtClean="0"/>
              <a:t>kube-apiserver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접근이다</a:t>
            </a:r>
            <a:r>
              <a:rPr lang="en-US" altLang="ko-KR" sz="1400" dirty="0" smtClean="0"/>
              <a:t>.</a:t>
            </a:r>
          </a:p>
        </p:txBody>
      </p:sp>
      <p:pic>
        <p:nvPicPr>
          <p:cNvPr id="34" name="그림 3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847" y="1870737"/>
            <a:ext cx="546144" cy="546144"/>
          </a:xfrm>
          <a:prstGeom prst="rect">
            <a:avLst/>
          </a:prstGeom>
        </p:spPr>
      </p:pic>
      <p:sp>
        <p:nvSpPr>
          <p:cNvPr id="36" name="TextBox 4"/>
          <p:cNvSpPr txBox="1"/>
          <p:nvPr/>
        </p:nvSpPr>
        <p:spPr>
          <a:xfrm>
            <a:off x="4367736" y="2420808"/>
            <a:ext cx="892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/>
              <a:t>Admins</a:t>
            </a:r>
            <a:endParaRPr lang="ko-KR" altLang="en-US" dirty="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243051" y="1880633"/>
            <a:ext cx="540000" cy="540000"/>
          </a:xfrm>
          <a:prstGeom prst="rect">
            <a:avLst/>
          </a:prstGeom>
        </p:spPr>
      </p:pic>
      <p:sp>
        <p:nvSpPr>
          <p:cNvPr id="38" name="TextBox 18"/>
          <p:cNvSpPr txBox="1"/>
          <p:nvPr/>
        </p:nvSpPr>
        <p:spPr>
          <a:xfrm>
            <a:off x="6953951" y="2420808"/>
            <a:ext cx="111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/>
              <a:t>Developers</a:t>
            </a:r>
            <a:endParaRPr lang="ko-KR" altLang="en-US" dirty="0"/>
          </a:p>
        </p:txBody>
      </p:sp>
      <p:sp>
        <p:nvSpPr>
          <p:cNvPr id="39" name="직사각형 38"/>
          <p:cNvSpPr/>
          <p:nvPr/>
        </p:nvSpPr>
        <p:spPr>
          <a:xfrm>
            <a:off x="4962643" y="3456368"/>
            <a:ext cx="1773703" cy="5288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err="1"/>
              <a:t>kube-apiserver</a:t>
            </a:r>
            <a:endParaRPr lang="ko-KR" altLang="en-US" dirty="0"/>
          </a:p>
        </p:txBody>
      </p:sp>
      <p:sp>
        <p:nvSpPr>
          <p:cNvPr id="40" name="TextBox 20"/>
          <p:cNvSpPr txBox="1"/>
          <p:nvPr/>
        </p:nvSpPr>
        <p:spPr>
          <a:xfrm>
            <a:off x="4326530" y="2728585"/>
            <a:ext cx="93357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1" name="TextBox 21"/>
          <p:cNvSpPr txBox="1"/>
          <p:nvPr/>
        </p:nvSpPr>
        <p:spPr>
          <a:xfrm>
            <a:off x="6204797" y="2728584"/>
            <a:ext cx="2616507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curl https://kube-server-ip:6443/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2114774" y="3442059"/>
            <a:ext cx="2200739" cy="5288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Authenticate User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4793316" y="4712962"/>
            <a:ext cx="2200739" cy="5288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Process Request</a:t>
            </a:r>
            <a:endParaRPr lang="ko-KR" altLang="en-US" dirty="0"/>
          </a:p>
        </p:txBody>
      </p:sp>
      <p:cxnSp>
        <p:nvCxnSpPr>
          <p:cNvPr id="44" name="꺾인 연결선 43"/>
          <p:cNvCxnSpPr>
            <a:stCxn id="40" idx="2"/>
            <a:endCxn id="39" idx="0"/>
          </p:cNvCxnSpPr>
          <p:nvPr/>
        </p:nvCxnSpPr>
        <p:spPr>
          <a:xfrm rot="16200000" flipH="1">
            <a:off x="5096013" y="2702886"/>
            <a:ext cx="450784" cy="105617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41" idx="2"/>
            <a:endCxn id="39" idx="0"/>
          </p:cNvCxnSpPr>
          <p:nvPr/>
        </p:nvCxnSpPr>
        <p:spPr>
          <a:xfrm rot="5400000">
            <a:off x="6455881" y="2399197"/>
            <a:ext cx="450785" cy="166355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/>
          <p:cNvSpPr/>
          <p:nvPr/>
        </p:nvSpPr>
        <p:spPr>
          <a:xfrm>
            <a:off x="4470355" y="3527524"/>
            <a:ext cx="407624" cy="386497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/>
              <a:t>1</a:t>
            </a:r>
            <a:endParaRPr lang="ko-KR" altLang="en-US" dirty="0"/>
          </a:p>
        </p:txBody>
      </p:sp>
      <p:sp>
        <p:nvSpPr>
          <p:cNvPr id="47" name="타원 46"/>
          <p:cNvSpPr/>
          <p:nvPr/>
        </p:nvSpPr>
        <p:spPr>
          <a:xfrm>
            <a:off x="5645682" y="4155821"/>
            <a:ext cx="407624" cy="38649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6235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  <p:bldP spid="46" grpId="0" animBg="1"/>
      <p:bldP spid="4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Auth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Mechanisms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Cluster 1</a:t>
            </a:r>
            <a:r>
              <a:rPr lang="ko-KR" altLang="en-US" sz="1400" dirty="0" smtClean="0"/>
              <a:t>차 보안은 </a:t>
            </a:r>
            <a:r>
              <a:rPr lang="en-US" altLang="ko-KR" sz="1400" dirty="0" err="1" smtClean="0"/>
              <a:t>kube-apiserver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접근이다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951958" y="1429264"/>
            <a:ext cx="1773703" cy="52881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err="1"/>
              <a:t>kube-apiserver</a:t>
            </a:r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1211594" y="2522470"/>
            <a:ext cx="9254430" cy="2073094"/>
            <a:chOff x="1211594" y="2522470"/>
            <a:chExt cx="9254430" cy="2073094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3207" y="2694737"/>
              <a:ext cx="1575412" cy="1575412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211594" y="4287787"/>
              <a:ext cx="18786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/>
                <a:t>Static Password File</a:t>
              </a:r>
              <a:endParaRPr lang="ko-KR" altLang="en-US" dirty="0"/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4378" y="2694737"/>
              <a:ext cx="1575412" cy="1575412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3282765" y="4287787"/>
              <a:ext cx="18786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/>
                <a:t>Static Token File</a:t>
              </a:r>
              <a:endParaRPr lang="ko-KR" altLang="en-US" dirty="0"/>
            </a:p>
          </p:txBody>
        </p:sp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5549" y="2522470"/>
              <a:ext cx="2073094" cy="2073094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5602777" y="4260662"/>
              <a:ext cx="18786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smtClean="0"/>
                <a:t>Certificates</a:t>
              </a:r>
              <a:endParaRPr lang="ko-KR" altLang="en-US" dirty="0"/>
            </a:p>
          </p:txBody>
        </p:sp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6582" y="3126659"/>
              <a:ext cx="726481" cy="872463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13063" y="3126659"/>
              <a:ext cx="726481" cy="872463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39543" y="3126659"/>
              <a:ext cx="726481" cy="872463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8436984" y="4260662"/>
              <a:ext cx="18786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 smtClean="0"/>
                <a:t>타사 인증 프로토콜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77623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TLS In Kubernetes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</a:t>
            </a:r>
            <a:r>
              <a:rPr lang="ko-KR" altLang="en-US" sz="1400" dirty="0" smtClean="0"/>
              <a:t>인증서</a:t>
            </a:r>
            <a:endParaRPr lang="en-US" altLang="ko-KR" sz="1400" dirty="0" smtClean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599" y="1987765"/>
            <a:ext cx="540000" cy="54000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158" y="1954073"/>
            <a:ext cx="541083" cy="541083"/>
          </a:xfrm>
          <a:prstGeom prst="rect">
            <a:avLst/>
          </a:prstGeom>
        </p:spPr>
      </p:pic>
      <p:sp>
        <p:nvSpPr>
          <p:cNvPr id="30" name="TextBox 6"/>
          <p:cNvSpPr txBox="1"/>
          <p:nvPr/>
        </p:nvSpPr>
        <p:spPr>
          <a:xfrm>
            <a:off x="1315941" y="2370546"/>
            <a:ext cx="847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admin.crt</a:t>
            </a:r>
            <a:endParaRPr lang="ko-KR" altLang="en-US" dirty="0"/>
          </a:p>
        </p:txBody>
      </p:sp>
      <p:sp>
        <p:nvSpPr>
          <p:cNvPr id="31" name="TextBox 7"/>
          <p:cNvSpPr txBox="1"/>
          <p:nvPr/>
        </p:nvSpPr>
        <p:spPr>
          <a:xfrm>
            <a:off x="2140896" y="2364351"/>
            <a:ext cx="849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admin.key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4010785" y="1036811"/>
            <a:ext cx="4043190" cy="5288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Client </a:t>
            </a:r>
            <a:r>
              <a:rPr lang="en-US" altLang="ko-KR" sz="1600" dirty="0" err="1">
                <a:solidFill>
                  <a:schemeClr val="tx1"/>
                </a:solidFill>
              </a:rPr>
              <a:t>Cerificates</a:t>
            </a:r>
            <a:r>
              <a:rPr lang="en-US" altLang="ko-KR" sz="1600" dirty="0">
                <a:solidFill>
                  <a:schemeClr val="tx1"/>
                </a:solidFill>
              </a:rPr>
              <a:t> for Clients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1150687" y="1998956"/>
            <a:ext cx="2027104" cy="89400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5" name="TextBox 12"/>
          <p:cNvSpPr txBox="1"/>
          <p:nvPr/>
        </p:nvSpPr>
        <p:spPr>
          <a:xfrm>
            <a:off x="1739599" y="2634450"/>
            <a:ext cx="847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admin</a:t>
            </a:r>
            <a:endParaRPr lang="ko-KR" altLang="en-US" dirty="0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530" y="3032858"/>
            <a:ext cx="540000" cy="540000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858" y="2999164"/>
            <a:ext cx="541083" cy="541083"/>
          </a:xfrm>
          <a:prstGeom prst="rect">
            <a:avLst/>
          </a:prstGeom>
        </p:spPr>
      </p:pic>
      <p:sp>
        <p:nvSpPr>
          <p:cNvPr id="38" name="TextBox 15"/>
          <p:cNvSpPr txBox="1"/>
          <p:nvPr/>
        </p:nvSpPr>
        <p:spPr>
          <a:xfrm>
            <a:off x="1151065" y="3427363"/>
            <a:ext cx="1014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scheduler.crt</a:t>
            </a:r>
            <a:endParaRPr lang="ko-KR" altLang="en-US" dirty="0"/>
          </a:p>
        </p:txBody>
      </p:sp>
      <p:sp>
        <p:nvSpPr>
          <p:cNvPr id="40" name="TextBox 16"/>
          <p:cNvSpPr txBox="1"/>
          <p:nvPr/>
        </p:nvSpPr>
        <p:spPr>
          <a:xfrm>
            <a:off x="2142633" y="3421168"/>
            <a:ext cx="1035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scheduler.key</a:t>
            </a:r>
            <a:endParaRPr lang="ko-KR" altLang="en-US" dirty="0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1152425" y="3055773"/>
            <a:ext cx="2027104" cy="894006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2" name="TextBox 18"/>
          <p:cNvSpPr txBox="1"/>
          <p:nvPr/>
        </p:nvSpPr>
        <p:spPr>
          <a:xfrm>
            <a:off x="1565065" y="3691267"/>
            <a:ext cx="1189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Kube</a:t>
            </a:r>
            <a:r>
              <a:rPr lang="en-US" altLang="ko-KR" sz="1100" dirty="0"/>
              <a:t>-scheduler</a:t>
            </a:r>
            <a:endParaRPr lang="ko-KR" altLang="en-US" dirty="0"/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959" y="4006386"/>
            <a:ext cx="540000" cy="540000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518" y="3972694"/>
            <a:ext cx="541083" cy="541083"/>
          </a:xfrm>
          <a:prstGeom prst="rect">
            <a:avLst/>
          </a:prstGeom>
        </p:spPr>
      </p:pic>
      <p:sp>
        <p:nvSpPr>
          <p:cNvPr id="45" name="TextBox 21"/>
          <p:cNvSpPr txBox="1"/>
          <p:nvPr/>
        </p:nvSpPr>
        <p:spPr>
          <a:xfrm>
            <a:off x="1150687" y="4389167"/>
            <a:ext cx="10145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contoller</a:t>
            </a:r>
            <a:endParaRPr lang="en-US" altLang="ko-KR" sz="1100" dirty="0"/>
          </a:p>
          <a:p>
            <a:pPr algn="ctr"/>
            <a:r>
              <a:rPr lang="en-US" altLang="ko-KR" sz="1100" dirty="0"/>
              <a:t>manager.crt</a:t>
            </a:r>
            <a:endParaRPr lang="ko-KR" altLang="en-US" dirty="0"/>
          </a:p>
        </p:txBody>
      </p:sp>
      <p:sp>
        <p:nvSpPr>
          <p:cNvPr id="46" name="TextBox 22"/>
          <p:cNvSpPr txBox="1"/>
          <p:nvPr/>
        </p:nvSpPr>
        <p:spPr>
          <a:xfrm>
            <a:off x="2142255" y="4382972"/>
            <a:ext cx="10355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controller</a:t>
            </a:r>
          </a:p>
          <a:p>
            <a:pPr algn="ctr"/>
            <a:r>
              <a:rPr lang="en-US" altLang="ko-KR" sz="1100" dirty="0" err="1"/>
              <a:t>manager.key</a:t>
            </a:r>
            <a:endParaRPr lang="ko-KR" altLang="en-US" dirty="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1152047" y="4017576"/>
            <a:ext cx="2027104" cy="977923"/>
          </a:xfrm>
          <a:prstGeom prst="round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8" name="TextBox 24"/>
          <p:cNvSpPr txBox="1"/>
          <p:nvPr/>
        </p:nvSpPr>
        <p:spPr>
          <a:xfrm>
            <a:off x="958763" y="4741207"/>
            <a:ext cx="2474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kube</a:t>
            </a:r>
            <a:r>
              <a:rPr lang="en-US" altLang="ko-KR" sz="1100" dirty="0"/>
              <a:t>-controller-manager</a:t>
            </a:r>
            <a:endParaRPr lang="ko-KR" altLang="en-US" dirty="0"/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954" y="5097089"/>
            <a:ext cx="540000" cy="540000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991" y="5076997"/>
            <a:ext cx="541083" cy="541083"/>
          </a:xfrm>
          <a:prstGeom prst="rect">
            <a:avLst/>
          </a:prstGeom>
        </p:spPr>
      </p:pic>
      <p:sp>
        <p:nvSpPr>
          <p:cNvPr id="51" name="TextBox 27"/>
          <p:cNvSpPr txBox="1"/>
          <p:nvPr/>
        </p:nvSpPr>
        <p:spPr>
          <a:xfrm>
            <a:off x="1068933" y="5504328"/>
            <a:ext cx="12064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kube-proxy.crt</a:t>
            </a:r>
            <a:endParaRPr lang="ko-KR" altLang="en-US" dirty="0"/>
          </a:p>
        </p:txBody>
      </p:sp>
      <p:sp>
        <p:nvSpPr>
          <p:cNvPr id="52" name="TextBox 28"/>
          <p:cNvSpPr txBox="1"/>
          <p:nvPr/>
        </p:nvSpPr>
        <p:spPr>
          <a:xfrm>
            <a:off x="2032086" y="5498133"/>
            <a:ext cx="1272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kube-proxy.key</a:t>
            </a:r>
            <a:endParaRPr lang="ko-KR" altLang="en-US" dirty="0"/>
          </a:p>
        </p:txBody>
      </p:sp>
      <p:sp>
        <p:nvSpPr>
          <p:cNvPr id="53" name="모서리가 둥근 직사각형 52"/>
          <p:cNvSpPr/>
          <p:nvPr/>
        </p:nvSpPr>
        <p:spPr>
          <a:xfrm>
            <a:off x="1152047" y="5132738"/>
            <a:ext cx="2027104" cy="894006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4" name="TextBox 30"/>
          <p:cNvSpPr txBox="1"/>
          <p:nvPr/>
        </p:nvSpPr>
        <p:spPr>
          <a:xfrm>
            <a:off x="1652823" y="5768232"/>
            <a:ext cx="10137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kube</a:t>
            </a:r>
            <a:r>
              <a:rPr lang="en-US" altLang="ko-KR" sz="1100" dirty="0"/>
              <a:t>-proxy</a:t>
            </a:r>
            <a:endParaRPr lang="ko-KR" altLang="en-US" dirty="0"/>
          </a:p>
        </p:txBody>
      </p:sp>
      <p:grpSp>
        <p:nvGrpSpPr>
          <p:cNvPr id="21" name="그룹 20"/>
          <p:cNvGrpSpPr/>
          <p:nvPr/>
        </p:nvGrpSpPr>
        <p:grpSpPr>
          <a:xfrm>
            <a:off x="7762692" y="3229291"/>
            <a:ext cx="1674563" cy="1016637"/>
            <a:chOff x="7762692" y="3229291"/>
            <a:chExt cx="1674563" cy="1016637"/>
          </a:xfrm>
        </p:grpSpPr>
        <p:pic>
          <p:nvPicPr>
            <p:cNvPr id="55" name="그림 54"/>
            <p:cNvPicPr>
              <a:picLocks noChangeAspect="1"/>
            </p:cNvPicPr>
            <p:nvPr/>
          </p:nvPicPr>
          <p:blipFill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6350" y="3262983"/>
              <a:ext cx="540000" cy="540000"/>
            </a:xfrm>
            <a:prstGeom prst="rect">
              <a:avLst/>
            </a:prstGeom>
          </p:spPr>
        </p:pic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41909" y="3229291"/>
              <a:ext cx="541083" cy="541083"/>
            </a:xfrm>
            <a:prstGeom prst="rect">
              <a:avLst/>
            </a:prstGeom>
          </p:spPr>
        </p:pic>
        <p:sp>
          <p:nvSpPr>
            <p:cNvPr id="57" name="TextBox 33"/>
            <p:cNvSpPr txBox="1"/>
            <p:nvPr/>
          </p:nvSpPr>
          <p:spPr>
            <a:xfrm>
              <a:off x="7762692" y="3645764"/>
              <a:ext cx="84792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/>
                <a:t>apiserver-kubelet-client.crt</a:t>
              </a:r>
              <a:endParaRPr lang="ko-KR" altLang="en-US" dirty="0"/>
            </a:p>
          </p:txBody>
        </p:sp>
        <p:sp>
          <p:nvSpPr>
            <p:cNvPr id="58" name="TextBox 34"/>
            <p:cNvSpPr txBox="1"/>
            <p:nvPr/>
          </p:nvSpPr>
          <p:spPr>
            <a:xfrm>
              <a:off x="8587647" y="3639569"/>
              <a:ext cx="849608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/>
                <a:t>Apiserver-kubelet-clinet.key</a:t>
              </a:r>
              <a:endParaRPr lang="ko-KR" altLang="en-US" dirty="0"/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8132295" y="816717"/>
            <a:ext cx="1674563" cy="1016637"/>
            <a:chOff x="8132295" y="816717"/>
            <a:chExt cx="1674563" cy="1016637"/>
          </a:xfrm>
        </p:grpSpPr>
        <p:pic>
          <p:nvPicPr>
            <p:cNvPr id="61" name="그림 60"/>
            <p:cNvPicPr>
              <a:picLocks noChangeAspect="1"/>
            </p:cNvPicPr>
            <p:nvPr/>
          </p:nvPicPr>
          <p:blipFill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5953" y="850409"/>
              <a:ext cx="540000" cy="540000"/>
            </a:xfrm>
            <a:prstGeom prst="rect">
              <a:avLst/>
            </a:prstGeom>
          </p:spPr>
        </p:pic>
        <p:pic>
          <p:nvPicPr>
            <p:cNvPr id="62" name="그림 61"/>
            <p:cNvPicPr>
              <a:picLocks noChangeAspect="1"/>
            </p:cNvPicPr>
            <p:nvPr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11512" y="816717"/>
              <a:ext cx="541083" cy="541083"/>
            </a:xfrm>
            <a:prstGeom prst="rect">
              <a:avLst/>
            </a:prstGeom>
          </p:spPr>
        </p:pic>
        <p:sp>
          <p:nvSpPr>
            <p:cNvPr id="63" name="TextBox 39"/>
            <p:cNvSpPr txBox="1"/>
            <p:nvPr/>
          </p:nvSpPr>
          <p:spPr>
            <a:xfrm>
              <a:off x="8132295" y="1233190"/>
              <a:ext cx="84792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/>
                <a:t>apiserver-etcd-client.crt</a:t>
              </a:r>
              <a:endParaRPr lang="ko-KR" altLang="en-US" dirty="0"/>
            </a:p>
          </p:txBody>
        </p:sp>
        <p:sp>
          <p:nvSpPr>
            <p:cNvPr id="64" name="TextBox 40"/>
            <p:cNvSpPr txBox="1"/>
            <p:nvPr/>
          </p:nvSpPr>
          <p:spPr>
            <a:xfrm>
              <a:off x="8957250" y="1226995"/>
              <a:ext cx="849608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/>
                <a:t>Apiserver-etcd-clinet.key</a:t>
              </a:r>
              <a:endParaRPr lang="ko-KR" altLang="en-US" dirty="0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8410495" y="1889224"/>
            <a:ext cx="2158268" cy="1150044"/>
            <a:chOff x="8038346" y="1999297"/>
            <a:chExt cx="2158268" cy="1150044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45559" y="2032989"/>
              <a:ext cx="540000" cy="540000"/>
            </a:xfrm>
            <a:prstGeom prst="rect">
              <a:avLst/>
            </a:prstGeom>
          </p:spPr>
        </p:pic>
        <p:pic>
          <p:nvPicPr>
            <p:cNvPr id="74" name="그림 73"/>
            <p:cNvPicPr>
              <a:picLocks noChangeAspect="1"/>
            </p:cNvPicPr>
            <p:nvPr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70051" y="1999297"/>
              <a:ext cx="541083" cy="541083"/>
            </a:xfrm>
            <a:prstGeom prst="rect">
              <a:avLst/>
            </a:prstGeom>
          </p:spPr>
        </p:pic>
        <p:sp>
          <p:nvSpPr>
            <p:cNvPr id="76" name="TextBox 51"/>
            <p:cNvSpPr txBox="1"/>
            <p:nvPr/>
          </p:nvSpPr>
          <p:spPr>
            <a:xfrm>
              <a:off x="8038346" y="2419391"/>
              <a:ext cx="10952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/>
                <a:t>etcdserver.crt</a:t>
              </a:r>
              <a:endParaRPr lang="ko-KR" altLang="en-US" dirty="0"/>
            </a:p>
          </p:txBody>
        </p:sp>
        <p:sp>
          <p:nvSpPr>
            <p:cNvPr id="77" name="TextBox 52"/>
            <p:cNvSpPr txBox="1"/>
            <p:nvPr/>
          </p:nvSpPr>
          <p:spPr>
            <a:xfrm>
              <a:off x="9077611" y="2413196"/>
              <a:ext cx="1119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/>
                <a:t>etcdserver.key</a:t>
              </a:r>
              <a:endParaRPr lang="ko-KR" altLang="en-US" dirty="0"/>
            </a:p>
          </p:txBody>
        </p:sp>
        <p:sp>
          <p:nvSpPr>
            <p:cNvPr id="78" name="모서리가 둥근 직사각형 77"/>
            <p:cNvSpPr/>
            <p:nvPr/>
          </p:nvSpPr>
          <p:spPr>
            <a:xfrm>
              <a:off x="8120454" y="2047801"/>
              <a:ext cx="2027104" cy="1101540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TextBox 54"/>
            <p:cNvSpPr txBox="1"/>
            <p:nvPr/>
          </p:nvSpPr>
          <p:spPr>
            <a:xfrm>
              <a:off x="8538674" y="2887731"/>
              <a:ext cx="118990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/>
                <a:t>etcd</a:t>
              </a:r>
              <a:r>
                <a:rPr lang="en-US" altLang="ko-KR" sz="1100" dirty="0"/>
                <a:t> server</a:t>
              </a:r>
              <a:endParaRPr lang="ko-KR" altLang="en-US" dirty="0"/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8492603" y="4344549"/>
            <a:ext cx="2027104" cy="970151"/>
            <a:chOff x="8136461" y="4796380"/>
            <a:chExt cx="2027104" cy="970151"/>
          </a:xfrm>
        </p:grpSpPr>
        <p:pic>
          <p:nvPicPr>
            <p:cNvPr id="80" name="그림 79"/>
            <p:cNvPicPr>
              <a:picLocks noChangeAspect="1"/>
            </p:cNvPicPr>
            <p:nvPr/>
          </p:nvPicPr>
          <p:blipFill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55373" y="4830072"/>
              <a:ext cx="540000" cy="540000"/>
            </a:xfrm>
            <a:prstGeom prst="rect">
              <a:avLst/>
            </a:prstGeom>
          </p:spPr>
        </p:pic>
        <p:pic>
          <p:nvPicPr>
            <p:cNvPr id="81" name="그림 80"/>
            <p:cNvPicPr>
              <a:picLocks noChangeAspect="1"/>
            </p:cNvPicPr>
            <p:nvPr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80932" y="4796380"/>
              <a:ext cx="541083" cy="541083"/>
            </a:xfrm>
            <a:prstGeom prst="rect">
              <a:avLst/>
            </a:prstGeom>
          </p:spPr>
        </p:pic>
        <p:sp>
          <p:nvSpPr>
            <p:cNvPr id="82" name="TextBox 57"/>
            <p:cNvSpPr txBox="1"/>
            <p:nvPr/>
          </p:nvSpPr>
          <p:spPr>
            <a:xfrm>
              <a:off x="8301715" y="5212853"/>
              <a:ext cx="8479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/>
                <a:t>kubelet.crt</a:t>
              </a:r>
              <a:endParaRPr lang="ko-KR" altLang="en-US" dirty="0"/>
            </a:p>
          </p:txBody>
        </p:sp>
        <p:sp>
          <p:nvSpPr>
            <p:cNvPr id="83" name="TextBox 58"/>
            <p:cNvSpPr txBox="1"/>
            <p:nvPr/>
          </p:nvSpPr>
          <p:spPr>
            <a:xfrm>
              <a:off x="9126670" y="5206658"/>
              <a:ext cx="10208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/>
                <a:t>kubelet.key</a:t>
              </a:r>
              <a:endParaRPr lang="ko-KR" altLang="en-US" dirty="0"/>
            </a:p>
          </p:txBody>
        </p:sp>
        <p:sp>
          <p:nvSpPr>
            <p:cNvPr id="84" name="모서리가 둥근 직사각형 83"/>
            <p:cNvSpPr/>
            <p:nvPr/>
          </p:nvSpPr>
          <p:spPr>
            <a:xfrm>
              <a:off x="8136461" y="4841263"/>
              <a:ext cx="2027104" cy="925268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TextBox 60"/>
            <p:cNvSpPr txBox="1"/>
            <p:nvPr/>
          </p:nvSpPr>
          <p:spPr>
            <a:xfrm>
              <a:off x="8554681" y="5504921"/>
              <a:ext cx="118990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/>
                <a:t>kubelet</a:t>
              </a:r>
              <a:r>
                <a:rPr lang="en-US" altLang="ko-KR" sz="1100" dirty="0"/>
                <a:t> server</a:t>
              </a:r>
              <a:endParaRPr lang="ko-KR" altLang="en-US" dirty="0"/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4871005" y="1852045"/>
            <a:ext cx="2158268" cy="1150044"/>
            <a:chOff x="8053975" y="3195668"/>
            <a:chExt cx="2158268" cy="1150044"/>
          </a:xfrm>
        </p:grpSpPr>
        <p:pic>
          <p:nvPicPr>
            <p:cNvPr id="86" name="그림 85"/>
            <p:cNvPicPr>
              <a:picLocks noChangeAspect="1"/>
            </p:cNvPicPr>
            <p:nvPr/>
          </p:nvPicPr>
          <p:blipFill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1188" y="3229360"/>
              <a:ext cx="540000" cy="540000"/>
            </a:xfrm>
            <a:prstGeom prst="rect">
              <a:avLst/>
            </a:prstGeom>
          </p:spPr>
        </p:pic>
        <p:pic>
          <p:nvPicPr>
            <p:cNvPr id="87" name="그림 86"/>
            <p:cNvPicPr>
              <a:picLocks noChangeAspect="1"/>
            </p:cNvPicPr>
            <p:nvPr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85680" y="3195668"/>
              <a:ext cx="541083" cy="541083"/>
            </a:xfrm>
            <a:prstGeom prst="rect">
              <a:avLst/>
            </a:prstGeom>
          </p:spPr>
        </p:pic>
        <p:sp>
          <p:nvSpPr>
            <p:cNvPr id="88" name="TextBox 63"/>
            <p:cNvSpPr txBox="1"/>
            <p:nvPr/>
          </p:nvSpPr>
          <p:spPr>
            <a:xfrm>
              <a:off x="8053975" y="3615762"/>
              <a:ext cx="10952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/>
                <a:t>apiserver.crt</a:t>
              </a:r>
              <a:endParaRPr lang="ko-KR" altLang="en-US" dirty="0"/>
            </a:p>
          </p:txBody>
        </p:sp>
        <p:sp>
          <p:nvSpPr>
            <p:cNvPr id="89" name="TextBox 64"/>
            <p:cNvSpPr txBox="1"/>
            <p:nvPr/>
          </p:nvSpPr>
          <p:spPr>
            <a:xfrm>
              <a:off x="9093240" y="3609567"/>
              <a:ext cx="1119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/>
                <a:t>apiserver.key</a:t>
              </a:r>
              <a:endParaRPr lang="ko-KR" altLang="en-US" dirty="0"/>
            </a:p>
          </p:txBody>
        </p:sp>
        <p:sp>
          <p:nvSpPr>
            <p:cNvPr id="90" name="모서리가 둥근 직사각형 89"/>
            <p:cNvSpPr/>
            <p:nvPr/>
          </p:nvSpPr>
          <p:spPr>
            <a:xfrm>
              <a:off x="8136083" y="3244172"/>
              <a:ext cx="2027104" cy="1101540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91" name="TextBox 66"/>
            <p:cNvSpPr txBox="1"/>
            <p:nvPr/>
          </p:nvSpPr>
          <p:spPr>
            <a:xfrm>
              <a:off x="8554303" y="4084102"/>
              <a:ext cx="118990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/>
                <a:t>kube-api</a:t>
              </a:r>
              <a:r>
                <a:rPr lang="en-US" altLang="ko-KR" sz="1100" dirty="0"/>
                <a:t> server</a:t>
              </a:r>
              <a:endParaRPr lang="ko-KR" altLang="en-US" dirty="0"/>
            </a:p>
          </p:txBody>
        </p:sp>
      </p:grpSp>
      <p:cxnSp>
        <p:nvCxnSpPr>
          <p:cNvPr id="4" name="직선 화살표 연결선 3"/>
          <p:cNvCxnSpPr>
            <a:stCxn id="34" idx="3"/>
            <a:endCxn id="90" idx="1"/>
          </p:cNvCxnSpPr>
          <p:nvPr/>
        </p:nvCxnSpPr>
        <p:spPr>
          <a:xfrm>
            <a:off x="3177791" y="2445959"/>
            <a:ext cx="1775322" cy="536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381234" y="2155737"/>
            <a:ext cx="797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 smtClean="0"/>
              <a:t>kubectl</a:t>
            </a:r>
            <a:endParaRPr lang="ko-KR" altLang="en-US" dirty="0"/>
          </a:p>
        </p:txBody>
      </p:sp>
      <p:cxnSp>
        <p:nvCxnSpPr>
          <p:cNvPr id="8" name="꺾인 연결선 7"/>
          <p:cNvCxnSpPr>
            <a:stCxn id="41" idx="3"/>
            <a:endCxn id="90" idx="1"/>
          </p:cNvCxnSpPr>
          <p:nvPr/>
        </p:nvCxnSpPr>
        <p:spPr>
          <a:xfrm flipV="1">
            <a:off x="3179529" y="2451319"/>
            <a:ext cx="1773584" cy="1051457"/>
          </a:xfrm>
          <a:prstGeom prst="bentConnector3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 91"/>
          <p:cNvCxnSpPr>
            <a:stCxn id="47" idx="3"/>
            <a:endCxn id="91" idx="2"/>
          </p:cNvCxnSpPr>
          <p:nvPr/>
        </p:nvCxnSpPr>
        <p:spPr>
          <a:xfrm flipV="1">
            <a:off x="3179151" y="3002089"/>
            <a:ext cx="2787136" cy="1504449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stCxn id="53" idx="3"/>
            <a:endCxn id="91" idx="2"/>
          </p:cNvCxnSpPr>
          <p:nvPr/>
        </p:nvCxnSpPr>
        <p:spPr>
          <a:xfrm flipV="1">
            <a:off x="3179151" y="3002089"/>
            <a:ext cx="2787136" cy="2577652"/>
          </a:xfrm>
          <a:prstGeom prst="bentConnector2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stCxn id="90" idx="3"/>
            <a:endCxn id="76" idx="1"/>
          </p:cNvCxnSpPr>
          <p:nvPr/>
        </p:nvCxnSpPr>
        <p:spPr>
          <a:xfrm flipV="1">
            <a:off x="6980217" y="2440123"/>
            <a:ext cx="1430278" cy="1119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90" idx="3"/>
            <a:endCxn id="84" idx="1"/>
          </p:cNvCxnSpPr>
          <p:nvPr/>
        </p:nvCxnSpPr>
        <p:spPr>
          <a:xfrm>
            <a:off x="6980217" y="2451319"/>
            <a:ext cx="1512386" cy="240074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84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TLS In Kubernetes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</a:t>
            </a:r>
            <a:r>
              <a:rPr lang="ko-KR" altLang="en-US" sz="1400" dirty="0" smtClean="0"/>
              <a:t>인증서</a:t>
            </a:r>
            <a:endParaRPr lang="en-US" altLang="ko-KR" sz="1400" dirty="0" smtClean="0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715" y="2052182"/>
            <a:ext cx="540000" cy="54000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274" y="2018490"/>
            <a:ext cx="541083" cy="541083"/>
          </a:xfrm>
          <a:prstGeom prst="rect">
            <a:avLst/>
          </a:prstGeom>
        </p:spPr>
      </p:pic>
      <p:sp>
        <p:nvSpPr>
          <p:cNvPr id="29" name="직사각형 28"/>
          <p:cNvSpPr/>
          <p:nvPr/>
        </p:nvSpPr>
        <p:spPr>
          <a:xfrm>
            <a:off x="4336678" y="828159"/>
            <a:ext cx="4043190" cy="52880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Certificate Authority(CA)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6"/>
          <p:cNvSpPr txBox="1"/>
          <p:nvPr/>
        </p:nvSpPr>
        <p:spPr>
          <a:xfrm>
            <a:off x="1318057" y="2434963"/>
            <a:ext cx="847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admin.crt</a:t>
            </a:r>
            <a:endParaRPr lang="ko-KR" altLang="en-US" dirty="0"/>
          </a:p>
        </p:txBody>
      </p:sp>
      <p:sp>
        <p:nvSpPr>
          <p:cNvPr id="31" name="TextBox 7"/>
          <p:cNvSpPr txBox="1"/>
          <p:nvPr/>
        </p:nvSpPr>
        <p:spPr>
          <a:xfrm>
            <a:off x="2143012" y="2428768"/>
            <a:ext cx="8496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admin.key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1152803" y="1445766"/>
            <a:ext cx="4043190" cy="5288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Client </a:t>
            </a:r>
            <a:r>
              <a:rPr lang="en-US" altLang="ko-KR" sz="1600" dirty="0" err="1">
                <a:solidFill>
                  <a:schemeClr val="tx1"/>
                </a:solidFill>
              </a:rPr>
              <a:t>Cerificates</a:t>
            </a:r>
            <a:r>
              <a:rPr lang="en-US" altLang="ko-KR" sz="1600" dirty="0">
                <a:solidFill>
                  <a:schemeClr val="tx1"/>
                </a:solidFill>
              </a:rPr>
              <a:t> for Clients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190046" y="1445766"/>
            <a:ext cx="4043190" cy="52880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Server </a:t>
            </a:r>
            <a:r>
              <a:rPr lang="en-US" altLang="ko-KR" sz="1600" dirty="0" err="1">
                <a:solidFill>
                  <a:schemeClr val="tx1"/>
                </a:solidFill>
              </a:rPr>
              <a:t>Cerificates</a:t>
            </a:r>
            <a:r>
              <a:rPr lang="en-US" altLang="ko-KR" sz="1600" dirty="0">
                <a:solidFill>
                  <a:schemeClr val="tx1"/>
                </a:solidFill>
              </a:rPr>
              <a:t> for Servers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1152803" y="2063373"/>
            <a:ext cx="2027104" cy="89400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5" name="TextBox 12"/>
          <p:cNvSpPr txBox="1"/>
          <p:nvPr/>
        </p:nvSpPr>
        <p:spPr>
          <a:xfrm>
            <a:off x="1741715" y="2698867"/>
            <a:ext cx="847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admin</a:t>
            </a:r>
            <a:endParaRPr lang="ko-KR" altLang="en-US" dirty="0"/>
          </a:p>
        </p:txBody>
      </p:sp>
      <p:pic>
        <p:nvPicPr>
          <p:cNvPr id="36" name="그림 35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530" y="3032858"/>
            <a:ext cx="540000" cy="540000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858" y="2999164"/>
            <a:ext cx="541083" cy="541083"/>
          </a:xfrm>
          <a:prstGeom prst="rect">
            <a:avLst/>
          </a:prstGeom>
        </p:spPr>
      </p:pic>
      <p:sp>
        <p:nvSpPr>
          <p:cNvPr id="38" name="TextBox 15"/>
          <p:cNvSpPr txBox="1"/>
          <p:nvPr/>
        </p:nvSpPr>
        <p:spPr>
          <a:xfrm>
            <a:off x="1151065" y="3427363"/>
            <a:ext cx="1014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scheduler.crt</a:t>
            </a:r>
            <a:endParaRPr lang="ko-KR" altLang="en-US" dirty="0"/>
          </a:p>
        </p:txBody>
      </p:sp>
      <p:sp>
        <p:nvSpPr>
          <p:cNvPr id="40" name="TextBox 16"/>
          <p:cNvSpPr txBox="1"/>
          <p:nvPr/>
        </p:nvSpPr>
        <p:spPr>
          <a:xfrm>
            <a:off x="2142633" y="3421168"/>
            <a:ext cx="1035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scheduler.key</a:t>
            </a:r>
            <a:endParaRPr lang="ko-KR" altLang="en-US" dirty="0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1152425" y="3055773"/>
            <a:ext cx="2027104" cy="894006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2" name="TextBox 18"/>
          <p:cNvSpPr txBox="1"/>
          <p:nvPr/>
        </p:nvSpPr>
        <p:spPr>
          <a:xfrm>
            <a:off x="1565065" y="3691267"/>
            <a:ext cx="11896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Kube</a:t>
            </a:r>
            <a:r>
              <a:rPr lang="en-US" altLang="ko-KR" sz="1100" dirty="0"/>
              <a:t>-scheduler</a:t>
            </a:r>
            <a:endParaRPr lang="ko-KR" altLang="en-US" dirty="0"/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959" y="4006386"/>
            <a:ext cx="540000" cy="540000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518" y="3972694"/>
            <a:ext cx="541083" cy="541083"/>
          </a:xfrm>
          <a:prstGeom prst="rect">
            <a:avLst/>
          </a:prstGeom>
        </p:spPr>
      </p:pic>
      <p:sp>
        <p:nvSpPr>
          <p:cNvPr id="45" name="TextBox 21"/>
          <p:cNvSpPr txBox="1"/>
          <p:nvPr/>
        </p:nvSpPr>
        <p:spPr>
          <a:xfrm>
            <a:off x="1150687" y="4389167"/>
            <a:ext cx="10145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contoller</a:t>
            </a:r>
            <a:endParaRPr lang="en-US" altLang="ko-KR" sz="1100" dirty="0"/>
          </a:p>
          <a:p>
            <a:pPr algn="ctr"/>
            <a:r>
              <a:rPr lang="en-US" altLang="ko-KR" sz="1100" dirty="0"/>
              <a:t>manager.crt</a:t>
            </a:r>
            <a:endParaRPr lang="ko-KR" altLang="en-US" dirty="0"/>
          </a:p>
        </p:txBody>
      </p:sp>
      <p:sp>
        <p:nvSpPr>
          <p:cNvPr id="46" name="TextBox 22"/>
          <p:cNvSpPr txBox="1"/>
          <p:nvPr/>
        </p:nvSpPr>
        <p:spPr>
          <a:xfrm>
            <a:off x="2142255" y="4382972"/>
            <a:ext cx="10355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controller</a:t>
            </a:r>
          </a:p>
          <a:p>
            <a:pPr algn="ctr"/>
            <a:r>
              <a:rPr lang="en-US" altLang="ko-KR" sz="1100" dirty="0" err="1"/>
              <a:t>manager.key</a:t>
            </a:r>
            <a:endParaRPr lang="ko-KR" altLang="en-US" dirty="0"/>
          </a:p>
        </p:txBody>
      </p:sp>
      <p:sp>
        <p:nvSpPr>
          <p:cNvPr id="47" name="모서리가 둥근 직사각형 46"/>
          <p:cNvSpPr/>
          <p:nvPr/>
        </p:nvSpPr>
        <p:spPr>
          <a:xfrm>
            <a:off x="1152047" y="4017576"/>
            <a:ext cx="2027104" cy="977923"/>
          </a:xfrm>
          <a:prstGeom prst="round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48" name="TextBox 24"/>
          <p:cNvSpPr txBox="1"/>
          <p:nvPr/>
        </p:nvSpPr>
        <p:spPr>
          <a:xfrm>
            <a:off x="958763" y="4741207"/>
            <a:ext cx="2474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kube</a:t>
            </a:r>
            <a:r>
              <a:rPr lang="en-US" altLang="ko-KR" sz="1100" dirty="0"/>
              <a:t>-controller-manager</a:t>
            </a:r>
            <a:endParaRPr lang="ko-KR" altLang="en-US" dirty="0"/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954" y="5097089"/>
            <a:ext cx="540000" cy="540000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991" y="5076997"/>
            <a:ext cx="541083" cy="541083"/>
          </a:xfrm>
          <a:prstGeom prst="rect">
            <a:avLst/>
          </a:prstGeom>
        </p:spPr>
      </p:pic>
      <p:sp>
        <p:nvSpPr>
          <p:cNvPr id="51" name="TextBox 27"/>
          <p:cNvSpPr txBox="1"/>
          <p:nvPr/>
        </p:nvSpPr>
        <p:spPr>
          <a:xfrm>
            <a:off x="1068933" y="5504328"/>
            <a:ext cx="12064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kube-proxy.crt</a:t>
            </a:r>
            <a:endParaRPr lang="ko-KR" altLang="en-US" dirty="0"/>
          </a:p>
        </p:txBody>
      </p:sp>
      <p:sp>
        <p:nvSpPr>
          <p:cNvPr id="52" name="TextBox 28"/>
          <p:cNvSpPr txBox="1"/>
          <p:nvPr/>
        </p:nvSpPr>
        <p:spPr>
          <a:xfrm>
            <a:off x="2032086" y="5498133"/>
            <a:ext cx="1272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kube-proxy.key</a:t>
            </a:r>
            <a:endParaRPr lang="ko-KR" altLang="en-US" dirty="0"/>
          </a:p>
        </p:txBody>
      </p:sp>
      <p:sp>
        <p:nvSpPr>
          <p:cNvPr id="53" name="모서리가 둥근 직사각형 52"/>
          <p:cNvSpPr/>
          <p:nvPr/>
        </p:nvSpPr>
        <p:spPr>
          <a:xfrm>
            <a:off x="1152047" y="5132738"/>
            <a:ext cx="2027104" cy="894006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4" name="TextBox 30"/>
          <p:cNvSpPr txBox="1"/>
          <p:nvPr/>
        </p:nvSpPr>
        <p:spPr>
          <a:xfrm>
            <a:off x="1652823" y="5768232"/>
            <a:ext cx="10137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kube</a:t>
            </a:r>
            <a:r>
              <a:rPr lang="en-US" altLang="ko-KR" sz="1100" dirty="0"/>
              <a:t>-proxy</a:t>
            </a:r>
            <a:endParaRPr lang="ko-KR" altLang="en-US" dirty="0"/>
          </a:p>
        </p:txBody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731" y="2032989"/>
            <a:ext cx="540000" cy="540000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290" y="1999297"/>
            <a:ext cx="541083" cy="541083"/>
          </a:xfrm>
          <a:prstGeom prst="rect">
            <a:avLst/>
          </a:prstGeom>
        </p:spPr>
      </p:pic>
      <p:sp>
        <p:nvSpPr>
          <p:cNvPr id="57" name="TextBox 33"/>
          <p:cNvSpPr txBox="1"/>
          <p:nvPr/>
        </p:nvSpPr>
        <p:spPr>
          <a:xfrm>
            <a:off x="3934073" y="2415770"/>
            <a:ext cx="8479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apiserver-kubelet-client.crt</a:t>
            </a:r>
            <a:endParaRPr lang="ko-KR" altLang="en-US" dirty="0"/>
          </a:p>
        </p:txBody>
      </p:sp>
      <p:sp>
        <p:nvSpPr>
          <p:cNvPr id="58" name="TextBox 34"/>
          <p:cNvSpPr txBox="1"/>
          <p:nvPr/>
        </p:nvSpPr>
        <p:spPr>
          <a:xfrm>
            <a:off x="4759028" y="2409575"/>
            <a:ext cx="8496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Apiserver-kubelet-clinet.key</a:t>
            </a:r>
            <a:endParaRPr lang="ko-KR" altLang="en-US" dirty="0"/>
          </a:p>
        </p:txBody>
      </p:sp>
      <p:sp>
        <p:nvSpPr>
          <p:cNvPr id="59" name="모서리가 둥근 직사각형 58"/>
          <p:cNvSpPr/>
          <p:nvPr/>
        </p:nvSpPr>
        <p:spPr>
          <a:xfrm>
            <a:off x="3768819" y="2044180"/>
            <a:ext cx="2027104" cy="1266796"/>
          </a:xfrm>
          <a:prstGeom prst="roundRect">
            <a:avLst/>
          </a:prstGeom>
          <a:noFill/>
          <a:ln>
            <a:solidFill>
              <a:srgbClr val="9295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0" name="TextBox 36"/>
          <p:cNvSpPr txBox="1"/>
          <p:nvPr/>
        </p:nvSpPr>
        <p:spPr>
          <a:xfrm>
            <a:off x="4187039" y="3049365"/>
            <a:ext cx="11899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kube-api</a:t>
            </a:r>
            <a:r>
              <a:rPr lang="en-US" altLang="ko-KR" sz="1100" dirty="0"/>
              <a:t> server</a:t>
            </a:r>
            <a:endParaRPr lang="ko-KR" altLang="en-US" dirty="0"/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353" y="3409977"/>
            <a:ext cx="540000" cy="540000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2912" y="3376285"/>
            <a:ext cx="541083" cy="541083"/>
          </a:xfrm>
          <a:prstGeom prst="rect">
            <a:avLst/>
          </a:prstGeom>
        </p:spPr>
      </p:pic>
      <p:sp>
        <p:nvSpPr>
          <p:cNvPr id="63" name="TextBox 39"/>
          <p:cNvSpPr txBox="1"/>
          <p:nvPr/>
        </p:nvSpPr>
        <p:spPr>
          <a:xfrm>
            <a:off x="3933695" y="3792758"/>
            <a:ext cx="8479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apiserver-etcd-client.crt</a:t>
            </a:r>
            <a:endParaRPr lang="ko-KR" altLang="en-US" dirty="0"/>
          </a:p>
        </p:txBody>
      </p:sp>
      <p:sp>
        <p:nvSpPr>
          <p:cNvPr id="64" name="TextBox 40"/>
          <p:cNvSpPr txBox="1"/>
          <p:nvPr/>
        </p:nvSpPr>
        <p:spPr>
          <a:xfrm>
            <a:off x="4758650" y="3786563"/>
            <a:ext cx="8496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Apiserver-etcd-clinet.key</a:t>
            </a:r>
            <a:endParaRPr lang="ko-KR" altLang="en-US" dirty="0"/>
          </a:p>
        </p:txBody>
      </p:sp>
      <p:sp>
        <p:nvSpPr>
          <p:cNvPr id="65" name="모서리가 둥근 직사각형 64"/>
          <p:cNvSpPr/>
          <p:nvPr/>
        </p:nvSpPr>
        <p:spPr>
          <a:xfrm>
            <a:off x="3768441" y="3421168"/>
            <a:ext cx="2027104" cy="1266796"/>
          </a:xfrm>
          <a:prstGeom prst="roundRect">
            <a:avLst/>
          </a:prstGeom>
          <a:noFill/>
          <a:ln>
            <a:solidFill>
              <a:srgbClr val="9295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66" name="TextBox 42"/>
          <p:cNvSpPr txBox="1"/>
          <p:nvPr/>
        </p:nvSpPr>
        <p:spPr>
          <a:xfrm>
            <a:off x="4186661" y="4426353"/>
            <a:ext cx="11899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kube-api</a:t>
            </a:r>
            <a:r>
              <a:rPr lang="en-US" altLang="ko-KR" sz="1100" dirty="0"/>
              <a:t> server</a:t>
            </a:r>
            <a:endParaRPr lang="ko-KR" altLang="en-US" dirty="0"/>
          </a:p>
        </p:txBody>
      </p:sp>
      <p:pic>
        <p:nvPicPr>
          <p:cNvPr id="67" name="그림 66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703" y="4800089"/>
            <a:ext cx="540000" cy="540000"/>
          </a:xfrm>
          <a:prstGeom prst="rect">
            <a:avLst/>
          </a:prstGeom>
        </p:spPr>
      </p:pic>
      <p:pic>
        <p:nvPicPr>
          <p:cNvPr id="68" name="그림 67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262" y="4766397"/>
            <a:ext cx="541083" cy="541083"/>
          </a:xfrm>
          <a:prstGeom prst="rect">
            <a:avLst/>
          </a:prstGeom>
        </p:spPr>
      </p:pic>
      <p:sp>
        <p:nvSpPr>
          <p:cNvPr id="69" name="TextBox 45"/>
          <p:cNvSpPr txBox="1"/>
          <p:nvPr/>
        </p:nvSpPr>
        <p:spPr>
          <a:xfrm>
            <a:off x="3934045" y="5182870"/>
            <a:ext cx="8479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kubelet-client.crt</a:t>
            </a:r>
            <a:endParaRPr lang="ko-KR" altLang="en-US" dirty="0"/>
          </a:p>
        </p:txBody>
      </p:sp>
      <p:sp>
        <p:nvSpPr>
          <p:cNvPr id="70" name="TextBox 46"/>
          <p:cNvSpPr txBox="1"/>
          <p:nvPr/>
        </p:nvSpPr>
        <p:spPr>
          <a:xfrm>
            <a:off x="4759000" y="5176675"/>
            <a:ext cx="8496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kubelet-eclinet.key</a:t>
            </a:r>
            <a:endParaRPr lang="ko-KR" altLang="en-US" dirty="0"/>
          </a:p>
        </p:txBody>
      </p:sp>
      <p:sp>
        <p:nvSpPr>
          <p:cNvPr id="71" name="모서리가 둥근 직사각형 70"/>
          <p:cNvSpPr/>
          <p:nvPr/>
        </p:nvSpPr>
        <p:spPr>
          <a:xfrm>
            <a:off x="3768791" y="4811280"/>
            <a:ext cx="2027104" cy="1101540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2" name="TextBox 48"/>
          <p:cNvSpPr txBox="1"/>
          <p:nvPr/>
        </p:nvSpPr>
        <p:spPr>
          <a:xfrm>
            <a:off x="4187011" y="5651210"/>
            <a:ext cx="11899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kubelet</a:t>
            </a:r>
            <a:r>
              <a:rPr lang="en-US" altLang="ko-KR" sz="1100" dirty="0"/>
              <a:t> server</a:t>
            </a:r>
            <a:endParaRPr lang="ko-KR" altLang="en-US" dirty="0"/>
          </a:p>
        </p:txBody>
      </p:sp>
      <p:pic>
        <p:nvPicPr>
          <p:cNvPr id="73" name="그림 72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5559" y="2032989"/>
            <a:ext cx="540000" cy="540000"/>
          </a:xfrm>
          <a:prstGeom prst="rect">
            <a:avLst/>
          </a:prstGeom>
        </p:spPr>
      </p:pic>
      <p:pic>
        <p:nvPicPr>
          <p:cNvPr id="74" name="그림 73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0051" y="1999297"/>
            <a:ext cx="541083" cy="541083"/>
          </a:xfrm>
          <a:prstGeom prst="rect">
            <a:avLst/>
          </a:prstGeom>
        </p:spPr>
      </p:pic>
      <p:sp>
        <p:nvSpPr>
          <p:cNvPr id="76" name="TextBox 51"/>
          <p:cNvSpPr txBox="1"/>
          <p:nvPr/>
        </p:nvSpPr>
        <p:spPr>
          <a:xfrm>
            <a:off x="8038346" y="2419391"/>
            <a:ext cx="1095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etcdserver.crt</a:t>
            </a:r>
            <a:endParaRPr lang="ko-KR" altLang="en-US" dirty="0"/>
          </a:p>
        </p:txBody>
      </p:sp>
      <p:sp>
        <p:nvSpPr>
          <p:cNvPr id="77" name="TextBox 52"/>
          <p:cNvSpPr txBox="1"/>
          <p:nvPr/>
        </p:nvSpPr>
        <p:spPr>
          <a:xfrm>
            <a:off x="9077611" y="2413196"/>
            <a:ext cx="11190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etcdserver.key</a:t>
            </a:r>
            <a:endParaRPr lang="ko-KR" altLang="en-US" dirty="0"/>
          </a:p>
        </p:txBody>
      </p:sp>
      <p:sp>
        <p:nvSpPr>
          <p:cNvPr id="78" name="모서리가 둥근 직사각형 77"/>
          <p:cNvSpPr/>
          <p:nvPr/>
        </p:nvSpPr>
        <p:spPr>
          <a:xfrm>
            <a:off x="8120454" y="2047801"/>
            <a:ext cx="2027104" cy="1101540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79" name="TextBox 54"/>
          <p:cNvSpPr txBox="1"/>
          <p:nvPr/>
        </p:nvSpPr>
        <p:spPr>
          <a:xfrm>
            <a:off x="8538674" y="2887731"/>
            <a:ext cx="11899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/>
              <a:t>etcd</a:t>
            </a:r>
            <a:r>
              <a:rPr lang="en-US" altLang="ko-KR" sz="1100" dirty="0"/>
              <a:t> server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8136461" y="4697227"/>
            <a:ext cx="2027104" cy="970151"/>
            <a:chOff x="8136461" y="4796380"/>
            <a:chExt cx="2027104" cy="970151"/>
          </a:xfrm>
        </p:grpSpPr>
        <p:pic>
          <p:nvPicPr>
            <p:cNvPr id="80" name="그림 79"/>
            <p:cNvPicPr>
              <a:picLocks noChangeAspect="1"/>
            </p:cNvPicPr>
            <p:nvPr/>
          </p:nvPicPr>
          <p:blipFill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55373" y="4830072"/>
              <a:ext cx="540000" cy="540000"/>
            </a:xfrm>
            <a:prstGeom prst="rect">
              <a:avLst/>
            </a:prstGeom>
          </p:spPr>
        </p:pic>
        <p:pic>
          <p:nvPicPr>
            <p:cNvPr id="81" name="그림 80"/>
            <p:cNvPicPr>
              <a:picLocks noChangeAspect="1"/>
            </p:cNvPicPr>
            <p:nvPr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80932" y="4796380"/>
              <a:ext cx="541083" cy="541083"/>
            </a:xfrm>
            <a:prstGeom prst="rect">
              <a:avLst/>
            </a:prstGeom>
          </p:spPr>
        </p:pic>
        <p:sp>
          <p:nvSpPr>
            <p:cNvPr id="82" name="TextBox 57"/>
            <p:cNvSpPr txBox="1"/>
            <p:nvPr/>
          </p:nvSpPr>
          <p:spPr>
            <a:xfrm>
              <a:off x="8301715" y="5212853"/>
              <a:ext cx="8479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/>
                <a:t>kubelet.crt</a:t>
              </a:r>
              <a:endParaRPr lang="ko-KR" altLang="en-US" dirty="0"/>
            </a:p>
          </p:txBody>
        </p:sp>
        <p:sp>
          <p:nvSpPr>
            <p:cNvPr id="83" name="TextBox 58"/>
            <p:cNvSpPr txBox="1"/>
            <p:nvPr/>
          </p:nvSpPr>
          <p:spPr>
            <a:xfrm>
              <a:off x="9126670" y="5206658"/>
              <a:ext cx="10208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/>
                <a:t>kubelet.key</a:t>
              </a:r>
              <a:endParaRPr lang="ko-KR" altLang="en-US" dirty="0"/>
            </a:p>
          </p:txBody>
        </p:sp>
        <p:sp>
          <p:nvSpPr>
            <p:cNvPr id="84" name="모서리가 둥근 직사각형 83"/>
            <p:cNvSpPr/>
            <p:nvPr/>
          </p:nvSpPr>
          <p:spPr>
            <a:xfrm>
              <a:off x="8136461" y="4841263"/>
              <a:ext cx="2027104" cy="925268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TextBox 60"/>
            <p:cNvSpPr txBox="1"/>
            <p:nvPr/>
          </p:nvSpPr>
          <p:spPr>
            <a:xfrm>
              <a:off x="8554681" y="5504921"/>
              <a:ext cx="118990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/>
                <a:t>kubelet</a:t>
              </a:r>
              <a:r>
                <a:rPr lang="en-US" altLang="ko-KR" sz="1100" dirty="0"/>
                <a:t> server</a:t>
              </a:r>
              <a:endParaRPr lang="ko-KR" altLang="en-US" dirty="0"/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8053975" y="3305838"/>
            <a:ext cx="2158268" cy="1150044"/>
            <a:chOff x="8053975" y="3195668"/>
            <a:chExt cx="2158268" cy="1150044"/>
          </a:xfrm>
        </p:grpSpPr>
        <p:pic>
          <p:nvPicPr>
            <p:cNvPr id="86" name="그림 85"/>
            <p:cNvPicPr>
              <a:picLocks noChangeAspect="1"/>
            </p:cNvPicPr>
            <p:nvPr/>
          </p:nvPicPr>
          <p:blipFill>
            <a:blip r:embed="rId3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1188" y="3229360"/>
              <a:ext cx="540000" cy="540000"/>
            </a:xfrm>
            <a:prstGeom prst="rect">
              <a:avLst/>
            </a:prstGeom>
          </p:spPr>
        </p:pic>
        <p:pic>
          <p:nvPicPr>
            <p:cNvPr id="87" name="그림 86"/>
            <p:cNvPicPr>
              <a:picLocks noChangeAspect="1"/>
            </p:cNvPicPr>
            <p:nvPr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85680" y="3195668"/>
              <a:ext cx="541083" cy="541083"/>
            </a:xfrm>
            <a:prstGeom prst="rect">
              <a:avLst/>
            </a:prstGeom>
          </p:spPr>
        </p:pic>
        <p:sp>
          <p:nvSpPr>
            <p:cNvPr id="88" name="TextBox 63"/>
            <p:cNvSpPr txBox="1"/>
            <p:nvPr/>
          </p:nvSpPr>
          <p:spPr>
            <a:xfrm>
              <a:off x="8053975" y="3615762"/>
              <a:ext cx="109528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/>
                <a:t>apiserver.crt</a:t>
              </a:r>
              <a:endParaRPr lang="ko-KR" altLang="en-US" dirty="0"/>
            </a:p>
          </p:txBody>
        </p:sp>
        <p:sp>
          <p:nvSpPr>
            <p:cNvPr id="89" name="TextBox 64"/>
            <p:cNvSpPr txBox="1"/>
            <p:nvPr/>
          </p:nvSpPr>
          <p:spPr>
            <a:xfrm>
              <a:off x="9093240" y="3609567"/>
              <a:ext cx="111900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/>
                <a:t>apiserver.key</a:t>
              </a:r>
              <a:endParaRPr lang="ko-KR" altLang="en-US" dirty="0"/>
            </a:p>
          </p:txBody>
        </p:sp>
        <p:sp>
          <p:nvSpPr>
            <p:cNvPr id="90" name="모서리가 둥근 직사각형 89"/>
            <p:cNvSpPr/>
            <p:nvPr/>
          </p:nvSpPr>
          <p:spPr>
            <a:xfrm>
              <a:off x="8136083" y="3244172"/>
              <a:ext cx="2027104" cy="1101540"/>
            </a:xfrm>
            <a:prstGeom prst="round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91" name="TextBox 66"/>
            <p:cNvSpPr txBox="1"/>
            <p:nvPr/>
          </p:nvSpPr>
          <p:spPr>
            <a:xfrm>
              <a:off x="8554303" y="4084102"/>
              <a:ext cx="118990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/>
                <a:t>kube-api</a:t>
              </a:r>
              <a:r>
                <a:rPr lang="en-US" altLang="ko-KR" sz="1100" dirty="0"/>
                <a:t> server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2961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Certificate API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Certificate API</a:t>
            </a:r>
            <a:r>
              <a:rPr lang="ko-KR" altLang="en-US" sz="1400" dirty="0" smtClean="0"/>
              <a:t>를 사용하여 사용자를 추가 할 수 있다</a:t>
            </a:r>
            <a:r>
              <a:rPr lang="en-US" altLang="ko-KR" sz="1400" dirty="0" smtClean="0"/>
              <a:t>.</a:t>
            </a:r>
          </a:p>
        </p:txBody>
      </p:sp>
      <p:pic>
        <p:nvPicPr>
          <p:cNvPr id="68" name="그림 67"/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82" y="3864789"/>
            <a:ext cx="726481" cy="872463"/>
          </a:xfrm>
          <a:prstGeom prst="rect">
            <a:avLst/>
          </a:prstGeom>
        </p:spPr>
      </p:pic>
      <p:grpSp>
        <p:nvGrpSpPr>
          <p:cNvPr id="70" name="그룹 69"/>
          <p:cNvGrpSpPr/>
          <p:nvPr/>
        </p:nvGrpSpPr>
        <p:grpSpPr>
          <a:xfrm>
            <a:off x="5307269" y="1771584"/>
            <a:ext cx="2064944" cy="3128803"/>
            <a:chOff x="636117" y="3093139"/>
            <a:chExt cx="2064944" cy="3128803"/>
          </a:xfrm>
        </p:grpSpPr>
        <p:sp>
          <p:nvSpPr>
            <p:cNvPr id="71" name="직사각형 70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96" name="TextBox 95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Master</a:t>
              </a:r>
              <a:endParaRPr lang="ko-KR" altLang="en-US" b="1" dirty="0"/>
            </a:p>
          </p:txBody>
        </p:sp>
      </p:grpSp>
      <p:grpSp>
        <p:nvGrpSpPr>
          <p:cNvPr id="99" name="그룹 98"/>
          <p:cNvGrpSpPr/>
          <p:nvPr/>
        </p:nvGrpSpPr>
        <p:grpSpPr>
          <a:xfrm>
            <a:off x="7595117" y="1771583"/>
            <a:ext cx="2064944" cy="3128803"/>
            <a:chOff x="636117" y="3093139"/>
            <a:chExt cx="2064944" cy="3128803"/>
          </a:xfrm>
        </p:grpSpPr>
        <p:sp>
          <p:nvSpPr>
            <p:cNvPr id="100" name="직사각형 99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1" name="그림 100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102" name="TextBox 101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</p:grpSp>
      <p:grpSp>
        <p:nvGrpSpPr>
          <p:cNvPr id="103" name="그룹 102"/>
          <p:cNvGrpSpPr/>
          <p:nvPr/>
        </p:nvGrpSpPr>
        <p:grpSpPr>
          <a:xfrm>
            <a:off x="9883047" y="1771583"/>
            <a:ext cx="2064944" cy="3128803"/>
            <a:chOff x="636117" y="3093139"/>
            <a:chExt cx="2064944" cy="3128803"/>
          </a:xfrm>
        </p:grpSpPr>
        <p:sp>
          <p:nvSpPr>
            <p:cNvPr id="104" name="직사각형 103"/>
            <p:cNvSpPr/>
            <p:nvPr/>
          </p:nvSpPr>
          <p:spPr>
            <a:xfrm>
              <a:off x="636118" y="3093139"/>
              <a:ext cx="2064943" cy="312880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5" name="그림 104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6117" y="3093139"/>
              <a:ext cx="714376" cy="649585"/>
            </a:xfrm>
            <a:prstGeom prst="rect">
              <a:avLst/>
            </a:prstGeom>
          </p:spPr>
        </p:pic>
        <p:sp>
          <p:nvSpPr>
            <p:cNvPr id="106" name="TextBox 105"/>
            <p:cNvSpPr txBox="1"/>
            <p:nvPr/>
          </p:nvSpPr>
          <p:spPr>
            <a:xfrm>
              <a:off x="1350493" y="3243017"/>
              <a:ext cx="13505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 smtClean="0"/>
                <a:t>Node01</a:t>
              </a:r>
              <a:endParaRPr lang="ko-KR" altLang="en-US" b="1" dirty="0"/>
            </a:p>
          </p:txBody>
        </p:sp>
      </p:grpSp>
      <p:sp>
        <p:nvSpPr>
          <p:cNvPr id="107" name="직사각형 106"/>
          <p:cNvSpPr/>
          <p:nvPr/>
        </p:nvSpPr>
        <p:spPr>
          <a:xfrm>
            <a:off x="5111826" y="1565016"/>
            <a:ext cx="6977007" cy="333537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7" name="그림 6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483" y="1936837"/>
            <a:ext cx="726481" cy="87246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61403" y="2875379"/>
            <a:ext cx="18786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/>
              <a:t>관리자</a:t>
            </a:r>
            <a:endParaRPr lang="ko-KR" altLang="en-US" dirty="0"/>
          </a:p>
        </p:txBody>
      </p:sp>
      <p:pic>
        <p:nvPicPr>
          <p:cNvPr id="97" name="그림 96"/>
          <p:cNvPicPr>
            <a:picLocks noChangeAspect="1"/>
          </p:cNvPicPr>
          <p:nvPr/>
        </p:nvPicPr>
        <p:blipFill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248" y="2103068"/>
            <a:ext cx="540000" cy="540000"/>
          </a:xfrm>
          <a:prstGeom prst="rect">
            <a:avLst/>
          </a:prstGeom>
        </p:spPr>
      </p:pic>
      <p:pic>
        <p:nvPicPr>
          <p:cNvPr id="98" name="그림 97"/>
          <p:cNvPicPr>
            <a:picLocks noChangeAspect="1"/>
          </p:cNvPicPr>
          <p:nvPr/>
        </p:nvPicPr>
        <p:blipFill>
          <a:blip r:embed="rId6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757" y="2103068"/>
            <a:ext cx="541083" cy="541083"/>
          </a:xfrm>
          <a:prstGeom prst="rect">
            <a:avLst/>
          </a:prstGeom>
        </p:spPr>
      </p:pic>
      <p:sp>
        <p:nvSpPr>
          <p:cNvPr id="108" name="TextBox 6"/>
          <p:cNvSpPr txBox="1"/>
          <p:nvPr/>
        </p:nvSpPr>
        <p:spPr>
          <a:xfrm>
            <a:off x="1729814" y="2533041"/>
            <a:ext cx="847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/>
              <a:t>admin.crt</a:t>
            </a:r>
            <a:endParaRPr lang="ko-KR" altLang="en-US" dirty="0"/>
          </a:p>
        </p:txBody>
      </p:sp>
      <p:sp>
        <p:nvSpPr>
          <p:cNvPr id="109" name="TextBox 6"/>
          <p:cNvSpPr txBox="1"/>
          <p:nvPr/>
        </p:nvSpPr>
        <p:spPr>
          <a:xfrm>
            <a:off x="2478339" y="2547690"/>
            <a:ext cx="8479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100" dirty="0" err="1" smtClean="0"/>
              <a:t>admin.key</a:t>
            </a:r>
            <a:endParaRPr lang="ko-KR" altLang="en-US" dirty="0"/>
          </a:p>
        </p:txBody>
      </p:sp>
      <p:cxnSp>
        <p:nvCxnSpPr>
          <p:cNvPr id="6" name="직선 화살표 연결선 5"/>
          <p:cNvCxnSpPr>
            <a:stCxn id="98" idx="3"/>
          </p:cNvCxnSpPr>
          <p:nvPr/>
        </p:nvCxnSpPr>
        <p:spPr>
          <a:xfrm flipV="1">
            <a:off x="3172840" y="2373068"/>
            <a:ext cx="1839778" cy="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/>
          <p:cNvGrpSpPr/>
          <p:nvPr/>
        </p:nvGrpSpPr>
        <p:grpSpPr>
          <a:xfrm>
            <a:off x="1729814" y="4030478"/>
            <a:ext cx="847920" cy="706773"/>
            <a:chOff x="1729814" y="4030478"/>
            <a:chExt cx="847920" cy="706773"/>
          </a:xfrm>
        </p:grpSpPr>
        <p:pic>
          <p:nvPicPr>
            <p:cNvPr id="111" name="그림 110"/>
            <p:cNvPicPr>
              <a:picLocks noChangeAspect="1"/>
            </p:cNvPicPr>
            <p:nvPr/>
          </p:nvPicPr>
          <p:blipFill>
            <a:blip r:embed="rId6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7213" y="4030478"/>
              <a:ext cx="541083" cy="541083"/>
            </a:xfrm>
            <a:prstGeom prst="rect">
              <a:avLst/>
            </a:prstGeom>
          </p:spPr>
        </p:pic>
        <p:sp>
          <p:nvSpPr>
            <p:cNvPr id="114" name="TextBox 6"/>
            <p:cNvSpPr txBox="1"/>
            <p:nvPr/>
          </p:nvSpPr>
          <p:spPr>
            <a:xfrm>
              <a:off x="1729814" y="4475641"/>
              <a:ext cx="8479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 smtClean="0"/>
                <a:t>user.key</a:t>
              </a:r>
              <a:endParaRPr lang="ko-KR" altLang="en-US" dirty="0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2503657" y="4091805"/>
            <a:ext cx="847920" cy="645446"/>
            <a:chOff x="2503657" y="4091805"/>
            <a:chExt cx="847920" cy="645446"/>
          </a:xfrm>
        </p:grpSpPr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7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3084" y="4091805"/>
              <a:ext cx="418428" cy="418428"/>
            </a:xfrm>
            <a:prstGeom prst="rect">
              <a:avLst/>
            </a:prstGeom>
          </p:spPr>
        </p:pic>
        <p:sp>
          <p:nvSpPr>
            <p:cNvPr id="115" name="TextBox 6"/>
            <p:cNvSpPr txBox="1"/>
            <p:nvPr/>
          </p:nvSpPr>
          <p:spPr>
            <a:xfrm>
              <a:off x="2503657" y="4475641"/>
              <a:ext cx="8479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err="1" smtClean="0"/>
                <a:t>user.csr</a:t>
              </a:r>
              <a:endParaRPr lang="ko-KR" altLang="en-US" dirty="0"/>
            </a:p>
          </p:txBody>
        </p:sp>
      </p:grpSp>
      <p:cxnSp>
        <p:nvCxnSpPr>
          <p:cNvPr id="15" name="직선 화살표 연결선 14"/>
          <p:cNvCxnSpPr>
            <a:stCxn id="112" idx="0"/>
            <a:endCxn id="69" idx="3"/>
          </p:cNvCxnSpPr>
          <p:nvPr/>
        </p:nvCxnSpPr>
        <p:spPr>
          <a:xfrm flipH="1" flipV="1">
            <a:off x="2340040" y="3029268"/>
            <a:ext cx="562258" cy="1062537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/>
          <p:cNvCxnSpPr/>
          <p:nvPr/>
        </p:nvCxnSpPr>
        <p:spPr>
          <a:xfrm flipH="1" flipV="1">
            <a:off x="3616673" y="2643067"/>
            <a:ext cx="1384625" cy="1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/>
          <p:cNvGrpSpPr/>
          <p:nvPr/>
        </p:nvGrpSpPr>
        <p:grpSpPr>
          <a:xfrm>
            <a:off x="2809620" y="3012080"/>
            <a:ext cx="847920" cy="670805"/>
            <a:chOff x="3885025" y="2678495"/>
            <a:chExt cx="847920" cy="670805"/>
          </a:xfrm>
        </p:grpSpPr>
        <p:pic>
          <p:nvPicPr>
            <p:cNvPr id="110" name="그림 109"/>
            <p:cNvPicPr>
              <a:picLocks noChangeAspect="1"/>
            </p:cNvPicPr>
            <p:nvPr/>
          </p:nvPicPr>
          <p:blipFill>
            <a:blip r:embed="rId5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7983" y="2678495"/>
              <a:ext cx="540000" cy="540000"/>
            </a:xfrm>
            <a:prstGeom prst="rect">
              <a:avLst/>
            </a:prstGeom>
          </p:spPr>
        </p:pic>
        <p:sp>
          <p:nvSpPr>
            <p:cNvPr id="117" name="TextBox 6"/>
            <p:cNvSpPr txBox="1"/>
            <p:nvPr/>
          </p:nvSpPr>
          <p:spPr>
            <a:xfrm>
              <a:off x="3885025" y="3087690"/>
              <a:ext cx="84792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100" dirty="0" smtClean="0"/>
                <a:t>user.crt</a:t>
              </a:r>
              <a:endParaRPr lang="ko-KR" altLang="en-US" dirty="0"/>
            </a:p>
          </p:txBody>
        </p:sp>
      </p:grpSp>
      <p:cxnSp>
        <p:nvCxnSpPr>
          <p:cNvPr id="118" name="직선 화살표 연결선 117"/>
          <p:cNvCxnSpPr/>
          <p:nvPr/>
        </p:nvCxnSpPr>
        <p:spPr>
          <a:xfrm>
            <a:off x="3640354" y="2512262"/>
            <a:ext cx="1372264" cy="0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/>
          <p:cNvCxnSpPr/>
          <p:nvPr/>
        </p:nvCxnSpPr>
        <p:spPr>
          <a:xfrm>
            <a:off x="2577734" y="2983380"/>
            <a:ext cx="595106" cy="1093776"/>
          </a:xfrm>
          <a:prstGeom prst="straightConnector1">
            <a:avLst/>
          </a:prstGeom>
          <a:ln w="1905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037482" y="4737251"/>
            <a:ext cx="7264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 smtClean="0"/>
              <a:t>User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5020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추가 사용자 인증서 승인 과정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추가 사용자는 인증서 요청서를 생성한다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39" name="TextBox 5"/>
          <p:cNvSpPr txBox="1"/>
          <p:nvPr/>
        </p:nvSpPr>
        <p:spPr>
          <a:xfrm>
            <a:off x="975602" y="1023227"/>
            <a:ext cx="4609949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openssl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genrsa</a:t>
            </a:r>
            <a:r>
              <a:rPr lang="en-US" altLang="ko-KR" sz="1200" dirty="0" smtClean="0">
                <a:solidFill>
                  <a:schemeClr val="bg1"/>
                </a:solidFill>
              </a:rPr>
              <a:t> -out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user.key</a:t>
            </a:r>
            <a:r>
              <a:rPr lang="en-US" altLang="ko-KR" sz="1200" dirty="0" smtClean="0">
                <a:solidFill>
                  <a:schemeClr val="bg1"/>
                </a:solidFill>
              </a:rPr>
              <a:t> 2048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openssl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req</a:t>
            </a:r>
            <a:r>
              <a:rPr lang="en-US" altLang="ko-KR" sz="1200" dirty="0" smtClean="0">
                <a:solidFill>
                  <a:schemeClr val="bg1"/>
                </a:solidFill>
              </a:rPr>
              <a:t> -new -key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user.key</a:t>
            </a:r>
            <a:r>
              <a:rPr lang="en-US" altLang="ko-KR" sz="1200" dirty="0" smtClean="0">
                <a:solidFill>
                  <a:schemeClr val="bg1"/>
                </a:solidFill>
              </a:rPr>
              <a:t> -subj “/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cn</a:t>
            </a:r>
            <a:r>
              <a:rPr lang="en-US" altLang="ko-KR" sz="1200" dirty="0" smtClean="0">
                <a:solidFill>
                  <a:schemeClr val="bg1"/>
                </a:solidFill>
              </a:rPr>
              <a:t>=user” -out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user.csr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11199" y="1561661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관리자는 전달 받은 </a:t>
            </a:r>
            <a:r>
              <a:rPr lang="en-US" altLang="ko-KR" sz="1400" dirty="0" err="1" smtClean="0"/>
              <a:t>csr</a:t>
            </a:r>
            <a:r>
              <a:rPr lang="ko-KR" altLang="en-US" sz="1400" dirty="0" smtClean="0"/>
              <a:t>을 통해 </a:t>
            </a:r>
            <a:r>
              <a:rPr lang="en-US" altLang="ko-KR" sz="1400" dirty="0" err="1" smtClean="0"/>
              <a:t>CertificateSigningRequest</a:t>
            </a:r>
            <a:r>
              <a:rPr lang="ko-KR" altLang="en-US" sz="1400" dirty="0" smtClean="0"/>
              <a:t>를 만든다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41" name="TextBox 5"/>
          <p:cNvSpPr txBox="1"/>
          <p:nvPr/>
        </p:nvSpPr>
        <p:spPr>
          <a:xfrm>
            <a:off x="975602" y="1869438"/>
            <a:ext cx="5359097" cy="415498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cat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user.csr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| base64 -w 0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LS0tLS1CRUdJTiBDRVJUSUZJQ0FURSBSRVFVRVNULS0tLS0KTUlJQ1V6Q0NBVHNDQVFBd0RqRU1NQW9HQTFVRUF3d0Rhbk5vTUlJQklqQU5CZ2txaGtpRzl3MEJBUUVGQUFPQwpBUThBTUlJQkNnS0NBUUVBbnBMSmtuOXRURnVLQ1J2OGsrZ200VjkvY1lpMlJpdVQ4bjlNVkE4UW5QcWtVNmovCnNWTGxVQ05FMVZNa0FyODN6VmVUdmpDR2swNSs1TXlUTjdzdEtwSEhBa1dnTUZhR1VidC9wU1VjNzBYVDZ3MSsKV3V6WHFQWWJPUTVCMXR5eFN3bGZwanIwS0dvS3lQbWtLVWR6QWxTaXVYemtwZkNPb00xZTJqRE9BVEN2ZkJ0VQorekpUSkN0N2d3cU5xR050N01mcm85L3lxbnQ0b29WWHlGOExNNzlEbE9DYUlNQmZKSEVyY2dNV2FGdkc1OGVFClgwS2xmMzRGQjk0YmJ2ZnNZUTVoMjVxNWVqK2RBcnBBdVNkbVBvVTJaZUtUc1RzZCtQeXlTY2dkb3krcUN5UXMKZERVM0kybzdONkR2cWE4Mys5TmtJaDIxWW1HblRzNzBJR3dla3dJREFRQUJvQUF3RFFZSktvWklodmNOQVFFTApCUUFEZ2dFQkFFWHppeXpyRFAvSUVsTXptb1c5NjRjamJ0YnB6TDFQUmN0V2lIS1ZVWTNoK2x0OHZnTlFSUlh2CllMSDB0SldySHM1MmRqeDR4L0FDb0d4a2o0YmNkT1pJUWpCQ1UxdWFuVkN0Tkd4MWtSTXhhcDRRbWkrT0JoZlAKdXFsMUVCMzMxa3MySk5kaGFSSEdqaXhCaUZUOGJkU1diMHc3VmRhQlJUaVNTTjhiYVNWT0ZPRzZieHlMTVpqYgpWUTBmdkZ6eU0yK1djSXVLT0hUSmhSWE9iUzljNTlETmFRRmdlTVJVak1pZDA4ZU14YkpqN1A3ZHRNS2o4dGJFCnhoaTB0VkZOMkp5UCtmVDNzcXU4ZERVMzlPM29sYi9wbER1NDNOZHBIblZOeHRxcjkvVWsxUXJ4VUFkWGdZSzYKSlMrOGlZMkZ2UVRPVzlIVTAya3Zlem1uV1VXODlqND0KLS0tLS1FTkQgQ0VSVElGSUNBVEUgUkVRVUVTVC0tLS0tCg==</a:t>
            </a:r>
          </a:p>
        </p:txBody>
      </p:sp>
      <p:grpSp>
        <p:nvGrpSpPr>
          <p:cNvPr id="42" name="그룹 41"/>
          <p:cNvGrpSpPr/>
          <p:nvPr/>
        </p:nvGrpSpPr>
        <p:grpSpPr>
          <a:xfrm>
            <a:off x="6797406" y="1023227"/>
            <a:ext cx="4350600" cy="2400657"/>
            <a:chOff x="7600396" y="1003344"/>
            <a:chExt cx="4350600" cy="2400657"/>
          </a:xfrm>
        </p:grpSpPr>
        <p:sp>
          <p:nvSpPr>
            <p:cNvPr id="43" name="TextBox 3"/>
            <p:cNvSpPr txBox="1"/>
            <p:nvPr/>
          </p:nvSpPr>
          <p:spPr>
            <a:xfrm>
              <a:off x="7600397" y="1280343"/>
              <a:ext cx="4350599" cy="212365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certificates.k8s.io/v1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CertificateSigningRequest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jsh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request:</a:t>
              </a:r>
            </a:p>
            <a:p>
              <a:r>
                <a:rPr lang="en-US" altLang="ko-KR" sz="1200" dirty="0" smtClean="0"/>
                <a:t>   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csr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 base64 </a:t>
              </a:r>
              <a:r>
                <a:rPr lang="ko-KR" altLang="en-US" sz="1200" b="1" dirty="0" err="1" smtClean="0">
                  <a:solidFill>
                    <a:srgbClr val="FF0000"/>
                  </a:solidFill>
                </a:rPr>
                <a:t>인코딩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 값</a:t>
              </a:r>
              <a:endParaRPr lang="en-US" altLang="ko-KR" sz="1200" b="1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 err="1" smtClean="0"/>
                <a:t>signerName</a:t>
              </a:r>
              <a:r>
                <a:rPr lang="en-US" altLang="ko-KR" sz="1200" dirty="0"/>
                <a:t>: kubernetes.io/</a:t>
              </a:r>
              <a:r>
                <a:rPr lang="en-US" altLang="ko-KR" sz="1200" dirty="0" err="1"/>
                <a:t>kube</a:t>
              </a:r>
              <a:r>
                <a:rPr lang="en-US" altLang="ko-KR" sz="1200" dirty="0"/>
                <a:t>-</a:t>
              </a:r>
              <a:r>
                <a:rPr lang="en-US" altLang="ko-KR" sz="1200" dirty="0" err="1"/>
                <a:t>apiserver</a:t>
              </a:r>
              <a:r>
                <a:rPr lang="en-US" altLang="ko-KR" sz="1200" dirty="0"/>
                <a:t>-client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expirationSeconds</a:t>
              </a:r>
              <a:r>
                <a:rPr lang="en-US" altLang="ko-KR" sz="1200" dirty="0"/>
                <a:t>: 86400  # one day</a:t>
              </a:r>
            </a:p>
            <a:p>
              <a:r>
                <a:rPr lang="en-US" altLang="ko-KR" sz="1200" dirty="0"/>
                <a:t>  usages:</a:t>
              </a:r>
            </a:p>
            <a:p>
              <a:r>
                <a:rPr lang="en-US" altLang="ko-KR" sz="1200" dirty="0"/>
                <a:t>  - client </a:t>
              </a:r>
              <a:r>
                <a:rPr lang="en-US" altLang="ko-KR" sz="1200" dirty="0" err="1"/>
                <a:t>auth</a:t>
              </a:r>
              <a:endParaRPr lang="en-US" altLang="ko-KR" sz="1200" dirty="0"/>
            </a:p>
          </p:txBody>
        </p:sp>
        <p:sp>
          <p:nvSpPr>
            <p:cNvPr id="44" name="TextBox 3"/>
            <p:cNvSpPr txBox="1"/>
            <p:nvPr/>
          </p:nvSpPr>
          <p:spPr>
            <a:xfrm>
              <a:off x="7600396" y="1003344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certificateSigningRequest.yaml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1019670" y="2115239"/>
            <a:ext cx="5281979" cy="382285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/>
          <p:cNvCxnSpPr>
            <a:stCxn id="2" idx="3"/>
          </p:cNvCxnSpPr>
          <p:nvPr/>
        </p:nvCxnSpPr>
        <p:spPr>
          <a:xfrm flipV="1">
            <a:off x="6301649" y="2555913"/>
            <a:ext cx="594910" cy="14707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934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추가 사용자 인증서 승인 과정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관리자는 작성한 요청서 </a:t>
            </a:r>
            <a:r>
              <a:rPr lang="en-US" altLang="ko-KR" sz="1400" dirty="0" err="1" smtClean="0"/>
              <a:t>yaml</a:t>
            </a:r>
            <a:r>
              <a:rPr lang="ko-KR" altLang="en-US" sz="1400" dirty="0" smtClean="0"/>
              <a:t>을 통해 생성</a:t>
            </a:r>
            <a:endParaRPr lang="en-US" altLang="ko-KR" sz="1400" dirty="0" smtClean="0"/>
          </a:p>
        </p:txBody>
      </p:sp>
      <p:sp>
        <p:nvSpPr>
          <p:cNvPr id="39" name="TextBox 5"/>
          <p:cNvSpPr txBox="1"/>
          <p:nvPr/>
        </p:nvSpPr>
        <p:spPr>
          <a:xfrm>
            <a:off x="975602" y="1023227"/>
            <a:ext cx="460994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create </a:t>
            </a:r>
            <a:r>
              <a:rPr lang="en-US" altLang="ko-KR" sz="1200" dirty="0" smtClean="0">
                <a:solidFill>
                  <a:schemeClr val="bg1"/>
                </a:solidFill>
              </a:rPr>
              <a:t>–f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certificateSigningRequest.yaml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11199" y="1341321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관리자는 </a:t>
            </a:r>
            <a:r>
              <a:rPr lang="en-US" altLang="ko-KR" sz="1400" dirty="0" smtClean="0"/>
              <a:t>CSR</a:t>
            </a:r>
            <a:r>
              <a:rPr lang="ko-KR" altLang="en-US" sz="1400" dirty="0" smtClean="0"/>
              <a:t>을 확인한다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41" name="TextBox 5"/>
          <p:cNvSpPr txBox="1"/>
          <p:nvPr/>
        </p:nvSpPr>
        <p:spPr>
          <a:xfrm>
            <a:off x="975601" y="1638081"/>
            <a:ext cx="8212465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>
                <a:solidFill>
                  <a:schemeClr val="bg1"/>
                </a:solidFill>
              </a:rPr>
              <a:t>csr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   AGE     SIGNERNAME          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REQUESTOR          </a:t>
            </a:r>
            <a:r>
              <a:rPr lang="en-US" altLang="ko-KR" sz="1200" dirty="0">
                <a:solidFill>
                  <a:schemeClr val="bg1"/>
                </a:solidFill>
              </a:rPr>
              <a:t>REQUESTEDDURATION   CONDITION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jsh</a:t>
            </a:r>
            <a:r>
              <a:rPr lang="en-US" altLang="ko-KR" sz="1200" dirty="0">
                <a:solidFill>
                  <a:schemeClr val="bg1"/>
                </a:solidFill>
              </a:rPr>
              <a:t>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2m46s   </a:t>
            </a:r>
            <a:r>
              <a:rPr lang="en-US" altLang="ko-KR" sz="1200" dirty="0">
                <a:solidFill>
                  <a:schemeClr val="bg1"/>
                </a:solidFill>
              </a:rPr>
              <a:t>kubernetes.io/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en-US" altLang="ko-KR" sz="1200" dirty="0" err="1">
                <a:solidFill>
                  <a:schemeClr val="bg1"/>
                </a:solidFill>
              </a:rPr>
              <a:t>apiserver</a:t>
            </a:r>
            <a:r>
              <a:rPr lang="en-US" altLang="ko-KR" sz="1200" dirty="0">
                <a:solidFill>
                  <a:schemeClr val="bg1"/>
                </a:solidFill>
              </a:rPr>
              <a:t>-client   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-admin   24h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Pending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1199" y="2332400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관리자는 </a:t>
            </a:r>
            <a:r>
              <a:rPr lang="en-US" altLang="ko-KR" sz="1400" dirty="0" smtClean="0"/>
              <a:t>CSR</a:t>
            </a:r>
            <a:r>
              <a:rPr lang="ko-KR" altLang="en-US" sz="1400" dirty="0" smtClean="0"/>
              <a:t>을 승인한다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14" name="TextBox 5"/>
          <p:cNvSpPr txBox="1"/>
          <p:nvPr/>
        </p:nvSpPr>
        <p:spPr>
          <a:xfrm>
            <a:off x="975601" y="2629160"/>
            <a:ext cx="821246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certificate approve </a:t>
            </a:r>
            <a:r>
              <a:rPr lang="en-US" altLang="ko-KR" sz="1200" dirty="0" err="1">
                <a:solidFill>
                  <a:schemeClr val="bg1"/>
                </a:solidFill>
              </a:rPr>
              <a:t>jsh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1199" y="2936937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관리자는 </a:t>
            </a:r>
            <a:r>
              <a:rPr lang="en-US" altLang="ko-KR" sz="1400" dirty="0" smtClean="0"/>
              <a:t>CSR </a:t>
            </a:r>
            <a:r>
              <a:rPr lang="ko-KR" altLang="en-US" sz="1400" dirty="0" smtClean="0"/>
              <a:t>승인 상태 확인</a:t>
            </a:r>
            <a:endParaRPr lang="en-US" altLang="ko-KR" sz="1400" dirty="0" smtClean="0"/>
          </a:p>
        </p:txBody>
      </p:sp>
      <p:sp>
        <p:nvSpPr>
          <p:cNvPr id="16" name="TextBox 5"/>
          <p:cNvSpPr txBox="1"/>
          <p:nvPr/>
        </p:nvSpPr>
        <p:spPr>
          <a:xfrm>
            <a:off x="975601" y="3233697"/>
            <a:ext cx="8212465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</a:t>
            </a:r>
            <a:r>
              <a:rPr lang="en-US" altLang="ko-KR" sz="1200" dirty="0" err="1">
                <a:solidFill>
                  <a:schemeClr val="bg1"/>
                </a:solidFill>
              </a:rPr>
              <a:t>csr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NAME   AGE     SIGNERNAME         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</a:t>
            </a:r>
            <a:r>
              <a:rPr lang="en-US" altLang="ko-KR" sz="1200" dirty="0">
                <a:solidFill>
                  <a:schemeClr val="bg1"/>
                </a:solidFill>
              </a:rPr>
              <a:t>REQUESTOR          REQUESTEDDURATION   CONDITION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jsh</a:t>
            </a:r>
            <a:r>
              <a:rPr lang="en-US" altLang="ko-KR" sz="1200" dirty="0">
                <a:solidFill>
                  <a:schemeClr val="bg1"/>
                </a:solidFill>
              </a:rPr>
              <a:t>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4m29s   </a:t>
            </a:r>
            <a:r>
              <a:rPr lang="en-US" altLang="ko-KR" sz="1200" dirty="0">
                <a:solidFill>
                  <a:schemeClr val="bg1"/>
                </a:solidFill>
              </a:rPr>
              <a:t>kubernetes.io/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en-US" altLang="ko-KR" sz="1200" dirty="0" err="1">
                <a:solidFill>
                  <a:schemeClr val="bg1"/>
                </a:solidFill>
              </a:rPr>
              <a:t>apiserver</a:t>
            </a:r>
            <a:r>
              <a:rPr lang="en-US" altLang="ko-KR" sz="1200" dirty="0">
                <a:solidFill>
                  <a:schemeClr val="bg1"/>
                </a:solidFill>
              </a:rPr>
              <a:t>-client   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-admin   24h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Approved,Issued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1199" y="3926186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User </a:t>
            </a:r>
            <a:r>
              <a:rPr lang="ko-KR" altLang="en-US" sz="1400" dirty="0" smtClean="0"/>
              <a:t>인증서 생성</a:t>
            </a:r>
            <a:endParaRPr lang="en-US" altLang="ko-KR" sz="1400" dirty="0" smtClean="0"/>
          </a:p>
        </p:txBody>
      </p:sp>
      <p:sp>
        <p:nvSpPr>
          <p:cNvPr id="18" name="TextBox 5"/>
          <p:cNvSpPr txBox="1"/>
          <p:nvPr/>
        </p:nvSpPr>
        <p:spPr>
          <a:xfrm>
            <a:off x="975601" y="4222946"/>
            <a:ext cx="821246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</a:t>
            </a:r>
            <a:r>
              <a:rPr lang="en-US" altLang="ko-KR" sz="1200" dirty="0" err="1">
                <a:solidFill>
                  <a:schemeClr val="bg1"/>
                </a:solidFill>
              </a:rPr>
              <a:t>csr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jsh</a:t>
            </a:r>
            <a:r>
              <a:rPr lang="en-US" altLang="ko-KR" sz="1200" dirty="0">
                <a:solidFill>
                  <a:schemeClr val="bg1"/>
                </a:solidFill>
              </a:rPr>
              <a:t> -o </a:t>
            </a:r>
            <a:r>
              <a:rPr lang="en-US" altLang="ko-KR" sz="1200" dirty="0" err="1">
                <a:solidFill>
                  <a:schemeClr val="bg1"/>
                </a:solidFill>
              </a:rPr>
              <a:t>jsonpath</a:t>
            </a:r>
            <a:r>
              <a:rPr lang="en-US" altLang="ko-KR" sz="1200" dirty="0">
                <a:solidFill>
                  <a:schemeClr val="bg1"/>
                </a:solidFill>
              </a:rPr>
              <a:t>='{.</a:t>
            </a:r>
            <a:r>
              <a:rPr lang="en-US" altLang="ko-KR" sz="1200" dirty="0" err="1">
                <a:solidFill>
                  <a:schemeClr val="bg1"/>
                </a:solidFill>
              </a:rPr>
              <a:t>status.certificate</a:t>
            </a:r>
            <a:r>
              <a:rPr lang="en-US" altLang="ko-KR" sz="1200" dirty="0">
                <a:solidFill>
                  <a:schemeClr val="bg1"/>
                </a:solidFill>
              </a:rPr>
              <a:t>}'| base64 -d &gt; </a:t>
            </a:r>
            <a:r>
              <a:rPr lang="en-US" altLang="ko-KR" sz="1200" dirty="0" smtClean="0">
                <a:solidFill>
                  <a:schemeClr val="bg1"/>
                </a:solidFill>
              </a:rPr>
              <a:t>user.crt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1199" y="4561500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Cluster </a:t>
            </a:r>
            <a:r>
              <a:rPr lang="ko-KR" altLang="en-US" sz="1400" dirty="0" smtClean="0"/>
              <a:t>인증서 생성</a:t>
            </a:r>
            <a:endParaRPr lang="en-US" altLang="ko-KR" sz="1400" dirty="0" smtClean="0"/>
          </a:p>
        </p:txBody>
      </p:sp>
      <p:sp>
        <p:nvSpPr>
          <p:cNvPr id="20" name="TextBox 5"/>
          <p:cNvSpPr txBox="1"/>
          <p:nvPr/>
        </p:nvSpPr>
        <p:spPr>
          <a:xfrm>
            <a:off x="975600" y="4865770"/>
            <a:ext cx="821246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smtClean="0">
                <a:solidFill>
                  <a:schemeClr val="bg1"/>
                </a:solidFill>
              </a:rPr>
              <a:t>cat </a:t>
            </a:r>
            <a:r>
              <a:rPr lang="en-US" altLang="ko-KR" sz="1200" dirty="0" err="1">
                <a:solidFill>
                  <a:schemeClr val="bg1"/>
                </a:solidFill>
              </a:rPr>
              <a:t>admin.conf</a:t>
            </a:r>
            <a:r>
              <a:rPr lang="en-US" altLang="ko-KR" sz="1200" dirty="0">
                <a:solidFill>
                  <a:schemeClr val="bg1"/>
                </a:solidFill>
              </a:rPr>
              <a:t> | </a:t>
            </a:r>
            <a:r>
              <a:rPr lang="en-US" altLang="ko-KR" sz="1200" dirty="0" err="1">
                <a:solidFill>
                  <a:schemeClr val="bg1"/>
                </a:solidFill>
              </a:rPr>
              <a:t>grep</a:t>
            </a:r>
            <a:r>
              <a:rPr lang="en-US" altLang="ko-KR" sz="1200" dirty="0">
                <a:solidFill>
                  <a:schemeClr val="bg1"/>
                </a:solidFill>
              </a:rPr>
              <a:t> certificate-authority-data | </a:t>
            </a:r>
            <a:r>
              <a:rPr lang="en-US" altLang="ko-KR" sz="1200" dirty="0" err="1">
                <a:solidFill>
                  <a:schemeClr val="bg1"/>
                </a:solidFill>
              </a:rPr>
              <a:t>awk</a:t>
            </a:r>
            <a:r>
              <a:rPr lang="en-US" altLang="ko-KR" sz="1200" dirty="0">
                <a:solidFill>
                  <a:schemeClr val="bg1"/>
                </a:solidFill>
              </a:rPr>
              <a:t> '{print $2}' | base64 -d &gt;&gt; </a:t>
            </a:r>
            <a:r>
              <a:rPr lang="en-US" altLang="ko-KR" sz="1200" dirty="0" smtClean="0">
                <a:solidFill>
                  <a:schemeClr val="bg1"/>
                </a:solidFill>
              </a:rPr>
              <a:t>cluster.crt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41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추가 사용자 인증서 승인 과정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사용자는 전달 받은 인증서를 통해 사용자를 만든다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39" name="TextBox 5"/>
          <p:cNvSpPr txBox="1"/>
          <p:nvPr/>
        </p:nvSpPr>
        <p:spPr>
          <a:xfrm>
            <a:off x="975602" y="1023227"/>
            <a:ext cx="821246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set-credentials </a:t>
            </a:r>
            <a:r>
              <a:rPr lang="en-US" altLang="ko-KR" sz="1200" dirty="0" smtClean="0">
                <a:solidFill>
                  <a:schemeClr val="bg1"/>
                </a:solidFill>
              </a:rPr>
              <a:t>user </a:t>
            </a:r>
            <a:r>
              <a:rPr lang="en-US" altLang="ko-KR" sz="1200" dirty="0">
                <a:solidFill>
                  <a:schemeClr val="bg1"/>
                </a:solidFill>
              </a:rPr>
              <a:t>--</a:t>
            </a:r>
            <a:r>
              <a:rPr lang="en-US" altLang="ko-KR" sz="1200" dirty="0" smtClean="0">
                <a:solidFill>
                  <a:schemeClr val="bg1"/>
                </a:solidFill>
              </a:rPr>
              <a:t>client-key=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user.key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--</a:t>
            </a:r>
            <a:r>
              <a:rPr lang="en-US" altLang="ko-KR" sz="1200" dirty="0" smtClean="0">
                <a:solidFill>
                  <a:schemeClr val="bg1"/>
                </a:solidFill>
              </a:rPr>
              <a:t>client-certificate=user.crt </a:t>
            </a:r>
            <a:r>
              <a:rPr lang="en-US" altLang="ko-KR" sz="1200" dirty="0">
                <a:solidFill>
                  <a:schemeClr val="bg1"/>
                </a:solidFill>
              </a:rPr>
              <a:t>--embed-certs=true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199" y="1341321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사용자는 </a:t>
            </a:r>
            <a:r>
              <a:rPr lang="en-US" altLang="ko-KR" sz="1400" dirty="0" smtClean="0"/>
              <a:t>Kubernetes Cluster</a:t>
            </a:r>
            <a:r>
              <a:rPr lang="ko-KR" altLang="en-US" sz="1400" dirty="0" smtClean="0"/>
              <a:t>를 </a:t>
            </a:r>
            <a:r>
              <a:rPr lang="en-US" altLang="ko-KR" sz="1400" dirty="0" err="1" smtClean="0"/>
              <a:t>kubeconfig</a:t>
            </a:r>
            <a:r>
              <a:rPr lang="ko-KR" altLang="en-US" sz="1400" dirty="0" smtClean="0"/>
              <a:t>에 생성한다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41" name="TextBox 5"/>
          <p:cNvSpPr txBox="1"/>
          <p:nvPr/>
        </p:nvSpPr>
        <p:spPr>
          <a:xfrm>
            <a:off x="975601" y="1638081"/>
            <a:ext cx="821246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set-cluster 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 --server=https</a:t>
            </a:r>
            <a:r>
              <a:rPr lang="en-US" altLang="ko-KR" sz="1200" dirty="0" smtClean="0">
                <a:solidFill>
                  <a:schemeClr val="bg1"/>
                </a:solidFill>
              </a:rPr>
              <a:t>://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마스터서버</a:t>
            </a:r>
            <a:r>
              <a:rPr lang="en-US" altLang="ko-KR" sz="1200" dirty="0" smtClean="0">
                <a:solidFill>
                  <a:schemeClr val="bg1"/>
                </a:solidFill>
              </a:rPr>
              <a:t>IP:6443 --</a:t>
            </a:r>
            <a:r>
              <a:rPr lang="en-US" altLang="ko-KR" sz="1200" dirty="0">
                <a:solidFill>
                  <a:schemeClr val="bg1"/>
                </a:solidFill>
              </a:rPr>
              <a:t>certificate-authority=cluster.crt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199" y="1979856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사용자는 </a:t>
            </a:r>
            <a:r>
              <a:rPr lang="en-US" altLang="ko-KR" sz="1400" dirty="0" smtClean="0"/>
              <a:t>Context</a:t>
            </a:r>
            <a:r>
              <a:rPr lang="ko-KR" altLang="en-US" sz="1400" dirty="0" smtClean="0"/>
              <a:t>를 생성한다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14" name="TextBox 5"/>
          <p:cNvSpPr txBox="1"/>
          <p:nvPr/>
        </p:nvSpPr>
        <p:spPr>
          <a:xfrm>
            <a:off x="975601" y="2276616"/>
            <a:ext cx="821246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r>
              <a:rPr lang="en-US" altLang="ko-KR" sz="1200" dirty="0">
                <a:solidFill>
                  <a:schemeClr val="bg1"/>
                </a:solidFill>
              </a:rPr>
              <a:t> set-context </a:t>
            </a:r>
            <a:r>
              <a:rPr lang="en-US" altLang="ko-KR" sz="1200" dirty="0" err="1">
                <a:solidFill>
                  <a:schemeClr val="bg1"/>
                </a:solidFill>
              </a:rPr>
              <a:t>jsh</a:t>
            </a:r>
            <a:r>
              <a:rPr lang="en-US" altLang="ko-KR" sz="1200" dirty="0">
                <a:solidFill>
                  <a:schemeClr val="bg1"/>
                </a:solidFill>
              </a:rPr>
              <a:t> --cluster=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 --user=</a:t>
            </a:r>
            <a:r>
              <a:rPr lang="en-US" altLang="ko-KR" sz="1200" dirty="0" err="1">
                <a:solidFill>
                  <a:schemeClr val="bg1"/>
                </a:solidFill>
              </a:rPr>
              <a:t>jsh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1199" y="2626196"/>
            <a:ext cx="57116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생성한 </a:t>
            </a:r>
            <a:r>
              <a:rPr lang="en-US" altLang="ko-KR" sz="1400" dirty="0" smtClean="0"/>
              <a:t>context </a:t>
            </a:r>
            <a:r>
              <a:rPr lang="ko-KR" altLang="en-US" sz="1400" dirty="0" smtClean="0"/>
              <a:t>사용</a:t>
            </a:r>
            <a:endParaRPr lang="en-US" altLang="ko-KR" sz="1400" dirty="0" smtClean="0"/>
          </a:p>
        </p:txBody>
      </p:sp>
      <p:sp>
        <p:nvSpPr>
          <p:cNvPr id="18" name="TextBox 5"/>
          <p:cNvSpPr txBox="1"/>
          <p:nvPr/>
        </p:nvSpPr>
        <p:spPr>
          <a:xfrm>
            <a:off x="975601" y="2922956"/>
            <a:ext cx="8212465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config</a:t>
            </a:r>
            <a:r>
              <a:rPr lang="en-US" altLang="ko-KR" sz="1200" dirty="0" smtClean="0">
                <a:solidFill>
                  <a:schemeClr val="bg1"/>
                </a:solidFill>
              </a:rPr>
              <a:t> use-context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jsh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629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kubeconfig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597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kubeconfig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클러스터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사용자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네임스페이스 및 인증 메커니즘에 대한 정보를 관리한다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$HOME/.</a:t>
            </a:r>
            <a:r>
              <a:rPr lang="en-US" altLang="ko-KR" sz="1400" dirty="0" err="1" smtClean="0"/>
              <a:t>kube</a:t>
            </a:r>
            <a:r>
              <a:rPr lang="en-US" altLang="ko-KR" sz="1400" dirty="0" smtClean="0"/>
              <a:t>/</a:t>
            </a:r>
            <a:r>
              <a:rPr lang="en-US" altLang="ko-KR" sz="1400" dirty="0" err="1" smtClean="0"/>
              <a:t>confg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파일이 </a:t>
            </a:r>
            <a:r>
              <a:rPr lang="en-US" altLang="ko-KR" sz="1400" dirty="0" smtClean="0"/>
              <a:t>Default </a:t>
            </a:r>
            <a:r>
              <a:rPr lang="en-US" altLang="ko-KR" sz="1400" dirty="0" err="1" smtClean="0"/>
              <a:t>kubeconfig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파일이다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67" name="그룹 66"/>
          <p:cNvGrpSpPr/>
          <p:nvPr/>
        </p:nvGrpSpPr>
        <p:grpSpPr>
          <a:xfrm>
            <a:off x="711199" y="1649776"/>
            <a:ext cx="10592107" cy="3558448"/>
            <a:chOff x="711199" y="1649776"/>
            <a:chExt cx="10592107" cy="3558448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711199" y="1649776"/>
              <a:ext cx="10592107" cy="355844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4236858" y="1831554"/>
              <a:ext cx="2817609" cy="319489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Context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7886020" y="1831554"/>
              <a:ext cx="2568988" cy="319489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User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866085" y="1831554"/>
              <a:ext cx="540000" cy="540000"/>
            </a:xfrm>
            <a:prstGeom prst="rect">
              <a:avLst/>
            </a:prstGeom>
          </p:spPr>
        </p:pic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67652" y="1831641"/>
              <a:ext cx="540000" cy="540000"/>
            </a:xfrm>
            <a:prstGeom prst="rect">
              <a:avLst/>
            </a:prstGeom>
          </p:spPr>
        </p:pic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715828" y="1831554"/>
              <a:ext cx="540000" cy="540000"/>
            </a:xfrm>
            <a:prstGeom prst="rect">
              <a:avLst/>
            </a:prstGeom>
          </p:spPr>
        </p:pic>
        <p:grpSp>
          <p:nvGrpSpPr>
            <p:cNvPr id="2" name="그룹 1"/>
            <p:cNvGrpSpPr/>
            <p:nvPr/>
          </p:nvGrpSpPr>
          <p:grpSpPr>
            <a:xfrm>
              <a:off x="1510098" y="1831554"/>
              <a:ext cx="1916935" cy="3194892"/>
              <a:chOff x="2989242" y="1831554"/>
              <a:chExt cx="1916935" cy="3194892"/>
            </a:xfrm>
          </p:grpSpPr>
          <p:sp>
            <p:nvSpPr>
              <p:cNvPr id="12" name="직사각형 11"/>
              <p:cNvSpPr/>
              <p:nvPr/>
            </p:nvSpPr>
            <p:spPr>
              <a:xfrm>
                <a:off x="2989242" y="1831554"/>
                <a:ext cx="1916935" cy="3194892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Cluster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그림 19"/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77709" y="1831554"/>
                <a:ext cx="540000" cy="540000"/>
              </a:xfrm>
              <a:prstGeom prst="rect">
                <a:avLst/>
              </a:prstGeom>
            </p:spPr>
          </p:pic>
          <p:sp>
            <p:nvSpPr>
              <p:cNvPr id="23" name="모서리가 둥근 직사각형 22"/>
              <p:cNvSpPr/>
              <p:nvPr/>
            </p:nvSpPr>
            <p:spPr>
              <a:xfrm>
                <a:off x="3198562" y="2864642"/>
                <a:ext cx="1498293" cy="316481"/>
              </a:xfrm>
              <a:prstGeom prst="roundRect">
                <a:avLst/>
              </a:prstGeom>
              <a:noFill/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Production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모서리가 둥근 직사각형 23"/>
              <p:cNvSpPr/>
              <p:nvPr/>
            </p:nvSpPr>
            <p:spPr>
              <a:xfrm>
                <a:off x="3193357" y="3310651"/>
                <a:ext cx="1498293" cy="316481"/>
              </a:xfrm>
              <a:prstGeom prst="roundRect">
                <a:avLst/>
              </a:prstGeom>
              <a:noFill/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Development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모서리가 둥근 직사각형 24"/>
              <p:cNvSpPr/>
              <p:nvPr/>
            </p:nvSpPr>
            <p:spPr>
              <a:xfrm>
                <a:off x="3193357" y="3708682"/>
                <a:ext cx="1498293" cy="316481"/>
              </a:xfrm>
              <a:prstGeom prst="roundRect">
                <a:avLst/>
              </a:prstGeom>
              <a:noFill/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600" dirty="0">
                    <a:solidFill>
                      <a:schemeClr val="tx1"/>
                    </a:solidFill>
                  </a:rPr>
                  <a:t>Google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모서리가 둥근 직사각형 25"/>
              <p:cNvSpPr/>
              <p:nvPr/>
            </p:nvSpPr>
            <p:spPr>
              <a:xfrm>
                <a:off x="3193356" y="4127324"/>
                <a:ext cx="1498293" cy="316481"/>
              </a:xfrm>
              <a:prstGeom prst="roundRect">
                <a:avLst/>
              </a:prstGeom>
              <a:noFill/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1600" dirty="0" err="1" smtClean="0">
                    <a:solidFill>
                      <a:schemeClr val="tx1"/>
                    </a:solidFill>
                  </a:rPr>
                  <a:t>kubernetes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7" name="모서리가 둥근 직사각형 26"/>
            <p:cNvSpPr/>
            <p:nvPr/>
          </p:nvSpPr>
          <p:spPr>
            <a:xfrm>
              <a:off x="4476430" y="3813510"/>
              <a:ext cx="2478795" cy="700992"/>
            </a:xfrm>
            <a:prstGeom prst="round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dirty="0" err="1">
                  <a:solidFill>
                    <a:schemeClr val="tx1"/>
                  </a:solidFill>
                </a:rPr>
                <a:t>kubernetes</a:t>
              </a:r>
              <a:r>
                <a:rPr lang="en-US" altLang="ko-KR" sz="1600" dirty="0">
                  <a:solidFill>
                    <a:schemeClr val="tx1"/>
                  </a:solidFill>
                </a:rPr>
                <a:t>-admin@</a:t>
              </a:r>
            </a:p>
            <a:p>
              <a:pPr algn="ctr"/>
              <a:r>
                <a:rPr lang="en-US" altLang="ko-KR" sz="1600" dirty="0" err="1">
                  <a:solidFill>
                    <a:schemeClr val="tx1"/>
                  </a:solidFill>
                </a:rPr>
                <a:t>kubenretes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8" name="모서리가 둥근 직사각형 27"/>
            <p:cNvSpPr/>
            <p:nvPr/>
          </p:nvSpPr>
          <p:spPr>
            <a:xfrm>
              <a:off x="4476430" y="3345122"/>
              <a:ext cx="2478795" cy="323834"/>
            </a:xfrm>
            <a:prstGeom prst="round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dirty="0" err="1">
                  <a:solidFill>
                    <a:schemeClr val="tx1"/>
                  </a:solidFill>
                </a:rPr>
                <a:t>dev@google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sp>
          <p:nvSpPr>
            <p:cNvPr id="29" name="모서리가 둥근 직사각형 28"/>
            <p:cNvSpPr/>
            <p:nvPr/>
          </p:nvSpPr>
          <p:spPr>
            <a:xfrm>
              <a:off x="4476430" y="2862058"/>
              <a:ext cx="2478795" cy="316480"/>
            </a:xfrm>
            <a:prstGeom prst="round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dirty="0" err="1" smtClean="0">
                  <a:solidFill>
                    <a:schemeClr val="tx1"/>
                  </a:solidFill>
                </a:rPr>
                <a:t>admin@production</a:t>
              </a:r>
              <a:endParaRPr lang="en-US" altLang="ko-KR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직선 연결선 29"/>
            <p:cNvCxnSpPr>
              <a:stCxn id="23" idx="3"/>
              <a:endCxn id="29" idx="1"/>
            </p:cNvCxnSpPr>
            <p:nvPr/>
          </p:nvCxnSpPr>
          <p:spPr>
            <a:xfrm flipV="1">
              <a:off x="3217711" y="3020298"/>
              <a:ext cx="1258719" cy="258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모서리가 둥근 직사각형 32"/>
            <p:cNvSpPr/>
            <p:nvPr/>
          </p:nvSpPr>
          <p:spPr>
            <a:xfrm>
              <a:off x="8386939" y="2862058"/>
              <a:ext cx="1498293" cy="316480"/>
            </a:xfrm>
            <a:prstGeom prst="round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Admin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8386939" y="3345122"/>
              <a:ext cx="1498293" cy="323834"/>
            </a:xfrm>
            <a:prstGeom prst="round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Dev User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8103602" y="3966073"/>
              <a:ext cx="2064967" cy="400241"/>
            </a:xfrm>
            <a:prstGeom prst="roundRect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dirty="0" err="1" smtClean="0">
                  <a:solidFill>
                    <a:schemeClr val="tx1"/>
                  </a:solidFill>
                </a:rPr>
                <a:t>kubernetes</a:t>
              </a:r>
              <a:r>
                <a:rPr lang="en-US" altLang="ko-KR" sz="1600" dirty="0" smtClean="0">
                  <a:solidFill>
                    <a:schemeClr val="tx1"/>
                  </a:solidFill>
                </a:rPr>
                <a:t>-admin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1" name="꺾인 연결선 50"/>
            <p:cNvCxnSpPr>
              <a:stCxn id="25" idx="3"/>
              <a:endCxn id="28" idx="1"/>
            </p:cNvCxnSpPr>
            <p:nvPr/>
          </p:nvCxnSpPr>
          <p:spPr>
            <a:xfrm flipV="1">
              <a:off x="3212506" y="3507039"/>
              <a:ext cx="1263924" cy="359884"/>
            </a:xfrm>
            <a:prstGeom prst="bent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꺾인 연결선 54"/>
            <p:cNvCxnSpPr>
              <a:stCxn id="26" idx="3"/>
              <a:endCxn id="27" idx="1"/>
            </p:cNvCxnSpPr>
            <p:nvPr/>
          </p:nvCxnSpPr>
          <p:spPr>
            <a:xfrm flipV="1">
              <a:off x="3212505" y="4164006"/>
              <a:ext cx="1263925" cy="121559"/>
            </a:xfrm>
            <a:prstGeom prst="bentConnector3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>
              <a:stCxn id="29" idx="3"/>
            </p:cNvCxnSpPr>
            <p:nvPr/>
          </p:nvCxnSpPr>
          <p:spPr>
            <a:xfrm>
              <a:off x="6955225" y="3020298"/>
              <a:ext cx="146500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>
              <a:stCxn id="27" idx="3"/>
              <a:endCxn id="35" idx="1"/>
            </p:cNvCxnSpPr>
            <p:nvPr/>
          </p:nvCxnSpPr>
          <p:spPr>
            <a:xfrm>
              <a:off x="6955225" y="4164006"/>
              <a:ext cx="1148377" cy="218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/>
            <p:cNvCxnSpPr>
              <a:stCxn id="28" idx="3"/>
              <a:endCxn id="34" idx="1"/>
            </p:cNvCxnSpPr>
            <p:nvPr/>
          </p:nvCxnSpPr>
          <p:spPr>
            <a:xfrm>
              <a:off x="6955225" y="3507039"/>
              <a:ext cx="143171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2480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ubeconfig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구조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/>
              <a:t>c</a:t>
            </a:r>
            <a:r>
              <a:rPr lang="en-US" altLang="ko-KR" sz="1400" dirty="0" smtClean="0"/>
              <a:t>urrent-</a:t>
            </a:r>
            <a:r>
              <a:rPr lang="en-US" altLang="ko-KR" sz="1400" dirty="0" err="1" smtClean="0"/>
              <a:t>contex</a:t>
            </a:r>
            <a:r>
              <a:rPr lang="ko-KR" altLang="en-US" sz="1400" dirty="0" smtClean="0"/>
              <a:t>는 현재 적용되어 있는 </a:t>
            </a:r>
            <a:r>
              <a:rPr lang="en-US" altLang="ko-KR" sz="1400" dirty="0" smtClean="0"/>
              <a:t>Context </a:t>
            </a:r>
            <a:r>
              <a:rPr lang="ko-KR" altLang="en-US" sz="1400" dirty="0" smtClean="0"/>
              <a:t>확인이 가능하며</a:t>
            </a:r>
            <a:r>
              <a:rPr lang="en-US" altLang="ko-KR" sz="1400" dirty="0" smtClean="0"/>
              <a:t>, context</a:t>
            </a:r>
            <a:r>
              <a:rPr lang="ko-KR" altLang="en-US" sz="1400" dirty="0" smtClean="0"/>
              <a:t>에서 </a:t>
            </a:r>
            <a:r>
              <a:rPr lang="en-US" altLang="ko-KR" sz="1400" dirty="0" smtClean="0"/>
              <a:t>namespace </a:t>
            </a:r>
            <a:r>
              <a:rPr lang="ko-KR" altLang="en-US" sz="1400" dirty="0" smtClean="0"/>
              <a:t>지정이 가능하다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31" name="그룹 30"/>
          <p:cNvGrpSpPr/>
          <p:nvPr/>
        </p:nvGrpSpPr>
        <p:grpSpPr>
          <a:xfrm>
            <a:off x="793213" y="1061699"/>
            <a:ext cx="4350600" cy="4247317"/>
            <a:chOff x="7600396" y="1003344"/>
            <a:chExt cx="4350600" cy="4247317"/>
          </a:xfrm>
        </p:grpSpPr>
        <p:sp>
          <p:nvSpPr>
            <p:cNvPr id="32" name="TextBox 3"/>
            <p:cNvSpPr txBox="1"/>
            <p:nvPr/>
          </p:nvSpPr>
          <p:spPr>
            <a:xfrm>
              <a:off x="7600397" y="1280343"/>
              <a:ext cx="4350599" cy="397031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clusters:</a:t>
              </a:r>
            </a:p>
            <a:p>
              <a:r>
                <a:rPr lang="en-US" altLang="ko-KR" sz="1200" dirty="0"/>
                <a:t>- cluster:</a:t>
              </a:r>
            </a:p>
            <a:p>
              <a:r>
                <a:rPr lang="en-US" altLang="ko-KR" sz="1200" dirty="0"/>
                <a:t>    certificate-authority: ${ca </a:t>
              </a:r>
              <a:r>
                <a:rPr lang="ko-KR" altLang="en-US" sz="1200" dirty="0" err="1"/>
                <a:t>인증서경로</a:t>
              </a:r>
              <a:r>
                <a:rPr lang="en-US" altLang="ko-KR" sz="1200" dirty="0"/>
                <a:t>}</a:t>
              </a:r>
            </a:p>
            <a:p>
              <a:r>
                <a:rPr lang="en-US" altLang="ko-KR" sz="1200" dirty="0"/>
                <a:t>    server: https://192.168.219.131:6443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kubernetes</a:t>
              </a:r>
              <a:endParaRPr lang="en-US" altLang="ko-KR" sz="1200" dirty="0"/>
            </a:p>
            <a:p>
              <a:endParaRPr lang="en-US" altLang="ko-KR" sz="1200" dirty="0"/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contexts:</a:t>
              </a:r>
            </a:p>
            <a:p>
              <a:r>
                <a:rPr lang="en-US" altLang="ko-KR" sz="1200" dirty="0"/>
                <a:t>- context:</a:t>
              </a:r>
            </a:p>
            <a:p>
              <a:r>
                <a:rPr lang="en-US" altLang="ko-KR" sz="1200" dirty="0"/>
                <a:t>    cluster: </a:t>
              </a:r>
              <a:r>
                <a:rPr lang="en-US" altLang="ko-KR" sz="1200" dirty="0" err="1"/>
                <a:t>kubernetes</a:t>
              </a:r>
              <a:endParaRPr lang="en-US" altLang="ko-KR" sz="1200" dirty="0"/>
            </a:p>
            <a:p>
              <a:r>
                <a:rPr lang="en-US" altLang="ko-KR" sz="1200" dirty="0"/>
                <a:t>    user: </a:t>
              </a:r>
              <a:r>
                <a:rPr lang="en-US" altLang="ko-KR" sz="1200" dirty="0" err="1" smtClean="0"/>
                <a:t>kubernetes</a:t>
              </a:r>
              <a:r>
                <a:rPr lang="en-US" altLang="ko-KR" sz="1200" dirty="0" smtClean="0"/>
                <a:t>-admin</a:t>
              </a:r>
            </a:p>
            <a:p>
              <a:r>
                <a:rPr lang="en-US" altLang="ko-KR" sz="1200" dirty="0"/>
                <a:t> </a:t>
              </a:r>
              <a:r>
                <a:rPr lang="en-US" altLang="ko-KR" sz="1200" dirty="0" smtClean="0"/>
                <a:t>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namespace: default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kubernetes-admin@kubernetes</a:t>
              </a:r>
              <a:endParaRPr lang="en-US" altLang="ko-KR" sz="1200" dirty="0" smtClean="0"/>
            </a:p>
            <a:p>
              <a:r>
                <a:rPr lang="en-US" altLang="ko-KR" sz="1200" b="1" dirty="0" smtClean="0">
                  <a:solidFill>
                    <a:srgbClr val="FF0000"/>
                  </a:solidFill>
                </a:rPr>
                <a:t>current-context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kubernetes-admin@kubernetes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Config</a:t>
              </a:r>
              <a:endParaRPr lang="en-US" altLang="ko-KR" sz="1200" dirty="0"/>
            </a:p>
            <a:p>
              <a:r>
                <a:rPr lang="en-US" altLang="ko-KR" sz="1200" dirty="0"/>
                <a:t>preferences: {}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users:</a:t>
              </a:r>
            </a:p>
            <a:p>
              <a:r>
                <a:rPr lang="en-US" altLang="ko-KR" sz="1200" dirty="0"/>
                <a:t>- name: </a:t>
              </a:r>
              <a:r>
                <a:rPr lang="en-US" altLang="ko-KR" sz="1200" dirty="0" err="1"/>
                <a:t>kubernetes</a:t>
              </a:r>
              <a:r>
                <a:rPr lang="en-US" altLang="ko-KR" sz="1200" dirty="0"/>
                <a:t>-admin</a:t>
              </a:r>
            </a:p>
            <a:p>
              <a:r>
                <a:rPr lang="en-US" altLang="ko-KR" sz="1200" dirty="0"/>
                <a:t>  user:</a:t>
              </a:r>
            </a:p>
            <a:p>
              <a:r>
                <a:rPr lang="en-US" altLang="ko-KR" sz="1200" dirty="0"/>
                <a:t>    client-certificate: ${Client </a:t>
              </a:r>
              <a:r>
                <a:rPr lang="ko-KR" altLang="en-US" sz="1200" dirty="0"/>
                <a:t>인증서 경로</a:t>
              </a:r>
              <a:r>
                <a:rPr lang="en-US" altLang="ko-KR" sz="1200" dirty="0"/>
                <a:t>} </a:t>
              </a:r>
            </a:p>
            <a:p>
              <a:r>
                <a:rPr lang="en-US" altLang="ko-KR" sz="1200" dirty="0"/>
                <a:t>    client-key:  ${Client Key </a:t>
              </a:r>
              <a:r>
                <a:rPr lang="ko-KR" altLang="en-US" sz="1200" dirty="0"/>
                <a:t>인증서 경로</a:t>
              </a:r>
              <a:r>
                <a:rPr lang="en-US" altLang="ko-KR" sz="1200" dirty="0" smtClean="0"/>
                <a:t>}</a:t>
              </a:r>
              <a:endParaRPr lang="en-US" altLang="ko-KR" sz="1200" dirty="0"/>
            </a:p>
          </p:txBody>
        </p:sp>
        <p:sp>
          <p:nvSpPr>
            <p:cNvPr id="36" name="TextBox 3"/>
            <p:cNvSpPr txBox="1"/>
            <p:nvPr/>
          </p:nvSpPr>
          <p:spPr>
            <a:xfrm>
              <a:off x="7600396" y="1003344"/>
              <a:ext cx="2445745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$HOME/.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kube</a:t>
              </a:r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/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config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7" name="모서리가 둥근 직사각형 36"/>
          <p:cNvSpPr/>
          <p:nvPr/>
        </p:nvSpPr>
        <p:spPr>
          <a:xfrm>
            <a:off x="5308294" y="1338698"/>
            <a:ext cx="6643170" cy="355844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5523121" y="1520476"/>
            <a:ext cx="1916935" cy="31948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Cluster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7671411" y="1520476"/>
            <a:ext cx="1916935" cy="31948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Context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9811437" y="1520476"/>
            <a:ext cx="1916935" cy="319489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solidFill>
                  <a:schemeClr val="tx1"/>
                </a:solidFill>
              </a:rPr>
              <a:t>User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499904" y="1520476"/>
            <a:ext cx="540000" cy="540000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588" y="1520476"/>
            <a:ext cx="540000" cy="540000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5088" y="1520563"/>
            <a:ext cx="540000" cy="540000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13264" y="1520476"/>
            <a:ext cx="540000" cy="540000"/>
          </a:xfrm>
          <a:prstGeom prst="rect">
            <a:avLst/>
          </a:prstGeom>
        </p:spPr>
      </p:pic>
      <p:sp>
        <p:nvSpPr>
          <p:cNvPr id="48" name="모서리가 둥근 직사각형 47"/>
          <p:cNvSpPr/>
          <p:nvPr/>
        </p:nvSpPr>
        <p:spPr>
          <a:xfrm>
            <a:off x="5727236" y="2664727"/>
            <a:ext cx="1498293" cy="946200"/>
          </a:xfrm>
          <a:prstGeom prst="round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 err="1">
                <a:solidFill>
                  <a:schemeClr val="tx1"/>
                </a:solidFill>
              </a:rPr>
              <a:t>kubernetes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7855941" y="2684153"/>
            <a:ext cx="1498293" cy="912777"/>
          </a:xfrm>
          <a:prstGeom prst="round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 err="1">
                <a:solidFill>
                  <a:schemeClr val="tx1"/>
                </a:solidFill>
              </a:rPr>
              <a:t>kubernetes</a:t>
            </a:r>
            <a:r>
              <a:rPr lang="en-US" altLang="ko-KR" sz="1600" dirty="0">
                <a:solidFill>
                  <a:schemeClr val="tx1"/>
                </a:solidFill>
              </a:rPr>
              <a:t>-admin@</a:t>
            </a:r>
          </a:p>
          <a:p>
            <a:pPr algn="ctr"/>
            <a:r>
              <a:rPr lang="en-US" altLang="ko-KR" sz="1600" dirty="0" err="1">
                <a:solidFill>
                  <a:schemeClr val="tx1"/>
                </a:solidFill>
              </a:rPr>
              <a:t>kubenretes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56" name="직선 연결선 55"/>
          <p:cNvCxnSpPr>
            <a:stCxn id="48" idx="3"/>
            <a:endCxn id="49" idx="1"/>
          </p:cNvCxnSpPr>
          <p:nvPr/>
        </p:nvCxnSpPr>
        <p:spPr>
          <a:xfrm>
            <a:off x="7225529" y="3137827"/>
            <a:ext cx="630412" cy="27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모서리가 둥근 직사각형 59"/>
          <p:cNvSpPr/>
          <p:nvPr/>
        </p:nvSpPr>
        <p:spPr>
          <a:xfrm>
            <a:off x="10020757" y="2695171"/>
            <a:ext cx="1498293" cy="893348"/>
          </a:xfrm>
          <a:prstGeom prst="round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 err="1">
                <a:solidFill>
                  <a:schemeClr val="tx1"/>
                </a:solidFill>
              </a:rPr>
              <a:t>kubernetes</a:t>
            </a:r>
            <a:r>
              <a:rPr lang="en-US" altLang="ko-KR" sz="1600" dirty="0">
                <a:solidFill>
                  <a:schemeClr val="tx1"/>
                </a:solidFill>
              </a:rPr>
              <a:t>-</a:t>
            </a:r>
          </a:p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admin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65" name="직선 연결선 64"/>
          <p:cNvCxnSpPr>
            <a:stCxn id="49" idx="3"/>
            <a:endCxn id="60" idx="1"/>
          </p:cNvCxnSpPr>
          <p:nvPr/>
        </p:nvCxnSpPr>
        <p:spPr>
          <a:xfrm>
            <a:off x="9354234" y="3140542"/>
            <a:ext cx="666523" cy="130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>
            <a:off x="5804811" y="3070211"/>
            <a:ext cx="1343143" cy="507291"/>
            <a:chOff x="8605088" y="5309016"/>
            <a:chExt cx="1343143" cy="507291"/>
          </a:xfrm>
        </p:grpSpPr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5" cstate="screen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99482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29877" y="5336214"/>
              <a:ext cx="326327" cy="313339"/>
            </a:xfrm>
            <a:prstGeom prst="rect">
              <a:avLst/>
            </a:prstGeom>
          </p:spPr>
        </p:pic>
        <p:sp>
          <p:nvSpPr>
            <p:cNvPr id="68" name="모서리가 둥근 직사각형 67"/>
            <p:cNvSpPr/>
            <p:nvPr/>
          </p:nvSpPr>
          <p:spPr>
            <a:xfrm>
              <a:off x="8605088" y="5309016"/>
              <a:ext cx="1343143" cy="507291"/>
            </a:xfrm>
            <a:prstGeom prst="roundRect">
              <a:avLst/>
            </a:prstGeom>
            <a:noFill/>
            <a:ln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default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8764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ubeconfig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관련 명령어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k</a:t>
            </a:r>
            <a:r>
              <a:rPr lang="en-US" altLang="ko-KR" sz="1400" dirty="0" err="1" smtClean="0"/>
              <a:t>ubectl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config</a:t>
            </a:r>
            <a:r>
              <a:rPr lang="en-US" altLang="ko-KR" sz="1400" dirty="0" smtClean="0"/>
              <a:t> --help </a:t>
            </a:r>
            <a:r>
              <a:rPr lang="ko-KR" altLang="en-US" sz="1400" dirty="0" smtClean="0"/>
              <a:t>명령어를 통해 조회가 가능하다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명령어 사용 예시</a:t>
            </a:r>
            <a:endParaRPr lang="en-US" altLang="ko-KR" sz="1400" dirty="0" smtClean="0"/>
          </a:p>
        </p:txBody>
      </p:sp>
      <p:sp>
        <p:nvSpPr>
          <p:cNvPr id="23" name="TextBox 5"/>
          <p:cNvSpPr txBox="1"/>
          <p:nvPr/>
        </p:nvSpPr>
        <p:spPr>
          <a:xfrm>
            <a:off x="964585" y="1302790"/>
            <a:ext cx="821246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config</a:t>
            </a:r>
            <a:r>
              <a:rPr lang="en-US" altLang="ko-KR" sz="1200" dirty="0" smtClean="0">
                <a:solidFill>
                  <a:schemeClr val="bg1"/>
                </a:solidFill>
              </a:rPr>
              <a:t> [</a:t>
            </a:r>
            <a:r>
              <a:rPr lang="ko-KR" altLang="en-US" sz="1200" dirty="0" smtClean="0">
                <a:solidFill>
                  <a:schemeClr val="bg1"/>
                </a:solidFill>
              </a:rPr>
              <a:t>옵션 명</a:t>
            </a:r>
            <a:r>
              <a:rPr lang="en-US" altLang="ko-KR" sz="1200" dirty="0" smtClean="0">
                <a:solidFill>
                  <a:schemeClr val="bg1"/>
                </a:solidFill>
              </a:rPr>
              <a:t>]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585" y="1791280"/>
            <a:ext cx="9027714" cy="325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84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Authorization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6556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Core API Groups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</a:t>
            </a:r>
            <a:r>
              <a:rPr lang="ko-KR" altLang="en-US" sz="1400" dirty="0" smtClean="0"/>
              <a:t>의 기본 </a:t>
            </a:r>
            <a:r>
              <a:rPr lang="en-US" altLang="ko-KR" sz="1400" dirty="0" smtClean="0"/>
              <a:t>API </a:t>
            </a:r>
            <a:r>
              <a:rPr lang="ko-KR" altLang="en-US" sz="1400" dirty="0" smtClean="0"/>
              <a:t>그룹이다</a:t>
            </a:r>
            <a:r>
              <a:rPr lang="en-US" altLang="ko-KR" sz="1400" dirty="0" smtClean="0"/>
              <a:t>.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파일에서 </a:t>
            </a:r>
            <a:r>
              <a:rPr lang="en-US" altLang="ko-KR" sz="1400" dirty="0" err="1" smtClean="0"/>
              <a:t>apiVersion</a:t>
            </a:r>
            <a:r>
              <a:rPr lang="ko-KR" altLang="en-US" sz="1400" dirty="0" smtClean="0"/>
              <a:t>에 </a:t>
            </a:r>
            <a:r>
              <a:rPr lang="ko-KR" altLang="en-US" sz="1400" dirty="0" err="1" smtClean="0"/>
              <a:t>그룹명이</a:t>
            </a:r>
            <a:r>
              <a:rPr lang="ko-KR" altLang="en-US" sz="1400" dirty="0" smtClean="0"/>
              <a:t> 없는 </a:t>
            </a:r>
            <a:r>
              <a:rPr lang="en-US" altLang="ko-KR" sz="1400" dirty="0" smtClean="0"/>
              <a:t>API </a:t>
            </a:r>
            <a:r>
              <a:rPr lang="ko-KR" altLang="en-US" sz="1400" dirty="0" smtClean="0"/>
              <a:t>리소스이다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980501" y="1061699"/>
            <a:ext cx="4350599" cy="1477328"/>
            <a:chOff x="7600397" y="1003344"/>
            <a:chExt cx="4350599" cy="1477328"/>
          </a:xfrm>
        </p:grpSpPr>
        <p:sp>
          <p:nvSpPr>
            <p:cNvPr id="8" name="TextBox 3"/>
            <p:cNvSpPr txBox="1"/>
            <p:nvPr/>
          </p:nvSpPr>
          <p:spPr>
            <a:xfrm>
              <a:off x="7600397" y="1280343"/>
              <a:ext cx="4350599" cy="1200329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err="1">
                  <a:solidFill>
                    <a:srgbClr val="FF0000"/>
                  </a:solidFill>
                </a:rPr>
                <a:t>apiVersion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v1</a:t>
              </a:r>
            </a:p>
            <a:p>
              <a:r>
                <a:rPr lang="en-US" altLang="ko-KR" sz="1200" dirty="0"/>
                <a:t>kind: Namespace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kubernetes.io/metadata.name: </a:t>
              </a:r>
              <a:r>
                <a:rPr lang="en-US" altLang="ko-KR" sz="1200" dirty="0" err="1"/>
                <a:t>db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 smtClean="0"/>
                <a:t>db</a:t>
              </a:r>
              <a:endParaRPr lang="en-US" altLang="ko-KR" sz="1200" dirty="0"/>
            </a:p>
          </p:txBody>
        </p:sp>
        <p:sp>
          <p:nvSpPr>
            <p:cNvPr id="9" name="TextBox 3"/>
            <p:cNvSpPr txBox="1"/>
            <p:nvPr/>
          </p:nvSpPr>
          <p:spPr>
            <a:xfrm>
              <a:off x="7600397" y="1003344"/>
              <a:ext cx="163173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dbnamespace.yaml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00" y="1338698"/>
            <a:ext cx="4887007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7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Named API Groups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</a:t>
            </a:r>
            <a:r>
              <a:rPr lang="ko-KR" altLang="en-US" sz="1400" dirty="0" smtClean="0"/>
              <a:t>가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발전하면서 추가된 새로운 리소스들이다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API </a:t>
            </a:r>
            <a:r>
              <a:rPr lang="ko-KR" altLang="en-US" sz="1400" dirty="0" smtClean="0"/>
              <a:t>요청 시 </a:t>
            </a:r>
            <a:r>
              <a:rPr lang="en-US" altLang="ko-KR" sz="1400" dirty="0" err="1" smtClean="0"/>
              <a:t>apiVersion</a:t>
            </a:r>
            <a:r>
              <a:rPr lang="en-US" altLang="ko-KR" sz="1400" dirty="0" smtClean="0"/>
              <a:t>: &lt;group&gt;/&lt;version&gt; </a:t>
            </a:r>
            <a:r>
              <a:rPr lang="ko-KR" altLang="en-US" sz="1400" dirty="0" smtClean="0"/>
              <a:t>형식으로 사용한다</a:t>
            </a:r>
            <a:r>
              <a:rPr lang="en-US" altLang="ko-KR" sz="1400" dirty="0" smtClean="0"/>
              <a:t>.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947450" y="1302790"/>
            <a:ext cx="4350599" cy="3508653"/>
            <a:chOff x="7600397" y="1003344"/>
            <a:chExt cx="4350599" cy="3508653"/>
          </a:xfrm>
        </p:grpSpPr>
        <p:sp>
          <p:nvSpPr>
            <p:cNvPr id="12" name="TextBox 3"/>
            <p:cNvSpPr txBox="1"/>
            <p:nvPr/>
          </p:nvSpPr>
          <p:spPr>
            <a:xfrm>
              <a:off x="7600397" y="1280343"/>
              <a:ext cx="4350599" cy="323165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err="1">
                  <a:solidFill>
                    <a:srgbClr val="FF0000"/>
                  </a:solidFill>
                </a:rPr>
                <a:t>apiVersion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apps/v1</a:t>
              </a:r>
            </a:p>
            <a:p>
              <a:r>
                <a:rPr lang="en-US" altLang="ko-KR" sz="1200" dirty="0"/>
                <a:t>kind: Deployment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my-deployment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replicas: 3</a:t>
              </a:r>
            </a:p>
            <a:p>
              <a:r>
                <a:rPr lang="en-US" altLang="ko-KR" sz="1200" dirty="0"/>
                <a:t>  selector: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matchLabels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app: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template:</a:t>
              </a:r>
            </a:p>
            <a:p>
              <a:r>
                <a:rPr lang="en-US" altLang="ko-KR" sz="1200" dirty="0"/>
                <a:t>    metadata:</a:t>
              </a:r>
            </a:p>
            <a:p>
              <a:r>
                <a:rPr lang="en-US" altLang="ko-KR" sz="1200" dirty="0"/>
                <a:t>      labels:</a:t>
              </a:r>
            </a:p>
            <a:p>
              <a:r>
                <a:rPr lang="en-US" altLang="ko-KR" sz="1200" dirty="0"/>
                <a:t>        app: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spec:</a:t>
              </a:r>
            </a:p>
            <a:p>
              <a:r>
                <a:rPr lang="en-US" altLang="ko-KR" sz="1200" dirty="0"/>
                <a:t>      containers:</a:t>
              </a:r>
            </a:p>
            <a:p>
              <a:r>
                <a:rPr lang="en-US" altLang="ko-KR" sz="1200" dirty="0"/>
                <a:t>      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   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</p:txBody>
        </p:sp>
        <p:sp>
          <p:nvSpPr>
            <p:cNvPr id="13" name="TextBox 3"/>
            <p:cNvSpPr txBox="1"/>
            <p:nvPr/>
          </p:nvSpPr>
          <p:spPr>
            <a:xfrm>
              <a:off x="7600397" y="1003344"/>
              <a:ext cx="1631738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deployment.yaml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981" y="1579789"/>
            <a:ext cx="6105178" cy="325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44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API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호출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일반적으로 </a:t>
            </a:r>
            <a:r>
              <a:rPr lang="en-US" altLang="ko-KR" sz="1400" dirty="0" smtClean="0"/>
              <a:t>Kubernetes API Server</a:t>
            </a:r>
            <a:r>
              <a:rPr lang="ko-KR" altLang="en-US" sz="1400" dirty="0" smtClean="0"/>
              <a:t>에 접근이 불가하다</a:t>
            </a:r>
            <a:r>
              <a:rPr lang="en-US" altLang="ko-KR" sz="1400" dirty="0" smtClean="0"/>
              <a:t>.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819" y="1023227"/>
            <a:ext cx="4277322" cy="130510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rcRect b="49036"/>
          <a:stretch/>
        </p:blipFill>
        <p:spPr>
          <a:xfrm>
            <a:off x="1004819" y="2686725"/>
            <a:ext cx="7964011" cy="1019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1199" y="237894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허가 받은 인증서 사용</a:t>
            </a:r>
            <a:endParaRPr lang="en-US" altLang="ko-KR" sz="14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711199" y="3756703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k</a:t>
            </a:r>
            <a:r>
              <a:rPr lang="en-US" altLang="ko-KR" sz="1400" dirty="0" err="1" smtClean="0"/>
              <a:t>ube</a:t>
            </a:r>
            <a:r>
              <a:rPr lang="en-US" altLang="ko-KR" sz="1400" dirty="0" smtClean="0"/>
              <a:t> proxy</a:t>
            </a:r>
            <a:r>
              <a:rPr lang="ko-KR" altLang="en-US" sz="1400" dirty="0" smtClean="0"/>
              <a:t> 사용</a:t>
            </a:r>
            <a:endParaRPr lang="en-US" altLang="ko-KR" sz="1400" dirty="0" smtClean="0"/>
          </a:p>
        </p:txBody>
      </p:sp>
      <p:sp>
        <p:nvSpPr>
          <p:cNvPr id="16" name="TextBox 5"/>
          <p:cNvSpPr txBox="1"/>
          <p:nvPr/>
        </p:nvSpPr>
        <p:spPr>
          <a:xfrm>
            <a:off x="1004819" y="4064480"/>
            <a:ext cx="821246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proxy --address=192.168.219.153 -p 8081 --accept-hosts='.*'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819" y="4469739"/>
            <a:ext cx="4010585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72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Authorization Mode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8" y="715450"/>
            <a:ext cx="10383521" cy="836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</a:t>
            </a:r>
            <a:r>
              <a:rPr lang="ko-KR" altLang="en-US" sz="1400" dirty="0" smtClean="0"/>
              <a:t>인증 승인 모드는 </a:t>
            </a:r>
            <a:r>
              <a:rPr lang="en-US" altLang="ko-KR" sz="1400" dirty="0" smtClean="0"/>
              <a:t>Node, </a:t>
            </a:r>
            <a:r>
              <a:rPr lang="ko-KR" altLang="en-US" sz="1400" dirty="0" smtClean="0"/>
              <a:t>역할 기반 접근 제어</a:t>
            </a:r>
            <a:r>
              <a:rPr lang="en-US" altLang="ko-KR" sz="1400" dirty="0" smtClean="0"/>
              <a:t>(RBAC), </a:t>
            </a:r>
            <a:r>
              <a:rPr lang="en-US" altLang="ko-KR" sz="1400" dirty="0" err="1" smtClean="0"/>
              <a:t>Webhook</a:t>
            </a:r>
            <a:r>
              <a:rPr lang="ko-KR" altLang="en-US" sz="1400" dirty="0" smtClean="0"/>
              <a:t>이 있다</a:t>
            </a:r>
            <a:r>
              <a:rPr lang="en-US" altLang="ko-KR" sz="1400" dirty="0" smtClean="0"/>
              <a:t>.</a:t>
            </a:r>
            <a:endParaRPr lang="en-US" altLang="ko-KR" sz="1400" dirty="0"/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 </a:t>
            </a:r>
            <a:r>
              <a:rPr lang="ko-KR" altLang="en-US" sz="1400" dirty="0" smtClean="0"/>
              <a:t>인증</a:t>
            </a:r>
            <a:endParaRPr lang="en-US" altLang="ko-KR" sz="1400" dirty="0" smtClean="0"/>
          </a:p>
          <a:p>
            <a:pPr marL="360000" indent="-180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Node </a:t>
            </a:r>
            <a:r>
              <a:rPr lang="ko-KR" altLang="en-US" sz="1200" dirty="0" smtClean="0"/>
              <a:t>인증을 통해 </a:t>
            </a:r>
            <a:r>
              <a:rPr lang="en-US" altLang="ko-KR" sz="1200" dirty="0" smtClean="0"/>
              <a:t>Kubernetes Cluster </a:t>
            </a:r>
            <a:r>
              <a:rPr lang="ko-KR" altLang="en-US" sz="1200" dirty="0" smtClean="0"/>
              <a:t>내 </a:t>
            </a:r>
            <a:r>
              <a:rPr lang="en-US" altLang="ko-KR" sz="1200" dirty="0" err="1" smtClean="0"/>
              <a:t>kubelet</a:t>
            </a:r>
            <a:r>
              <a:rPr lang="ko-KR" altLang="en-US" sz="1200" dirty="0" smtClean="0"/>
              <a:t>은 </a:t>
            </a:r>
            <a:r>
              <a:rPr lang="en-US" altLang="ko-KR" sz="1200" dirty="0" err="1" smtClean="0"/>
              <a:t>kube-apiserver</a:t>
            </a:r>
            <a:r>
              <a:rPr lang="ko-KR" altLang="en-US" sz="1200" dirty="0" smtClean="0"/>
              <a:t>로 </a:t>
            </a:r>
            <a:r>
              <a:rPr lang="en-US" altLang="ko-KR" sz="1200" dirty="0" smtClean="0"/>
              <a:t>node, pod </a:t>
            </a:r>
            <a:r>
              <a:rPr lang="ko-KR" altLang="en-US" sz="1200" dirty="0" smtClean="0"/>
              <a:t>등 상태를 전달하고</a:t>
            </a:r>
            <a:r>
              <a:rPr lang="en-US" altLang="ko-KR" sz="1200" dirty="0" smtClean="0"/>
              <a:t>, pod, node </a:t>
            </a:r>
            <a:r>
              <a:rPr lang="ko-KR" altLang="en-US" sz="1200" dirty="0" smtClean="0"/>
              <a:t>등 정보를 읽을 수 있게 한다</a:t>
            </a:r>
            <a:r>
              <a:rPr lang="en-US" altLang="ko-KR" sz="1200" dirty="0" smtClean="0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822279" y="3217103"/>
            <a:ext cx="540000" cy="54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95671" y="3838044"/>
            <a:ext cx="793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/>
              <a:t>User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475" y="2478797"/>
            <a:ext cx="540000" cy="540000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4485854" y="3227770"/>
            <a:ext cx="1597446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kube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</a:rPr>
              <a:t>apiserver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953661" y="2895861"/>
            <a:ext cx="1707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/>
              <a:t>system:node:node01</a:t>
            </a:r>
            <a:endParaRPr lang="ko-KR" altLang="en-US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7063842" y="3227770"/>
            <a:ext cx="1597446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kubelet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2" name="직선 화살표 연결선 11"/>
          <p:cNvCxnSpPr>
            <a:stCxn id="5" idx="1"/>
            <a:endCxn id="9" idx="1"/>
          </p:cNvCxnSpPr>
          <p:nvPr/>
        </p:nvCxnSpPr>
        <p:spPr>
          <a:xfrm>
            <a:off x="3362279" y="3487103"/>
            <a:ext cx="1123575" cy="10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8" idx="1"/>
            <a:endCxn id="9" idx="3"/>
          </p:cNvCxnSpPr>
          <p:nvPr/>
        </p:nvCxnSpPr>
        <p:spPr>
          <a:xfrm flipH="1">
            <a:off x="6083300" y="2748797"/>
            <a:ext cx="1454175" cy="7489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0"/>
          <p:cNvSpPr txBox="1"/>
          <p:nvPr/>
        </p:nvSpPr>
        <p:spPr>
          <a:xfrm>
            <a:off x="6953661" y="3838043"/>
            <a:ext cx="17076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/>
              <a:t>READ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- service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- pod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- node</a:t>
            </a:r>
          </a:p>
          <a:p>
            <a:r>
              <a:rPr lang="en-US" altLang="ko-KR" sz="1200" dirty="0" smtClean="0"/>
              <a:t>Write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- service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- pod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- node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702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Authorization Mode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8" y="715450"/>
            <a:ext cx="10383521" cy="55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역할 기반 접근 제어</a:t>
            </a:r>
            <a:r>
              <a:rPr lang="en-US" altLang="ko-KR" sz="1400" dirty="0" smtClean="0"/>
              <a:t>(RBAC) </a:t>
            </a:r>
            <a:r>
              <a:rPr lang="ko-KR" altLang="en-US" sz="1400" dirty="0" smtClean="0"/>
              <a:t>인증</a:t>
            </a:r>
            <a:endParaRPr lang="en-US" altLang="ko-KR" sz="1400" dirty="0" smtClean="0"/>
          </a:p>
          <a:p>
            <a:pPr marL="360000" indent="-180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사용자 역할 별로 나누어 접근하게 설정 가능하다</a:t>
            </a:r>
            <a:r>
              <a:rPr lang="en-US" altLang="ko-KR" sz="1200" dirty="0" smtClean="0"/>
              <a:t>.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58061" y="2548341"/>
            <a:ext cx="540000" cy="540000"/>
          </a:xfrm>
          <a:prstGeom prst="rect">
            <a:avLst/>
          </a:prstGeom>
        </p:spPr>
      </p:pic>
      <p:sp>
        <p:nvSpPr>
          <p:cNvPr id="16" name="TextBox 17"/>
          <p:cNvSpPr txBox="1"/>
          <p:nvPr/>
        </p:nvSpPr>
        <p:spPr>
          <a:xfrm>
            <a:off x="2873546" y="3088341"/>
            <a:ext cx="9090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 smtClean="0"/>
              <a:t>dev-user2</a:t>
            </a:r>
            <a:endParaRPr lang="ko-KR" altLang="en-US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58061" y="4024905"/>
            <a:ext cx="540000" cy="540000"/>
          </a:xfrm>
          <a:prstGeom prst="rect">
            <a:avLst/>
          </a:prstGeom>
        </p:spPr>
      </p:pic>
      <p:sp>
        <p:nvSpPr>
          <p:cNvPr id="18" name="TextBox 19"/>
          <p:cNvSpPr txBox="1"/>
          <p:nvPr/>
        </p:nvSpPr>
        <p:spPr>
          <a:xfrm>
            <a:off x="2931453" y="4560981"/>
            <a:ext cx="793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/>
              <a:t>security</a:t>
            </a:r>
            <a:endParaRPr lang="ko-KR" altLang="en-US" dirty="0"/>
          </a:p>
        </p:txBody>
      </p:sp>
      <p:sp>
        <p:nvSpPr>
          <p:cNvPr id="19" name="TextBox 22"/>
          <p:cNvSpPr txBox="1"/>
          <p:nvPr/>
        </p:nvSpPr>
        <p:spPr>
          <a:xfrm>
            <a:off x="5465332" y="2441195"/>
            <a:ext cx="37952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Can View PODS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Can Create PODS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Can Delete PODS</a:t>
            </a:r>
            <a:endParaRPr lang="ko-KR" altLang="en-US" dirty="0"/>
          </a:p>
        </p:txBody>
      </p:sp>
      <p:sp>
        <p:nvSpPr>
          <p:cNvPr id="20" name="TextBox 23"/>
          <p:cNvSpPr txBox="1"/>
          <p:nvPr/>
        </p:nvSpPr>
        <p:spPr>
          <a:xfrm>
            <a:off x="5465332" y="4024905"/>
            <a:ext cx="3795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Can View CSR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Can approve CSR Security</a:t>
            </a:r>
            <a:endParaRPr lang="ko-KR" altLang="en-US" dirty="0"/>
          </a:p>
        </p:txBody>
      </p:sp>
      <p:cxnSp>
        <p:nvCxnSpPr>
          <p:cNvPr id="21" name="직선 화살표 연결선 20"/>
          <p:cNvCxnSpPr>
            <a:stCxn id="15" idx="1"/>
            <a:endCxn id="19" idx="1"/>
          </p:cNvCxnSpPr>
          <p:nvPr/>
        </p:nvCxnSpPr>
        <p:spPr>
          <a:xfrm flipV="1">
            <a:off x="3598061" y="2810527"/>
            <a:ext cx="1867271" cy="78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17" idx="1"/>
            <a:endCxn id="20" idx="1"/>
          </p:cNvCxnSpPr>
          <p:nvPr/>
        </p:nvCxnSpPr>
        <p:spPr>
          <a:xfrm flipV="1">
            <a:off x="3598061" y="4286515"/>
            <a:ext cx="1867271" cy="83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2"/>
          <p:cNvSpPr txBox="1"/>
          <p:nvPr/>
        </p:nvSpPr>
        <p:spPr>
          <a:xfrm>
            <a:off x="5465332" y="3104441"/>
            <a:ext cx="3795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FF0000"/>
                </a:solidFill>
              </a:rPr>
              <a:t>Can </a:t>
            </a:r>
            <a:r>
              <a:rPr lang="en-US" altLang="ko-KR" sz="1400" dirty="0" smtClean="0">
                <a:solidFill>
                  <a:srgbClr val="FF0000"/>
                </a:solidFill>
              </a:rPr>
              <a:t>Create </a:t>
            </a:r>
            <a:r>
              <a:rPr lang="en-US" altLang="ko-KR" sz="1400" dirty="0" err="1" smtClean="0">
                <a:solidFill>
                  <a:srgbClr val="FF0000"/>
                </a:solidFill>
              </a:rPr>
              <a:t>ConfigMaps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058061" y="1603766"/>
            <a:ext cx="540000" cy="540000"/>
          </a:xfrm>
          <a:prstGeom prst="rect">
            <a:avLst/>
          </a:prstGeom>
        </p:spPr>
      </p:pic>
      <p:sp>
        <p:nvSpPr>
          <p:cNvPr id="27" name="TextBox 17"/>
          <p:cNvSpPr txBox="1"/>
          <p:nvPr/>
        </p:nvSpPr>
        <p:spPr>
          <a:xfrm>
            <a:off x="2892234" y="2138305"/>
            <a:ext cx="9090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 smtClean="0"/>
              <a:t>dev-user1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647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Authorization Mode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8" y="715450"/>
            <a:ext cx="10383521" cy="55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Webhook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인증</a:t>
            </a:r>
            <a:endParaRPr lang="en-US" altLang="ko-KR" sz="1400" dirty="0" smtClean="0"/>
          </a:p>
          <a:p>
            <a:pPr marL="360000" indent="-1800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Jenkins</a:t>
            </a:r>
            <a:r>
              <a:rPr lang="ko-KR" altLang="en-US" sz="1200" dirty="0" smtClean="0"/>
              <a:t>같은 외부 </a:t>
            </a:r>
            <a:r>
              <a:rPr lang="en-US" altLang="ko-KR" sz="1200" dirty="0" smtClean="0"/>
              <a:t>SW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Kubernetes Cluster</a:t>
            </a:r>
            <a:r>
              <a:rPr lang="ko-KR" altLang="en-US" sz="1200" dirty="0" smtClean="0"/>
              <a:t>에 접근할 때 사용한다</a:t>
            </a:r>
            <a:r>
              <a:rPr lang="en-US" altLang="ko-KR" sz="1200" dirty="0" smtClean="0"/>
              <a:t>.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50603" y="2597410"/>
            <a:ext cx="540000" cy="540000"/>
          </a:xfrm>
          <a:prstGeom prst="rect">
            <a:avLst/>
          </a:prstGeom>
        </p:spPr>
      </p:pic>
      <p:sp>
        <p:nvSpPr>
          <p:cNvPr id="25" name="TextBox 21"/>
          <p:cNvSpPr txBox="1"/>
          <p:nvPr/>
        </p:nvSpPr>
        <p:spPr>
          <a:xfrm>
            <a:off x="2823995" y="3218351"/>
            <a:ext cx="7932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dirty="0"/>
              <a:t>User</a:t>
            </a:r>
            <a:endParaRPr lang="ko-KR" altLang="en-US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4614178" y="2608077"/>
            <a:ext cx="1597446" cy="540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 err="1">
                <a:solidFill>
                  <a:schemeClr val="tx1"/>
                </a:solidFill>
              </a:rPr>
              <a:t>kube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</a:rPr>
              <a:t>apiserver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7192166" y="2608077"/>
            <a:ext cx="1597446" cy="54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Open Policy Agent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30" name="직선 화살표 연결선 29"/>
          <p:cNvCxnSpPr>
            <a:stCxn id="23" idx="1"/>
            <a:endCxn id="28" idx="1"/>
          </p:cNvCxnSpPr>
          <p:nvPr/>
        </p:nvCxnSpPr>
        <p:spPr>
          <a:xfrm>
            <a:off x="3490603" y="2867410"/>
            <a:ext cx="1123575" cy="1066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>
            <a:stCxn id="29" idx="1"/>
            <a:endCxn id="28" idx="3"/>
          </p:cNvCxnSpPr>
          <p:nvPr/>
        </p:nvCxnSpPr>
        <p:spPr>
          <a:xfrm flipH="1">
            <a:off x="6211624" y="2878077"/>
            <a:ext cx="98054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20" descr="Jenkins Logo PNG Vector EPS, SVG, Ai formats, 383.04 KB Free Download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41" t="37332" r="9704" b="38335"/>
          <a:stretch/>
        </p:blipFill>
        <p:spPr bwMode="auto">
          <a:xfrm>
            <a:off x="7418180" y="2251415"/>
            <a:ext cx="1145418" cy="34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04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Authorization Mode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설정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864360" y="1066800"/>
            <a:ext cx="8463280" cy="518160"/>
            <a:chOff x="1137920" y="1066800"/>
            <a:chExt cx="8463280" cy="518160"/>
          </a:xfrm>
        </p:grpSpPr>
        <p:sp>
          <p:nvSpPr>
            <p:cNvPr id="2" name="직사각형 1"/>
            <p:cNvSpPr/>
            <p:nvPr/>
          </p:nvSpPr>
          <p:spPr>
            <a:xfrm>
              <a:off x="1137920" y="1066800"/>
              <a:ext cx="1432560" cy="51816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err="1" smtClean="0"/>
                <a:t>AlwaysAllow</a:t>
              </a:r>
              <a:endParaRPr lang="ko-KR" altLang="en-US" sz="1600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895600" y="1066800"/>
              <a:ext cx="1432560" cy="51816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/>
                <a:t>NODE</a:t>
              </a:r>
              <a:endParaRPr lang="ko-KR" altLang="en-US" sz="1600" dirty="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653280" y="1066800"/>
              <a:ext cx="1432560" cy="51816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/>
                <a:t>RBAC</a:t>
              </a:r>
              <a:endParaRPr lang="ko-KR" altLang="en-US" sz="1600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410960" y="1066800"/>
              <a:ext cx="1432560" cy="51816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/>
                <a:t>WEBHOOK</a:t>
              </a:r>
              <a:endParaRPr lang="ko-KR" altLang="en-US" sz="1600" dirty="0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8168640" y="1066800"/>
              <a:ext cx="1432560" cy="51816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err="1" smtClean="0"/>
                <a:t>AlwaysDeny</a:t>
              </a:r>
              <a:endParaRPr lang="ko-KR" altLang="en-US" sz="1600" dirty="0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1864360" y="1833419"/>
            <a:ext cx="4350599" cy="4062651"/>
            <a:chOff x="7600397" y="1003344"/>
            <a:chExt cx="4350599" cy="4062651"/>
          </a:xfrm>
        </p:grpSpPr>
        <p:sp>
          <p:nvSpPr>
            <p:cNvPr id="18" name="TextBox 3"/>
            <p:cNvSpPr txBox="1"/>
            <p:nvPr/>
          </p:nvSpPr>
          <p:spPr>
            <a:xfrm>
              <a:off x="7600397" y="1280343"/>
              <a:ext cx="4350599" cy="3785652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annotations:</a:t>
              </a:r>
            </a:p>
            <a:p>
              <a:r>
                <a:rPr lang="en-US" altLang="ko-KR" sz="1200" dirty="0"/>
                <a:t>    kubeadm.kubernetes.io/</a:t>
              </a:r>
              <a:r>
                <a:rPr lang="en-US" altLang="ko-KR" sz="1200" dirty="0" err="1"/>
                <a:t>kube-apiserver.advertise-address.endpoint</a:t>
              </a:r>
              <a:r>
                <a:rPr lang="en-US" altLang="ko-KR" sz="1200" dirty="0"/>
                <a:t>: </a:t>
              </a:r>
              <a:r>
                <a:rPr lang="en-US" altLang="ko-KR" sz="1200" dirty="0" smtClean="0"/>
                <a:t>192.168.53.153:6443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component: </a:t>
              </a:r>
              <a:r>
                <a:rPr lang="en-US" altLang="ko-KR" sz="1200" dirty="0" err="1"/>
                <a:t>kube-apiserver</a:t>
              </a:r>
              <a:endParaRPr lang="en-US" altLang="ko-KR" sz="1200" dirty="0"/>
            </a:p>
            <a:p>
              <a:r>
                <a:rPr lang="en-US" altLang="ko-KR" sz="1200" dirty="0"/>
                <a:t>    tier: control-plane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kube-apiserver</a:t>
              </a:r>
              <a:endParaRPr lang="en-US" altLang="ko-KR" sz="1200" dirty="0"/>
            </a:p>
            <a:p>
              <a:r>
                <a:rPr lang="en-US" altLang="ko-KR" sz="1200" dirty="0"/>
                <a:t>  namespace: </a:t>
              </a:r>
              <a:r>
                <a:rPr lang="en-US" altLang="ko-KR" sz="1200" dirty="0" err="1"/>
                <a:t>kube</a:t>
              </a:r>
              <a:r>
                <a:rPr lang="en-US" altLang="ko-KR" sz="1200" dirty="0"/>
                <a:t>-system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command:</a:t>
              </a:r>
            </a:p>
            <a:p>
              <a:r>
                <a:rPr lang="en-US" altLang="ko-KR" sz="1200" dirty="0"/>
                <a:t>    - </a:t>
              </a:r>
              <a:r>
                <a:rPr lang="en-US" altLang="ko-KR" sz="1200" dirty="0" err="1"/>
                <a:t>kube-apiserver</a:t>
              </a:r>
              <a:endParaRPr lang="en-US" altLang="ko-KR" sz="1200" dirty="0"/>
            </a:p>
            <a:p>
              <a:r>
                <a:rPr lang="en-US" altLang="ko-KR" sz="1200" dirty="0"/>
                <a:t>    - --</a:t>
              </a:r>
              <a:r>
                <a:rPr lang="en-US" altLang="ko-KR" sz="1200" dirty="0" smtClean="0"/>
                <a:t>advertise-address=192.168.53.153</a:t>
              </a:r>
              <a:endParaRPr lang="en-US" altLang="ko-KR" sz="1200" dirty="0"/>
            </a:p>
            <a:p>
              <a:r>
                <a:rPr lang="en-US" altLang="ko-KR" sz="1200" dirty="0"/>
                <a:t>    - --allow-privileged=true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 --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authorization-mode=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Node,RBAC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19" name="TextBox 3"/>
            <p:cNvSpPr txBox="1"/>
            <p:nvPr/>
          </p:nvSpPr>
          <p:spPr>
            <a:xfrm>
              <a:off x="7600397" y="1003344"/>
              <a:ext cx="175768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k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ube-apiserver.yaml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893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RBAC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147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Role &amp;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RoleBinding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8" y="715450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역할 기반 접근 제어</a:t>
            </a:r>
            <a:r>
              <a:rPr lang="en-US" altLang="ko-KR" sz="1400" dirty="0" smtClean="0"/>
              <a:t>(RBAC) </a:t>
            </a:r>
            <a:r>
              <a:rPr lang="ko-KR" altLang="en-US" sz="1400" dirty="0" smtClean="0"/>
              <a:t>설정은</a:t>
            </a:r>
            <a:r>
              <a:rPr lang="en-US" altLang="ko-KR" sz="1400" dirty="0" smtClean="0"/>
              <a:t> Role, </a:t>
            </a:r>
            <a:r>
              <a:rPr lang="en-US" altLang="ko-KR" sz="1400" dirty="0" err="1" smtClean="0"/>
              <a:t>RoleBinding</a:t>
            </a:r>
            <a:r>
              <a:rPr lang="en-US" altLang="ko-KR" sz="1400" dirty="0" smtClean="0"/>
              <a:t> Object</a:t>
            </a:r>
            <a:r>
              <a:rPr lang="ko-KR" altLang="en-US" sz="1400" dirty="0" smtClean="0"/>
              <a:t>로 가능하다</a:t>
            </a:r>
            <a:r>
              <a:rPr lang="en-US" altLang="ko-KR" sz="1400" dirty="0" smtClean="0"/>
              <a:t>.</a:t>
            </a:r>
            <a:endParaRPr lang="en-US" altLang="ko-KR" sz="1200" dirty="0" smtClean="0"/>
          </a:p>
        </p:txBody>
      </p:sp>
      <p:grpSp>
        <p:nvGrpSpPr>
          <p:cNvPr id="3" name="그룹 2"/>
          <p:cNvGrpSpPr/>
          <p:nvPr/>
        </p:nvGrpSpPr>
        <p:grpSpPr>
          <a:xfrm>
            <a:off x="3065780" y="1650628"/>
            <a:ext cx="2956560" cy="1685286"/>
            <a:chOff x="2923540" y="1494794"/>
            <a:chExt cx="2956560" cy="1685286"/>
          </a:xfrm>
        </p:grpSpPr>
        <p:sp>
          <p:nvSpPr>
            <p:cNvPr id="19" name="TextBox 22"/>
            <p:cNvSpPr txBox="1"/>
            <p:nvPr/>
          </p:nvSpPr>
          <p:spPr>
            <a:xfrm>
              <a:off x="3247913" y="1658875"/>
              <a:ext cx="247978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/>
                <a:t>Can View PODS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/>
                <a:t>Can Create PODS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/>
                <a:t>Can Delete </a:t>
              </a:r>
              <a:r>
                <a:rPr lang="en-US" altLang="ko-KR" sz="1400" dirty="0" smtClean="0"/>
                <a:t>PODS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 smtClean="0"/>
                <a:t>Can Create </a:t>
              </a:r>
              <a:r>
                <a:rPr lang="en-US" altLang="ko-KR" sz="1400" dirty="0" err="1" smtClean="0"/>
                <a:t>ConfigMaps</a:t>
              </a:r>
              <a:endParaRPr lang="ko-KR" altLang="en-US" dirty="0"/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2923540" y="1494794"/>
              <a:ext cx="2956560" cy="168528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Developer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7119940" y="1061699"/>
            <a:ext cx="3974779" cy="2585734"/>
            <a:chOff x="7119940" y="1061699"/>
            <a:chExt cx="3974779" cy="2585734"/>
          </a:xfrm>
        </p:grpSpPr>
        <p:sp>
          <p:nvSpPr>
            <p:cNvPr id="25" name="TextBox 11"/>
            <p:cNvSpPr txBox="1"/>
            <p:nvPr/>
          </p:nvSpPr>
          <p:spPr>
            <a:xfrm>
              <a:off x="7119940" y="1339109"/>
              <a:ext cx="3974779" cy="230832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rbac.authorization.k8s.io/v1 </a:t>
              </a:r>
            </a:p>
            <a:p>
              <a:r>
                <a:rPr lang="en-US" altLang="ko-KR" sz="1200" dirty="0"/>
                <a:t>kind: Role </a:t>
              </a:r>
            </a:p>
            <a:p>
              <a:r>
                <a:rPr lang="en-US" altLang="ko-KR" sz="1200" dirty="0"/>
                <a:t>metadata: </a:t>
              </a:r>
            </a:p>
            <a:p>
              <a:r>
                <a:rPr lang="en-US" altLang="ko-KR" sz="1200" dirty="0"/>
                <a:t>  name: developer </a:t>
              </a:r>
            </a:p>
            <a:p>
              <a:r>
                <a:rPr lang="en-US" altLang="ko-KR" sz="1200" dirty="0"/>
                <a:t>rules: </a:t>
              </a:r>
            </a:p>
            <a:p>
              <a:r>
                <a:rPr lang="en-US" altLang="ko-KR" sz="1200" dirty="0"/>
                <a:t>- </a:t>
              </a:r>
              <a:r>
                <a:rPr lang="en-US" altLang="ko-KR" sz="1200" dirty="0" err="1"/>
                <a:t>apiGroups</a:t>
              </a:r>
              <a:r>
                <a:rPr lang="en-US" altLang="ko-KR" sz="1200" dirty="0"/>
                <a:t>: [""] </a:t>
              </a:r>
            </a:p>
            <a:p>
              <a:r>
                <a:rPr lang="en-US" altLang="ko-KR" sz="1200" dirty="0"/>
                <a:t>  resources: ["pods"] </a:t>
              </a:r>
            </a:p>
            <a:p>
              <a:r>
                <a:rPr lang="en-US" altLang="ko-KR" sz="1200" dirty="0"/>
                <a:t>  verbs: ["list“, "get", “create“, “update“, “delete"]</a:t>
              </a:r>
            </a:p>
            <a:p>
              <a:endParaRPr lang="en-US" altLang="ko-KR" sz="1200" dirty="0"/>
            </a:p>
            <a:p>
              <a:r>
                <a:rPr lang="en-US" altLang="ko-KR" sz="1200" dirty="0"/>
                <a:t>- </a:t>
              </a:r>
              <a:r>
                <a:rPr lang="en-US" altLang="ko-KR" sz="1200" dirty="0" err="1"/>
                <a:t>apiGroups</a:t>
              </a:r>
              <a:r>
                <a:rPr lang="en-US" altLang="ko-KR" sz="1200" dirty="0"/>
                <a:t>: [""] </a:t>
              </a:r>
            </a:p>
            <a:p>
              <a:r>
                <a:rPr lang="en-US" altLang="ko-KR" sz="1200" dirty="0"/>
                <a:t>  resources: [“</a:t>
              </a:r>
              <a:r>
                <a:rPr lang="en-US" altLang="ko-KR" sz="1200" dirty="0" err="1"/>
                <a:t>ConfigMap</a:t>
              </a:r>
              <a:r>
                <a:rPr lang="en-US" altLang="ko-KR" sz="1200" dirty="0"/>
                <a:t>"] </a:t>
              </a:r>
            </a:p>
            <a:p>
              <a:r>
                <a:rPr lang="en-US" altLang="ko-KR" sz="1200" dirty="0"/>
                <a:t>  verbs: [“create“] 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7119940" y="1061699"/>
              <a:ext cx="175768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r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ole.yaml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5" name="직선 연결선 4"/>
          <p:cNvCxnSpPr>
            <a:stCxn id="23" idx="3"/>
            <a:endCxn id="25" idx="1"/>
          </p:cNvCxnSpPr>
          <p:nvPr/>
        </p:nvCxnSpPr>
        <p:spPr>
          <a:xfrm>
            <a:off x="6022340" y="2493271"/>
            <a:ext cx="1097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>
            <a:off x="7119939" y="3686316"/>
            <a:ext cx="3974779" cy="2585323"/>
            <a:chOff x="7119939" y="3686316"/>
            <a:chExt cx="3974779" cy="2585323"/>
          </a:xfrm>
        </p:grpSpPr>
        <p:sp>
          <p:nvSpPr>
            <p:cNvPr id="29" name="TextBox 11"/>
            <p:cNvSpPr txBox="1"/>
            <p:nvPr/>
          </p:nvSpPr>
          <p:spPr>
            <a:xfrm>
              <a:off x="7119939" y="3963315"/>
              <a:ext cx="3974779" cy="230832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rbac.authorization.k8s.io/v1 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RoleBinding</a:t>
              </a:r>
              <a:r>
                <a:rPr lang="en-US" altLang="ko-KR" sz="1200" dirty="0"/>
                <a:t> </a:t>
              </a:r>
            </a:p>
            <a:p>
              <a:r>
                <a:rPr lang="en-US" altLang="ko-KR" sz="1200" dirty="0"/>
                <a:t>metadata: 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devuser</a:t>
              </a:r>
              <a:r>
                <a:rPr lang="en-US" altLang="ko-KR" sz="1200" dirty="0"/>
                <a:t>-developer-binding </a:t>
              </a:r>
            </a:p>
            <a:p>
              <a:r>
                <a:rPr lang="en-US" altLang="ko-KR" sz="1200" dirty="0"/>
                <a:t>subjects: </a:t>
              </a:r>
            </a:p>
            <a:p>
              <a:r>
                <a:rPr lang="en-US" altLang="ko-KR" sz="1200" dirty="0"/>
                <a:t>- kind: user</a:t>
              </a:r>
            </a:p>
            <a:p>
              <a:r>
                <a:rPr lang="en-US" altLang="ko-KR" sz="1200" dirty="0"/>
                <a:t>  name: dev-user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apiGroup</a:t>
              </a:r>
              <a:r>
                <a:rPr lang="en-US" altLang="ko-KR" sz="1200" dirty="0"/>
                <a:t>: rbac.authorization.k8s.io</a:t>
              </a:r>
            </a:p>
            <a:p>
              <a:r>
                <a:rPr lang="en-US" altLang="ko-KR" sz="1200" b="1" dirty="0" err="1">
                  <a:solidFill>
                    <a:srgbClr val="FF0000"/>
                  </a:solidFill>
                </a:rPr>
                <a:t>roleRef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kind: Role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name: developer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apiGroup</a:t>
              </a:r>
              <a:r>
                <a:rPr lang="en-US" altLang="ko-KR" sz="1200" dirty="0"/>
                <a:t>: rbac.authorization.k8s.io</a:t>
              </a:r>
            </a:p>
          </p:txBody>
        </p:sp>
        <p:sp>
          <p:nvSpPr>
            <p:cNvPr id="33" name="TextBox 3"/>
            <p:cNvSpPr txBox="1"/>
            <p:nvPr/>
          </p:nvSpPr>
          <p:spPr>
            <a:xfrm>
              <a:off x="7119940" y="3686316"/>
              <a:ext cx="175768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rolebinding.yaml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1076475" y="2221490"/>
            <a:ext cx="793215" cy="897940"/>
            <a:chOff x="1076475" y="2038610"/>
            <a:chExt cx="793215" cy="897940"/>
          </a:xfrm>
        </p:grpSpPr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3083" y="2038610"/>
              <a:ext cx="540000" cy="540000"/>
            </a:xfrm>
            <a:prstGeom prst="rect">
              <a:avLst/>
            </a:prstGeom>
          </p:spPr>
        </p:pic>
        <p:sp>
          <p:nvSpPr>
            <p:cNvPr id="35" name="TextBox 21"/>
            <p:cNvSpPr txBox="1"/>
            <p:nvPr/>
          </p:nvSpPr>
          <p:spPr>
            <a:xfrm>
              <a:off x="1076475" y="2659551"/>
              <a:ext cx="7932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/>
                <a:t>d</a:t>
              </a:r>
              <a:r>
                <a:rPr lang="en-US" altLang="ko-KR" sz="1200" dirty="0" smtClean="0"/>
                <a:t>ev-user</a:t>
              </a:r>
              <a:endParaRPr lang="ko-KR" altLang="en-US" dirty="0"/>
            </a:p>
          </p:txBody>
        </p:sp>
      </p:grpSp>
      <p:cxnSp>
        <p:nvCxnSpPr>
          <p:cNvPr id="11" name="직선 화살표 연결선 10"/>
          <p:cNvCxnSpPr>
            <a:stCxn id="34" idx="1"/>
            <a:endCxn id="23" idx="1"/>
          </p:cNvCxnSpPr>
          <p:nvPr/>
        </p:nvCxnSpPr>
        <p:spPr>
          <a:xfrm>
            <a:off x="1743083" y="2491490"/>
            <a:ext cx="1322697" cy="17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45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Resource Names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8" y="715450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Role</a:t>
            </a:r>
            <a:r>
              <a:rPr lang="ko-KR" altLang="en-US" sz="1400" dirty="0" smtClean="0"/>
              <a:t>에서 특정 </a:t>
            </a:r>
            <a:r>
              <a:rPr lang="en-US" altLang="ko-KR" sz="1400" dirty="0" smtClean="0"/>
              <a:t>Resource</a:t>
            </a:r>
            <a:r>
              <a:rPr lang="ko-KR" altLang="en-US" sz="1400" dirty="0" smtClean="0"/>
              <a:t>에서만 작업이 가능하게 설정이 가능하다</a:t>
            </a:r>
            <a:r>
              <a:rPr lang="en-US" altLang="ko-KR" sz="1400" dirty="0" smtClean="0"/>
              <a:t>.</a:t>
            </a:r>
            <a:endParaRPr lang="en-US" altLang="ko-KR" sz="1200" dirty="0" smtClean="0"/>
          </a:p>
        </p:txBody>
      </p:sp>
      <p:grpSp>
        <p:nvGrpSpPr>
          <p:cNvPr id="3" name="그룹 2"/>
          <p:cNvGrpSpPr/>
          <p:nvPr/>
        </p:nvGrpSpPr>
        <p:grpSpPr>
          <a:xfrm>
            <a:off x="3065780" y="2534548"/>
            <a:ext cx="2956560" cy="1685286"/>
            <a:chOff x="2923540" y="1494794"/>
            <a:chExt cx="2956560" cy="1685286"/>
          </a:xfrm>
        </p:grpSpPr>
        <p:sp>
          <p:nvSpPr>
            <p:cNvPr id="19" name="TextBox 22"/>
            <p:cNvSpPr txBox="1"/>
            <p:nvPr/>
          </p:nvSpPr>
          <p:spPr>
            <a:xfrm>
              <a:off x="3247913" y="1658875"/>
              <a:ext cx="247978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/>
                <a:t>Can View PODS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/>
                <a:t>Can Create PODS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/>
                <a:t>Can Delete </a:t>
              </a:r>
              <a:r>
                <a:rPr lang="en-US" altLang="ko-KR" sz="1400" dirty="0" smtClean="0"/>
                <a:t>PODS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 smtClean="0"/>
                <a:t>Can Create </a:t>
              </a:r>
              <a:r>
                <a:rPr lang="en-US" altLang="ko-KR" sz="1400" dirty="0" err="1" smtClean="0"/>
                <a:t>ConfigMaps</a:t>
              </a:r>
              <a:endParaRPr lang="ko-KR" altLang="en-US" dirty="0"/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2923540" y="1494794"/>
              <a:ext cx="2956560" cy="168528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Developer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7119940" y="1945619"/>
            <a:ext cx="3974779" cy="2770400"/>
            <a:chOff x="7119940" y="1061699"/>
            <a:chExt cx="3974779" cy="2770400"/>
          </a:xfrm>
        </p:grpSpPr>
        <p:sp>
          <p:nvSpPr>
            <p:cNvPr id="25" name="TextBox 11"/>
            <p:cNvSpPr txBox="1"/>
            <p:nvPr/>
          </p:nvSpPr>
          <p:spPr>
            <a:xfrm>
              <a:off x="7119940" y="1339109"/>
              <a:ext cx="3974779" cy="2492990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rbac.authorization.k8s.io/v1 </a:t>
              </a:r>
            </a:p>
            <a:p>
              <a:r>
                <a:rPr lang="en-US" altLang="ko-KR" sz="1200" dirty="0"/>
                <a:t>kind: Role </a:t>
              </a:r>
            </a:p>
            <a:p>
              <a:r>
                <a:rPr lang="en-US" altLang="ko-KR" sz="1200" dirty="0"/>
                <a:t>metadata: </a:t>
              </a:r>
            </a:p>
            <a:p>
              <a:r>
                <a:rPr lang="en-US" altLang="ko-KR" sz="1200" dirty="0"/>
                <a:t>  name: developer </a:t>
              </a:r>
            </a:p>
            <a:p>
              <a:r>
                <a:rPr lang="en-US" altLang="ko-KR" sz="1200" dirty="0"/>
                <a:t>rules: </a:t>
              </a:r>
            </a:p>
            <a:p>
              <a:r>
                <a:rPr lang="en-US" altLang="ko-KR" sz="1200" dirty="0"/>
                <a:t>- </a:t>
              </a:r>
              <a:r>
                <a:rPr lang="en-US" altLang="ko-KR" sz="1200" dirty="0" err="1"/>
                <a:t>apiGroups</a:t>
              </a:r>
              <a:r>
                <a:rPr lang="en-US" altLang="ko-KR" sz="1200" dirty="0"/>
                <a:t>: [""] </a:t>
              </a:r>
            </a:p>
            <a:p>
              <a:r>
                <a:rPr lang="en-US" altLang="ko-KR" sz="1200" dirty="0"/>
                <a:t>  resources: ["pods"] </a:t>
              </a:r>
            </a:p>
            <a:p>
              <a:r>
                <a:rPr lang="en-US" altLang="ko-KR" sz="1200" dirty="0"/>
                <a:t>  verbs: ["list“, "get", “create“, “update“, “delete</a:t>
              </a:r>
              <a:r>
                <a:rPr lang="en-US" altLang="ko-KR" sz="1200" dirty="0" smtClean="0"/>
                <a:t>"]</a:t>
              </a:r>
            </a:p>
            <a:p>
              <a:r>
                <a:rPr lang="en-US" altLang="ko-KR" sz="1200" dirty="0"/>
                <a:t> </a:t>
              </a:r>
              <a:r>
                <a:rPr lang="en-US" altLang="ko-KR" sz="1200" dirty="0" smtClean="0"/>
                <a:t>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resourceNames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 [“blue”, “orange”]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endParaRPr lang="en-US" altLang="ko-KR" sz="1200" dirty="0"/>
            </a:p>
            <a:p>
              <a:r>
                <a:rPr lang="en-US" altLang="ko-KR" sz="1200" dirty="0"/>
                <a:t>- </a:t>
              </a:r>
              <a:r>
                <a:rPr lang="en-US" altLang="ko-KR" sz="1200" dirty="0" err="1"/>
                <a:t>apiGroups</a:t>
              </a:r>
              <a:r>
                <a:rPr lang="en-US" altLang="ko-KR" sz="1200" dirty="0"/>
                <a:t>: [""] </a:t>
              </a:r>
            </a:p>
            <a:p>
              <a:r>
                <a:rPr lang="en-US" altLang="ko-KR" sz="1200" dirty="0"/>
                <a:t>  resources: [“</a:t>
              </a:r>
              <a:r>
                <a:rPr lang="en-US" altLang="ko-KR" sz="1200" dirty="0" err="1"/>
                <a:t>ConfigMap</a:t>
              </a:r>
              <a:r>
                <a:rPr lang="en-US" altLang="ko-KR" sz="1200" dirty="0"/>
                <a:t>"] </a:t>
              </a:r>
            </a:p>
            <a:p>
              <a:r>
                <a:rPr lang="en-US" altLang="ko-KR" sz="1200" dirty="0"/>
                <a:t>  verbs: [“create“] 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7119940" y="1061699"/>
              <a:ext cx="175768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r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ole.yaml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5" name="직선 연결선 4"/>
          <p:cNvCxnSpPr>
            <a:stCxn id="23" idx="3"/>
            <a:endCxn id="25" idx="1"/>
          </p:cNvCxnSpPr>
          <p:nvPr/>
        </p:nvCxnSpPr>
        <p:spPr>
          <a:xfrm>
            <a:off x="6022340" y="3377191"/>
            <a:ext cx="1097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>
            <a:off x="1076475" y="3105410"/>
            <a:ext cx="793215" cy="897940"/>
            <a:chOff x="1076475" y="2038610"/>
            <a:chExt cx="793215" cy="897940"/>
          </a:xfrm>
        </p:grpSpPr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3083" y="2038610"/>
              <a:ext cx="540000" cy="540000"/>
            </a:xfrm>
            <a:prstGeom prst="rect">
              <a:avLst/>
            </a:prstGeom>
          </p:spPr>
        </p:pic>
        <p:sp>
          <p:nvSpPr>
            <p:cNvPr id="35" name="TextBox 21"/>
            <p:cNvSpPr txBox="1"/>
            <p:nvPr/>
          </p:nvSpPr>
          <p:spPr>
            <a:xfrm>
              <a:off x="1076475" y="2659551"/>
              <a:ext cx="7932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/>
                <a:t>d</a:t>
              </a:r>
              <a:r>
                <a:rPr lang="en-US" altLang="ko-KR" sz="1200" dirty="0" smtClean="0"/>
                <a:t>ev-user</a:t>
              </a:r>
              <a:endParaRPr lang="ko-KR" altLang="en-US" dirty="0"/>
            </a:p>
          </p:txBody>
        </p:sp>
      </p:grpSp>
      <p:cxnSp>
        <p:nvCxnSpPr>
          <p:cNvPr id="11" name="직선 화살표 연결선 10"/>
          <p:cNvCxnSpPr>
            <a:stCxn id="34" idx="1"/>
            <a:endCxn id="23" idx="1"/>
          </p:cNvCxnSpPr>
          <p:nvPr/>
        </p:nvCxnSpPr>
        <p:spPr>
          <a:xfrm>
            <a:off x="1743083" y="3375410"/>
            <a:ext cx="1322697" cy="17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90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RBAC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주요 명령어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8" y="715450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Role </a:t>
            </a:r>
            <a:r>
              <a:rPr lang="ko-KR" altLang="en-US" sz="1400" dirty="0" smtClean="0"/>
              <a:t>및 </a:t>
            </a:r>
            <a:r>
              <a:rPr lang="en-US" altLang="ko-KR" sz="1400" dirty="0" err="1" smtClean="0"/>
              <a:t>RoleBiding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endParaRPr lang="en-US" altLang="ko-KR" sz="1200" dirty="0" smtClean="0"/>
          </a:p>
        </p:txBody>
      </p:sp>
      <p:sp>
        <p:nvSpPr>
          <p:cNvPr id="18" name="TextBox 5"/>
          <p:cNvSpPr txBox="1"/>
          <p:nvPr/>
        </p:nvSpPr>
        <p:spPr>
          <a:xfrm>
            <a:off x="943859" y="1023227"/>
            <a:ext cx="821246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create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role.yaml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create -f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rolebinding.yaml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1198" y="1548570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Role </a:t>
            </a:r>
            <a:r>
              <a:rPr lang="ko-KR" altLang="en-US" sz="1400" dirty="0" smtClean="0"/>
              <a:t>및 </a:t>
            </a:r>
            <a:r>
              <a:rPr lang="en-US" altLang="ko-KR" sz="1400" dirty="0" err="1" smtClean="0"/>
              <a:t>RoleBiding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확인</a:t>
            </a:r>
            <a:endParaRPr lang="en-US" altLang="ko-KR" sz="1200" dirty="0" smtClean="0"/>
          </a:p>
        </p:txBody>
      </p:sp>
      <p:sp>
        <p:nvSpPr>
          <p:cNvPr id="21" name="TextBox 5"/>
          <p:cNvSpPr txBox="1"/>
          <p:nvPr/>
        </p:nvSpPr>
        <p:spPr>
          <a:xfrm>
            <a:off x="943859" y="1856347"/>
            <a:ext cx="8212463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 role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rolebindings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1198" y="2381690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dev-user</a:t>
            </a:r>
            <a:r>
              <a:rPr lang="ko-KR" altLang="en-US" sz="1400" dirty="0" smtClean="0"/>
              <a:t>에서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 권한 확인</a:t>
            </a:r>
            <a:endParaRPr lang="en-US" altLang="ko-KR" sz="1200" dirty="0" smtClean="0"/>
          </a:p>
        </p:txBody>
      </p:sp>
      <p:sp>
        <p:nvSpPr>
          <p:cNvPr id="24" name="TextBox 5"/>
          <p:cNvSpPr txBox="1"/>
          <p:nvPr/>
        </p:nvSpPr>
        <p:spPr>
          <a:xfrm>
            <a:off x="943858" y="2689467"/>
            <a:ext cx="821246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auth</a:t>
            </a:r>
            <a:r>
              <a:rPr lang="en-US" altLang="ko-KR" sz="1200" dirty="0" smtClean="0">
                <a:solidFill>
                  <a:schemeClr val="bg1"/>
                </a:solidFill>
              </a:rPr>
              <a:t> can-I create pods --as dev-user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11198" y="3060921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dev-user</a:t>
            </a:r>
            <a:r>
              <a:rPr lang="ko-KR" altLang="en-US" sz="1400" dirty="0" smtClean="0"/>
              <a:t>가 </a:t>
            </a:r>
            <a:r>
              <a:rPr lang="en-US" altLang="ko-KR" sz="1400" dirty="0" smtClean="0"/>
              <a:t>namespace test</a:t>
            </a:r>
            <a:r>
              <a:rPr lang="ko-KR" altLang="en-US" sz="1400" dirty="0" smtClean="0"/>
              <a:t>에서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생성 권한 확인</a:t>
            </a:r>
            <a:endParaRPr lang="en-US" altLang="ko-KR" sz="1200" dirty="0" smtClean="0"/>
          </a:p>
        </p:txBody>
      </p:sp>
      <p:sp>
        <p:nvSpPr>
          <p:cNvPr id="27" name="TextBox 5"/>
          <p:cNvSpPr txBox="1"/>
          <p:nvPr/>
        </p:nvSpPr>
        <p:spPr>
          <a:xfrm>
            <a:off x="943858" y="3368698"/>
            <a:ext cx="821246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auth</a:t>
            </a:r>
            <a:r>
              <a:rPr lang="en-US" altLang="ko-KR" sz="1200" dirty="0" smtClean="0">
                <a:solidFill>
                  <a:schemeClr val="bg1"/>
                </a:solidFill>
              </a:rPr>
              <a:t> can-I create pods --as dev-user --namespace test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743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ClusterRole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&amp;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ClusterRoleBinding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8" y="715450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Cluster </a:t>
            </a:r>
            <a:r>
              <a:rPr lang="ko-KR" altLang="en-US" sz="1400" dirty="0" smtClean="0"/>
              <a:t>범위에서 </a:t>
            </a:r>
            <a:r>
              <a:rPr lang="en-US" altLang="ko-KR" sz="1400" dirty="0" smtClean="0"/>
              <a:t>Role</a:t>
            </a:r>
            <a:r>
              <a:rPr lang="ko-KR" altLang="en-US" sz="1400" dirty="0" smtClean="0"/>
              <a:t>과 </a:t>
            </a:r>
            <a:r>
              <a:rPr lang="en-US" altLang="ko-KR" sz="1400" dirty="0" smtClean="0"/>
              <a:t>Binding</a:t>
            </a:r>
            <a:r>
              <a:rPr lang="ko-KR" altLang="en-US" sz="1400" dirty="0" smtClean="0"/>
              <a:t>을 생성한다</a:t>
            </a:r>
            <a:r>
              <a:rPr lang="en-US" altLang="ko-KR" sz="1400" dirty="0" smtClean="0"/>
              <a:t>.</a:t>
            </a:r>
            <a:endParaRPr lang="en-US" altLang="ko-KR" sz="1200" dirty="0" smtClean="0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482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20" y="1481969"/>
            <a:ext cx="561040" cy="538710"/>
          </a:xfrm>
          <a:prstGeom prst="rect">
            <a:avLst/>
          </a:prstGeom>
        </p:spPr>
      </p:pic>
      <p:sp>
        <p:nvSpPr>
          <p:cNvPr id="21" name="모서리가 둥근 직사각형 20"/>
          <p:cNvSpPr/>
          <p:nvPr/>
        </p:nvSpPr>
        <p:spPr>
          <a:xfrm>
            <a:off x="785771" y="1363331"/>
            <a:ext cx="4263749" cy="2253629"/>
          </a:xfrm>
          <a:prstGeom prst="round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 err="1" smtClean="0">
                <a:solidFill>
                  <a:schemeClr val="tx1"/>
                </a:solidFill>
              </a:rPr>
              <a:t>Namespaced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922320" y="2697189"/>
            <a:ext cx="1239520" cy="416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rolebindings</a:t>
            </a:r>
            <a:endParaRPr lang="ko-KR" altLang="en-US" sz="1200" dirty="0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922320" y="2193979"/>
            <a:ext cx="1239520" cy="416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p</a:t>
            </a:r>
            <a:r>
              <a:rPr lang="en-US" altLang="ko-KR" sz="1200" dirty="0" smtClean="0"/>
              <a:t>ods</a:t>
            </a:r>
            <a:endParaRPr lang="ko-KR" altLang="en-US" sz="1200" dirty="0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2297885" y="2193979"/>
            <a:ext cx="1239520" cy="416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replicasets</a:t>
            </a:r>
            <a:endParaRPr lang="ko-KR" altLang="en-US" sz="1200" dirty="0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2297885" y="3157074"/>
            <a:ext cx="1239520" cy="416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jobs</a:t>
            </a:r>
            <a:endParaRPr lang="ko-KR" altLang="en-US" sz="1200" dirty="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3671462" y="2697189"/>
            <a:ext cx="1239520" cy="416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role</a:t>
            </a:r>
            <a:endParaRPr lang="ko-KR" altLang="en-US" sz="1200" dirty="0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3671462" y="2189744"/>
            <a:ext cx="1239520" cy="416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deployments</a:t>
            </a:r>
            <a:endParaRPr lang="ko-KR" altLang="en-US" sz="1200" dirty="0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2297885" y="2697189"/>
            <a:ext cx="1239520" cy="416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configmaps</a:t>
            </a:r>
            <a:endParaRPr lang="ko-KR" altLang="en-US" sz="1200" dirty="0"/>
          </a:p>
        </p:txBody>
      </p:sp>
      <p:sp>
        <p:nvSpPr>
          <p:cNvPr id="36" name="TextBox 5"/>
          <p:cNvSpPr txBox="1"/>
          <p:nvPr/>
        </p:nvSpPr>
        <p:spPr>
          <a:xfrm>
            <a:off x="785771" y="3730066"/>
            <a:ext cx="489366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api</a:t>
            </a:r>
            <a:r>
              <a:rPr lang="en-US" altLang="ko-KR" sz="1200" dirty="0" smtClean="0">
                <a:solidFill>
                  <a:schemeClr val="bg1"/>
                </a:solidFill>
              </a:rPr>
              <a:t>-resources --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namespaced</a:t>
            </a:r>
            <a:r>
              <a:rPr lang="en-US" altLang="ko-KR" sz="1200" dirty="0" smtClean="0">
                <a:solidFill>
                  <a:schemeClr val="bg1"/>
                </a:solidFill>
              </a:rPr>
              <a:t>=true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771" y="4221989"/>
            <a:ext cx="4968242" cy="756411"/>
          </a:xfrm>
          <a:prstGeom prst="rect">
            <a:avLst/>
          </a:prstGeom>
        </p:spPr>
      </p:pic>
      <p:sp>
        <p:nvSpPr>
          <p:cNvPr id="38" name="모서리가 둥근 직사각형 37"/>
          <p:cNvSpPr/>
          <p:nvPr/>
        </p:nvSpPr>
        <p:spPr>
          <a:xfrm>
            <a:off x="7315451" y="2189744"/>
            <a:ext cx="1239520" cy="416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nodes</a:t>
            </a:r>
            <a:endParaRPr lang="ko-KR" altLang="en-US" sz="1200" dirty="0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8717531" y="2199791"/>
            <a:ext cx="1239520" cy="416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/>
              <a:t>PV</a:t>
            </a:r>
            <a:endParaRPr lang="ko-KR" altLang="en-US" sz="1200" dirty="0"/>
          </a:p>
        </p:txBody>
      </p:sp>
      <p:sp>
        <p:nvSpPr>
          <p:cNvPr id="40" name="모서리가 둥근 직사각형 39"/>
          <p:cNvSpPr/>
          <p:nvPr/>
        </p:nvSpPr>
        <p:spPr>
          <a:xfrm>
            <a:off x="6824512" y="1363330"/>
            <a:ext cx="4263749" cy="2253629"/>
          </a:xfrm>
          <a:prstGeom prst="round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600" dirty="0" smtClean="0">
                <a:solidFill>
                  <a:schemeClr val="tx1"/>
                </a:solidFill>
              </a:rPr>
              <a:t>Cluster </a:t>
            </a:r>
            <a:r>
              <a:rPr lang="ko-KR" altLang="en-US" sz="1600" dirty="0" smtClean="0">
                <a:solidFill>
                  <a:schemeClr val="tx1"/>
                </a:solidFill>
              </a:rPr>
              <a:t>범위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921" y="1469010"/>
            <a:ext cx="569060" cy="546298"/>
          </a:xfrm>
          <a:prstGeom prst="rect">
            <a:avLst/>
          </a:prstGeom>
        </p:spPr>
      </p:pic>
      <p:sp>
        <p:nvSpPr>
          <p:cNvPr id="42" name="모서리가 둥근 직사각형 41"/>
          <p:cNvSpPr/>
          <p:nvPr/>
        </p:nvSpPr>
        <p:spPr>
          <a:xfrm>
            <a:off x="7315451" y="2697189"/>
            <a:ext cx="1239520" cy="416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clusterroles</a:t>
            </a:r>
            <a:endParaRPr lang="ko-KR" altLang="en-US" sz="1200" dirty="0"/>
          </a:p>
        </p:txBody>
      </p:sp>
      <p:sp>
        <p:nvSpPr>
          <p:cNvPr id="43" name="모서리가 둥근 직사각형 42"/>
          <p:cNvSpPr/>
          <p:nvPr/>
        </p:nvSpPr>
        <p:spPr>
          <a:xfrm>
            <a:off x="8717531" y="2697189"/>
            <a:ext cx="1612432" cy="416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clusterrolebindings</a:t>
            </a:r>
            <a:endParaRPr lang="ko-KR" altLang="en-US" sz="1200" dirty="0"/>
          </a:p>
        </p:txBody>
      </p:sp>
      <p:sp>
        <p:nvSpPr>
          <p:cNvPr id="44" name="모서리가 둥근 직사각형 43"/>
          <p:cNvSpPr/>
          <p:nvPr/>
        </p:nvSpPr>
        <p:spPr>
          <a:xfrm>
            <a:off x="7315450" y="3157074"/>
            <a:ext cx="2041909" cy="41656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 smtClean="0"/>
              <a:t>certificatesigningrequests</a:t>
            </a:r>
            <a:endParaRPr lang="ko-KR" altLang="en-US" sz="1200" dirty="0"/>
          </a:p>
        </p:txBody>
      </p:sp>
      <p:sp>
        <p:nvSpPr>
          <p:cNvPr id="45" name="TextBox 5"/>
          <p:cNvSpPr txBox="1"/>
          <p:nvPr/>
        </p:nvSpPr>
        <p:spPr>
          <a:xfrm>
            <a:off x="6824512" y="3722639"/>
            <a:ext cx="4893669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api</a:t>
            </a:r>
            <a:r>
              <a:rPr lang="en-US" altLang="ko-KR" sz="1200" dirty="0" smtClean="0">
                <a:solidFill>
                  <a:schemeClr val="bg1"/>
                </a:solidFill>
              </a:rPr>
              <a:t>-resources --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namespaced</a:t>
            </a:r>
            <a:r>
              <a:rPr lang="en-US" altLang="ko-KR" sz="1200" dirty="0" smtClean="0">
                <a:solidFill>
                  <a:schemeClr val="bg1"/>
                </a:solidFill>
              </a:rPr>
              <a:t>=false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304" y="4221989"/>
            <a:ext cx="5234456" cy="75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7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rgbClr val="333333"/>
                </a:solidFill>
                <a:cs typeface="Pretendard SemiBold" panose="02000703000000020004" pitchFamily="50" charset="-127"/>
              </a:rPr>
              <a:t>ClusterRole</a:t>
            </a:r>
            <a:r>
              <a:rPr lang="en-US" altLang="ko-KR" sz="1600" b="1" dirty="0">
                <a:solidFill>
                  <a:srgbClr val="333333"/>
                </a:solidFill>
                <a:cs typeface="Pretendard SemiBold" panose="02000703000000020004" pitchFamily="50" charset="-127"/>
              </a:rPr>
              <a:t> &amp; </a:t>
            </a:r>
            <a:r>
              <a:rPr lang="en-US" altLang="ko-KR" sz="1600" b="1" dirty="0" err="1">
                <a:solidFill>
                  <a:srgbClr val="333333"/>
                </a:solidFill>
                <a:cs typeface="Pretendard SemiBold" panose="02000703000000020004" pitchFamily="50" charset="-127"/>
              </a:rPr>
              <a:t>ClusterRoleBinding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065780" y="1650628"/>
            <a:ext cx="2956560" cy="1685286"/>
            <a:chOff x="2923540" y="1494794"/>
            <a:chExt cx="2956560" cy="1685286"/>
          </a:xfrm>
        </p:grpSpPr>
        <p:sp>
          <p:nvSpPr>
            <p:cNvPr id="19" name="TextBox 22"/>
            <p:cNvSpPr txBox="1"/>
            <p:nvPr/>
          </p:nvSpPr>
          <p:spPr>
            <a:xfrm>
              <a:off x="3247913" y="1658875"/>
              <a:ext cx="247978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/>
                <a:t>Can View </a:t>
              </a:r>
              <a:r>
                <a:rPr lang="en-US" altLang="ko-KR" sz="1400" dirty="0" smtClean="0"/>
                <a:t>Nodes</a:t>
              </a:r>
              <a:endParaRPr lang="en-US" altLang="ko-KR" sz="14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/>
                <a:t>Can Create </a:t>
              </a:r>
              <a:r>
                <a:rPr lang="en-US" altLang="ko-KR" sz="1400" dirty="0" smtClean="0"/>
                <a:t>Nodes</a:t>
              </a:r>
              <a:endParaRPr lang="en-US" altLang="ko-KR" sz="14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ko-KR" sz="1400" dirty="0"/>
                <a:t>Can Delete </a:t>
              </a:r>
              <a:r>
                <a:rPr lang="en-US" altLang="ko-KR" sz="1400" dirty="0" smtClean="0"/>
                <a:t>Nodes</a:t>
              </a:r>
            </a:p>
          </p:txBody>
        </p:sp>
        <p:sp>
          <p:nvSpPr>
            <p:cNvPr id="23" name="모서리가 둥근 직사각형 22"/>
            <p:cNvSpPr/>
            <p:nvPr/>
          </p:nvSpPr>
          <p:spPr>
            <a:xfrm>
              <a:off x="2923540" y="1494794"/>
              <a:ext cx="2956560" cy="168528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Cluster Admin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7119940" y="1061699"/>
            <a:ext cx="3974779" cy="1847070"/>
            <a:chOff x="7119940" y="1061699"/>
            <a:chExt cx="3974779" cy="1847070"/>
          </a:xfrm>
        </p:grpSpPr>
        <p:sp>
          <p:nvSpPr>
            <p:cNvPr id="25" name="TextBox 11"/>
            <p:cNvSpPr txBox="1"/>
            <p:nvPr/>
          </p:nvSpPr>
          <p:spPr>
            <a:xfrm>
              <a:off x="7119940" y="1339109"/>
              <a:ext cx="3974779" cy="1569660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rbac.authorization.k8s.io/v1 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 smtClean="0"/>
                <a:t>ClusterRole</a:t>
              </a:r>
              <a:r>
                <a:rPr lang="en-US" altLang="ko-KR" sz="1200" dirty="0" smtClean="0"/>
                <a:t> </a:t>
              </a:r>
              <a:endParaRPr lang="en-US" altLang="ko-KR" sz="1200" dirty="0"/>
            </a:p>
            <a:p>
              <a:r>
                <a:rPr lang="en-US" altLang="ko-KR" sz="1200" dirty="0"/>
                <a:t>metadata: 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smtClean="0"/>
                <a:t>cluster-admin </a:t>
              </a:r>
              <a:endParaRPr lang="en-US" altLang="ko-KR" sz="1200" dirty="0"/>
            </a:p>
            <a:p>
              <a:r>
                <a:rPr lang="en-US" altLang="ko-KR" sz="1200" dirty="0"/>
                <a:t>rules: </a:t>
              </a:r>
            </a:p>
            <a:p>
              <a:r>
                <a:rPr lang="en-US" altLang="ko-KR" sz="1200" dirty="0"/>
                <a:t>- </a:t>
              </a:r>
              <a:r>
                <a:rPr lang="en-US" altLang="ko-KR" sz="1200" dirty="0" err="1"/>
                <a:t>apiGroups</a:t>
              </a:r>
              <a:r>
                <a:rPr lang="en-US" altLang="ko-KR" sz="1200" dirty="0"/>
                <a:t>: [""] </a:t>
              </a:r>
            </a:p>
            <a:p>
              <a:r>
                <a:rPr lang="en-US" altLang="ko-KR" sz="1200" dirty="0"/>
                <a:t>  resources: </a:t>
              </a:r>
              <a:r>
                <a:rPr lang="en-US" altLang="ko-KR" sz="1200" dirty="0" smtClean="0"/>
                <a:t>[“nodes"] </a:t>
              </a:r>
              <a:endParaRPr lang="en-US" altLang="ko-KR" sz="1200" dirty="0"/>
            </a:p>
            <a:p>
              <a:r>
                <a:rPr lang="en-US" altLang="ko-KR" sz="1200" dirty="0"/>
                <a:t>  verbs: ["list“, "get", “create</a:t>
              </a:r>
              <a:r>
                <a:rPr lang="en-US" altLang="ko-KR" sz="1200" dirty="0" smtClean="0"/>
                <a:t>“, </a:t>
              </a:r>
              <a:r>
                <a:rPr lang="en-US" altLang="ko-KR" sz="1200" dirty="0"/>
                <a:t>“delete</a:t>
              </a:r>
              <a:r>
                <a:rPr lang="en-US" altLang="ko-KR" sz="1200" dirty="0" smtClean="0"/>
                <a:t>"]</a:t>
              </a:r>
              <a:endParaRPr lang="en-US" altLang="ko-KR" sz="1200" dirty="0"/>
            </a:p>
          </p:txBody>
        </p:sp>
        <p:sp>
          <p:nvSpPr>
            <p:cNvPr id="28" name="TextBox 3"/>
            <p:cNvSpPr txBox="1"/>
            <p:nvPr/>
          </p:nvSpPr>
          <p:spPr>
            <a:xfrm>
              <a:off x="7119940" y="1061699"/>
              <a:ext cx="175768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clusterrole.yaml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5" name="직선 연결선 4"/>
          <p:cNvCxnSpPr>
            <a:stCxn id="23" idx="3"/>
            <a:endCxn id="25" idx="1"/>
          </p:cNvCxnSpPr>
          <p:nvPr/>
        </p:nvCxnSpPr>
        <p:spPr>
          <a:xfrm>
            <a:off x="6022340" y="2493271"/>
            <a:ext cx="1097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그룹 7"/>
          <p:cNvGrpSpPr/>
          <p:nvPr/>
        </p:nvGrpSpPr>
        <p:grpSpPr>
          <a:xfrm>
            <a:off x="7119939" y="3686316"/>
            <a:ext cx="3974779" cy="2585323"/>
            <a:chOff x="7119939" y="3686316"/>
            <a:chExt cx="3974779" cy="2585323"/>
          </a:xfrm>
        </p:grpSpPr>
        <p:sp>
          <p:nvSpPr>
            <p:cNvPr id="29" name="TextBox 11"/>
            <p:cNvSpPr txBox="1"/>
            <p:nvPr/>
          </p:nvSpPr>
          <p:spPr>
            <a:xfrm>
              <a:off x="7119939" y="3963315"/>
              <a:ext cx="3974779" cy="2308324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rbac.authorization.k8s.io/v1 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 smtClean="0"/>
                <a:t>ClusterRoleBinding</a:t>
              </a:r>
              <a:r>
                <a:rPr lang="en-US" altLang="ko-KR" sz="1200" dirty="0" smtClean="0"/>
                <a:t> </a:t>
              </a:r>
              <a:endParaRPr lang="en-US" altLang="ko-KR" sz="1200" dirty="0"/>
            </a:p>
            <a:p>
              <a:r>
                <a:rPr lang="en-US" altLang="ko-KR" sz="1200" dirty="0"/>
                <a:t>metadata: 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devuser</a:t>
              </a:r>
              <a:r>
                <a:rPr lang="en-US" altLang="ko-KR" sz="1200" dirty="0"/>
                <a:t>-developer-binding </a:t>
              </a:r>
            </a:p>
            <a:p>
              <a:r>
                <a:rPr lang="en-US" altLang="ko-KR" sz="1200" dirty="0"/>
                <a:t>subjects: </a:t>
              </a:r>
            </a:p>
            <a:p>
              <a:r>
                <a:rPr lang="en-US" altLang="ko-KR" sz="1200" dirty="0"/>
                <a:t>- kind: user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smtClean="0"/>
                <a:t>cluster-admin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apiGroup</a:t>
              </a:r>
              <a:r>
                <a:rPr lang="en-US" altLang="ko-KR" sz="1200" dirty="0"/>
                <a:t>: rbac.authorization.k8s.io</a:t>
              </a:r>
            </a:p>
            <a:p>
              <a:r>
                <a:rPr lang="en-US" altLang="ko-KR" sz="1200" b="1" dirty="0" err="1">
                  <a:solidFill>
                    <a:srgbClr val="FF0000"/>
                  </a:solidFill>
                </a:rPr>
                <a:t>roleRef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kind: </a:t>
              </a:r>
              <a:r>
                <a:rPr lang="en-US" altLang="ko-KR" sz="1200" b="1" dirty="0" err="1" smtClean="0">
                  <a:solidFill>
                    <a:srgbClr val="FF0000"/>
                  </a:solidFill>
                </a:rPr>
                <a:t>ClusterRole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name: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cluster-admin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apiGroup</a:t>
              </a:r>
              <a:r>
                <a:rPr lang="en-US" altLang="ko-KR" sz="1200" dirty="0"/>
                <a:t>: rbac.authorization.k8s.io</a:t>
              </a:r>
            </a:p>
          </p:txBody>
        </p:sp>
        <p:sp>
          <p:nvSpPr>
            <p:cNvPr id="33" name="TextBox 3"/>
            <p:cNvSpPr txBox="1"/>
            <p:nvPr/>
          </p:nvSpPr>
          <p:spPr>
            <a:xfrm>
              <a:off x="7119940" y="3686316"/>
              <a:ext cx="188182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clusterrolebinding.yaml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837840" y="2221490"/>
            <a:ext cx="1270485" cy="831602"/>
            <a:chOff x="837840" y="2038610"/>
            <a:chExt cx="1270485" cy="831602"/>
          </a:xfrm>
        </p:grpSpPr>
        <p:pic>
          <p:nvPicPr>
            <p:cNvPr id="34" name="그림 3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3083" y="2038610"/>
              <a:ext cx="540000" cy="540000"/>
            </a:xfrm>
            <a:prstGeom prst="rect">
              <a:avLst/>
            </a:prstGeom>
          </p:spPr>
        </p:pic>
        <p:sp>
          <p:nvSpPr>
            <p:cNvPr id="35" name="TextBox 21"/>
            <p:cNvSpPr txBox="1"/>
            <p:nvPr/>
          </p:nvSpPr>
          <p:spPr>
            <a:xfrm>
              <a:off x="837840" y="2593213"/>
              <a:ext cx="1270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cluster-admin</a:t>
              </a:r>
              <a:endParaRPr lang="ko-KR" altLang="en-US" dirty="0"/>
            </a:p>
          </p:txBody>
        </p:sp>
      </p:grpSp>
      <p:cxnSp>
        <p:nvCxnSpPr>
          <p:cNvPr id="11" name="직선 화살표 연결선 10"/>
          <p:cNvCxnSpPr>
            <a:stCxn id="34" idx="1"/>
            <a:endCxn id="23" idx="1"/>
          </p:cNvCxnSpPr>
          <p:nvPr/>
        </p:nvCxnSpPr>
        <p:spPr>
          <a:xfrm>
            <a:off x="1743083" y="2491490"/>
            <a:ext cx="1322697" cy="17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223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ServiceAccount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8" y="715450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 smtClean="0"/>
              <a:t>가 </a:t>
            </a:r>
            <a:r>
              <a:rPr lang="en-US" altLang="ko-KR" sz="1400" dirty="0" smtClean="0"/>
              <a:t>Kubernetes API </a:t>
            </a:r>
            <a:r>
              <a:rPr lang="ko-KR" altLang="en-US" sz="1400" dirty="0" smtClean="0"/>
              <a:t>서버와 상호작용할 때 사용하는 인증 정보이다</a:t>
            </a:r>
            <a:r>
              <a:rPr lang="en-US" altLang="ko-KR" sz="1400" dirty="0" smtClean="0"/>
              <a:t>.</a:t>
            </a:r>
            <a:endParaRPr lang="en-US" altLang="ko-KR" sz="1200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98" y="1371600"/>
            <a:ext cx="5377052" cy="2411475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8780734" y="3228436"/>
            <a:ext cx="1773703" cy="52881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err="1"/>
              <a:t>kube-apiserver</a:t>
            </a:r>
            <a:endParaRPr lang="ko-KR" altLang="en-US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7535712" y="3081393"/>
            <a:ext cx="4263749" cy="2253629"/>
          </a:xfrm>
          <a:prstGeom prst="round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Kubernetes Cluster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2121" y="3187073"/>
            <a:ext cx="569060" cy="546298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988" y="4006134"/>
            <a:ext cx="540000" cy="540000"/>
          </a:xfrm>
          <a:prstGeom prst="rect">
            <a:avLst/>
          </a:prstGeom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585" y="4006134"/>
            <a:ext cx="540000" cy="540000"/>
          </a:xfrm>
          <a:prstGeom prst="rect">
            <a:avLst/>
          </a:prstGeom>
        </p:spPr>
      </p:pic>
      <p:pic>
        <p:nvPicPr>
          <p:cNvPr id="35" name="그림 34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450" y="4006134"/>
            <a:ext cx="540000" cy="540000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455" y="4006134"/>
            <a:ext cx="540000" cy="540000"/>
          </a:xfrm>
          <a:prstGeom prst="rect">
            <a:avLst/>
          </a:prstGeom>
        </p:spPr>
      </p:pic>
      <p:cxnSp>
        <p:nvCxnSpPr>
          <p:cNvPr id="5" name="꺾인 연결선 4"/>
          <p:cNvCxnSpPr>
            <a:stCxn id="3" idx="3"/>
            <a:endCxn id="28" idx="0"/>
          </p:cNvCxnSpPr>
          <p:nvPr/>
        </p:nvCxnSpPr>
        <p:spPr>
          <a:xfrm>
            <a:off x="6088250" y="2577338"/>
            <a:ext cx="3579337" cy="504055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그림 45"/>
          <p:cNvPicPr>
            <a:picLocks noChangeAspect="1"/>
          </p:cNvPicPr>
          <p:nvPr/>
        </p:nvPicPr>
        <p:blipFill>
          <a:blip r:embed="rId6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988" y="2019366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75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ServiceAccount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활용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8" y="715450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ServiceAccount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생성</a:t>
            </a:r>
            <a:endParaRPr lang="en-US" altLang="ko-KR" sz="1200" dirty="0" smtClean="0"/>
          </a:p>
        </p:txBody>
      </p:sp>
      <p:sp>
        <p:nvSpPr>
          <p:cNvPr id="14" name="TextBox 5"/>
          <p:cNvSpPr txBox="1"/>
          <p:nvPr/>
        </p:nvSpPr>
        <p:spPr>
          <a:xfrm>
            <a:off x="943859" y="1023227"/>
            <a:ext cx="821246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create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serviceaccounts</a:t>
            </a:r>
            <a:r>
              <a:rPr lang="en-US" altLang="ko-KR" sz="1200" dirty="0" smtClean="0">
                <a:solidFill>
                  <a:schemeClr val="bg1"/>
                </a:solidFill>
              </a:rPr>
              <a:t> test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1198" y="1351324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ServiceAccount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확인</a:t>
            </a:r>
            <a:endParaRPr lang="en-US" altLang="ko-KR" sz="1200" dirty="0" smtClean="0"/>
          </a:p>
        </p:txBody>
      </p:sp>
      <p:sp>
        <p:nvSpPr>
          <p:cNvPr id="16" name="TextBox 5"/>
          <p:cNvSpPr txBox="1"/>
          <p:nvPr/>
        </p:nvSpPr>
        <p:spPr>
          <a:xfrm>
            <a:off x="943859" y="1659101"/>
            <a:ext cx="8212463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serviceaccounts</a:t>
            </a:r>
            <a:r>
              <a:rPr lang="en-US" altLang="ko-KR" sz="1200" dirty="0" smtClean="0">
                <a:solidFill>
                  <a:schemeClr val="bg1"/>
                </a:solidFill>
              </a:rPr>
              <a:t> test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NAME   SECRETS   AGE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test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0            62s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1198" y="2387644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ServiceAccount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Token </a:t>
            </a:r>
            <a:r>
              <a:rPr lang="ko-KR" altLang="en-US" sz="1400" dirty="0" smtClean="0"/>
              <a:t>생성</a:t>
            </a:r>
            <a:endParaRPr lang="en-US" altLang="ko-KR" sz="1200" dirty="0" smtClean="0"/>
          </a:p>
        </p:txBody>
      </p:sp>
      <p:sp>
        <p:nvSpPr>
          <p:cNvPr id="18" name="TextBox 5"/>
          <p:cNvSpPr txBox="1"/>
          <p:nvPr/>
        </p:nvSpPr>
        <p:spPr>
          <a:xfrm>
            <a:off x="943858" y="2710809"/>
            <a:ext cx="8212463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create token test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7119940" y="3239276"/>
            <a:ext cx="3974779" cy="1846659"/>
            <a:chOff x="7119939" y="3686316"/>
            <a:chExt cx="3974779" cy="1846659"/>
          </a:xfrm>
        </p:grpSpPr>
        <p:sp>
          <p:nvSpPr>
            <p:cNvPr id="20" name="TextBox 11"/>
            <p:cNvSpPr txBox="1"/>
            <p:nvPr/>
          </p:nvSpPr>
          <p:spPr>
            <a:xfrm>
              <a:off x="7119939" y="3963315"/>
              <a:ext cx="3974779" cy="1569660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Secret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test-</a:t>
              </a:r>
              <a:r>
                <a:rPr lang="en-US" altLang="ko-KR" sz="1200" dirty="0" err="1"/>
                <a:t>sa</a:t>
              </a:r>
              <a:r>
                <a:rPr lang="en-US" altLang="ko-KR" sz="1200" dirty="0"/>
                <a:t>-token</a:t>
              </a:r>
            </a:p>
            <a:p>
              <a:r>
                <a:rPr lang="en-US" altLang="ko-KR" sz="1200" dirty="0"/>
                <a:t>  namespace: default</a:t>
              </a:r>
            </a:p>
            <a:p>
              <a:r>
                <a:rPr lang="en-US" altLang="ko-KR" sz="1200" dirty="0"/>
                <a:t>  annotations:</a:t>
              </a:r>
            </a:p>
            <a:p>
              <a:r>
                <a:rPr lang="en-US" altLang="ko-KR" sz="1200" dirty="0"/>
                <a:t>    kubernetes.io/service-account.name: "test"</a:t>
              </a:r>
            </a:p>
            <a:p>
              <a:r>
                <a:rPr lang="en-US" altLang="ko-KR" sz="1200" dirty="0"/>
                <a:t>type: kubernetes.io/service-account-token</a:t>
              </a:r>
            </a:p>
          </p:txBody>
        </p:sp>
        <p:sp>
          <p:nvSpPr>
            <p:cNvPr id="21" name="TextBox 3"/>
            <p:cNvSpPr txBox="1"/>
            <p:nvPr/>
          </p:nvSpPr>
          <p:spPr>
            <a:xfrm>
              <a:off x="7119940" y="3686316"/>
              <a:ext cx="188182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>
                  <a:solidFill>
                    <a:sysClr val="windowText" lastClr="000000"/>
                  </a:solidFill>
                </a:rPr>
                <a:t>t</a:t>
              </a:r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est-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sa</a:t>
              </a:r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-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secret.yaml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2" name="TextBox 5"/>
          <p:cNvSpPr txBox="1"/>
          <p:nvPr/>
        </p:nvSpPr>
        <p:spPr>
          <a:xfrm>
            <a:off x="943859" y="3218097"/>
            <a:ext cx="605638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apply -f test-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sa</a:t>
            </a:r>
            <a:r>
              <a:rPr lang="en-US" altLang="ko-KR" sz="1200" dirty="0" smtClean="0">
                <a:solidFill>
                  <a:schemeClr val="bg1"/>
                </a:solidFill>
              </a:rPr>
              <a:t>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secret.yaml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1197" y="3551176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ServiceAccount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Token </a:t>
            </a:r>
            <a:r>
              <a:rPr lang="ko-KR" altLang="en-US" sz="1400" dirty="0" smtClean="0"/>
              <a:t>확인</a:t>
            </a:r>
            <a:endParaRPr lang="en-US" altLang="ko-KR" sz="1200" dirty="0" smtClean="0"/>
          </a:p>
        </p:txBody>
      </p:sp>
      <p:sp>
        <p:nvSpPr>
          <p:cNvPr id="26" name="TextBox 5"/>
          <p:cNvSpPr txBox="1"/>
          <p:nvPr/>
        </p:nvSpPr>
        <p:spPr>
          <a:xfrm>
            <a:off x="943859" y="3857519"/>
            <a:ext cx="605638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secret test-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sa</a:t>
            </a:r>
            <a:r>
              <a:rPr lang="en-US" altLang="ko-KR" sz="1200" dirty="0" smtClean="0">
                <a:solidFill>
                  <a:schemeClr val="bg1"/>
                </a:solidFill>
              </a:rPr>
              <a:t>-token -o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jsonpath</a:t>
            </a:r>
            <a:r>
              <a:rPr lang="en-US" altLang="ko-KR" sz="1200" dirty="0" smtClean="0">
                <a:solidFill>
                  <a:schemeClr val="bg1"/>
                </a:solidFill>
              </a:rPr>
              <a:t>=“{.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data.token</a:t>
            </a:r>
            <a:r>
              <a:rPr lang="en-US" altLang="ko-KR" sz="1200" dirty="0" smtClean="0">
                <a:solidFill>
                  <a:schemeClr val="bg1"/>
                </a:solidFill>
              </a:rPr>
              <a:t>}”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979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ServiceAccount</a:t>
            </a:r>
            <a:r>
              <a:rPr lang="en-US" altLang="ko-KR" sz="1600" b="1" dirty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Pod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와 연동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711198" y="715450"/>
            <a:ext cx="10383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yaml</a:t>
            </a:r>
            <a:r>
              <a:rPr lang="ko-KR" altLang="en-US" sz="1400" dirty="0" smtClean="0"/>
              <a:t>에서 </a:t>
            </a:r>
            <a:r>
              <a:rPr lang="en-US" altLang="ko-KR" sz="1400" dirty="0" err="1" smtClean="0"/>
              <a:t>serviceAccountName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설정</a:t>
            </a:r>
            <a:endParaRPr lang="en-US" altLang="ko-KR" sz="1200" dirty="0" smtClean="0"/>
          </a:p>
        </p:txBody>
      </p:sp>
      <p:grpSp>
        <p:nvGrpSpPr>
          <p:cNvPr id="19" name="그룹 18"/>
          <p:cNvGrpSpPr/>
          <p:nvPr/>
        </p:nvGrpSpPr>
        <p:grpSpPr>
          <a:xfrm>
            <a:off x="922340" y="1023227"/>
            <a:ext cx="3974779" cy="3323987"/>
            <a:chOff x="7119939" y="3686316"/>
            <a:chExt cx="3974779" cy="3323987"/>
          </a:xfrm>
        </p:grpSpPr>
        <p:sp>
          <p:nvSpPr>
            <p:cNvPr id="20" name="TextBox 11"/>
            <p:cNvSpPr txBox="1"/>
            <p:nvPr/>
          </p:nvSpPr>
          <p:spPr>
            <a:xfrm>
              <a:off x="7119939" y="3963315"/>
              <a:ext cx="3974779" cy="304698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creationTimestamp</a:t>
              </a:r>
              <a:r>
                <a:rPr lang="en-US" altLang="ko-KR" sz="1200" dirty="0"/>
                <a:t>: null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run: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resources: {}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dnsPolicy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ClusterFirst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err="1"/>
                <a:t>restartPolicy</a:t>
              </a:r>
              <a:r>
                <a:rPr lang="en-US" altLang="ko-KR" sz="1200" dirty="0"/>
                <a:t>: Always</a:t>
              </a:r>
            </a:p>
            <a:p>
              <a:r>
                <a:rPr lang="en-US" altLang="ko-KR" sz="1200" dirty="0"/>
                <a:t>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serviceAccountName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test</a:t>
              </a:r>
            </a:p>
            <a:p>
              <a:r>
                <a:rPr lang="en-US" altLang="ko-KR" sz="1200" dirty="0"/>
                <a:t>status: {}</a:t>
              </a:r>
            </a:p>
          </p:txBody>
        </p:sp>
        <p:sp>
          <p:nvSpPr>
            <p:cNvPr id="21" name="TextBox 3"/>
            <p:cNvSpPr txBox="1"/>
            <p:nvPr/>
          </p:nvSpPr>
          <p:spPr>
            <a:xfrm>
              <a:off x="7119940" y="3686316"/>
              <a:ext cx="188182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nginx.yaml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703" y="1061698"/>
            <a:ext cx="6793108" cy="314243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391807" y="3962399"/>
            <a:ext cx="4687614" cy="24173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155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Security Context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160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Security Context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또는 컨테이너의 보안 설정을 정의하는 옵션이다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Security Context </a:t>
            </a:r>
            <a:r>
              <a:rPr lang="ko-KR" altLang="en-US" sz="1400" dirty="0" smtClean="0"/>
              <a:t>주요 옵션</a:t>
            </a:r>
            <a:endParaRPr lang="en-US" altLang="ko-KR" sz="1200" dirty="0"/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300965"/>
              </p:ext>
            </p:extLst>
          </p:nvPr>
        </p:nvGraphicFramePr>
        <p:xfrm>
          <a:off x="711199" y="1302790"/>
          <a:ext cx="10922000" cy="38253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13281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8808719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</a:tblGrid>
              <a:tr h="3019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옵션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runAsUser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컨테이너를 실행할 때 사용할 사용자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runAsGroup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컨테이너를 실행할 때 사용할 그룹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fsGroup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마운트된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볼륨의 그룹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runAsNonRoot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루트 사용자로 실행되지 않도록 설정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685924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allowPrivilegeEscalation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컨테이너가 </a:t>
                      </a:r>
                      <a:r>
                        <a:rPr lang="en-US" altLang="ko-KR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setuid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등으로 권한을 상승할 수 있는지 여부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2236359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capabilities.add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컨테이너에 특정 권한 추가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8474722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capabilities.drop</a:t>
                      </a:r>
                      <a:endParaRPr lang="en-US" altLang="ko-K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컨테이너에 특정 권한 제거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298063"/>
                  </a:ext>
                </a:extLst>
              </a:tr>
              <a:tr h="4404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privileged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컨테이너를 호스트와 동일한 권한으로 실행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D9E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774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52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Security Context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예시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" name="TextBox 11"/>
          <p:cNvSpPr txBox="1"/>
          <p:nvPr/>
        </p:nvSpPr>
        <p:spPr>
          <a:xfrm>
            <a:off x="922340" y="1300226"/>
            <a:ext cx="5447980" cy="3416320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v1</a:t>
            </a:r>
          </a:p>
          <a:p>
            <a:r>
              <a:rPr lang="en-US" altLang="ko-KR" sz="1200" dirty="0"/>
              <a:t>kind: Pod</a:t>
            </a:r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name: secure-pod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spec:</a:t>
            </a:r>
          </a:p>
          <a:p>
            <a:r>
              <a:rPr lang="en-US" altLang="ko-KR" sz="1200" b="1" dirty="0">
                <a:solidFill>
                  <a:srgbClr val="FF0000"/>
                </a:solidFill>
              </a:rPr>
              <a:t>  </a:t>
            </a:r>
            <a:r>
              <a:rPr lang="en-US" altLang="ko-KR" sz="1200" b="1" dirty="0" err="1">
                <a:solidFill>
                  <a:srgbClr val="FF0000"/>
                </a:solidFill>
              </a:rPr>
              <a:t>securityContext</a:t>
            </a:r>
            <a:r>
              <a:rPr lang="en-US" altLang="ko-KR" sz="1200" b="1" dirty="0">
                <a:solidFill>
                  <a:srgbClr val="FF0000"/>
                </a:solidFill>
              </a:rPr>
              <a:t>:</a:t>
            </a:r>
            <a:r>
              <a:rPr lang="en-US" altLang="ko-KR" sz="1200" dirty="0"/>
              <a:t>  # Pod </a:t>
            </a:r>
            <a:r>
              <a:rPr lang="ko-KR" altLang="en-US" sz="1200" dirty="0"/>
              <a:t>전체에 적용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 err="1"/>
              <a:t>runAsUser</a:t>
            </a:r>
            <a:r>
              <a:rPr lang="en-US" altLang="ko-KR" sz="1200" dirty="0"/>
              <a:t>: 1000        # UID 1000 </a:t>
            </a:r>
            <a:r>
              <a:rPr lang="ko-KR" altLang="en-US" sz="1200" dirty="0"/>
              <a:t>사용자로 실행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 err="1"/>
              <a:t>runAsGroup</a:t>
            </a:r>
            <a:r>
              <a:rPr lang="en-US" altLang="ko-KR" sz="1200" dirty="0"/>
              <a:t>: 3000       # GID 3000 </a:t>
            </a:r>
            <a:r>
              <a:rPr lang="ko-KR" altLang="en-US" sz="1200" dirty="0"/>
              <a:t>그룹으로 실행</a:t>
            </a:r>
          </a:p>
          <a:p>
            <a:r>
              <a:rPr lang="ko-KR" altLang="en-US" sz="1200" dirty="0"/>
              <a:t>    </a:t>
            </a:r>
            <a:r>
              <a:rPr lang="en-US" altLang="ko-KR" sz="1200" dirty="0" err="1"/>
              <a:t>fsGroup</a:t>
            </a:r>
            <a:r>
              <a:rPr lang="en-US" altLang="ko-KR" sz="1200" dirty="0"/>
              <a:t>: 2000          # </a:t>
            </a:r>
            <a:r>
              <a:rPr lang="ko-KR" altLang="en-US" sz="1200" dirty="0"/>
              <a:t>볼륨 파일 소유자 </a:t>
            </a:r>
            <a:r>
              <a:rPr lang="en-US" altLang="ko-KR" sz="1200" dirty="0"/>
              <a:t>GID </a:t>
            </a:r>
            <a:r>
              <a:rPr lang="ko-KR" altLang="en-US" sz="1200" dirty="0"/>
              <a:t>설정</a:t>
            </a:r>
          </a:p>
          <a:p>
            <a:r>
              <a:rPr lang="ko-KR" altLang="en-US" sz="1200" dirty="0"/>
              <a:t>  </a:t>
            </a:r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</a:rPr>
              <a:t>containers:</a:t>
            </a:r>
          </a:p>
          <a:p>
            <a:r>
              <a:rPr lang="en-US" altLang="ko-KR" sz="1200" dirty="0"/>
              <a:t>  - name: secure-container</a:t>
            </a:r>
          </a:p>
          <a:p>
            <a:r>
              <a:rPr lang="en-US" altLang="ko-KR" sz="1200" dirty="0"/>
              <a:t>    image: </a:t>
            </a:r>
            <a:r>
              <a:rPr lang="en-US" altLang="ko-KR" sz="1200" dirty="0" err="1"/>
              <a:t>nginx</a:t>
            </a:r>
            <a:endParaRPr lang="en-US" altLang="ko-KR" sz="1200" dirty="0"/>
          </a:p>
          <a:p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</a:rPr>
              <a:t>    </a:t>
            </a:r>
            <a:r>
              <a:rPr lang="en-US" altLang="ko-KR" sz="1200" b="1" dirty="0" err="1">
                <a:solidFill>
                  <a:schemeClr val="accent5">
                    <a:lumMod val="75000"/>
                  </a:schemeClr>
                </a:solidFill>
              </a:rPr>
              <a:t>securityContext</a:t>
            </a:r>
            <a:r>
              <a:rPr lang="en-US" altLang="ko-KR" sz="1200" b="1" dirty="0">
                <a:solidFill>
                  <a:schemeClr val="accent5">
                    <a:lumMod val="75000"/>
                  </a:schemeClr>
                </a:solidFill>
              </a:rPr>
              <a:t>: </a:t>
            </a:r>
            <a:r>
              <a:rPr lang="en-US" altLang="ko-KR" sz="1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ko-KR" sz="1200" dirty="0"/>
              <a:t># </a:t>
            </a:r>
            <a:r>
              <a:rPr lang="ko-KR" altLang="en-US" sz="1200" dirty="0"/>
              <a:t>특정 컨테이너에 적용</a:t>
            </a:r>
          </a:p>
          <a:p>
            <a:r>
              <a:rPr lang="ko-KR" altLang="en-US" sz="1200" dirty="0"/>
              <a:t>      </a:t>
            </a:r>
            <a:r>
              <a:rPr lang="en-US" altLang="ko-KR" sz="1200" dirty="0" err="1"/>
              <a:t>allowPrivilegeEscalation</a:t>
            </a:r>
            <a:r>
              <a:rPr lang="en-US" altLang="ko-KR" sz="1200" dirty="0"/>
              <a:t>: false  # </a:t>
            </a:r>
            <a:r>
              <a:rPr lang="ko-KR" altLang="en-US" sz="1200" dirty="0"/>
              <a:t>권한 상승 방지</a:t>
            </a:r>
          </a:p>
          <a:p>
            <a:r>
              <a:rPr lang="ko-KR" altLang="en-US" sz="1200" dirty="0"/>
              <a:t>      </a:t>
            </a:r>
            <a:r>
              <a:rPr lang="en-US" altLang="ko-KR" sz="1200" dirty="0" err="1"/>
              <a:t>readOnlyRootFilesystem</a:t>
            </a:r>
            <a:r>
              <a:rPr lang="en-US" altLang="ko-KR" sz="1200" dirty="0"/>
              <a:t>: true     # </a:t>
            </a:r>
            <a:r>
              <a:rPr lang="ko-KR" altLang="en-US" sz="1200" dirty="0"/>
              <a:t>루트 파일 시스템 읽기 전용</a:t>
            </a:r>
          </a:p>
          <a:p>
            <a:r>
              <a:rPr lang="ko-KR" altLang="en-US" sz="1200" dirty="0"/>
              <a:t>      </a:t>
            </a:r>
            <a:r>
              <a:rPr lang="en-US" altLang="ko-KR" sz="1200" dirty="0"/>
              <a:t>capabilities:</a:t>
            </a:r>
          </a:p>
          <a:p>
            <a:r>
              <a:rPr lang="en-US" altLang="ko-KR" sz="1200" dirty="0"/>
              <a:t>        drop:</a:t>
            </a:r>
          </a:p>
          <a:p>
            <a:r>
              <a:rPr lang="en-US" altLang="ko-KR" sz="1200" dirty="0"/>
              <a:t>        - ALL   # </a:t>
            </a:r>
            <a:r>
              <a:rPr lang="ko-KR" altLang="en-US" sz="1200" dirty="0"/>
              <a:t>모든 추가 권한 제거</a:t>
            </a:r>
            <a:endParaRPr lang="en-US" altLang="ko-KR" sz="1200" dirty="0"/>
          </a:p>
        </p:txBody>
      </p:sp>
      <p:sp>
        <p:nvSpPr>
          <p:cNvPr id="8" name="TextBox 3"/>
          <p:cNvSpPr txBox="1"/>
          <p:nvPr/>
        </p:nvSpPr>
        <p:spPr>
          <a:xfrm>
            <a:off x="922341" y="1023227"/>
            <a:ext cx="188182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BBE0E3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b="1" dirty="0">
                <a:solidFill>
                  <a:sysClr val="windowText" lastClr="000000"/>
                </a:solidFill>
              </a:rPr>
              <a:t>s</a:t>
            </a:r>
            <a:r>
              <a:rPr lang="en-US" altLang="ko-KR" sz="1200" b="1" dirty="0" smtClean="0">
                <a:solidFill>
                  <a:sysClr val="windowText" lastClr="000000"/>
                </a:solidFill>
              </a:rPr>
              <a:t>ecure-</a:t>
            </a:r>
            <a:r>
              <a:rPr lang="en-US" altLang="ko-KR" sz="1200" b="1" dirty="0" err="1" smtClean="0">
                <a:solidFill>
                  <a:sysClr val="windowText" lastClr="000000"/>
                </a:solidFill>
              </a:rPr>
              <a:t>pod.yaml</a:t>
            </a:r>
            <a:endParaRPr lang="en-US" altLang="ko-KR" sz="12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컨테이너를 </a:t>
            </a:r>
            <a:r>
              <a:rPr lang="en-US" altLang="ko-KR" sz="1400" dirty="0" smtClean="0"/>
              <a:t>UID 1000, GID 3000 </a:t>
            </a:r>
            <a:r>
              <a:rPr lang="ko-KR" altLang="en-US" sz="1400" dirty="0" smtClean="0"/>
              <a:t>사용자로 실행한 예시이다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sp>
        <p:nvSpPr>
          <p:cNvPr id="3" name="타원 2"/>
          <p:cNvSpPr/>
          <p:nvPr/>
        </p:nvSpPr>
        <p:spPr>
          <a:xfrm>
            <a:off x="7782560" y="1300226"/>
            <a:ext cx="3220720" cy="33428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130" y="937472"/>
            <a:ext cx="755580" cy="725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29030" y="1632201"/>
            <a:ext cx="7416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 smtClean="0">
                <a:solidFill>
                  <a:srgbClr val="FF0000"/>
                </a:solidFill>
              </a:rPr>
              <a:t>Pod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546430" y="2208914"/>
            <a:ext cx="1706880" cy="1798320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dirty="0" smtClean="0">
                <a:solidFill>
                  <a:schemeClr val="accent5">
                    <a:lumMod val="75000"/>
                  </a:schemeClr>
                </a:solidFill>
              </a:rPr>
              <a:t>Container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647095" y="4118690"/>
            <a:ext cx="1505550" cy="3149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Security Context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8647095" y="3526731"/>
            <a:ext cx="1505550" cy="31496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Security Context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536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30949" y="3105835"/>
            <a:ext cx="6461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Network Policy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924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Traffic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41628" y="2959744"/>
            <a:ext cx="1706880" cy="76796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accent5">
                    <a:lumMod val="75000"/>
                  </a:schemeClr>
                </a:solidFill>
              </a:rPr>
              <a:t>Web Front</a:t>
            </a:r>
          </a:p>
          <a:p>
            <a:pPr algn="ctr"/>
            <a:r>
              <a:rPr lang="en-US" altLang="ko-KR" sz="1400" dirty="0" smtClean="0">
                <a:solidFill>
                  <a:schemeClr val="accent5">
                    <a:lumMod val="75000"/>
                  </a:schemeClr>
                </a:solidFill>
              </a:rPr>
              <a:t>80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159825" y="1225810"/>
            <a:ext cx="1270485" cy="831602"/>
            <a:chOff x="837840" y="2038610"/>
            <a:chExt cx="1270485" cy="831602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3083" y="2038610"/>
              <a:ext cx="540000" cy="540000"/>
            </a:xfrm>
            <a:prstGeom prst="rect">
              <a:avLst/>
            </a:prstGeom>
          </p:spPr>
        </p:pic>
        <p:sp>
          <p:nvSpPr>
            <p:cNvPr id="9" name="TextBox 21"/>
            <p:cNvSpPr txBox="1"/>
            <p:nvPr/>
          </p:nvSpPr>
          <p:spPr>
            <a:xfrm>
              <a:off x="837840" y="2593213"/>
              <a:ext cx="1270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Client</a:t>
              </a:r>
              <a:endParaRPr lang="ko-KR" altLang="en-US" dirty="0"/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5778500" y="2959744"/>
            <a:ext cx="1706880" cy="76796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accent2">
                    <a:lumMod val="75000"/>
                  </a:schemeClr>
                </a:solidFill>
              </a:rPr>
              <a:t>Backend API </a:t>
            </a:r>
          </a:p>
          <a:p>
            <a:pPr algn="ctr"/>
            <a:r>
              <a:rPr lang="en-US" altLang="ko-KR" sz="1400" dirty="0" smtClean="0">
                <a:solidFill>
                  <a:schemeClr val="accent2">
                    <a:lumMod val="75000"/>
                  </a:schemeClr>
                </a:solidFill>
              </a:rPr>
              <a:t>5000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370580" y="4768224"/>
            <a:ext cx="1706880" cy="76796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</a:rPr>
              <a:t>PostgreSQL </a:t>
            </a:r>
          </a:p>
          <a:p>
            <a:pPr algn="ctr"/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</a:rPr>
              <a:t>5432</a:t>
            </a:r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" name="직선 화살표 연결선 2"/>
          <p:cNvCxnSpPr/>
          <p:nvPr/>
        </p:nvCxnSpPr>
        <p:spPr>
          <a:xfrm>
            <a:off x="1531976" y="2057412"/>
            <a:ext cx="0" cy="9023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H="1">
            <a:off x="2648508" y="3231967"/>
            <a:ext cx="3129992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>
            <a:off x="2648508" y="3485967"/>
            <a:ext cx="31299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V="1">
            <a:off x="2059228" y="2057412"/>
            <a:ext cx="0" cy="902332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10" idx="2"/>
          </p:cNvCxnSpPr>
          <p:nvPr/>
        </p:nvCxnSpPr>
        <p:spPr>
          <a:xfrm flipH="1">
            <a:off x="5077460" y="3727710"/>
            <a:ext cx="1554480" cy="10405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V="1">
            <a:off x="5179060" y="3817721"/>
            <a:ext cx="1567180" cy="1099719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646989" y="2289885"/>
            <a:ext cx="840740" cy="377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Ingress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2671724" y="3516168"/>
            <a:ext cx="840740" cy="3772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E</a:t>
            </a:r>
            <a:r>
              <a:rPr lang="en-US" altLang="ko-KR" sz="1400" dirty="0" smtClean="0">
                <a:solidFill>
                  <a:schemeClr val="tx1"/>
                </a:solidFill>
              </a:rPr>
              <a:t>gress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886960" y="3504191"/>
            <a:ext cx="840740" cy="37724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Ingress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937760" y="3920630"/>
            <a:ext cx="840740" cy="37724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E</a:t>
            </a:r>
            <a:r>
              <a:rPr lang="en-US" altLang="ko-KR" sz="1400" dirty="0" smtClean="0">
                <a:solidFill>
                  <a:schemeClr val="tx1"/>
                </a:solidFill>
              </a:rPr>
              <a:t>gress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236720" y="4377181"/>
            <a:ext cx="840740" cy="37724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tx1"/>
                </a:solidFill>
              </a:rPr>
              <a:t>Ingress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서비스 기준으로 들어오는 요청은 </a:t>
            </a:r>
            <a:r>
              <a:rPr lang="en-US" altLang="ko-KR" sz="1400" dirty="0" smtClean="0"/>
              <a:t>Ingress, </a:t>
            </a:r>
            <a:r>
              <a:rPr lang="ko-KR" altLang="en-US" sz="1400" dirty="0" smtClean="0"/>
              <a:t>다른 </a:t>
            </a:r>
            <a:r>
              <a:rPr lang="en-US" altLang="ko-KR" sz="1400" dirty="0" smtClean="0"/>
              <a:t>Pod </a:t>
            </a:r>
            <a:r>
              <a:rPr lang="ko-KR" altLang="en-US" sz="1400" dirty="0" smtClean="0"/>
              <a:t>서비스 호출하는 것은 </a:t>
            </a:r>
            <a:r>
              <a:rPr lang="en-US" altLang="ko-KR" sz="1400" dirty="0" smtClean="0"/>
              <a:t>Egress</a:t>
            </a:r>
            <a:r>
              <a:rPr lang="ko-KR" altLang="en-US" sz="1400" dirty="0" smtClean="0"/>
              <a:t>이다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56" name="그룹 55"/>
          <p:cNvGrpSpPr/>
          <p:nvPr/>
        </p:nvGrpSpPr>
        <p:grpSpPr>
          <a:xfrm>
            <a:off x="8002828" y="1493154"/>
            <a:ext cx="3407677" cy="3000083"/>
            <a:chOff x="8002828" y="1493154"/>
            <a:chExt cx="3407677" cy="3000083"/>
          </a:xfrm>
        </p:grpSpPr>
        <p:sp>
          <p:nvSpPr>
            <p:cNvPr id="43" name="직사각형 42"/>
            <p:cNvSpPr/>
            <p:nvPr/>
          </p:nvSpPr>
          <p:spPr>
            <a:xfrm>
              <a:off x="8002828" y="1495810"/>
              <a:ext cx="1706880" cy="751840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accent5">
                      <a:lumMod val="75000"/>
                    </a:schemeClr>
                  </a:solidFill>
                </a:rPr>
                <a:t>Web Front</a:t>
              </a: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9717863" y="1493154"/>
              <a:ext cx="840740" cy="3772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</a:rPr>
                <a:t>Ingress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10568763" y="1493154"/>
              <a:ext cx="840740" cy="377248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bg1"/>
                  </a:solidFill>
                </a:rPr>
                <a:t>80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9718865" y="1870402"/>
              <a:ext cx="840740" cy="3772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E</a:t>
              </a:r>
              <a:r>
                <a:rPr lang="en-US" altLang="ko-KR" sz="1400" dirty="0" smtClean="0">
                  <a:solidFill>
                    <a:schemeClr val="tx1"/>
                  </a:solidFill>
                </a:rPr>
                <a:t>gress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10568763" y="1868788"/>
              <a:ext cx="840740" cy="37724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bg1"/>
                  </a:solidFill>
                </a:rPr>
                <a:t>5000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8021143" y="2624898"/>
              <a:ext cx="1706880" cy="767966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accent2">
                      <a:lumMod val="75000"/>
                    </a:schemeClr>
                  </a:solidFill>
                </a:rPr>
                <a:t>Backend API </a:t>
              </a: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9719868" y="2623586"/>
              <a:ext cx="840740" cy="377248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</a:rPr>
                <a:t>Ingress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10568763" y="2621670"/>
              <a:ext cx="840740" cy="37724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bg1"/>
                  </a:solidFill>
                </a:rPr>
                <a:t>5000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9718865" y="2993372"/>
              <a:ext cx="840740" cy="377248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E</a:t>
              </a:r>
              <a:r>
                <a:rPr lang="en-US" altLang="ko-KR" sz="1400" dirty="0" smtClean="0">
                  <a:solidFill>
                    <a:schemeClr val="tx1"/>
                  </a:solidFill>
                </a:rPr>
                <a:t>gress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10569765" y="2997304"/>
              <a:ext cx="840740" cy="37724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bg1"/>
                  </a:solidFill>
                </a:rPr>
                <a:t>5432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8002828" y="3725271"/>
              <a:ext cx="1706880" cy="767966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accent6">
                      <a:lumMod val="75000"/>
                    </a:schemeClr>
                  </a:solidFill>
                </a:rPr>
                <a:t>PostgreSQL </a:t>
              </a:r>
            </a:p>
            <a:p>
              <a:pPr algn="ctr"/>
              <a:r>
                <a:rPr lang="en-US" altLang="ko-KR" sz="1400" dirty="0" smtClean="0">
                  <a:solidFill>
                    <a:schemeClr val="accent6">
                      <a:lumMod val="75000"/>
                    </a:schemeClr>
                  </a:solidFill>
                </a:rPr>
                <a:t>5432</a:t>
              </a:r>
              <a:endParaRPr lang="ko-KR" altLang="en-US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9723832" y="3725271"/>
              <a:ext cx="840740" cy="377248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tx1"/>
                  </a:solidFill>
                </a:rPr>
                <a:t>Ingress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10568763" y="3732006"/>
              <a:ext cx="840740" cy="37724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solidFill>
                    <a:schemeClr val="bg1"/>
                  </a:solidFill>
                </a:rPr>
                <a:t>5432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016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Network Policy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176828" y="2959744"/>
            <a:ext cx="1706880" cy="76796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accent5">
                    <a:lumMod val="75000"/>
                  </a:schemeClr>
                </a:solidFill>
              </a:rPr>
              <a:t>Web Front</a:t>
            </a:r>
          </a:p>
          <a:p>
            <a:pPr algn="ctr"/>
            <a:r>
              <a:rPr lang="en-US" altLang="ko-KR" sz="1400" dirty="0" smtClean="0">
                <a:solidFill>
                  <a:schemeClr val="accent5">
                    <a:lumMod val="75000"/>
                  </a:schemeClr>
                </a:solidFill>
              </a:rPr>
              <a:t>80</a:t>
            </a:r>
            <a:endParaRPr lang="ko-KR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3395025" y="1225810"/>
            <a:ext cx="1270485" cy="831602"/>
            <a:chOff x="837840" y="2038610"/>
            <a:chExt cx="1270485" cy="831602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203083" y="2038610"/>
              <a:ext cx="540000" cy="540000"/>
            </a:xfrm>
            <a:prstGeom prst="rect">
              <a:avLst/>
            </a:prstGeom>
          </p:spPr>
        </p:pic>
        <p:sp>
          <p:nvSpPr>
            <p:cNvPr id="9" name="TextBox 21"/>
            <p:cNvSpPr txBox="1"/>
            <p:nvPr/>
          </p:nvSpPr>
          <p:spPr>
            <a:xfrm>
              <a:off x="837840" y="2593213"/>
              <a:ext cx="12704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200" dirty="0" smtClean="0"/>
                <a:t>Client</a:t>
              </a:r>
              <a:endParaRPr lang="ko-KR" altLang="en-US" dirty="0"/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8013700" y="2959744"/>
            <a:ext cx="1706880" cy="76796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accent2">
                    <a:lumMod val="75000"/>
                  </a:schemeClr>
                </a:solidFill>
              </a:rPr>
              <a:t>Backend API </a:t>
            </a:r>
          </a:p>
          <a:p>
            <a:pPr algn="ctr"/>
            <a:r>
              <a:rPr lang="en-US" altLang="ko-KR" sz="1400" dirty="0" smtClean="0">
                <a:solidFill>
                  <a:schemeClr val="accent2">
                    <a:lumMod val="75000"/>
                  </a:schemeClr>
                </a:solidFill>
              </a:rPr>
              <a:t>5000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605780" y="4768224"/>
            <a:ext cx="1706880" cy="76796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</a:rPr>
              <a:t>PostgreSQL </a:t>
            </a:r>
          </a:p>
          <a:p>
            <a:pPr algn="ctr"/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</a:rPr>
              <a:t>5432</a:t>
            </a:r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Kubernetes </a:t>
            </a:r>
            <a:r>
              <a:rPr lang="ko-KR" altLang="en-US" sz="1400" dirty="0" smtClean="0"/>
              <a:t>네트워크 트래픽을 제어하는 보안 정책이다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cxnSp>
        <p:nvCxnSpPr>
          <p:cNvPr id="4" name="직선 연결선 3"/>
          <p:cNvCxnSpPr>
            <a:stCxn id="5" idx="3"/>
            <a:endCxn id="10" idx="1"/>
          </p:cNvCxnSpPr>
          <p:nvPr/>
        </p:nvCxnSpPr>
        <p:spPr>
          <a:xfrm>
            <a:off x="4883708" y="3343727"/>
            <a:ext cx="312999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>
            <a:stCxn id="11" idx="3"/>
            <a:endCxn id="10" idx="2"/>
          </p:cNvCxnSpPr>
          <p:nvPr/>
        </p:nvCxnSpPr>
        <p:spPr>
          <a:xfrm flipV="1">
            <a:off x="7312660" y="3727710"/>
            <a:ext cx="1554480" cy="142449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>
            <a:stCxn id="11" idx="1"/>
            <a:endCxn id="5" idx="2"/>
          </p:cNvCxnSpPr>
          <p:nvPr/>
        </p:nvCxnSpPr>
        <p:spPr>
          <a:xfrm flipH="1" flipV="1">
            <a:off x="4030268" y="3727710"/>
            <a:ext cx="1575512" cy="142449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곱셈 기호 16"/>
          <p:cNvSpPr/>
          <p:nvPr/>
        </p:nvSpPr>
        <p:spPr>
          <a:xfrm>
            <a:off x="4513224" y="4111730"/>
            <a:ext cx="609600" cy="551824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정오각형 17"/>
          <p:cNvSpPr/>
          <p:nvPr/>
        </p:nvSpPr>
        <p:spPr>
          <a:xfrm>
            <a:off x="542670" y="4169620"/>
            <a:ext cx="2164080" cy="2082800"/>
          </a:xfrm>
          <a:prstGeom prst="pentagon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altLang="ko-KR" dirty="0" smtClean="0"/>
              <a:t> </a:t>
            </a:r>
            <a:r>
              <a:rPr lang="en-US" altLang="ko-KR" sz="1400" dirty="0" smtClean="0">
                <a:solidFill>
                  <a:srgbClr val="FF0000"/>
                </a:solidFill>
              </a:rPr>
              <a:t>Network</a:t>
            </a:r>
          </a:p>
          <a:p>
            <a:pPr algn="ctr"/>
            <a:r>
              <a:rPr lang="en-US" altLang="ko-KR" sz="1400" dirty="0" smtClean="0">
                <a:solidFill>
                  <a:srgbClr val="FF0000"/>
                </a:solidFill>
              </a:rPr>
              <a:t>Policy</a:t>
            </a:r>
          </a:p>
        </p:txBody>
      </p:sp>
    </p:spTree>
    <p:extLst>
      <p:ext uri="{BB962C8B-B14F-4D97-AF65-F5344CB8AC3E}">
        <p14:creationId xmlns:p14="http://schemas.microsoft.com/office/powerpoint/2010/main" val="178945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7037E-6 L 0.39662 -0.01342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831" y="-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8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Network Policy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977380" y="4114703"/>
            <a:ext cx="1706880" cy="76796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accent2">
                    <a:lumMod val="75000"/>
                  </a:schemeClr>
                </a:solidFill>
              </a:rPr>
              <a:t>Backend API </a:t>
            </a:r>
          </a:p>
          <a:p>
            <a:pPr algn="ctr"/>
            <a:r>
              <a:rPr lang="en-US" altLang="ko-KR" sz="1400" dirty="0" smtClean="0">
                <a:solidFill>
                  <a:schemeClr val="accent2">
                    <a:lumMod val="75000"/>
                  </a:schemeClr>
                </a:solidFill>
              </a:rPr>
              <a:t>5000</a:t>
            </a:r>
          </a:p>
          <a:p>
            <a:pPr algn="ctr"/>
            <a:r>
              <a:rPr lang="en-US" altLang="ko-KR" sz="1400" dirty="0" smtClean="0">
                <a:solidFill>
                  <a:schemeClr val="accent2">
                    <a:lumMod val="75000"/>
                  </a:schemeClr>
                </a:solidFill>
              </a:rPr>
              <a:t>name: </a:t>
            </a:r>
            <a:r>
              <a:rPr lang="en-US" altLang="ko-KR" sz="1400" dirty="0" err="1" smtClean="0">
                <a:solidFill>
                  <a:schemeClr val="accent2">
                    <a:lumMod val="75000"/>
                  </a:schemeClr>
                </a:solidFill>
              </a:rPr>
              <a:t>api</a:t>
            </a:r>
            <a:r>
              <a:rPr lang="en-US" altLang="ko-KR" sz="1400" dirty="0" smtClean="0">
                <a:solidFill>
                  <a:schemeClr val="accent2">
                    <a:lumMod val="75000"/>
                  </a:schemeClr>
                </a:solidFill>
              </a:rPr>
              <a:t>-pod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977380" y="2904750"/>
            <a:ext cx="1706880" cy="76796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</a:rPr>
              <a:t>PostgreSQL </a:t>
            </a:r>
          </a:p>
          <a:p>
            <a:pPr algn="ctr"/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</a:rPr>
              <a:t>5432</a:t>
            </a:r>
          </a:p>
          <a:p>
            <a:pPr algn="ctr"/>
            <a:r>
              <a:rPr lang="en-US" altLang="ko-KR" sz="1400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altLang="ko-KR" sz="1400" dirty="0" smtClean="0">
                <a:solidFill>
                  <a:schemeClr val="accent6">
                    <a:lumMod val="75000"/>
                  </a:schemeClr>
                </a:solidFill>
              </a:rPr>
              <a:t>ole: </a:t>
            </a:r>
            <a:r>
              <a:rPr lang="en-US" altLang="ko-KR" sz="1400" dirty="0" err="1" smtClean="0">
                <a:solidFill>
                  <a:schemeClr val="accent6">
                    <a:lumMod val="75000"/>
                  </a:schemeClr>
                </a:solidFill>
              </a:rPr>
              <a:t>db</a:t>
            </a:r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1199" y="715450"/>
            <a:ext cx="9857564" cy="587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Network Policy </a:t>
            </a:r>
            <a:r>
              <a:rPr lang="ko-KR" altLang="en-US" sz="1400" dirty="0" smtClean="0"/>
              <a:t>정책을 적용하기 위해서는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의 라벨을 이용한다</a:t>
            </a:r>
            <a:r>
              <a:rPr lang="en-US" altLang="ko-KR" sz="1400" dirty="0" smtClean="0"/>
              <a:t>.</a:t>
            </a:r>
          </a:p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Network Policy</a:t>
            </a:r>
            <a:r>
              <a:rPr lang="ko-KR" altLang="en-US" sz="1400" dirty="0" smtClean="0"/>
              <a:t>는 지원되는 </a:t>
            </a:r>
            <a:r>
              <a:rPr lang="en-US" altLang="ko-KR" sz="1400" dirty="0" smtClean="0"/>
              <a:t>Network Solution</a:t>
            </a:r>
            <a:r>
              <a:rPr lang="ko-KR" altLang="en-US" sz="1400" dirty="0" smtClean="0"/>
              <a:t>을 사용해야 이용할 수 있다</a:t>
            </a:r>
            <a:r>
              <a:rPr lang="en-US" altLang="ko-KR" sz="1400" dirty="0" smtClean="0"/>
              <a:t>. (ex: Calico, Weave-net)</a:t>
            </a:r>
            <a:endParaRPr lang="en-US" altLang="ko-KR" sz="1200" dirty="0"/>
          </a:p>
        </p:txBody>
      </p:sp>
      <p:sp>
        <p:nvSpPr>
          <p:cNvPr id="16" name="TextBox 11"/>
          <p:cNvSpPr txBox="1"/>
          <p:nvPr/>
        </p:nvSpPr>
        <p:spPr>
          <a:xfrm>
            <a:off x="922340" y="1950466"/>
            <a:ext cx="5447980" cy="3416320"/>
          </a:xfrm>
          <a:prstGeom prst="rect">
            <a:avLst/>
          </a:prstGeom>
          <a:solidFill>
            <a:srgbClr val="BBE0E3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/>
              <a:t>apiVersion</a:t>
            </a:r>
            <a:r>
              <a:rPr lang="en-US" altLang="ko-KR" sz="1200" dirty="0"/>
              <a:t>: </a:t>
            </a:r>
            <a:r>
              <a:rPr lang="en-US" altLang="ko-KR" sz="1200" dirty="0" smtClean="0"/>
              <a:t>networking.k8s.io/v1</a:t>
            </a:r>
            <a:endParaRPr lang="en-US" altLang="ko-KR" sz="1200" dirty="0"/>
          </a:p>
          <a:p>
            <a:r>
              <a:rPr lang="en-US" altLang="ko-KR" sz="1200" dirty="0"/>
              <a:t>kind: </a:t>
            </a:r>
            <a:r>
              <a:rPr lang="en-US" altLang="ko-KR" sz="1200" dirty="0" err="1" smtClean="0"/>
              <a:t>NetworkPolicy</a:t>
            </a:r>
            <a:endParaRPr lang="en-US" altLang="ko-KR" sz="1200" dirty="0"/>
          </a:p>
          <a:p>
            <a:r>
              <a:rPr lang="en-US" altLang="ko-KR" sz="1200" dirty="0"/>
              <a:t>metadata:</a:t>
            </a:r>
          </a:p>
          <a:p>
            <a:r>
              <a:rPr lang="en-US" altLang="ko-KR" sz="1200" dirty="0"/>
              <a:t>  name: </a:t>
            </a:r>
            <a:r>
              <a:rPr lang="en-US" altLang="ko-KR" sz="1200" dirty="0" err="1" smtClean="0"/>
              <a:t>db</a:t>
            </a:r>
            <a:r>
              <a:rPr lang="en-US" altLang="ko-KR" sz="1200" dirty="0" smtClean="0"/>
              <a:t>-policy</a:t>
            </a:r>
            <a:endParaRPr lang="en-US" altLang="ko-KR" sz="1200" dirty="0"/>
          </a:p>
          <a:p>
            <a:r>
              <a:rPr lang="en-US" altLang="ko-KR" sz="1200" dirty="0"/>
              <a:t>spec</a:t>
            </a:r>
            <a:r>
              <a:rPr lang="en-US" altLang="ko-KR" sz="1200" dirty="0" smtClean="0"/>
              <a:t>: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podSelector</a:t>
            </a:r>
            <a:r>
              <a:rPr lang="en-US" altLang="ko-KR" sz="1200" dirty="0" smtClean="0"/>
              <a:t>: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</a:t>
            </a:r>
            <a:r>
              <a:rPr lang="en-US" altLang="ko-KR" sz="1200" dirty="0" err="1" smtClean="0"/>
              <a:t>matchLabels</a:t>
            </a:r>
            <a:r>
              <a:rPr lang="en-US" altLang="ko-KR" sz="1200" dirty="0" smtClean="0"/>
              <a:t>: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role: </a:t>
            </a:r>
            <a:r>
              <a:rPr lang="en-US" altLang="ko-KR" sz="1200" dirty="0" err="1" smtClean="0"/>
              <a:t>db</a:t>
            </a:r>
            <a:endParaRPr lang="en-US" altLang="ko-KR" sz="1200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</a:t>
            </a:r>
            <a:r>
              <a:rPr lang="en-US" altLang="ko-KR" sz="1200" dirty="0" err="1" smtClean="0"/>
              <a:t>policyTypes</a:t>
            </a:r>
            <a:r>
              <a:rPr lang="en-US" altLang="ko-KR" sz="1200" dirty="0" smtClean="0"/>
              <a:t>: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- Ingress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ingress: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- from: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- </a:t>
            </a:r>
            <a:r>
              <a:rPr lang="en-US" altLang="ko-KR" sz="1200" dirty="0" err="1" smtClean="0"/>
              <a:t>podSelector</a:t>
            </a:r>
            <a:r>
              <a:rPr lang="en-US" altLang="ko-KR" sz="1200" dirty="0" smtClean="0"/>
              <a:t>: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</a:t>
            </a:r>
            <a:r>
              <a:rPr lang="en-US" altLang="ko-KR" sz="1200" dirty="0" err="1" smtClean="0"/>
              <a:t>matchLabels</a:t>
            </a:r>
            <a:r>
              <a:rPr lang="en-US" altLang="ko-KR" sz="1200" dirty="0" smtClean="0"/>
              <a:t>: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    name: </a:t>
            </a:r>
            <a:r>
              <a:rPr lang="en-US" altLang="ko-KR" sz="1200" dirty="0" err="1" smtClean="0"/>
              <a:t>api</a:t>
            </a:r>
            <a:r>
              <a:rPr lang="en-US" altLang="ko-KR" sz="1200" dirty="0" smtClean="0"/>
              <a:t>-pod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ports: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- protocol: TCP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    port: 5432</a:t>
            </a:r>
            <a:endParaRPr lang="en-US" altLang="ko-KR" sz="1200" dirty="0"/>
          </a:p>
        </p:txBody>
      </p:sp>
      <p:sp>
        <p:nvSpPr>
          <p:cNvPr id="19" name="TextBox 3"/>
          <p:cNvSpPr txBox="1"/>
          <p:nvPr/>
        </p:nvSpPr>
        <p:spPr>
          <a:xfrm>
            <a:off x="922340" y="1673467"/>
            <a:ext cx="2003739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BBE0E3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b="1" dirty="0" err="1" smtClean="0">
                <a:solidFill>
                  <a:sysClr val="windowText" lastClr="000000"/>
                </a:solidFill>
              </a:rPr>
              <a:t>db_network_policy.yaml</a:t>
            </a:r>
            <a:endParaRPr lang="en-US" altLang="ko-KR" sz="12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2590800" y="4632960"/>
            <a:ext cx="4386580" cy="1016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1983740" y="3381627"/>
            <a:ext cx="499364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110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21847</TotalTime>
  <Words>3012</Words>
  <Application>Microsoft Office PowerPoint</Application>
  <PresentationFormat>와이드스크린</PresentationFormat>
  <Paragraphs>766</Paragraphs>
  <Slides>41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2" baseType="lpstr">
      <vt:lpstr>BVOPUE+SpoqaHanSans-Bold</vt:lpstr>
      <vt:lpstr>Pretendard SemiBold</vt:lpstr>
      <vt:lpstr>Univers LT Std 85 XBlk</vt:lpstr>
      <vt:lpstr>WRTDIQ+SpoqaHanSans-Bold</vt:lpstr>
      <vt:lpstr>뉴티맥스고딕 CJK</vt:lpstr>
      <vt:lpstr>맑은 고딕</vt:lpstr>
      <vt:lpstr>Arial</vt:lpstr>
      <vt:lpstr>Arial Black</vt:lpstr>
      <vt:lpstr>Lucida Sans Unicode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521</cp:revision>
  <dcterms:created xsi:type="dcterms:W3CDTF">2022-09-15T01:21:24Z</dcterms:created>
  <dcterms:modified xsi:type="dcterms:W3CDTF">2025-02-27T05:10:01Z</dcterms:modified>
</cp:coreProperties>
</file>