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70" r:id="rId2"/>
    <p:sldId id="271" r:id="rId3"/>
    <p:sldId id="360" r:id="rId4"/>
    <p:sldId id="477" r:id="rId5"/>
    <p:sldId id="486" r:id="rId6"/>
    <p:sldId id="488" r:id="rId7"/>
    <p:sldId id="489" r:id="rId8"/>
    <p:sldId id="490" r:id="rId9"/>
    <p:sldId id="491" r:id="rId10"/>
    <p:sldId id="492" r:id="rId11"/>
    <p:sldId id="493" r:id="rId12"/>
    <p:sldId id="494" r:id="rId13"/>
    <p:sldId id="487" r:id="rId14"/>
    <p:sldId id="495" r:id="rId15"/>
    <p:sldId id="362" r:id="rId16"/>
    <p:sldId id="496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71AA387-4111-4890-AC9B-FCE55A5E05BE}">
          <p14:sldIdLst>
            <p14:sldId id="270"/>
            <p14:sldId id="271"/>
            <p14:sldId id="360"/>
            <p14:sldId id="477"/>
            <p14:sldId id="486"/>
            <p14:sldId id="488"/>
            <p14:sldId id="489"/>
            <p14:sldId id="490"/>
            <p14:sldId id="491"/>
            <p14:sldId id="492"/>
            <p14:sldId id="493"/>
            <p14:sldId id="494"/>
            <p14:sldId id="487"/>
            <p14:sldId id="495"/>
            <p14:sldId id="362"/>
            <p14:sldId id="49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85C8CD"/>
    <a:srgbClr val="BBE0E3"/>
    <a:srgbClr val="2366EF"/>
    <a:srgbClr val="7D9EBB"/>
    <a:srgbClr val="171C2C"/>
    <a:srgbClr val="0232AE"/>
    <a:srgbClr val="BACDFE"/>
    <a:srgbClr val="333333"/>
    <a:srgbClr val="95BC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2181" autoAdjust="0"/>
  </p:normalViewPr>
  <p:slideViewPr>
    <p:cSldViewPr snapToGrid="0">
      <p:cViewPr varScale="1">
        <p:scale>
          <a:sx n="94" d="100"/>
          <a:sy n="94" d="100"/>
        </p:scale>
        <p:origin x="11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E36D4-B224-4D49-A73E-0BF1A210728E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661C5-6DF4-4E77-80CD-DCF64012D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04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7304B-F283-4E41-A8FA-EB923FFBA2A0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92502-E94D-4E8D-8986-81BE1569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3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89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211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143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19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200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71812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sz="1200" dirty="0" err="1" smtClean="0"/>
              <a:t>재기동이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된경우</a:t>
            </a:r>
            <a:r>
              <a:rPr lang="ko-KR" altLang="en-US" sz="1200" dirty="0" smtClean="0"/>
              <a:t> 재</a:t>
            </a:r>
            <a:r>
              <a:rPr lang="ko-KR" altLang="en-US" sz="1200" baseline="0" dirty="0" smtClean="0"/>
              <a:t> 기동 되기 전에 로그를 확인할 수 있다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en-US" altLang="ko-KR" sz="1200" baseline="0" dirty="0" smtClean="0"/>
              <a:t> </a:t>
            </a:r>
            <a:r>
              <a:rPr lang="en-US" altLang="ko-KR" sz="1200" baseline="0" dirty="0" err="1" smtClean="0"/>
              <a:t>etcd</a:t>
            </a:r>
            <a:r>
              <a:rPr lang="en-US" altLang="ko-KR" sz="1200" baseline="0" dirty="0" smtClean="0"/>
              <a:t>, </a:t>
            </a:r>
            <a:r>
              <a:rPr lang="en-US" altLang="ko-KR" sz="1200" baseline="0" dirty="0" err="1" smtClean="0"/>
              <a:t>apiserver</a:t>
            </a:r>
            <a:r>
              <a:rPr lang="ko-KR" altLang="en-US" sz="1200" baseline="0" dirty="0" smtClean="0"/>
              <a:t>는 이중화 구성을 권고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2847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16534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6151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err="1" smtClean="0"/>
              <a:t>Kubectl</a:t>
            </a:r>
            <a:r>
              <a:rPr lang="en-US" altLang="ko-KR" sz="1200" baseline="0" dirty="0" smtClean="0"/>
              <a:t> get nodes </a:t>
            </a:r>
            <a:r>
              <a:rPr lang="ko-KR" altLang="en-US" sz="1200" baseline="0" dirty="0" smtClean="0"/>
              <a:t>명령어를 통해 현재 </a:t>
            </a:r>
            <a:r>
              <a:rPr lang="en-US" altLang="ko-KR" sz="1200" baseline="0" dirty="0" smtClean="0"/>
              <a:t>node </a:t>
            </a:r>
            <a:r>
              <a:rPr lang="ko-KR" altLang="en-US" sz="1200" baseline="0" dirty="0" smtClean="0"/>
              <a:t>상태를 알 수 있다</a:t>
            </a:r>
            <a:r>
              <a:rPr lang="en-US" altLang="ko-KR" sz="1200" baseline="0" dirty="0" smtClean="0"/>
              <a:t>. Node</a:t>
            </a:r>
            <a:r>
              <a:rPr lang="ko-KR" altLang="en-US" sz="1200" baseline="0" dirty="0" smtClean="0"/>
              <a:t>에 문제가 생기면 상태는 </a:t>
            </a:r>
            <a:r>
              <a:rPr lang="en-US" altLang="ko-KR" sz="1200" baseline="0" dirty="0" err="1" smtClean="0"/>
              <a:t>NotReady</a:t>
            </a:r>
            <a:r>
              <a:rPr lang="ko-KR" altLang="en-US" sz="1200" baseline="0" dirty="0" smtClean="0"/>
              <a:t>로 표시된다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en-US" altLang="ko-KR" sz="1200" baseline="0" dirty="0" err="1" smtClean="0"/>
              <a:t>Kubectl</a:t>
            </a:r>
            <a:r>
              <a:rPr lang="en-US" altLang="ko-KR" sz="1200" baseline="0" dirty="0" smtClean="0"/>
              <a:t> describe nodes </a:t>
            </a:r>
            <a:r>
              <a:rPr lang="ko-KR" altLang="en-US" sz="1200" baseline="0" dirty="0" smtClean="0"/>
              <a:t>명령어를 통해 상세 정보를 알 수 있습니다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r>
              <a:rPr lang="ko-KR" altLang="en-US" sz="1200" baseline="0" dirty="0" smtClean="0"/>
              <a:t>네트워크를 사용하지 못하거나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메모리를 많이 쓰거나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디스크를 </a:t>
            </a:r>
            <a:r>
              <a:rPr lang="ko-KR" altLang="en-US" sz="1200" baseline="0" dirty="0" err="1" smtClean="0"/>
              <a:t>많이쓰거나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해당 노드에 너무 많은 프로세스가 기동 중인 경우 상태가 </a:t>
            </a:r>
            <a:r>
              <a:rPr lang="en-US" altLang="ko-KR" sz="1200" baseline="0" dirty="0" smtClean="0"/>
              <a:t>True</a:t>
            </a:r>
            <a:r>
              <a:rPr lang="ko-KR" altLang="en-US" sz="1200" baseline="0" dirty="0" smtClean="0"/>
              <a:t>로 변경된다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ko-KR" altLang="en-US" sz="1200" baseline="0" dirty="0" smtClean="0"/>
              <a:t>또한 현재 해당 노드에서 기동 중인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들의 </a:t>
            </a:r>
            <a:r>
              <a:rPr lang="en-US" altLang="ko-KR" sz="1200" baseline="0" dirty="0" smtClean="0"/>
              <a:t>CPU, Memory </a:t>
            </a:r>
            <a:r>
              <a:rPr lang="ko-KR" altLang="en-US" sz="1200" baseline="0" dirty="0" smtClean="0"/>
              <a:t>사용률과 제한 사항을 확인할 수 있다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0381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baseline="0" dirty="0" smtClean="0"/>
              <a:t>Worker node</a:t>
            </a:r>
            <a:r>
              <a:rPr lang="ko-KR" altLang="en-US" sz="1200" baseline="0" dirty="0" smtClean="0"/>
              <a:t>에서 </a:t>
            </a:r>
            <a:r>
              <a:rPr lang="en-US" altLang="ko-KR" sz="1200" baseline="0" dirty="0" smtClean="0"/>
              <a:t>top </a:t>
            </a:r>
            <a:r>
              <a:rPr lang="ko-KR" altLang="en-US" sz="1200" baseline="0" dirty="0" smtClean="0"/>
              <a:t>명령어를 통해 현재 </a:t>
            </a:r>
            <a:r>
              <a:rPr lang="en-US" altLang="ko-KR" sz="1200" baseline="0" dirty="0" smtClean="0"/>
              <a:t>Node</a:t>
            </a:r>
            <a:r>
              <a:rPr lang="ko-KR" altLang="en-US" sz="1200" baseline="0" dirty="0" smtClean="0"/>
              <a:t>의 </a:t>
            </a:r>
            <a:r>
              <a:rPr lang="en-US" altLang="ko-KR" sz="1200" baseline="0" dirty="0" smtClean="0"/>
              <a:t>CPU</a:t>
            </a:r>
            <a:r>
              <a:rPr lang="ko-KR" altLang="en-US" sz="1200" baseline="0" dirty="0" smtClean="0"/>
              <a:t>를 확인할 수 있다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8751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200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sz="1200" dirty="0" smtClean="0"/>
              <a:t>보통 모니터링은 </a:t>
            </a:r>
            <a:r>
              <a:rPr lang="en-US" altLang="ko-KR" sz="1200" dirty="0" smtClean="0"/>
              <a:t>Pod </a:t>
            </a:r>
            <a:r>
              <a:rPr lang="ko-KR" altLang="en-US" sz="1200" dirty="0" smtClean="0"/>
              <a:t>수</a:t>
            </a:r>
            <a:r>
              <a:rPr lang="en-US" altLang="ko-KR" sz="1200" dirty="0" smtClean="0"/>
              <a:t>, Node </a:t>
            </a:r>
            <a:r>
              <a:rPr lang="ko-KR" altLang="en-US" sz="1200" dirty="0" smtClean="0"/>
              <a:t>수</a:t>
            </a:r>
            <a:r>
              <a:rPr lang="en-US" altLang="ko-KR" sz="1200" dirty="0" smtClean="0"/>
              <a:t>,</a:t>
            </a:r>
            <a:r>
              <a:rPr lang="en-US" altLang="ko-KR" sz="1200" baseline="0" dirty="0" smtClean="0"/>
              <a:t> CPU, Memory </a:t>
            </a:r>
            <a:r>
              <a:rPr lang="ko-KR" altLang="en-US" sz="1200" baseline="0" dirty="0" smtClean="0"/>
              <a:t>사용량 등을 생각 할 수 있다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r>
              <a:rPr lang="ko-KR" altLang="en-US" sz="1200" baseline="0" dirty="0" smtClean="0"/>
              <a:t>현재 </a:t>
            </a:r>
            <a:r>
              <a:rPr lang="ko-KR" altLang="en-US" sz="1200" baseline="0" dirty="0" err="1" smtClean="0"/>
              <a:t>쿠버네티스에서</a:t>
            </a:r>
            <a:r>
              <a:rPr lang="ko-KR" altLang="en-US" sz="1200" baseline="0" dirty="0" smtClean="0"/>
              <a:t> 제공하는 모니터링 솔루션은 없다</a:t>
            </a:r>
            <a:r>
              <a:rPr lang="en-US" altLang="ko-KR" sz="1200" baseline="0" dirty="0" smtClean="0"/>
              <a:t>. </a:t>
            </a:r>
            <a:r>
              <a:rPr lang="ko-KR" altLang="en-US" sz="1200" baseline="0" dirty="0" smtClean="0"/>
              <a:t>하지만</a:t>
            </a:r>
            <a:r>
              <a:rPr lang="en-US" altLang="ko-KR" sz="1200" baseline="0" dirty="0" smtClean="0"/>
              <a:t>, </a:t>
            </a:r>
            <a:r>
              <a:rPr lang="en-US" altLang="ko-KR" sz="1200" baseline="0" dirty="0" err="1" smtClean="0"/>
              <a:t>DataDog</a:t>
            </a:r>
            <a:r>
              <a:rPr lang="en-US" altLang="ko-KR" sz="1200" baseline="0" dirty="0" smtClean="0"/>
              <a:t>, Elastic Stack, Prometheus, Metrics Server, </a:t>
            </a:r>
            <a:r>
              <a:rPr lang="en-US" altLang="ko-KR" sz="1200" baseline="0" dirty="0" err="1" smtClean="0"/>
              <a:t>Grafana</a:t>
            </a:r>
            <a:r>
              <a:rPr lang="ko-KR" altLang="en-US" sz="1200" baseline="0" dirty="0" smtClean="0"/>
              <a:t>와 같은 솔루션을 통해 모니터링을 할 수 있다</a:t>
            </a:r>
            <a:r>
              <a:rPr lang="en-US" altLang="ko-KR" sz="1200" baseline="0" dirty="0" smtClean="0"/>
              <a:t>.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0197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299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11560552" y="6504396"/>
            <a:ext cx="490526" cy="233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418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27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218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3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10775568" y="6262414"/>
            <a:ext cx="959232" cy="595586"/>
          </a:xfrm>
          <a:prstGeom prst="rect">
            <a:avLst/>
          </a:prstGeom>
        </p:spPr>
        <p:txBody>
          <a:bodyPr vert="horz" lIns="91447" tIns="45725" rIns="91447" bIns="45725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50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50" charset="-127"/>
              </a:rPr>
              <a:pPr marL="0" marR="0" lvl="0" indent="0" algn="r" defTabSz="91450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5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object 8"/>
          <p:cNvSpPr/>
          <p:nvPr userDrawn="1"/>
        </p:nvSpPr>
        <p:spPr>
          <a:xfrm>
            <a:off x="580644" y="6318503"/>
            <a:ext cx="11057890" cy="0"/>
          </a:xfrm>
          <a:custGeom>
            <a:avLst/>
            <a:gdLst/>
            <a:ahLst/>
            <a:cxnLst/>
            <a:rect l="l" t="t" r="r" b="b"/>
            <a:pathLst>
              <a:path w="11057890">
                <a:moveTo>
                  <a:pt x="0" y="0"/>
                </a:moveTo>
                <a:lnTo>
                  <a:pt x="11057509" y="0"/>
                </a:lnTo>
              </a:path>
            </a:pathLst>
          </a:custGeom>
          <a:ln w="6350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직사각형 12"/>
          <p:cNvSpPr/>
          <p:nvPr userDrawn="1"/>
        </p:nvSpPr>
        <p:spPr>
          <a:xfrm>
            <a:off x="491124" y="6428173"/>
            <a:ext cx="24721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Copyrightⓒ 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2025 </a:t>
            </a:r>
            <a:r>
              <a:rPr lang="en-US" altLang="ko-KR" sz="800" dirty="0" err="1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TmaxSoft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317" y="338424"/>
            <a:ext cx="1157417" cy="11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393CA-1A98-4091-B4F8-8CF82E62BE0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8EB2-BEDB-4375-BAD0-E61FA200F7A6}" type="datetimeFigureOut">
              <a:rPr lang="ko-KR" altLang="en-US" smtClean="0"/>
              <a:pPr/>
              <a:t>2025-03-05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microsoft.com/office/2007/relationships/hdphoto" Target="../media/hdphoto2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microsoft.com/office/2007/relationships/hdphoto" Target="../media/hdphoto1.wdp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microsoft.com/office/2007/relationships/hdphoto" Target="../media/hdphoto2.wdp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microsoft.com/office/2007/relationships/hdphoto" Target="../media/hdphoto1.wdp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48855" y="4346799"/>
            <a:ext cx="2670034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2025.02.27.</a:t>
            </a:r>
            <a:endParaRPr lang="en-US" altLang="ko-KR" sz="1400" b="1" dirty="0" smtClean="0">
              <a:ln w="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solidFill>
                <a:srgbClr val="95BCF0"/>
              </a:solidFill>
              <a:latin typeface="+mj-lt"/>
              <a:ea typeface="맑은 고딕" panose="020B0503020000020004" pitchFamily="50" charset="-127"/>
              <a:cs typeface="뉴티맥스고딕 CJK"/>
            </a:endParaRPr>
          </a:p>
          <a:p>
            <a:pPr>
              <a:spcBef>
                <a:spcPts val="500"/>
              </a:spcBef>
            </a:pPr>
            <a:r>
              <a:rPr lang="ko-KR" altLang="en-US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조성환</a:t>
            </a:r>
            <a:endParaRPr lang="en-US" altLang="ko-KR" sz="1400" b="1" dirty="0">
              <a:ln w="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solidFill>
                <a:srgbClr val="95BCF0"/>
              </a:solidFill>
              <a:latin typeface="+mj-lt"/>
              <a:ea typeface="맑은 고딕" panose="020B0503020000020004" pitchFamily="50" charset="-127"/>
              <a:cs typeface="뉴티맥스고딕 CJ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8855" y="6328660"/>
            <a:ext cx="31967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 </a:t>
            </a:r>
            <a:r>
              <a:rPr lang="en-US" altLang="ko-KR" sz="1000" b="1" dirty="0" smtClean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 </a:t>
            </a:r>
            <a:r>
              <a:rPr lang="en-US" altLang="ko-KR" sz="1000" b="1" dirty="0" err="1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TmaxSoft</a:t>
            </a:r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4571" y="6201983"/>
            <a:ext cx="2086430" cy="431891"/>
          </a:xfrm>
          <a:prstGeom prst="rect">
            <a:avLst/>
          </a:prstGeom>
        </p:spPr>
      </p:pic>
      <p:sp>
        <p:nvSpPr>
          <p:cNvPr id="8" name="object 27"/>
          <p:cNvSpPr txBox="1">
            <a:spLocks/>
          </p:cNvSpPr>
          <p:nvPr/>
        </p:nvSpPr>
        <p:spPr>
          <a:xfrm>
            <a:off x="848855" y="1888525"/>
            <a:ext cx="9171445" cy="940643"/>
          </a:xfrm>
          <a:prstGeom prst="rect">
            <a:avLst/>
          </a:prstGeom>
        </p:spPr>
        <p:txBody>
          <a:bodyPr vert="horz" wrap="square" lIns="0" tIns="17146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en-US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Kubernetes </a:t>
            </a:r>
            <a:r>
              <a:rPr lang="en-US" sz="6000" b="1" dirty="0" err="1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TroubleShooting</a:t>
            </a:r>
            <a:endParaRPr lang="en-US" sz="6000" b="1" dirty="0">
              <a:solidFill>
                <a:srgbClr val="95BCF0"/>
              </a:solidFill>
              <a:latin typeface="Univers LT Std 85 XBlk" panose="020B0904040702020204" pitchFamily="34" charset="0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24465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 txBox="1"/>
          <p:nvPr/>
        </p:nvSpPr>
        <p:spPr>
          <a:xfrm>
            <a:off x="6162121" y="3254174"/>
            <a:ext cx="2120641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sz="1200" b="1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Application Failure</a:t>
            </a:r>
            <a:endParaRPr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6162122" y="3863373"/>
            <a:ext cx="1801066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altLang="ko-KR" sz="1200" b="1" spc="-40" dirty="0" err="1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Controlplane</a:t>
            </a:r>
            <a:r>
              <a:rPr lang="en-US" altLang="ko-KR" sz="1200" b="1" spc="-4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 Failure</a:t>
            </a:r>
            <a:endParaRPr lang="ko-KR" altLang="en-US"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6162121" y="4472572"/>
            <a:ext cx="1557115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altLang="ko-KR" sz="1200" b="1" spc="-4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Worker Node Failure</a:t>
            </a:r>
            <a:endParaRPr lang="ko-KR" altLang="en-US"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9217147" y="3276656"/>
            <a:ext cx="21622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sz="1100" dirty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03</a:t>
            </a:r>
          </a:p>
        </p:txBody>
      </p:sp>
      <p:sp>
        <p:nvSpPr>
          <p:cNvPr id="15" name="object 10"/>
          <p:cNvSpPr txBox="1"/>
          <p:nvPr/>
        </p:nvSpPr>
        <p:spPr>
          <a:xfrm>
            <a:off x="9217147" y="3902770"/>
            <a:ext cx="223691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lang="en-US" sz="110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06</a:t>
            </a:r>
            <a:endParaRPr sz="1100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Lucida Sans Unicode"/>
            </a:endParaRPr>
          </a:p>
        </p:txBody>
      </p:sp>
      <p:sp>
        <p:nvSpPr>
          <p:cNvPr id="16" name="object 11"/>
          <p:cNvSpPr txBox="1"/>
          <p:nvPr/>
        </p:nvSpPr>
        <p:spPr>
          <a:xfrm>
            <a:off x="9217147" y="4528884"/>
            <a:ext cx="223251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lang="en-US" sz="110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10</a:t>
            </a:r>
            <a:endParaRPr sz="1100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Lucida Sans Unicode"/>
            </a:endParaRPr>
          </a:p>
        </p:txBody>
      </p:sp>
      <p:sp>
        <p:nvSpPr>
          <p:cNvPr id="22" name="object 17"/>
          <p:cNvSpPr/>
          <p:nvPr/>
        </p:nvSpPr>
        <p:spPr>
          <a:xfrm>
            <a:off x="6173663" y="3636263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23" name="object 18"/>
          <p:cNvSpPr/>
          <p:nvPr/>
        </p:nvSpPr>
        <p:spPr>
          <a:xfrm>
            <a:off x="6173663" y="4245462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987950" y="1974133"/>
            <a:ext cx="8339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Contents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7" name="object 4"/>
          <p:cNvSpPr txBox="1"/>
          <p:nvPr/>
        </p:nvSpPr>
        <p:spPr>
          <a:xfrm>
            <a:off x="6173663" y="5081772"/>
            <a:ext cx="1385652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altLang="ko-KR" sz="1200" b="1" spc="-4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Issue</a:t>
            </a:r>
            <a:endParaRPr lang="ko-KR" altLang="en-US"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18" name="object 11"/>
          <p:cNvSpPr txBox="1"/>
          <p:nvPr/>
        </p:nvSpPr>
        <p:spPr>
          <a:xfrm>
            <a:off x="9228688" y="5104254"/>
            <a:ext cx="223251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lang="en-US" sz="110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13</a:t>
            </a:r>
            <a:endParaRPr sz="1100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Lucida Sans Unicode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6185204" y="4854661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168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Application Failure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3422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Check Service Status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0082" y="883920"/>
            <a:ext cx="726481" cy="741680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7360" y="3234459"/>
            <a:ext cx="436880" cy="419491"/>
          </a:xfrm>
          <a:prstGeom prst="rect">
            <a:avLst/>
          </a:prstGeom>
        </p:spPr>
      </p:pic>
      <p:sp>
        <p:nvSpPr>
          <p:cNvPr id="33" name="직사각형 32"/>
          <p:cNvSpPr/>
          <p:nvPr/>
        </p:nvSpPr>
        <p:spPr>
          <a:xfrm>
            <a:off x="9357360" y="3234459"/>
            <a:ext cx="1737361" cy="669439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WEB Pod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7360" y="5517673"/>
            <a:ext cx="436880" cy="419491"/>
          </a:xfrm>
          <a:prstGeom prst="rect">
            <a:avLst/>
          </a:prstGeom>
        </p:spPr>
      </p:pic>
      <p:sp>
        <p:nvSpPr>
          <p:cNvPr id="36" name="직사각형 35"/>
          <p:cNvSpPr/>
          <p:nvPr/>
        </p:nvSpPr>
        <p:spPr>
          <a:xfrm>
            <a:off x="9357360" y="5517673"/>
            <a:ext cx="1737361" cy="66943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DB Pod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9357360" y="2095310"/>
            <a:ext cx="1737361" cy="669439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WEB svc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9357360" y="4376066"/>
            <a:ext cx="1737361" cy="66943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DB svc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47" name="그림 46"/>
          <p:cNvPicPr>
            <a:picLocks noChangeAspect="1"/>
          </p:cNvPicPr>
          <p:nvPr/>
        </p:nvPicPr>
        <p:blipFill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498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7360" y="4373608"/>
            <a:ext cx="436880" cy="419492"/>
          </a:xfrm>
          <a:prstGeom prst="rect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498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7360" y="2095310"/>
            <a:ext cx="436880" cy="419492"/>
          </a:xfrm>
          <a:prstGeom prst="rect">
            <a:avLst/>
          </a:prstGeom>
        </p:spPr>
      </p:pic>
      <p:sp>
        <p:nvSpPr>
          <p:cNvPr id="2" name="아래쪽 화살표 1"/>
          <p:cNvSpPr/>
          <p:nvPr/>
        </p:nvSpPr>
        <p:spPr>
          <a:xfrm rot="10800000">
            <a:off x="10040442" y="1623142"/>
            <a:ext cx="365760" cy="469710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아래쪽 화살표 48"/>
          <p:cNvSpPr/>
          <p:nvPr/>
        </p:nvSpPr>
        <p:spPr>
          <a:xfrm rot="10800000">
            <a:off x="10040442" y="3903898"/>
            <a:ext cx="365760" cy="469710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/>
          <p:cNvCxnSpPr>
            <a:stCxn id="39" idx="2"/>
            <a:endCxn id="33" idx="0"/>
          </p:cNvCxnSpPr>
          <p:nvPr/>
        </p:nvCxnSpPr>
        <p:spPr>
          <a:xfrm>
            <a:off x="10226041" y="2764749"/>
            <a:ext cx="0" cy="46971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>
            <a:stCxn id="46" idx="2"/>
            <a:endCxn id="36" idx="0"/>
          </p:cNvCxnSpPr>
          <p:nvPr/>
        </p:nvCxnSpPr>
        <p:spPr>
          <a:xfrm>
            <a:off x="10226041" y="5045505"/>
            <a:ext cx="0" cy="472168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20"/>
          <p:cNvSpPr txBox="1"/>
          <p:nvPr/>
        </p:nvSpPr>
        <p:spPr>
          <a:xfrm>
            <a:off x="714896" y="920061"/>
            <a:ext cx="7189584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>
                <a:solidFill>
                  <a:schemeClr val="bg1"/>
                </a:solidFill>
              </a:rPr>
              <a:t> curl </a:t>
            </a:r>
            <a:r>
              <a:rPr lang="en-US" altLang="ko-KR" sz="1200" dirty="0" smtClean="0">
                <a:solidFill>
                  <a:schemeClr val="bg1"/>
                </a:solidFill>
              </a:rPr>
              <a:t>${SERVICE_IP}:${NODE_PORT}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…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curl: (7) Failed to connect to </a:t>
            </a:r>
            <a:r>
              <a:rPr lang="en-US" altLang="ko-KR" sz="1200" dirty="0" smtClean="0">
                <a:solidFill>
                  <a:schemeClr val="bg1"/>
                </a:solidFill>
              </a:rPr>
              <a:t>${SERVICE_IP} </a:t>
            </a:r>
            <a:r>
              <a:rPr lang="en-US" altLang="ko-KR" sz="1200" dirty="0">
                <a:solidFill>
                  <a:schemeClr val="bg1"/>
                </a:solidFill>
              </a:rPr>
              <a:t>port </a:t>
            </a:r>
            <a:r>
              <a:rPr lang="en-US" altLang="ko-KR" sz="1200" dirty="0" smtClean="0">
                <a:solidFill>
                  <a:schemeClr val="bg1"/>
                </a:solidFill>
              </a:rPr>
              <a:t>${NODE_PORT} </a:t>
            </a:r>
            <a:r>
              <a:rPr lang="en-US" altLang="ko-KR" sz="1200" dirty="0">
                <a:solidFill>
                  <a:schemeClr val="bg1"/>
                </a:solidFill>
              </a:rPr>
              <a:t>after 0 </a:t>
            </a:r>
            <a:r>
              <a:rPr lang="en-US" altLang="ko-KR" sz="1200" dirty="0" err="1">
                <a:solidFill>
                  <a:schemeClr val="bg1"/>
                </a:solidFill>
              </a:rPr>
              <a:t>ms</a:t>
            </a:r>
            <a:r>
              <a:rPr lang="en-US" altLang="ko-KR" sz="1200" dirty="0">
                <a:solidFill>
                  <a:schemeClr val="bg1"/>
                </a:solidFill>
              </a:rPr>
              <a:t>: Connection refused</a:t>
            </a:r>
          </a:p>
        </p:txBody>
      </p:sp>
      <p:grpSp>
        <p:nvGrpSpPr>
          <p:cNvPr id="22" name="그룹 21"/>
          <p:cNvGrpSpPr/>
          <p:nvPr/>
        </p:nvGrpSpPr>
        <p:grpSpPr>
          <a:xfrm>
            <a:off x="699597" y="1727838"/>
            <a:ext cx="8499468" cy="3608670"/>
            <a:chOff x="699597" y="1727838"/>
            <a:chExt cx="8499468" cy="3608670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14896" y="1727838"/>
              <a:ext cx="4725059" cy="2769989"/>
            </a:xfrm>
            <a:prstGeom prst="rect">
              <a:avLst/>
            </a:prstGeom>
          </p:spPr>
        </p:pic>
        <p:grpSp>
          <p:nvGrpSpPr>
            <p:cNvPr id="11" name="그룹 10"/>
            <p:cNvGrpSpPr/>
            <p:nvPr/>
          </p:nvGrpSpPr>
          <p:grpSpPr>
            <a:xfrm>
              <a:off x="5759811" y="1727839"/>
              <a:ext cx="2833553" cy="2769989"/>
              <a:chOff x="6338210" y="3994370"/>
              <a:chExt cx="2833553" cy="2769989"/>
            </a:xfrm>
          </p:grpSpPr>
          <p:sp>
            <p:nvSpPr>
              <p:cNvPr id="59" name="TextBox 3"/>
              <p:cNvSpPr txBox="1"/>
              <p:nvPr/>
            </p:nvSpPr>
            <p:spPr>
              <a:xfrm>
                <a:off x="6338210" y="4271369"/>
                <a:ext cx="2833553" cy="2492990"/>
              </a:xfrm>
              <a:prstGeom prst="rect">
                <a:avLst/>
              </a:prstGeom>
              <a:solidFill>
                <a:srgbClr val="BBE0E3"/>
              </a:solidFill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1200" dirty="0" err="1"/>
                  <a:t>apiVersion</a:t>
                </a:r>
                <a:r>
                  <a:rPr lang="en-US" altLang="ko-KR" sz="1200" dirty="0"/>
                  <a:t>: v1</a:t>
                </a:r>
              </a:p>
              <a:p>
                <a:r>
                  <a:rPr lang="en-US" altLang="ko-KR" sz="1200" dirty="0"/>
                  <a:t>kind: Pod</a:t>
                </a:r>
              </a:p>
              <a:p>
                <a:r>
                  <a:rPr lang="en-US" altLang="ko-KR" sz="1200" dirty="0"/>
                  <a:t>metadata:</a:t>
                </a:r>
              </a:p>
              <a:p>
                <a:r>
                  <a:rPr lang="en-US" altLang="ko-KR" sz="1200" dirty="0"/>
                  <a:t>  </a:t>
                </a:r>
                <a:r>
                  <a:rPr lang="en-US" altLang="ko-KR" sz="1200" dirty="0" err="1"/>
                  <a:t>creationTimestamp</a:t>
                </a:r>
                <a:r>
                  <a:rPr lang="en-US" altLang="ko-KR" sz="1200" dirty="0"/>
                  <a:t>: null</a:t>
                </a:r>
              </a:p>
              <a:p>
                <a:r>
                  <a:rPr lang="en-US" altLang="ko-KR" sz="1200" b="1" dirty="0">
                    <a:solidFill>
                      <a:srgbClr val="FF0000"/>
                    </a:solidFill>
                  </a:rPr>
                  <a:t>  labels:</a:t>
                </a:r>
              </a:p>
              <a:p>
                <a:r>
                  <a:rPr lang="en-US" altLang="ko-KR" sz="1200" b="1" dirty="0">
                    <a:solidFill>
                      <a:srgbClr val="FF0000"/>
                    </a:solidFill>
                  </a:rPr>
                  <a:t>    run: </a:t>
                </a:r>
                <a:r>
                  <a:rPr lang="en-US" altLang="ko-KR" sz="1200" b="1" dirty="0" err="1">
                    <a:solidFill>
                      <a:srgbClr val="FF0000"/>
                    </a:solidFill>
                  </a:rPr>
                  <a:t>nginx</a:t>
                </a:r>
                <a:endParaRPr lang="en-US" altLang="ko-KR" sz="1200" b="1" dirty="0">
                  <a:solidFill>
                    <a:srgbClr val="FF0000"/>
                  </a:solidFill>
                </a:endParaRPr>
              </a:p>
              <a:p>
                <a:r>
                  <a:rPr lang="en-US" altLang="ko-KR" sz="1200" dirty="0"/>
                  <a:t>  name: </a:t>
                </a:r>
                <a:r>
                  <a:rPr lang="en-US" altLang="ko-KR" sz="1200" dirty="0" err="1"/>
                  <a:t>nginx</a:t>
                </a:r>
                <a:endParaRPr lang="en-US" altLang="ko-KR" sz="1200" dirty="0"/>
              </a:p>
              <a:p>
                <a:r>
                  <a:rPr lang="en-US" altLang="ko-KR" sz="1200" dirty="0"/>
                  <a:t>spec:</a:t>
                </a:r>
              </a:p>
              <a:p>
                <a:r>
                  <a:rPr lang="en-US" altLang="ko-KR" sz="1200" dirty="0"/>
                  <a:t>  containers:</a:t>
                </a:r>
              </a:p>
              <a:p>
                <a:r>
                  <a:rPr lang="en-US" altLang="ko-KR" sz="1200" dirty="0"/>
                  <a:t>  - image: </a:t>
                </a:r>
                <a:r>
                  <a:rPr lang="en-US" altLang="ko-KR" sz="1200" dirty="0" err="1"/>
                  <a:t>nginx</a:t>
                </a:r>
                <a:endParaRPr lang="en-US" altLang="ko-KR" sz="1200" dirty="0"/>
              </a:p>
              <a:p>
                <a:r>
                  <a:rPr lang="en-US" altLang="ko-KR" sz="1200" dirty="0"/>
                  <a:t>    name: </a:t>
                </a:r>
                <a:r>
                  <a:rPr lang="en-US" altLang="ko-KR" sz="1200" dirty="0" err="1"/>
                  <a:t>nginx</a:t>
                </a:r>
                <a:endParaRPr lang="en-US" altLang="ko-KR" sz="1200" dirty="0"/>
              </a:p>
              <a:p>
                <a:r>
                  <a:rPr lang="en-US" altLang="ko-KR" sz="1200" dirty="0"/>
                  <a:t>  </a:t>
                </a:r>
                <a:r>
                  <a:rPr lang="en-US" altLang="ko-KR" sz="1200" dirty="0" err="1"/>
                  <a:t>dnsPolicy</a:t>
                </a:r>
                <a:r>
                  <a:rPr lang="en-US" altLang="ko-KR" sz="1200" dirty="0"/>
                  <a:t>: </a:t>
                </a:r>
                <a:r>
                  <a:rPr lang="en-US" altLang="ko-KR" sz="1200" dirty="0" err="1"/>
                  <a:t>ClusterFirst</a:t>
                </a:r>
                <a:endParaRPr lang="en-US" altLang="ko-KR" sz="1200" dirty="0"/>
              </a:p>
              <a:p>
                <a:r>
                  <a:rPr lang="en-US" altLang="ko-KR" sz="1200" dirty="0"/>
                  <a:t>  </a:t>
                </a:r>
                <a:r>
                  <a:rPr lang="en-US" altLang="ko-KR" sz="1200" dirty="0" err="1"/>
                  <a:t>restartPolicy</a:t>
                </a:r>
                <a:r>
                  <a:rPr lang="en-US" altLang="ko-KR" sz="1200" dirty="0"/>
                  <a:t>: </a:t>
                </a:r>
                <a:r>
                  <a:rPr lang="en-US" altLang="ko-KR" sz="1200" dirty="0" smtClean="0"/>
                  <a:t>Always</a:t>
                </a:r>
                <a:endParaRPr lang="en-US" altLang="ko-KR" sz="1200" dirty="0"/>
              </a:p>
            </p:txBody>
          </p:sp>
          <p:sp>
            <p:nvSpPr>
              <p:cNvPr id="60" name="TextBox 3"/>
              <p:cNvSpPr txBox="1"/>
              <p:nvPr/>
            </p:nvSpPr>
            <p:spPr>
              <a:xfrm>
                <a:off x="6338211" y="3994370"/>
                <a:ext cx="997310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rgbClr val="BBE0E3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altLang="ko-KR" sz="1200" b="1" dirty="0" err="1" smtClean="0">
                    <a:solidFill>
                      <a:sysClr val="windowText" lastClr="000000"/>
                    </a:solidFill>
                  </a:rPr>
                  <a:t>nginx.yaml</a:t>
                </a:r>
                <a:endParaRPr lang="en-US" altLang="ko-KR" sz="1200" b="1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2" name="직사각형 11"/>
            <p:cNvSpPr/>
            <p:nvPr/>
          </p:nvSpPr>
          <p:spPr>
            <a:xfrm>
              <a:off x="714896" y="3893737"/>
              <a:ext cx="3145904" cy="16010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699597" y="2494482"/>
              <a:ext cx="3145904" cy="16010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" name="직선 연결선 14"/>
            <p:cNvCxnSpPr>
              <a:stCxn id="64" idx="3"/>
            </p:cNvCxnSpPr>
            <p:nvPr/>
          </p:nvCxnSpPr>
          <p:spPr>
            <a:xfrm>
              <a:off x="3845501" y="2574534"/>
              <a:ext cx="2034599" cy="34138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아래쪽 화살표 66"/>
            <p:cNvSpPr/>
            <p:nvPr/>
          </p:nvSpPr>
          <p:spPr>
            <a:xfrm rot="5400000">
              <a:off x="8781330" y="2236850"/>
              <a:ext cx="365760" cy="469710"/>
            </a:xfrm>
            <a:prstGeom prst="downArrow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99597" y="4898297"/>
              <a:ext cx="7621064" cy="438211"/>
            </a:xfrm>
            <a:prstGeom prst="rect">
              <a:avLst/>
            </a:prstGeom>
          </p:spPr>
        </p:pic>
        <p:sp>
          <p:nvSpPr>
            <p:cNvPr id="70" name="직사각형 69"/>
            <p:cNvSpPr/>
            <p:nvPr/>
          </p:nvSpPr>
          <p:spPr>
            <a:xfrm>
              <a:off x="3886141" y="5030763"/>
              <a:ext cx="1092259" cy="28542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1" name="직선 연결선 70"/>
            <p:cNvCxnSpPr>
              <a:stCxn id="12" idx="2"/>
              <a:endCxn id="70" idx="0"/>
            </p:cNvCxnSpPr>
            <p:nvPr/>
          </p:nvCxnSpPr>
          <p:spPr>
            <a:xfrm>
              <a:off x="2287848" y="4053840"/>
              <a:ext cx="2144423" cy="976923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874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Check Pod Status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0082" y="883920"/>
            <a:ext cx="726481" cy="741680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7360" y="3234459"/>
            <a:ext cx="436880" cy="419491"/>
          </a:xfrm>
          <a:prstGeom prst="rect">
            <a:avLst/>
          </a:prstGeom>
        </p:spPr>
      </p:pic>
      <p:sp>
        <p:nvSpPr>
          <p:cNvPr id="33" name="직사각형 32"/>
          <p:cNvSpPr/>
          <p:nvPr/>
        </p:nvSpPr>
        <p:spPr>
          <a:xfrm>
            <a:off x="9357360" y="3234459"/>
            <a:ext cx="1737361" cy="669439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WEB Pod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7360" y="5517673"/>
            <a:ext cx="436880" cy="419491"/>
          </a:xfrm>
          <a:prstGeom prst="rect">
            <a:avLst/>
          </a:prstGeom>
        </p:spPr>
      </p:pic>
      <p:sp>
        <p:nvSpPr>
          <p:cNvPr id="36" name="직사각형 35"/>
          <p:cNvSpPr/>
          <p:nvPr/>
        </p:nvSpPr>
        <p:spPr>
          <a:xfrm>
            <a:off x="9357360" y="5517673"/>
            <a:ext cx="1737361" cy="66943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DB Pod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9357360" y="2095310"/>
            <a:ext cx="1737361" cy="669439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WEB svc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9357360" y="4376066"/>
            <a:ext cx="1737361" cy="66943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DB svc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47" name="그림 46"/>
          <p:cNvPicPr>
            <a:picLocks noChangeAspect="1"/>
          </p:cNvPicPr>
          <p:nvPr/>
        </p:nvPicPr>
        <p:blipFill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498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7360" y="4373608"/>
            <a:ext cx="436880" cy="419492"/>
          </a:xfrm>
          <a:prstGeom prst="rect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498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7360" y="2095310"/>
            <a:ext cx="436880" cy="419492"/>
          </a:xfrm>
          <a:prstGeom prst="rect">
            <a:avLst/>
          </a:prstGeom>
        </p:spPr>
      </p:pic>
      <p:sp>
        <p:nvSpPr>
          <p:cNvPr id="2" name="아래쪽 화살표 1"/>
          <p:cNvSpPr/>
          <p:nvPr/>
        </p:nvSpPr>
        <p:spPr>
          <a:xfrm rot="10800000">
            <a:off x="10040442" y="1623142"/>
            <a:ext cx="365760" cy="469710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아래쪽 화살표 48"/>
          <p:cNvSpPr/>
          <p:nvPr/>
        </p:nvSpPr>
        <p:spPr>
          <a:xfrm rot="10800000">
            <a:off x="10040442" y="3903898"/>
            <a:ext cx="365760" cy="469710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/>
          <p:cNvCxnSpPr>
            <a:stCxn id="39" idx="2"/>
            <a:endCxn id="33" idx="0"/>
          </p:cNvCxnSpPr>
          <p:nvPr/>
        </p:nvCxnSpPr>
        <p:spPr>
          <a:xfrm>
            <a:off x="10226041" y="2764749"/>
            <a:ext cx="0" cy="46971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>
            <a:stCxn id="46" idx="2"/>
            <a:endCxn id="36" idx="0"/>
          </p:cNvCxnSpPr>
          <p:nvPr/>
        </p:nvCxnSpPr>
        <p:spPr>
          <a:xfrm>
            <a:off x="10226041" y="5045505"/>
            <a:ext cx="0" cy="472168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20"/>
          <p:cNvSpPr txBox="1"/>
          <p:nvPr/>
        </p:nvSpPr>
        <p:spPr>
          <a:xfrm>
            <a:off x="714896" y="920061"/>
            <a:ext cx="7189584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>
                <a:solidFill>
                  <a:schemeClr val="bg1"/>
                </a:solidFill>
              </a:rPr>
              <a:t> curl </a:t>
            </a:r>
            <a:r>
              <a:rPr lang="en-US" altLang="ko-KR" sz="1200" dirty="0" smtClean="0">
                <a:solidFill>
                  <a:schemeClr val="bg1"/>
                </a:solidFill>
              </a:rPr>
              <a:t>${SERVICE_IP}:${NODE_PORT}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…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curl: (7) Failed to connect to </a:t>
            </a:r>
            <a:r>
              <a:rPr lang="en-US" altLang="ko-KR" sz="1200" dirty="0" smtClean="0">
                <a:solidFill>
                  <a:schemeClr val="bg1"/>
                </a:solidFill>
              </a:rPr>
              <a:t>${SERVICE_IP} </a:t>
            </a:r>
            <a:r>
              <a:rPr lang="en-US" altLang="ko-KR" sz="1200" dirty="0">
                <a:solidFill>
                  <a:schemeClr val="bg1"/>
                </a:solidFill>
              </a:rPr>
              <a:t>port </a:t>
            </a:r>
            <a:r>
              <a:rPr lang="en-US" altLang="ko-KR" sz="1200" dirty="0" smtClean="0">
                <a:solidFill>
                  <a:schemeClr val="bg1"/>
                </a:solidFill>
              </a:rPr>
              <a:t>${NODE_PORT} </a:t>
            </a:r>
            <a:r>
              <a:rPr lang="en-US" altLang="ko-KR" sz="1200" dirty="0">
                <a:solidFill>
                  <a:schemeClr val="bg1"/>
                </a:solidFill>
              </a:rPr>
              <a:t>after 0 </a:t>
            </a:r>
            <a:r>
              <a:rPr lang="en-US" altLang="ko-KR" sz="1200" dirty="0" err="1">
                <a:solidFill>
                  <a:schemeClr val="bg1"/>
                </a:solidFill>
              </a:rPr>
              <a:t>ms</a:t>
            </a:r>
            <a:r>
              <a:rPr lang="en-US" altLang="ko-KR" sz="1200" dirty="0">
                <a:solidFill>
                  <a:schemeClr val="bg1"/>
                </a:solidFill>
              </a:rPr>
              <a:t>: Connection refused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714896" y="1809475"/>
            <a:ext cx="8495321" cy="3433085"/>
            <a:chOff x="714896" y="1809475"/>
            <a:chExt cx="8495321" cy="3433085"/>
          </a:xfrm>
        </p:grpSpPr>
        <p:sp>
          <p:nvSpPr>
            <p:cNvPr id="67" name="아래쪽 화살표 66"/>
            <p:cNvSpPr/>
            <p:nvPr/>
          </p:nvSpPr>
          <p:spPr>
            <a:xfrm rot="5400000">
              <a:off x="8792482" y="3334323"/>
              <a:ext cx="365760" cy="469710"/>
            </a:xfrm>
            <a:prstGeom prst="downArrow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14896" y="1809475"/>
              <a:ext cx="7621064" cy="438211"/>
            </a:xfrm>
            <a:prstGeom prst="rect">
              <a:avLst/>
            </a:prstGeom>
          </p:spPr>
        </p:pic>
        <p:sp>
          <p:nvSpPr>
            <p:cNvPr id="32" name="직사각형 31"/>
            <p:cNvSpPr/>
            <p:nvPr/>
          </p:nvSpPr>
          <p:spPr>
            <a:xfrm>
              <a:off x="1894781" y="1948086"/>
              <a:ext cx="655379" cy="28542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14896" y="2430029"/>
              <a:ext cx="7468642" cy="1438476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14896" y="4067632"/>
              <a:ext cx="5239481" cy="190527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14896" y="4252269"/>
              <a:ext cx="8446117" cy="9902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9075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Controlplane</a:t>
            </a:r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Failure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340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Controlplane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장애 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CASE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graphicFrame>
        <p:nvGraphicFramePr>
          <p:cNvPr id="29" name="표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499903"/>
              </p:ext>
            </p:extLst>
          </p:nvPr>
        </p:nvGraphicFramePr>
        <p:xfrm>
          <a:off x="737780" y="824404"/>
          <a:ext cx="10915739" cy="319105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78140">
                  <a:extLst>
                    <a:ext uri="{9D8B030D-6E8A-4147-A177-3AD203B41FA5}">
                      <a16:colId xmlns:a16="http://schemas.microsoft.com/office/drawing/2014/main" val="153318097"/>
                    </a:ext>
                  </a:extLst>
                </a:gridCol>
                <a:gridCol w="8737599">
                  <a:extLst>
                    <a:ext uri="{9D8B030D-6E8A-4147-A177-3AD203B41FA5}">
                      <a16:colId xmlns:a16="http://schemas.microsoft.com/office/drawing/2014/main" val="2398426215"/>
                    </a:ext>
                  </a:extLst>
                </a:gridCol>
              </a:tblGrid>
              <a:tr h="30335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컴포넌트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382401"/>
                  </a:ext>
                </a:extLst>
              </a:tr>
              <a:tr h="5526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kube-apiserver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kubectl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명령어 실행 불가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Kubernetes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Cluster API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요청 불가</a:t>
                      </a:r>
                      <a:endParaRPr lang="en-US" altLang="ko-KR" sz="11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배포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스케일링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 등이 불가능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781775"/>
                  </a:ext>
                </a:extLst>
              </a:tr>
              <a:tr h="5526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sz="1100" b="1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etcd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모든 클러스터 상태 정보 조회 불가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클러스터 데이터 손실 가능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6424847"/>
                  </a:ext>
                </a:extLst>
              </a:tr>
              <a:tr h="5526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kube</a:t>
                      </a:r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-scheduler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Pod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노드에 배치되지 않음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(Pending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HPA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동작 불가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9802272"/>
                  </a:ext>
                </a:extLst>
              </a:tr>
              <a:tr h="5526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kube</a:t>
                      </a:r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-controller-manager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Replicaset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Deployment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 동작 하지 않음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Node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 발생 시 확인 불가</a:t>
                      </a:r>
                      <a:endParaRPr lang="en-US" altLang="ko-KR" sz="11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Service Account Token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자동으로 생성되지 않음</a:t>
                      </a:r>
                      <a:endParaRPr lang="en-US" altLang="ko-KR" sz="11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Persistent Volume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바인딩이 정상 동작하지 않음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73862"/>
                  </a:ext>
                </a:extLst>
              </a:tr>
              <a:tr h="5526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kubelet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노드 상태 확인 불가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Pod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는 운영 되지만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새로 추가되는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Pod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 불가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운영 중인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Pod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 확인 불가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(Liveness, Readiness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불가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3838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69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Check </a:t>
            </a:r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Controlplane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Status 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1200" y="71545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err="1" smtClean="0"/>
              <a:t>Controlplan</a:t>
            </a:r>
            <a:r>
              <a:rPr lang="en-US" altLang="ko-KR" sz="1400" b="1" dirty="0" smtClean="0"/>
              <a:t> Pod Check</a:t>
            </a:r>
          </a:p>
        </p:txBody>
      </p:sp>
      <p:sp>
        <p:nvSpPr>
          <p:cNvPr id="8" name="TextBox 20"/>
          <p:cNvSpPr txBox="1"/>
          <p:nvPr/>
        </p:nvSpPr>
        <p:spPr>
          <a:xfrm>
            <a:off x="979056" y="1023227"/>
            <a:ext cx="7189584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get pods –n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</a:t>
            </a:r>
            <a:r>
              <a:rPr lang="en-US" altLang="ko-KR" sz="1200" dirty="0" smtClean="0">
                <a:solidFill>
                  <a:schemeClr val="bg1"/>
                </a:solidFill>
              </a:rPr>
              <a:t>-system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056" y="1331004"/>
            <a:ext cx="6230219" cy="22958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1200" y="372281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err="1" smtClean="0"/>
              <a:t>Controlplan</a:t>
            </a:r>
            <a:r>
              <a:rPr lang="en-US" altLang="ko-KR" sz="1400" b="1" dirty="0" smtClean="0"/>
              <a:t> Pod Previous log Check</a:t>
            </a:r>
          </a:p>
        </p:txBody>
      </p:sp>
      <p:sp>
        <p:nvSpPr>
          <p:cNvPr id="10" name="TextBox 20"/>
          <p:cNvSpPr txBox="1"/>
          <p:nvPr/>
        </p:nvSpPr>
        <p:spPr>
          <a:xfrm>
            <a:off x="979056" y="4030587"/>
            <a:ext cx="7189584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logs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</a:t>
            </a:r>
            <a:r>
              <a:rPr lang="en-US" altLang="ko-KR" sz="1200" dirty="0" smtClean="0">
                <a:solidFill>
                  <a:schemeClr val="bg1"/>
                </a:solidFill>
              </a:rPr>
              <a:t>-scheduler-master -p -n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</a:t>
            </a:r>
            <a:r>
              <a:rPr lang="en-US" altLang="ko-KR" sz="1200" dirty="0" smtClean="0">
                <a:solidFill>
                  <a:schemeClr val="bg1"/>
                </a:solidFill>
              </a:rPr>
              <a:t>-system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1200" y="4390354"/>
            <a:ext cx="10922000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err="1" smtClean="0"/>
              <a:t>Controlplan</a:t>
            </a:r>
            <a:r>
              <a:rPr lang="en-US" altLang="ko-KR" sz="1400" b="1" dirty="0" smtClean="0"/>
              <a:t> Pod </a:t>
            </a:r>
            <a:r>
              <a:rPr lang="en-US" altLang="ko-KR" sz="1400" b="1" dirty="0" err="1" smtClean="0"/>
              <a:t>yaml</a:t>
            </a:r>
            <a:endParaRPr lang="en-US" altLang="ko-KR" sz="1400" b="1" dirty="0" smtClean="0"/>
          </a:p>
          <a:p>
            <a:pPr marL="360000" indent="-1800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/</a:t>
            </a:r>
            <a:r>
              <a:rPr lang="en-US" altLang="ko-KR" sz="1200" dirty="0" err="1" smtClean="0"/>
              <a:t>etc</a:t>
            </a:r>
            <a:r>
              <a:rPr lang="en-US" altLang="ko-KR" sz="1200" dirty="0" smtClean="0"/>
              <a:t>/</a:t>
            </a:r>
            <a:r>
              <a:rPr lang="en-US" altLang="ko-KR" sz="1200" dirty="0" err="1" smtClean="0"/>
              <a:t>kubernetes</a:t>
            </a:r>
            <a:r>
              <a:rPr lang="en-US" altLang="ko-KR" sz="1200" dirty="0" smtClean="0"/>
              <a:t>/manifest </a:t>
            </a:r>
            <a:r>
              <a:rPr lang="ko-KR" altLang="en-US" sz="1200" dirty="0" smtClean="0"/>
              <a:t>디렉터리에 </a:t>
            </a:r>
            <a:r>
              <a:rPr lang="en-US" altLang="ko-KR" sz="1200" dirty="0" err="1" smtClean="0"/>
              <a:t>Controlplane</a:t>
            </a:r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yaml</a:t>
            </a:r>
            <a:r>
              <a:rPr lang="ko-KR" altLang="en-US" sz="1200" dirty="0" smtClean="0"/>
              <a:t>이 존재</a:t>
            </a:r>
            <a:endParaRPr lang="en-US" altLang="ko-KR" sz="1200" dirty="0" smtClean="0"/>
          </a:p>
          <a:p>
            <a:pPr marL="360000" indent="-1800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1200" b="1" dirty="0" err="1" smtClean="0">
                <a:solidFill>
                  <a:srgbClr val="FF0000"/>
                </a:solidFill>
              </a:rPr>
              <a:t>Controlplan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200" b="1" dirty="0" err="1" smtClean="0">
                <a:solidFill>
                  <a:srgbClr val="FF0000"/>
                </a:solidFill>
              </a:rPr>
              <a:t>yaml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내용 수정 시 기존 파일은 다른 경로에 백업 필수</a:t>
            </a:r>
            <a:endParaRPr lang="en-US" altLang="ko-KR" sz="12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161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Check </a:t>
            </a:r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kubelet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&amp; </a:t>
            </a:r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crio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(Runtime) 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1200" y="71545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err="1"/>
              <a:t>k</a:t>
            </a:r>
            <a:r>
              <a:rPr lang="en-US" altLang="ko-KR" sz="1400" b="1" dirty="0" err="1" smtClean="0"/>
              <a:t>ubelet</a:t>
            </a:r>
            <a:r>
              <a:rPr lang="en-US" altLang="ko-KR" sz="1400" b="1" dirty="0" smtClean="0"/>
              <a:t> Check</a:t>
            </a:r>
          </a:p>
        </p:txBody>
      </p:sp>
      <p:sp>
        <p:nvSpPr>
          <p:cNvPr id="8" name="TextBox 20"/>
          <p:cNvSpPr txBox="1"/>
          <p:nvPr/>
        </p:nvSpPr>
        <p:spPr>
          <a:xfrm>
            <a:off x="979056" y="1023227"/>
            <a:ext cx="687801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systemctl</a:t>
            </a:r>
            <a:r>
              <a:rPr lang="en-US" altLang="ko-KR" sz="1200" dirty="0" smtClean="0">
                <a:solidFill>
                  <a:schemeClr val="bg1"/>
                </a:solidFill>
              </a:rPr>
              <a:t> status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kubelet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2668592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err="1"/>
              <a:t>c</a:t>
            </a:r>
            <a:r>
              <a:rPr lang="en-US" altLang="ko-KR" sz="1400" b="1" dirty="0" err="1" smtClean="0"/>
              <a:t>rio</a:t>
            </a:r>
            <a:r>
              <a:rPr lang="en-US" altLang="ko-KR" sz="1400" b="1" dirty="0" smtClean="0"/>
              <a:t> Check</a:t>
            </a:r>
          </a:p>
        </p:txBody>
      </p:sp>
      <p:sp>
        <p:nvSpPr>
          <p:cNvPr id="10" name="TextBox 20"/>
          <p:cNvSpPr txBox="1"/>
          <p:nvPr/>
        </p:nvSpPr>
        <p:spPr>
          <a:xfrm>
            <a:off x="979056" y="2976369"/>
            <a:ext cx="670653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systemctl</a:t>
            </a:r>
            <a:r>
              <a:rPr lang="en-US" altLang="ko-KR" sz="1200" dirty="0" smtClean="0">
                <a:solidFill>
                  <a:schemeClr val="bg1"/>
                </a:solidFill>
              </a:rPr>
              <a:t> status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crio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056" y="1300226"/>
            <a:ext cx="6878010" cy="13241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056" y="3253368"/>
            <a:ext cx="6706536" cy="14480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200" y="478384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err="1"/>
              <a:t>k</a:t>
            </a:r>
            <a:r>
              <a:rPr lang="en-US" altLang="ko-KR" sz="1400" b="1" dirty="0" err="1" smtClean="0"/>
              <a:t>ubelet</a:t>
            </a:r>
            <a:r>
              <a:rPr lang="en-US" altLang="ko-KR" sz="1400" b="1" dirty="0" smtClean="0"/>
              <a:t> &amp; </a:t>
            </a:r>
            <a:r>
              <a:rPr lang="en-US" altLang="ko-KR" sz="1400" b="1" dirty="0" err="1" smtClean="0"/>
              <a:t>crio</a:t>
            </a:r>
            <a:r>
              <a:rPr lang="en-US" altLang="ko-KR" sz="1400" b="1" dirty="0" smtClean="0"/>
              <a:t> </a:t>
            </a:r>
            <a:r>
              <a:rPr lang="ko-KR" altLang="en-US" sz="1400" b="1" dirty="0" smtClean="0"/>
              <a:t>로그 확인</a:t>
            </a:r>
            <a:endParaRPr lang="en-US" altLang="ko-KR" sz="1400" b="1" dirty="0" smtClean="0"/>
          </a:p>
        </p:txBody>
      </p:sp>
      <p:sp>
        <p:nvSpPr>
          <p:cNvPr id="13" name="TextBox 20"/>
          <p:cNvSpPr txBox="1"/>
          <p:nvPr/>
        </p:nvSpPr>
        <p:spPr>
          <a:xfrm>
            <a:off x="979056" y="5060839"/>
            <a:ext cx="6878010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journalctl</a:t>
            </a:r>
            <a:r>
              <a:rPr lang="en-US" altLang="ko-KR" sz="1200" dirty="0">
                <a:solidFill>
                  <a:schemeClr val="bg1"/>
                </a:solidFill>
              </a:rPr>
              <a:t> -u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kubelet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journalctl</a:t>
            </a:r>
            <a:r>
              <a:rPr lang="en-US" altLang="ko-KR" sz="1200" dirty="0">
                <a:solidFill>
                  <a:schemeClr val="bg1"/>
                </a:solidFill>
              </a:rPr>
              <a:t> -u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crio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5992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Worker Node Failure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677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Check Node Status 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" name="TextBox 20"/>
          <p:cNvSpPr txBox="1"/>
          <p:nvPr/>
        </p:nvSpPr>
        <p:spPr>
          <a:xfrm>
            <a:off x="711200" y="707756"/>
            <a:ext cx="476504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get nodes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0" name="TextBox 20"/>
          <p:cNvSpPr txBox="1"/>
          <p:nvPr/>
        </p:nvSpPr>
        <p:spPr>
          <a:xfrm>
            <a:off x="711199" y="2058984"/>
            <a:ext cx="10715359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describe nodes worker1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976465"/>
            <a:ext cx="4765040" cy="89489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" y="2335983"/>
            <a:ext cx="10715359" cy="91738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99" y="3253368"/>
            <a:ext cx="10715359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91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Check Node 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" name="TextBox 20"/>
          <p:cNvSpPr txBox="1"/>
          <p:nvPr/>
        </p:nvSpPr>
        <p:spPr>
          <a:xfrm>
            <a:off x="711199" y="707756"/>
            <a:ext cx="6496957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top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0" name="TextBox 20"/>
          <p:cNvSpPr txBox="1"/>
          <p:nvPr/>
        </p:nvSpPr>
        <p:spPr>
          <a:xfrm>
            <a:off x="711201" y="2788539"/>
            <a:ext cx="6163534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free -h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984755"/>
            <a:ext cx="6496957" cy="161947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99" y="3065538"/>
            <a:ext cx="6163535" cy="428685"/>
          </a:xfrm>
          <a:prstGeom prst="rect">
            <a:avLst/>
          </a:prstGeom>
        </p:spPr>
      </p:pic>
      <p:sp>
        <p:nvSpPr>
          <p:cNvPr id="11" name="TextBox 20"/>
          <p:cNvSpPr txBox="1"/>
          <p:nvPr/>
        </p:nvSpPr>
        <p:spPr>
          <a:xfrm>
            <a:off x="711200" y="3678531"/>
            <a:ext cx="4439269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df</a:t>
            </a:r>
            <a:r>
              <a:rPr lang="en-US" altLang="ko-KR" sz="1200" dirty="0" smtClean="0">
                <a:solidFill>
                  <a:schemeClr val="bg1"/>
                </a:solidFill>
              </a:rPr>
              <a:t> -h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99" y="3954176"/>
            <a:ext cx="4439270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409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Issue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2844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Events </a:t>
            </a:r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CIDRNotAvailable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1200" y="715450"/>
            <a:ext cx="10922000" cy="3349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원인</a:t>
            </a:r>
            <a:endParaRPr lang="en-US" altLang="ko-KR" sz="1400" b="1" dirty="0" smtClean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200" dirty="0" smtClean="0"/>
              <a:t>새로운 노드를 추가하거나</a:t>
            </a:r>
            <a:r>
              <a:rPr lang="en-US" altLang="ko-KR" sz="1200" dirty="0" smtClean="0"/>
              <a:t>, Pod</a:t>
            </a:r>
            <a:r>
              <a:rPr lang="ko-KR" altLang="en-US" sz="1200" dirty="0" smtClean="0"/>
              <a:t>가 증가할 때 </a:t>
            </a:r>
            <a:r>
              <a:rPr lang="en-US" altLang="ko-KR" sz="1200" dirty="0" smtClean="0"/>
              <a:t>IP </a:t>
            </a:r>
            <a:r>
              <a:rPr lang="ko-KR" altLang="en-US" sz="1200" dirty="0" smtClean="0"/>
              <a:t>할당이 불가능한 경우 발생한다</a:t>
            </a:r>
            <a:r>
              <a:rPr lang="en-US" altLang="ko-KR" sz="1200" dirty="0" smtClean="0"/>
              <a:t>.</a:t>
            </a:r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cluster-</a:t>
            </a:r>
            <a:r>
              <a:rPr lang="en-US" altLang="ko-KR" sz="1200" dirty="0" err="1" smtClean="0"/>
              <a:t>cidr</a:t>
            </a:r>
            <a:r>
              <a:rPr lang="ko-KR" altLang="en-US" sz="1200" dirty="0" smtClean="0"/>
              <a:t>가 작게 설정되어 있거나</a:t>
            </a:r>
            <a:r>
              <a:rPr lang="en-US" altLang="ko-KR" sz="1200" dirty="0" smtClean="0"/>
              <a:t>, CNI</a:t>
            </a:r>
            <a:r>
              <a:rPr lang="ko-KR" altLang="en-US" sz="1200" dirty="0" smtClean="0"/>
              <a:t>에서 사용 가능한 </a:t>
            </a:r>
            <a:r>
              <a:rPr lang="en-US" altLang="ko-KR" sz="1200" dirty="0" smtClean="0"/>
              <a:t>IP Pool</a:t>
            </a:r>
            <a:r>
              <a:rPr lang="ko-KR" altLang="en-US" sz="1200" dirty="0" smtClean="0"/>
              <a:t>이 작은 경우 발생한다</a:t>
            </a:r>
            <a:r>
              <a:rPr lang="en-US" altLang="ko-KR" sz="1200" dirty="0" smtClean="0"/>
              <a:t>.</a:t>
            </a:r>
          </a:p>
          <a:p>
            <a:pPr marL="180000" indent="-18000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확인 방법</a:t>
            </a:r>
            <a:endParaRPr lang="en-US" altLang="ko-KR" sz="1400" b="1" dirty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200" dirty="0" smtClean="0"/>
              <a:t>클러스터 </a:t>
            </a:r>
            <a:r>
              <a:rPr lang="en-US" altLang="ko-KR" sz="1200" dirty="0" smtClean="0"/>
              <a:t>CIDR </a:t>
            </a:r>
            <a:r>
              <a:rPr lang="ko-KR" altLang="en-US" sz="1200" dirty="0" smtClean="0"/>
              <a:t>크기 확인 </a:t>
            </a:r>
            <a:r>
              <a:rPr lang="en-US" altLang="ko-KR" sz="1200" dirty="0" smtClean="0"/>
              <a:t>(</a:t>
            </a:r>
            <a:r>
              <a:rPr lang="en-US" altLang="ko-KR" sz="1200" dirty="0" err="1" smtClean="0"/>
              <a:t>podCIDRs</a:t>
            </a:r>
            <a:r>
              <a:rPr lang="en-US" altLang="ko-KR" sz="1200" dirty="0" smtClean="0"/>
              <a:t>, --cluster-</a:t>
            </a:r>
            <a:r>
              <a:rPr lang="en-US" altLang="ko-KR" sz="1200" dirty="0" err="1" smtClean="0"/>
              <a:t>cidr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부분 확인</a:t>
            </a:r>
            <a:r>
              <a:rPr lang="en-US" altLang="ko-KR" sz="1200" dirty="0" smtClean="0"/>
              <a:t>)</a:t>
            </a:r>
          </a:p>
          <a:p>
            <a:pPr marL="180000">
              <a:spcBef>
                <a:spcPts val="600"/>
              </a:spcBef>
            </a:pPr>
            <a:endParaRPr lang="en-US" altLang="ko-KR" sz="1200" dirty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CNI</a:t>
            </a:r>
            <a:r>
              <a:rPr lang="ko-KR" altLang="en-US" sz="1200" dirty="0" smtClean="0"/>
              <a:t>가 </a:t>
            </a:r>
            <a:r>
              <a:rPr lang="en-US" altLang="ko-KR" sz="1200" dirty="0" smtClean="0"/>
              <a:t>Calico</a:t>
            </a:r>
            <a:r>
              <a:rPr lang="ko-KR" altLang="en-US" sz="1200" dirty="0" smtClean="0"/>
              <a:t>인 경우 </a:t>
            </a:r>
            <a:r>
              <a:rPr lang="en-US" altLang="ko-KR" sz="1200" dirty="0" err="1" smtClean="0"/>
              <a:t>ippool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확인 </a:t>
            </a:r>
            <a:r>
              <a:rPr lang="en-US" altLang="ko-KR" sz="1200" dirty="0" smtClean="0"/>
              <a:t>(</a:t>
            </a:r>
            <a:r>
              <a:rPr lang="en-US" altLang="ko-KR" sz="1200" dirty="0" err="1" smtClean="0"/>
              <a:t>cidr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값 확인</a:t>
            </a:r>
            <a:r>
              <a:rPr lang="en-US" altLang="ko-KR" sz="1200" dirty="0" smtClean="0"/>
              <a:t>)</a:t>
            </a:r>
          </a:p>
          <a:p>
            <a:pPr marL="180000">
              <a:spcBef>
                <a:spcPts val="600"/>
              </a:spcBef>
            </a:pPr>
            <a:endParaRPr lang="en-US" altLang="ko-KR" sz="1200" dirty="0" smtClean="0"/>
          </a:p>
          <a:p>
            <a:pPr marL="180000" indent="-18000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조치 방법</a:t>
            </a:r>
            <a:endParaRPr lang="en-US" altLang="ko-KR" sz="1400" b="1" dirty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err="1" smtClean="0"/>
              <a:t>Ippool</a:t>
            </a:r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cidr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증설</a:t>
            </a:r>
            <a:endParaRPr lang="en-US" altLang="ko-KR" sz="1200" dirty="0" smtClean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/</a:t>
            </a:r>
            <a:r>
              <a:rPr lang="en-US" altLang="ko-KR" sz="1200" dirty="0" err="1"/>
              <a:t>etc</a:t>
            </a:r>
            <a:r>
              <a:rPr lang="en-US" altLang="ko-KR" sz="1200" dirty="0"/>
              <a:t>/</a:t>
            </a:r>
            <a:r>
              <a:rPr lang="en-US" altLang="ko-KR" sz="1200" dirty="0" err="1"/>
              <a:t>kubernetes</a:t>
            </a:r>
            <a:r>
              <a:rPr lang="en-US" altLang="ko-KR" sz="1200" dirty="0"/>
              <a:t>/manifest/</a:t>
            </a:r>
            <a:r>
              <a:rPr lang="en-US" altLang="ko-KR" sz="1200" dirty="0" err="1"/>
              <a:t>kube</a:t>
            </a:r>
            <a:r>
              <a:rPr lang="en-US" altLang="ko-KR" sz="1200" dirty="0"/>
              <a:t>-controller-</a:t>
            </a:r>
            <a:r>
              <a:rPr lang="en-US" altLang="ko-KR" sz="1200" dirty="0" err="1"/>
              <a:t>manager.yaml</a:t>
            </a:r>
            <a:r>
              <a:rPr lang="en-US" altLang="ko-KR" sz="1200" dirty="0"/>
              <a:t> </a:t>
            </a:r>
            <a:r>
              <a:rPr lang="ko-KR" altLang="en-US" sz="1200" dirty="0" smtClean="0"/>
              <a:t>에서 </a:t>
            </a:r>
            <a:r>
              <a:rPr lang="en-US" altLang="ko-KR" sz="1200" dirty="0" err="1" smtClean="0"/>
              <a:t>cidr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증설</a:t>
            </a:r>
            <a:endParaRPr lang="en-US" altLang="ko-KR" sz="1200" dirty="0" smtClean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err="1"/>
              <a:t>c</a:t>
            </a:r>
            <a:r>
              <a:rPr lang="en-US" altLang="ko-KR" sz="1200" dirty="0" err="1" smtClean="0"/>
              <a:t>idr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증설 후 </a:t>
            </a:r>
            <a:r>
              <a:rPr lang="en-US" altLang="ko-KR" sz="1200" dirty="0" err="1" smtClean="0"/>
              <a:t>kubelet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전체 재 기동</a:t>
            </a:r>
            <a:endParaRPr lang="en-US" altLang="ko-KR" sz="1200" dirty="0"/>
          </a:p>
        </p:txBody>
      </p:sp>
      <p:sp>
        <p:nvSpPr>
          <p:cNvPr id="32" name="TextBox 20"/>
          <p:cNvSpPr txBox="1"/>
          <p:nvPr/>
        </p:nvSpPr>
        <p:spPr>
          <a:xfrm>
            <a:off x="1126130" y="2120507"/>
            <a:ext cx="603667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cluster-info dump |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grep</a:t>
            </a:r>
            <a:r>
              <a:rPr lang="en-US" altLang="ko-KR" sz="1200" dirty="0" smtClean="0">
                <a:solidFill>
                  <a:schemeClr val="bg1"/>
                </a:solidFill>
              </a:rPr>
              <a:t> 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i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cidr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34" name="TextBox 20"/>
          <p:cNvSpPr txBox="1"/>
          <p:nvPr/>
        </p:nvSpPr>
        <p:spPr>
          <a:xfrm>
            <a:off x="1126130" y="2657235"/>
            <a:ext cx="603667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get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ippool</a:t>
            </a:r>
            <a:r>
              <a:rPr lang="en-US" altLang="ko-KR" sz="1200" dirty="0" smtClean="0">
                <a:solidFill>
                  <a:schemeClr val="bg1"/>
                </a:solidFill>
              </a:rPr>
              <a:t> -A -o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json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grpSp>
        <p:nvGrpSpPr>
          <p:cNvPr id="35" name="그룹 34"/>
          <p:cNvGrpSpPr/>
          <p:nvPr/>
        </p:nvGrpSpPr>
        <p:grpSpPr>
          <a:xfrm>
            <a:off x="1126130" y="4066723"/>
            <a:ext cx="4965960" cy="1846659"/>
            <a:chOff x="6756400" y="1148902"/>
            <a:chExt cx="4965960" cy="1846659"/>
          </a:xfrm>
        </p:grpSpPr>
        <p:sp>
          <p:nvSpPr>
            <p:cNvPr id="36" name="TextBox 3"/>
            <p:cNvSpPr txBox="1"/>
            <p:nvPr/>
          </p:nvSpPr>
          <p:spPr>
            <a:xfrm>
              <a:off x="6756400" y="1425901"/>
              <a:ext cx="4965960" cy="1569660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command:</a:t>
              </a:r>
            </a:p>
            <a:p>
              <a:r>
                <a:rPr lang="en-US" altLang="ko-KR" sz="1200" dirty="0"/>
                <a:t>    - </a:t>
              </a:r>
              <a:r>
                <a:rPr lang="en-US" altLang="ko-KR" sz="1200" dirty="0" err="1"/>
                <a:t>kube</a:t>
              </a:r>
              <a:r>
                <a:rPr lang="en-US" altLang="ko-KR" sz="1200" dirty="0"/>
                <a:t>-controller-manager</a:t>
              </a:r>
            </a:p>
            <a:p>
              <a:r>
                <a:rPr lang="en-US" altLang="ko-KR" sz="1200" dirty="0"/>
                <a:t>    - --allocate-node-</a:t>
              </a:r>
              <a:r>
                <a:rPr lang="en-US" altLang="ko-KR" sz="1200" dirty="0" err="1"/>
                <a:t>cidrs</a:t>
              </a:r>
              <a:r>
                <a:rPr lang="en-US" altLang="ko-KR" sz="1200" dirty="0"/>
                <a:t>=true</a:t>
              </a:r>
            </a:p>
            <a:p>
              <a:r>
                <a:rPr lang="en-US" altLang="ko-KR" sz="1200" dirty="0" smtClean="0"/>
                <a:t>    - </a:t>
              </a:r>
              <a:r>
                <a:rPr lang="en-US" altLang="ko-KR" sz="1200" dirty="0"/>
                <a:t>--bind-address=127.0.0.1</a:t>
              </a:r>
            </a:p>
            <a:p>
              <a:r>
                <a:rPr lang="en-US" altLang="ko-KR" sz="1200" dirty="0"/>
                <a:t>    - --client-ca-file=/</a:t>
              </a:r>
              <a:r>
                <a:rPr lang="en-US" altLang="ko-KR" sz="1200" dirty="0" err="1"/>
                <a:t>etc</a:t>
              </a:r>
              <a:r>
                <a:rPr lang="en-US" altLang="ko-KR" sz="1200" dirty="0"/>
                <a:t>/</a:t>
              </a:r>
              <a:r>
                <a:rPr lang="en-US" altLang="ko-KR" sz="1200" dirty="0" err="1"/>
                <a:t>kubernetes</a:t>
              </a:r>
              <a:r>
                <a:rPr lang="en-US" altLang="ko-KR" sz="1200" dirty="0"/>
                <a:t>/</a:t>
              </a:r>
              <a:r>
                <a:rPr lang="en-US" altLang="ko-KR" sz="1200" dirty="0" err="1"/>
                <a:t>pki</a:t>
              </a:r>
              <a:r>
                <a:rPr lang="en-US" altLang="ko-KR" sz="1200" dirty="0"/>
                <a:t>/ca.crt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- --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cluster-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cidr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=10.16.0.0/16</a:t>
              </a:r>
              <a:endParaRPr lang="en-US" altLang="ko-KR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37" name="TextBox 3"/>
            <p:cNvSpPr txBox="1"/>
            <p:nvPr/>
          </p:nvSpPr>
          <p:spPr>
            <a:xfrm>
              <a:off x="6756400" y="1148902"/>
              <a:ext cx="244574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>
                  <a:solidFill>
                    <a:sysClr val="windowText" lastClr="000000"/>
                  </a:solidFill>
                </a:rPr>
                <a:t>k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ube</a:t>
              </a:r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-controller-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manager.yaml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6287410" y="4066723"/>
            <a:ext cx="4965960" cy="2215991"/>
            <a:chOff x="6756400" y="1148902"/>
            <a:chExt cx="4965960" cy="2215991"/>
          </a:xfrm>
        </p:grpSpPr>
        <p:sp>
          <p:nvSpPr>
            <p:cNvPr id="39" name="TextBox 3"/>
            <p:cNvSpPr txBox="1"/>
            <p:nvPr/>
          </p:nvSpPr>
          <p:spPr>
            <a:xfrm>
              <a:off x="6756400" y="1425901"/>
              <a:ext cx="4965960" cy="1938992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crd.projectcalico.org/v1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IPPool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 smtClean="0"/>
                <a:t>  name</a:t>
              </a:r>
              <a:r>
                <a:rPr lang="en-US" altLang="ko-KR" sz="1200" dirty="0"/>
                <a:t>: default-ipv4-ippool</a:t>
              </a:r>
            </a:p>
            <a:p>
              <a:r>
                <a:rPr lang="en-US" altLang="ko-KR" sz="1200" dirty="0" smtClean="0"/>
                <a:t>spec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allowedUses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- Workload</a:t>
              </a:r>
            </a:p>
            <a:p>
              <a:r>
                <a:rPr lang="en-US" altLang="ko-KR" sz="1200" dirty="0"/>
                <a:t>  - Tunnel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blockSize</a:t>
              </a:r>
              <a:r>
                <a:rPr lang="en-US" altLang="ko-KR" sz="1200" dirty="0"/>
                <a:t>: 26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cidr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 10.16.0.0/16</a:t>
              </a:r>
            </a:p>
          </p:txBody>
        </p:sp>
        <p:sp>
          <p:nvSpPr>
            <p:cNvPr id="40" name="TextBox 3"/>
            <p:cNvSpPr txBox="1"/>
            <p:nvPr/>
          </p:nvSpPr>
          <p:spPr>
            <a:xfrm>
              <a:off x="6756400" y="1148902"/>
              <a:ext cx="244574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ippool.yaml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4007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66181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333333"/>
                </a:solidFill>
                <a:cs typeface="Pretendard SemiBold" panose="02000703000000020004" pitchFamily="50" charset="-127"/>
              </a:rPr>
              <a:t>creating read-write layer with ID… no such file or directory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1200" y="715450"/>
            <a:ext cx="10922000" cy="4657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원인</a:t>
            </a:r>
            <a:endParaRPr lang="en-US" altLang="ko-KR" sz="1400" b="1" dirty="0" smtClean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/</a:t>
            </a:r>
            <a:r>
              <a:rPr lang="en-US" altLang="ko-KR" sz="1200" dirty="0" err="1" smtClean="0"/>
              <a:t>var</a:t>
            </a:r>
            <a:r>
              <a:rPr lang="en-US" altLang="ko-KR" sz="1200" dirty="0" smtClean="0"/>
              <a:t>/lib/containers/storage/overlay </a:t>
            </a:r>
            <a:r>
              <a:rPr lang="ko-KR" altLang="en-US" sz="1200" dirty="0" smtClean="0"/>
              <a:t>또는 </a:t>
            </a:r>
            <a:r>
              <a:rPr lang="en-US" altLang="ko-KR" sz="1200" dirty="0" smtClean="0"/>
              <a:t>/</a:t>
            </a:r>
            <a:r>
              <a:rPr lang="en-US" altLang="ko-KR" sz="1200" dirty="0" err="1" smtClean="0"/>
              <a:t>var</a:t>
            </a:r>
            <a:r>
              <a:rPr lang="en-US" altLang="ko-KR" sz="1200" dirty="0" smtClean="0"/>
              <a:t>/lib/</a:t>
            </a:r>
            <a:r>
              <a:rPr lang="en-US" altLang="ko-KR" sz="1200" dirty="0" err="1" smtClean="0"/>
              <a:t>docker</a:t>
            </a:r>
            <a:r>
              <a:rPr lang="en-US" altLang="ko-KR" sz="1200" dirty="0" smtClean="0"/>
              <a:t>/overlay2</a:t>
            </a:r>
            <a:r>
              <a:rPr lang="ko-KR" altLang="en-US" sz="1200" dirty="0" smtClean="0"/>
              <a:t>의 파일이 손상된 경우 발생한다</a:t>
            </a:r>
            <a:r>
              <a:rPr lang="en-US" altLang="ko-KR" sz="1200" dirty="0" smtClean="0"/>
              <a:t>.</a:t>
            </a:r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200" dirty="0" smtClean="0"/>
              <a:t>불완전한 컨테이너 삭제로 인해 스토리지 계층이 깨진 경우 발생한다</a:t>
            </a:r>
            <a:r>
              <a:rPr lang="en-US" altLang="ko-KR" sz="1200" dirty="0" smtClean="0"/>
              <a:t>.</a:t>
            </a:r>
          </a:p>
          <a:p>
            <a:pPr marL="180000" indent="-18000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확인 방법</a:t>
            </a:r>
            <a:endParaRPr lang="en-US" altLang="ko-KR" sz="1400" b="1" dirty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err="1"/>
              <a:t>k</a:t>
            </a:r>
            <a:r>
              <a:rPr lang="en-US" altLang="ko-KR" sz="1200" dirty="0" err="1" smtClean="0"/>
              <a:t>ubectl</a:t>
            </a:r>
            <a:r>
              <a:rPr lang="en-US" altLang="ko-KR" sz="1200" dirty="0" smtClean="0"/>
              <a:t> describe pod [POD_NAME] </a:t>
            </a:r>
            <a:r>
              <a:rPr lang="ko-KR" altLang="en-US" sz="1200" dirty="0" smtClean="0"/>
              <a:t>명령어를 통해 </a:t>
            </a:r>
            <a:r>
              <a:rPr lang="en-US" altLang="ko-KR" sz="1200" dirty="0" smtClean="0"/>
              <a:t>Event </a:t>
            </a:r>
            <a:r>
              <a:rPr lang="ko-KR" altLang="en-US" sz="1200" dirty="0" smtClean="0"/>
              <a:t>확인</a:t>
            </a:r>
            <a:endParaRPr lang="en-US" altLang="ko-KR" sz="1200" dirty="0" smtClean="0"/>
          </a:p>
          <a:p>
            <a:pPr marL="180000">
              <a:spcBef>
                <a:spcPts val="600"/>
              </a:spcBef>
            </a:pPr>
            <a:endParaRPr lang="en-US" altLang="ko-KR" sz="1200" dirty="0"/>
          </a:p>
          <a:p>
            <a:pPr marL="180000">
              <a:spcBef>
                <a:spcPts val="600"/>
              </a:spcBef>
            </a:pPr>
            <a:endParaRPr lang="en-US" altLang="ko-KR" sz="1200" dirty="0" smtClean="0"/>
          </a:p>
          <a:p>
            <a:pPr marL="180000">
              <a:spcBef>
                <a:spcPts val="600"/>
              </a:spcBef>
            </a:pPr>
            <a:endParaRPr lang="en-US" altLang="ko-KR" sz="1200" dirty="0" smtClean="0"/>
          </a:p>
          <a:p>
            <a:pPr marL="180000" indent="-18000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조치 방법</a:t>
            </a:r>
            <a:endParaRPr lang="en-US" altLang="ko-KR" sz="1400" b="1" dirty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err="1" smtClean="0"/>
              <a:t>crio</a:t>
            </a:r>
            <a:r>
              <a:rPr lang="en-US" altLang="ko-KR" sz="1200" dirty="0" smtClean="0"/>
              <a:t>, </a:t>
            </a:r>
            <a:r>
              <a:rPr lang="en-US" altLang="ko-KR" sz="1200" dirty="0" err="1" smtClean="0"/>
              <a:t>kubelet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서비스 다운</a:t>
            </a:r>
            <a:endParaRPr lang="en-US" altLang="ko-KR" sz="1200" dirty="0" smtClean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ko-KR" sz="1200" dirty="0" smtClean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err="1" smtClean="0"/>
              <a:t>crio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컨테이너와 이미지 저장소를 삭제</a:t>
            </a:r>
            <a:endParaRPr lang="en-US" altLang="ko-KR" sz="1200" dirty="0" smtClean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ko-KR" sz="1200" dirty="0" smtClean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ko-KR" sz="1200" dirty="0" smtClean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err="1"/>
              <a:t>c</a:t>
            </a:r>
            <a:r>
              <a:rPr lang="en-US" altLang="ko-KR" sz="1200" dirty="0" err="1" smtClean="0"/>
              <a:t>rio</a:t>
            </a:r>
            <a:r>
              <a:rPr lang="en-US" altLang="ko-KR" sz="1200" dirty="0" smtClean="0"/>
              <a:t>, </a:t>
            </a:r>
            <a:r>
              <a:rPr lang="en-US" altLang="ko-KR" sz="1200" dirty="0" err="1" smtClean="0"/>
              <a:t>kubelet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기동</a:t>
            </a:r>
            <a:endParaRPr lang="en-US" altLang="ko-KR" sz="1200" dirty="0"/>
          </a:p>
        </p:txBody>
      </p:sp>
      <p:sp>
        <p:nvSpPr>
          <p:cNvPr id="32" name="TextBox 20"/>
          <p:cNvSpPr txBox="1"/>
          <p:nvPr/>
        </p:nvSpPr>
        <p:spPr>
          <a:xfrm>
            <a:off x="1126130" y="2120507"/>
            <a:ext cx="10507070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Warning  </a:t>
            </a:r>
            <a:r>
              <a:rPr lang="en-US" altLang="ko-KR" sz="1200" dirty="0" err="1">
                <a:solidFill>
                  <a:schemeClr val="bg1"/>
                </a:solidFill>
              </a:rPr>
              <a:t>FailedCreatePodSandBox</a:t>
            </a:r>
            <a:r>
              <a:rPr lang="en-US" altLang="ko-KR" sz="1200" dirty="0">
                <a:solidFill>
                  <a:schemeClr val="bg1"/>
                </a:solidFill>
              </a:rPr>
              <a:t>  2s (x4 over 43s)  </a:t>
            </a:r>
            <a:r>
              <a:rPr lang="en-US" altLang="ko-KR" sz="1200" dirty="0" err="1">
                <a:solidFill>
                  <a:schemeClr val="bg1"/>
                </a:solidFill>
              </a:rPr>
              <a:t>kubelet</a:t>
            </a:r>
            <a:r>
              <a:rPr lang="en-US" altLang="ko-KR" sz="1200" dirty="0">
                <a:solidFill>
                  <a:schemeClr val="bg1"/>
                </a:solidFill>
              </a:rPr>
              <a:t>, kube6     (combined from similar events): Failed create pod sandbox: </a:t>
            </a:r>
            <a:r>
              <a:rPr lang="en-US" altLang="ko-KR" sz="1200" dirty="0" err="1">
                <a:solidFill>
                  <a:schemeClr val="bg1"/>
                </a:solidFill>
              </a:rPr>
              <a:t>rpc</a:t>
            </a:r>
            <a:r>
              <a:rPr lang="en-US" altLang="ko-KR" sz="1200" dirty="0">
                <a:solidFill>
                  <a:schemeClr val="bg1"/>
                </a:solidFill>
              </a:rPr>
              <a:t> error: code = Unknown </a:t>
            </a:r>
            <a:r>
              <a:rPr lang="en-US" altLang="ko-KR" sz="1200" dirty="0" err="1">
                <a:solidFill>
                  <a:schemeClr val="bg1"/>
                </a:solidFill>
              </a:rPr>
              <a:t>desc</a:t>
            </a:r>
            <a:r>
              <a:rPr lang="en-US" altLang="ko-KR" sz="1200" dirty="0">
                <a:solidFill>
                  <a:schemeClr val="bg1"/>
                </a:solidFill>
              </a:rPr>
              <a:t> = error creating pod sandbox with name "some-sandbox-name": error creating read-write layer with ID "a5021e65186da551b712f7dd743d712833e5f75fc727c6f937d421897d2eb9d6": Stat /</a:t>
            </a:r>
            <a:r>
              <a:rPr lang="en-US" altLang="ko-KR" sz="1200" dirty="0" err="1">
                <a:solidFill>
                  <a:schemeClr val="bg1"/>
                </a:solidFill>
              </a:rPr>
              <a:t>var</a:t>
            </a:r>
            <a:r>
              <a:rPr lang="en-US" altLang="ko-KR" sz="1200" dirty="0">
                <a:solidFill>
                  <a:schemeClr val="bg1"/>
                </a:solidFill>
              </a:rPr>
              <a:t>/lib/containers/storage/overlay/e17133b79956ad6f69ae7f775badd1c11bad2fc64f0529cab863b9d12fbaa5c4: no such file or directory</a:t>
            </a:r>
          </a:p>
        </p:txBody>
      </p:sp>
      <p:sp>
        <p:nvSpPr>
          <p:cNvPr id="13" name="TextBox 20"/>
          <p:cNvSpPr txBox="1"/>
          <p:nvPr/>
        </p:nvSpPr>
        <p:spPr>
          <a:xfrm>
            <a:off x="1126130" y="3515404"/>
            <a:ext cx="10507070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systemctl</a:t>
            </a:r>
            <a:r>
              <a:rPr lang="en-US" altLang="ko-KR" sz="1200" dirty="0" smtClean="0">
                <a:solidFill>
                  <a:schemeClr val="bg1"/>
                </a:solidFill>
              </a:rPr>
              <a:t> stop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crio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systemctl</a:t>
            </a:r>
            <a:r>
              <a:rPr lang="en-US" altLang="ko-KR" sz="1200" dirty="0" smtClean="0">
                <a:solidFill>
                  <a:schemeClr val="bg1"/>
                </a:solidFill>
              </a:rPr>
              <a:t> stop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kubelet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4" name="TextBox 20"/>
          <p:cNvSpPr txBox="1"/>
          <p:nvPr/>
        </p:nvSpPr>
        <p:spPr>
          <a:xfrm>
            <a:off x="1126130" y="4310660"/>
            <a:ext cx="10507070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crio</a:t>
            </a:r>
            <a:r>
              <a:rPr lang="en-US" altLang="ko-KR" sz="1200" dirty="0" smtClean="0">
                <a:solidFill>
                  <a:schemeClr val="bg1"/>
                </a:solidFill>
              </a:rPr>
              <a:t> wipe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rm</a:t>
            </a:r>
            <a:r>
              <a:rPr lang="en-US" altLang="ko-KR" sz="1200" dirty="0" smtClean="0">
                <a:solidFill>
                  <a:schemeClr val="bg1"/>
                </a:solidFill>
              </a:rPr>
              <a:t> 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rf</a:t>
            </a:r>
            <a:r>
              <a:rPr lang="en-US" altLang="ko-KR" sz="1200" dirty="0" smtClean="0">
                <a:solidFill>
                  <a:schemeClr val="bg1"/>
                </a:solidFill>
              </a:rPr>
              <a:t> 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var</a:t>
            </a:r>
            <a:r>
              <a:rPr lang="en-US" altLang="ko-KR" sz="1200" dirty="0" smtClean="0">
                <a:solidFill>
                  <a:schemeClr val="bg1"/>
                </a:solidFill>
              </a:rPr>
              <a:t>/lib/containers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rm</a:t>
            </a:r>
            <a:r>
              <a:rPr lang="en-US" altLang="ko-KR" sz="1200" dirty="0" smtClean="0">
                <a:solidFill>
                  <a:schemeClr val="bg1"/>
                </a:solidFill>
              </a:rPr>
              <a:t> 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rf</a:t>
            </a:r>
            <a:r>
              <a:rPr lang="en-US" altLang="ko-KR" sz="1200" dirty="0" smtClean="0">
                <a:solidFill>
                  <a:schemeClr val="bg1"/>
                </a:solidFill>
              </a:rPr>
              <a:t> 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var</a:t>
            </a:r>
            <a:r>
              <a:rPr lang="en-US" altLang="ko-KR" sz="1200" dirty="0" smtClean="0">
                <a:solidFill>
                  <a:schemeClr val="bg1"/>
                </a:solidFill>
              </a:rPr>
              <a:t>/run/containers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5" name="TextBox 20"/>
          <p:cNvSpPr txBox="1"/>
          <p:nvPr/>
        </p:nvSpPr>
        <p:spPr>
          <a:xfrm>
            <a:off x="1126130" y="5373135"/>
            <a:ext cx="10507070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systemctl</a:t>
            </a:r>
            <a:r>
              <a:rPr lang="en-US" altLang="ko-KR" sz="1200" dirty="0" smtClean="0">
                <a:solidFill>
                  <a:schemeClr val="bg1"/>
                </a:solidFill>
              </a:rPr>
              <a:t> start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crio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systemctl</a:t>
            </a:r>
            <a:r>
              <a:rPr lang="en-US" altLang="ko-KR" sz="1200" dirty="0" smtClean="0">
                <a:solidFill>
                  <a:schemeClr val="bg1"/>
                </a:solidFill>
              </a:rPr>
              <a:t> start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kubelet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02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2524" y="2094660"/>
            <a:ext cx="4942186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219"/>
              </a:lnSpc>
            </a:pPr>
            <a:r>
              <a:rPr sz="5400" spc="-104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WRTDIQ+SpoqaHanSans-Bold"/>
              </a:rPr>
              <a:t>감사합니다.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464" y="4996703"/>
            <a:ext cx="5687935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본사   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황새울로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258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번길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29,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티맥스수내타워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R&amp;D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센터 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정자일로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45, </a:t>
            </a:r>
            <a:r>
              <a:rPr lang="ko-KR" altLang="en-US" sz="105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티맥스타워</a:t>
            </a:r>
            <a:endParaRPr lang="en-US" altLang="ko-KR" sz="1050" dirty="0" smtClean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BVOPUE+SpoqaHanSans-Bold"/>
            </a:endParaRPr>
          </a:p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홈페이지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www.tmaxsoft.com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대표번호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031-8018-1000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464" y="4336547"/>
            <a:ext cx="2254733" cy="46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354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22990</TotalTime>
  <Words>873</Words>
  <Application>Microsoft Office PowerPoint</Application>
  <PresentationFormat>와이드스크린</PresentationFormat>
  <Paragraphs>185</Paragraphs>
  <Slides>16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7" baseType="lpstr">
      <vt:lpstr>BVOPUE+SpoqaHanSans-Bold</vt:lpstr>
      <vt:lpstr>Pretendard SemiBold</vt:lpstr>
      <vt:lpstr>Univers LT Std 85 XBlk</vt:lpstr>
      <vt:lpstr>WRTDIQ+SpoqaHanSans-Bold</vt:lpstr>
      <vt:lpstr>뉴티맥스고딕 CJK</vt:lpstr>
      <vt:lpstr>맑은 고딕</vt:lpstr>
      <vt:lpstr>Arial</vt:lpstr>
      <vt:lpstr>Arial Black</vt:lpstr>
      <vt:lpstr>Lucida Sans Unicode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Tmax</dc:creator>
  <cp:lastModifiedBy>조 성환</cp:lastModifiedBy>
  <cp:revision>575</cp:revision>
  <dcterms:created xsi:type="dcterms:W3CDTF">2022-09-15T01:21:24Z</dcterms:created>
  <dcterms:modified xsi:type="dcterms:W3CDTF">2025-03-05T00:11:22Z</dcterms:modified>
</cp:coreProperties>
</file>