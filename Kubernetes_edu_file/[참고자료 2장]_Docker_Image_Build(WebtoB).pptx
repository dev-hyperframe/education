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70" r:id="rId2"/>
    <p:sldId id="271" r:id="rId3"/>
    <p:sldId id="272" r:id="rId4"/>
    <p:sldId id="280" r:id="rId5"/>
    <p:sldId id="365" r:id="rId6"/>
    <p:sldId id="366" r:id="rId7"/>
    <p:sldId id="367" r:id="rId8"/>
    <p:sldId id="368" r:id="rId9"/>
    <p:sldId id="369" r:id="rId10"/>
    <p:sldId id="370" r:id="rId11"/>
    <p:sldId id="371" r:id="rId12"/>
    <p:sldId id="274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539B65"/>
    <a:srgbClr val="09E6E1"/>
    <a:srgbClr val="E9F7FA"/>
    <a:srgbClr val="171C2C"/>
    <a:srgbClr val="12F6F6"/>
    <a:srgbClr val="2366EF"/>
    <a:srgbClr val="10B7CE"/>
    <a:srgbClr val="01F5BF"/>
    <a:srgbClr val="E8EB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11" autoAdjust="0"/>
    <p:restoredTop sz="85948" autoAdjust="0"/>
  </p:normalViewPr>
  <p:slideViewPr>
    <p:cSldViewPr snapToGrid="0">
      <p:cViewPr varScale="1">
        <p:scale>
          <a:sx n="98" d="100"/>
          <a:sy n="98" d="100"/>
        </p:scale>
        <p:origin x="75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1" d="100"/>
          <a:sy n="91" d="100"/>
        </p:scale>
        <p:origin x="37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FE36D4-B224-4D49-A73E-0BF1A210728E}" type="datetimeFigureOut">
              <a:rPr lang="ko-KR" altLang="en-US" smtClean="0"/>
              <a:t>2024-07-16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A661C5-6DF4-4E77-80CD-DCF64012DB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4041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F7304B-F283-4E41-A8FA-EB923FFBA2A0}" type="datetimeFigureOut">
              <a:rPr lang="ko-KR" altLang="en-US" smtClean="0"/>
              <a:t>2024-07-16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B92502-E94D-4E8D-8986-81BE15697A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63319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52599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38908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10888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59584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10883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58781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89306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914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42187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13145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51957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5"/>
          <p:cNvSpPr txBox="1">
            <a:spLocks/>
          </p:cNvSpPr>
          <p:nvPr userDrawn="1"/>
        </p:nvSpPr>
        <p:spPr>
          <a:xfrm>
            <a:off x="11560552" y="6504396"/>
            <a:ext cx="490526" cy="233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DB96D0-201A-4320-B533-3C3F2CC7492C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6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8418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슬라이드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>
            <a:spLocks noGrp="1"/>
          </p:cNvSpPr>
          <p:nvPr>
            <p:ph type="ctrTitle"/>
          </p:nvPr>
        </p:nvSpPr>
        <p:spPr>
          <a:xfrm>
            <a:off x="1583499" y="2150997"/>
            <a:ext cx="9883147" cy="1085983"/>
          </a:xfrm>
        </p:spPr>
        <p:txBody>
          <a:bodyPr lIns="0" tIns="0" rIns="0" bIns="0">
            <a:normAutofit/>
          </a:bodyPr>
          <a:lstStyle>
            <a:lvl1pPr algn="l">
              <a:defRPr sz="5867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896271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 cstate="hq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48332"/>
          <a:stretch>
            <a:fillRect/>
          </a:stretch>
        </p:blipFill>
        <p:spPr>
          <a:xfrm rot="10800000" flipV="1">
            <a:off x="3868" y="0"/>
            <a:ext cx="6295332" cy="6858000"/>
          </a:xfrm>
          <a:custGeom>
            <a:avLst/>
            <a:gdLst>
              <a:gd name="connsiteX0" fmla="*/ 6295332 w 6295332"/>
              <a:gd name="connsiteY0" fmla="*/ 0 h 6858000"/>
              <a:gd name="connsiteX1" fmla="*/ 0 w 6295332"/>
              <a:gd name="connsiteY1" fmla="*/ 0 h 6858000"/>
              <a:gd name="connsiteX2" fmla="*/ 0 w 6295332"/>
              <a:gd name="connsiteY2" fmla="*/ 6858000 h 6858000"/>
              <a:gd name="connsiteX3" fmla="*/ 6295332 w 629533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95332" h="6858000">
                <a:moveTo>
                  <a:pt x="6295332" y="0"/>
                </a:moveTo>
                <a:lnTo>
                  <a:pt x="0" y="0"/>
                </a:lnTo>
                <a:lnTo>
                  <a:pt x="0" y="6858000"/>
                </a:lnTo>
                <a:lnTo>
                  <a:pt x="6295332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192218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 cstate="hq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b="49722"/>
          <a:stretch>
            <a:fillRect/>
          </a:stretch>
        </p:blipFill>
        <p:spPr>
          <a:xfrm>
            <a:off x="3868" y="0"/>
            <a:ext cx="12184264" cy="3448050"/>
          </a:xfrm>
          <a:custGeom>
            <a:avLst/>
            <a:gdLst>
              <a:gd name="connsiteX0" fmla="*/ 0 w 12184264"/>
              <a:gd name="connsiteY0" fmla="*/ 0 h 3448050"/>
              <a:gd name="connsiteX1" fmla="*/ 12184264 w 12184264"/>
              <a:gd name="connsiteY1" fmla="*/ 0 h 3448050"/>
              <a:gd name="connsiteX2" fmla="*/ 12184264 w 12184264"/>
              <a:gd name="connsiteY2" fmla="*/ 3448050 h 3448050"/>
              <a:gd name="connsiteX3" fmla="*/ 0 w 12184264"/>
              <a:gd name="connsiteY3" fmla="*/ 3448050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84264" h="3448050">
                <a:moveTo>
                  <a:pt x="0" y="0"/>
                </a:moveTo>
                <a:lnTo>
                  <a:pt x="12184264" y="0"/>
                </a:lnTo>
                <a:lnTo>
                  <a:pt x="12184264" y="3448050"/>
                </a:lnTo>
                <a:lnTo>
                  <a:pt x="0" y="344805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309321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 txBox="1">
            <a:spLocks/>
          </p:cNvSpPr>
          <p:nvPr userDrawn="1"/>
        </p:nvSpPr>
        <p:spPr>
          <a:xfrm>
            <a:off x="11560552" y="6551051"/>
            <a:ext cx="490526" cy="233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DB96D0-201A-4320-B533-3C3F2CC7492C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6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 cstate="hq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868" y="0"/>
            <a:ext cx="12184264" cy="876300"/>
          </a:xfrm>
          <a:custGeom>
            <a:avLst/>
            <a:gdLst>
              <a:gd name="connsiteX0" fmla="*/ 0 w 12184264"/>
              <a:gd name="connsiteY0" fmla="*/ 0 h 876300"/>
              <a:gd name="connsiteX1" fmla="*/ 12184264 w 12184264"/>
              <a:gd name="connsiteY1" fmla="*/ 0 h 876300"/>
              <a:gd name="connsiteX2" fmla="*/ 12184264 w 12184264"/>
              <a:gd name="connsiteY2" fmla="*/ 876300 h 876300"/>
              <a:gd name="connsiteX3" fmla="*/ 0 w 12184264"/>
              <a:gd name="connsiteY3" fmla="*/ 876300 h 876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84264" h="876300">
                <a:moveTo>
                  <a:pt x="0" y="0"/>
                </a:moveTo>
                <a:lnTo>
                  <a:pt x="12184264" y="0"/>
                </a:lnTo>
                <a:lnTo>
                  <a:pt x="12184264" y="876300"/>
                </a:lnTo>
                <a:lnTo>
                  <a:pt x="0" y="8763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807568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A393CA-1A98-4091-B4F8-8CF82E62BE0C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8F8EB2-BEDB-4375-BAD0-E61FA200F7A6}" type="datetimeFigureOut">
              <a:rPr lang="ko-KR" altLang="en-US" smtClean="0"/>
              <a:pPr/>
              <a:t>2024-07-16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3646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848855" y="4632037"/>
            <a:ext cx="2670034" cy="587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lang="en-US" altLang="ko-KR" sz="1400" dirty="0" smtClean="0">
                <a:ln w="0" cap="flat" cmpd="sng" algn="ctr">
                  <a:noFill/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rgbClr val="FFFFFF"/>
                </a:solidFill>
                <a:latin typeface="+mj-lt"/>
                <a:ea typeface="맑은 고딕" panose="020B0503020000020004" pitchFamily="50" charset="-127"/>
                <a:cs typeface="뉴티맥스고딕 CJK"/>
              </a:rPr>
              <a:t>2024.07.16.</a:t>
            </a:r>
            <a:endParaRPr lang="en-US" altLang="ko-KR" sz="1400" dirty="0">
              <a:ln w="0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solidFill>
                <a:srgbClr val="FFFFFF"/>
              </a:solidFill>
              <a:latin typeface="+mj-lt"/>
              <a:ea typeface="맑은 고딕" panose="020B0503020000020004" pitchFamily="50" charset="-127"/>
              <a:cs typeface="뉴티맥스고딕 CJK"/>
            </a:endParaRPr>
          </a:p>
          <a:p>
            <a:pPr>
              <a:spcBef>
                <a:spcPts val="500"/>
              </a:spcBef>
            </a:pPr>
            <a:r>
              <a:rPr lang="ko-KR" altLang="en-US" sz="1400" dirty="0">
                <a:ln w="0" cap="flat" cmpd="sng" algn="ctr">
                  <a:noFill/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rgbClr val="FFFFFF"/>
                </a:solidFill>
                <a:latin typeface="+mj-lt"/>
                <a:ea typeface="맑은 고딕" panose="020B0503020000020004" pitchFamily="50" charset="-127"/>
                <a:cs typeface="뉴티맥스고딕 CJK"/>
              </a:rPr>
              <a:t>조성환</a:t>
            </a:r>
            <a:endParaRPr lang="en-US" altLang="ko-KR" sz="1400" dirty="0">
              <a:ln w="0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solidFill>
                <a:schemeClr val="bg1"/>
              </a:solidFill>
              <a:latin typeface="+mj-lt"/>
              <a:ea typeface="맑은 고딕" panose="020B0503020000020004" pitchFamily="50" charset="-127"/>
              <a:cs typeface="뉴티맥스고딕 CJK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48855" y="6328660"/>
            <a:ext cx="319670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Copyright</a:t>
            </a:r>
            <a:r>
              <a:rPr lang="en-US" altLang="ko-KR" sz="10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ⓒ 2024 </a:t>
            </a:r>
            <a:r>
              <a:rPr lang="en-US" altLang="ko-KR" sz="1000" b="1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TmaxSoft</a:t>
            </a:r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All Rights Reserved.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 txBox="1">
            <a:spLocks/>
          </p:cNvSpPr>
          <p:nvPr/>
        </p:nvSpPr>
        <p:spPr>
          <a:xfrm>
            <a:off x="848855" y="1904989"/>
            <a:ext cx="9141451" cy="1846659"/>
          </a:xfrm>
          <a:prstGeom prst="rect">
            <a:avLst/>
          </a:prstGeom>
          <a:blipFill dpi="0"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rcRect/>
            <a:stretch>
              <a:fillRect b="500"/>
            </a:stretch>
          </a:blipFill>
        </p:spPr>
        <p:txBody>
          <a:bodyPr vert="horz" wrap="square" lIns="0" tIns="0" rIns="0" bIns="0" rtlCol="0" anchor="t" anchorCtr="0">
            <a:spAutoFit/>
          </a:bodyPr>
          <a:lstStyle>
            <a:lvl1pPr marL="270000" algn="l" defTabSz="121917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r>
              <a:rPr lang="en-US" altLang="ko-KR" sz="6000" dirty="0" smtClean="0">
                <a:solidFill>
                  <a:schemeClr val="bg1"/>
                </a:solidFill>
              </a:rPr>
              <a:t>Docker Image Build </a:t>
            </a:r>
            <a:r>
              <a:rPr lang="en-US" altLang="ko-KR" sz="6000" dirty="0" err="1" smtClean="0">
                <a:solidFill>
                  <a:schemeClr val="bg1"/>
                </a:solidFill>
              </a:rPr>
              <a:t>WebtoB</a:t>
            </a:r>
            <a:endParaRPr lang="en-US" sz="6000" dirty="0">
              <a:solidFill>
                <a:schemeClr val="bg1"/>
              </a:solidFill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00033" y="6134805"/>
            <a:ext cx="2410968" cy="499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652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 txBox="1">
            <a:spLocks/>
          </p:cNvSpPr>
          <p:nvPr/>
        </p:nvSpPr>
        <p:spPr>
          <a:xfrm>
            <a:off x="7157782" y="827882"/>
            <a:ext cx="3884026" cy="4745908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l" rtl="0" eaLnBrk="0" fontAlgn="base" latinLnBrk="1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0112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01122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l" rtl="0" eaLnBrk="0" fontAlgn="base" latinLnBrk="1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01122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l" rtl="0" eaLnBrk="0" fontAlgn="base" latinLnBrk="1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01122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l" rtl="0" eaLnBrk="0" fontAlgn="base" latinLnBrk="1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01122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l" rtl="0" eaLnBrk="0" fontAlgn="base" latinLnBrk="1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01122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l" rtl="0" eaLnBrk="0" fontAlgn="base" latinLnBrk="1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01122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l" rtl="0" eaLnBrk="0" fontAlgn="base" latinLnBrk="1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01122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l" rtl="0" eaLnBrk="0" fontAlgn="base" latinLnBrk="1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01122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457200" marR="0" lvl="0" indent="-457200" algn="l" defTabSz="1219170" rtl="0" eaLnBrk="0" fontAlgn="base" latinLnBrk="1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ko-KR" altLang="en-US" sz="2000" kern="0" noProof="0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 요</a:t>
            </a:r>
            <a:endParaRPr lang="en-US" altLang="ko-KR" sz="2000" kern="0" noProof="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57200" marR="0" lvl="0" indent="-457200" algn="l" defTabSz="1219170" rtl="0" eaLnBrk="0" fontAlgn="base" latinLnBrk="1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altLang="ko-KR" sz="2000" kern="0" dirty="0" err="1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DockerFile</a:t>
            </a:r>
            <a:endParaRPr kumimoji="1" lang="en-US" altLang="ko-KR" sz="2000" b="1" i="0" u="none" strike="noStrike" kern="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57200" marR="0" lvl="0" indent="-457200" algn="l" defTabSz="1219170" rtl="0" eaLnBrk="0" fontAlgn="base" latinLnBrk="1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altLang="ko-KR" sz="2000" kern="0" noProof="0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Image Build</a:t>
            </a:r>
            <a:endParaRPr lang="en-US" altLang="ko-KR" sz="2000" kern="0" noProof="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제목 6"/>
          <p:cNvSpPr txBox="1">
            <a:spLocks/>
          </p:cNvSpPr>
          <p:nvPr/>
        </p:nvSpPr>
        <p:spPr>
          <a:xfrm>
            <a:off x="1295401" y="1038225"/>
            <a:ext cx="4419600" cy="10858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54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Contents</a:t>
            </a:r>
            <a:endParaRPr lang="ko-KR" altLang="en-US" sz="54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11970" y="6397944"/>
            <a:ext cx="1310640" cy="134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685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18300" y="3449520"/>
            <a:ext cx="176202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b="1" dirty="0" smtClean="0">
                <a:latin typeface="+mn-ea"/>
              </a:rPr>
              <a:t>개  요</a:t>
            </a:r>
            <a:endParaRPr lang="en-US" altLang="ko-KR" sz="2000" b="1" dirty="0">
              <a:latin typeface="+mn-ea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b="1" dirty="0" smtClean="0">
                <a:latin typeface="+mn-ea"/>
              </a:rPr>
              <a:t>준비 사항</a:t>
            </a:r>
            <a:endParaRPr lang="en-US" altLang="ko-KR" sz="2000" b="1" dirty="0">
              <a:latin typeface="+mn-ea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2178005" y="1205477"/>
            <a:ext cx="7599867" cy="9771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altLang="ko-KR" sz="4400" b="1" dirty="0">
                <a:solidFill>
                  <a:schemeClr val="bg1"/>
                </a:solidFill>
              </a:rPr>
              <a:t>1</a:t>
            </a:r>
            <a:r>
              <a:rPr lang="en-US" altLang="ko-KR" sz="4400" b="1" dirty="0" smtClean="0">
                <a:solidFill>
                  <a:schemeClr val="bg1"/>
                </a:solidFill>
              </a:rPr>
              <a:t>. </a:t>
            </a:r>
            <a:r>
              <a:rPr lang="ko-KR" altLang="en-US" sz="4400" b="1" dirty="0" smtClean="0">
                <a:solidFill>
                  <a:schemeClr val="bg1"/>
                </a:solidFill>
              </a:rPr>
              <a:t>개  요</a:t>
            </a:r>
            <a:endParaRPr lang="ko-KR" altLang="en-US" sz="4400" b="1" dirty="0">
              <a:solidFill>
                <a:schemeClr val="bg1"/>
              </a:solidFill>
              <a:latin typeface="+mj-lt"/>
              <a:ea typeface="Noto Sans KR Black" panose="020B0A00000000000000" pitchFamily="34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11970" y="6397944"/>
            <a:ext cx="1310640" cy="134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8892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494348" y="0"/>
            <a:ext cx="759986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ko-KR" sz="3200" b="1" dirty="0">
                <a:solidFill>
                  <a:schemeClr val="bg1"/>
                </a:solidFill>
              </a:rPr>
              <a:t>1. </a:t>
            </a:r>
            <a:r>
              <a:rPr lang="ko-KR" altLang="en-US" sz="3200" b="1" dirty="0" smtClean="0">
                <a:solidFill>
                  <a:schemeClr val="bg1"/>
                </a:solidFill>
              </a:rPr>
              <a:t>개  요</a:t>
            </a:r>
            <a:endParaRPr lang="ko-KR" altLang="en-US" sz="3200" b="1" dirty="0">
              <a:solidFill>
                <a:schemeClr val="bg1"/>
              </a:solidFill>
              <a:latin typeface="+mj-lt"/>
              <a:ea typeface="Noto Sans KR Black" panose="020B0A00000000000000" pitchFamily="34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11970" y="367921"/>
            <a:ext cx="1310640" cy="134995"/>
          </a:xfrm>
          <a:prstGeom prst="rect">
            <a:avLst/>
          </a:prstGeom>
        </p:spPr>
      </p:pic>
      <p:sp>
        <p:nvSpPr>
          <p:cNvPr id="5" name="내용 개체 틀 2"/>
          <p:cNvSpPr txBox="1">
            <a:spLocks/>
          </p:cNvSpPr>
          <p:nvPr/>
        </p:nvSpPr>
        <p:spPr>
          <a:xfrm>
            <a:off x="494348" y="1115171"/>
            <a:ext cx="11228262" cy="383767"/>
          </a:xfrm>
          <a:prstGeom prst="rect">
            <a:avLst/>
          </a:prstGeom>
          <a:noFill/>
          <a:ln w="0">
            <a:noFill/>
            <a:miter lim="800000"/>
            <a:headEnd type="none" w="med" len="med"/>
            <a:tailEnd type="none" w="med" len="med"/>
          </a:ln>
        </p:spPr>
        <p:txBody>
          <a:bodyPr rot="0" vert="horz" wrap="square" lIns="0" tIns="0" rIns="43200" bIns="36000" numCol="1" spcCol="0" rtlCol="0" anchor="t" anchorCtr="0">
            <a:prstTxWarp prst="textNoShape">
              <a:avLst/>
            </a:prstTxWarp>
            <a:noAutofit/>
          </a:bodyPr>
          <a:lstStyle>
            <a:defPPr>
              <a:defRPr lang="ko-KR" altLang="en-US"/>
            </a:defPPr>
            <a:lvl1pPr marL="0" indent="0" algn="just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336699"/>
              </a:buClr>
              <a:buFont typeface="Arial"/>
              <a:buNone/>
              <a:defRPr lang="ko-KR" altLang="en-US" sz="2000" b="1">
                <a:solidFill>
                  <a:srgbClr val="111111"/>
                </a:solidFill>
                <a:latin typeface="나눔고딕"/>
                <a:ea typeface="나눔고딕"/>
                <a:cs typeface="나눔스퀘어"/>
              </a:defRPr>
            </a:lvl1pPr>
            <a:lvl2pPr marL="296545" indent="-144145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Char char="•"/>
              <a:defRPr lang="ko-KR" altLang="en-US" sz="1400" b="1">
                <a:solidFill>
                  <a:srgbClr val="111111"/>
                </a:solidFill>
                <a:latin typeface="+mj-lt"/>
                <a:ea typeface="+mn-ea"/>
              </a:defRPr>
            </a:lvl2pPr>
            <a:lvl3pPr marL="640715" indent="-164465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200" b="1">
                <a:solidFill>
                  <a:srgbClr val="111111"/>
                </a:solidFill>
                <a:latin typeface="+mj-lt"/>
                <a:ea typeface="+mn-ea"/>
              </a:defRPr>
            </a:lvl3pPr>
            <a:lvl4pPr marL="925195" indent="-175895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100" b="1">
                <a:solidFill>
                  <a:srgbClr val="111111"/>
                </a:solidFill>
                <a:latin typeface="+mj-lt"/>
                <a:ea typeface="+mn-ea"/>
              </a:defRPr>
            </a:lvl4pPr>
            <a:lvl5pPr marL="1243965" indent="-186690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+mj-lt"/>
                <a:ea typeface="+mn-ea"/>
              </a:defRPr>
            </a:lvl5pPr>
            <a:lvl6pPr marL="17011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6pPr>
            <a:lvl7pPr marL="21583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7pPr>
            <a:lvl8pPr marL="26155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8pPr>
            <a:lvl9pPr marL="30727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9pPr>
          </a:lstStyle>
          <a:p>
            <a:pPr latinLnBrk="0"/>
            <a:r>
              <a:rPr lang="ko-KR" altLang="en-US" kern="0" spc="-150" dirty="0" smtClean="0">
                <a:ln w="9525" cap="flat" cmpd="sng" algn="ctr">
                  <a:solidFill>
                    <a:srgbClr val="0097F2">
                      <a:alpha val="0"/>
                    </a:srgbClr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 요</a:t>
            </a:r>
            <a:r>
              <a:rPr lang="en-US" altLang="ko-KR" kern="0" spc="-150" dirty="0" smtClean="0">
                <a:ln w="9525" cap="flat" cmpd="sng" algn="ctr">
                  <a:solidFill>
                    <a:srgbClr val="0097F2">
                      <a:alpha val="0"/>
                    </a:srgbClr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kern="0" spc="-150" dirty="0">
              <a:ln w="9525" cap="flat" cmpd="sng" algn="ctr">
                <a:solidFill>
                  <a:srgbClr val="0097F2">
                    <a:alpha val="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94347" y="1498936"/>
            <a:ext cx="11499178" cy="710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00" indent="-1800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ko-KR" altLang="en-US" dirty="0" smtClean="0"/>
              <a:t>본 문서에서는 </a:t>
            </a:r>
            <a:r>
              <a:rPr lang="en-US" altLang="ko-KR" dirty="0" err="1" smtClean="0"/>
              <a:t>Dodcker</a:t>
            </a:r>
            <a:r>
              <a:rPr lang="en-US" altLang="ko-KR" dirty="0" err="1"/>
              <a:t>f</a:t>
            </a:r>
            <a:r>
              <a:rPr lang="en-US" altLang="ko-KR" dirty="0" err="1" smtClean="0"/>
              <a:t>ile</a:t>
            </a:r>
            <a:r>
              <a:rPr lang="en-US" altLang="ko-KR" dirty="0" smtClean="0"/>
              <a:t> </a:t>
            </a:r>
            <a:r>
              <a:rPr lang="ko-KR" altLang="en-US" dirty="0" smtClean="0"/>
              <a:t>이용하여</a:t>
            </a:r>
            <a:r>
              <a:rPr lang="ko-KR" altLang="en-US" dirty="0" smtClean="0"/>
              <a:t> </a:t>
            </a:r>
            <a:r>
              <a:rPr lang="en-US" altLang="ko-KR" dirty="0" err="1" smtClean="0"/>
              <a:t>WebtoB</a:t>
            </a:r>
            <a:r>
              <a:rPr lang="en-US" altLang="ko-KR" dirty="0" smtClean="0"/>
              <a:t> Image Build </a:t>
            </a:r>
            <a:r>
              <a:rPr lang="ko-KR" altLang="en-US" dirty="0" smtClean="0"/>
              <a:t>방법을 설명합니다</a:t>
            </a:r>
            <a:r>
              <a:rPr lang="en-US" altLang="ko-KR" dirty="0" smtClean="0"/>
              <a:t>.</a:t>
            </a:r>
          </a:p>
          <a:p>
            <a:pPr marL="360000" indent="-1800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en-US" altLang="ko-KR" dirty="0" smtClean="0"/>
              <a:t>Image Build </a:t>
            </a:r>
            <a:r>
              <a:rPr lang="ko-KR" altLang="en-US" dirty="0" smtClean="0"/>
              <a:t>방법은 여러 가지가 있으나 </a:t>
            </a:r>
            <a:r>
              <a:rPr lang="ko-KR" altLang="en-US" dirty="0" smtClean="0"/>
              <a:t>본 문서에서는 </a:t>
            </a:r>
            <a:r>
              <a:rPr lang="en-US" altLang="ko-KR" dirty="0" err="1" smtClean="0"/>
              <a:t>WebtoB</a:t>
            </a:r>
            <a:r>
              <a:rPr lang="en-US" altLang="ko-KR" dirty="0"/>
              <a:t> </a:t>
            </a:r>
            <a:r>
              <a:rPr lang="en-US" altLang="ko-KR" dirty="0" smtClean="0"/>
              <a:t>tar</a:t>
            </a:r>
            <a:r>
              <a:rPr lang="ko-KR" altLang="en-US" dirty="0" smtClean="0"/>
              <a:t>파일 기준으로 작성 하였습니다</a:t>
            </a:r>
            <a:r>
              <a:rPr lang="en-US" altLang="ko-KR" dirty="0" smtClean="0"/>
              <a:t>.</a:t>
            </a:r>
            <a:endParaRPr lang="en-US" altLang="ko-KR" dirty="0"/>
          </a:p>
        </p:txBody>
      </p:sp>
      <p:sp>
        <p:nvSpPr>
          <p:cNvPr id="9" name="내용 개체 틀 2"/>
          <p:cNvSpPr txBox="1">
            <a:spLocks/>
          </p:cNvSpPr>
          <p:nvPr/>
        </p:nvSpPr>
        <p:spPr>
          <a:xfrm>
            <a:off x="494348" y="2209387"/>
            <a:ext cx="11228262" cy="383767"/>
          </a:xfrm>
          <a:prstGeom prst="rect">
            <a:avLst/>
          </a:prstGeom>
          <a:noFill/>
          <a:ln w="0">
            <a:noFill/>
            <a:miter lim="800000"/>
            <a:headEnd type="none" w="med" len="med"/>
            <a:tailEnd type="none" w="med" len="med"/>
          </a:ln>
        </p:spPr>
        <p:txBody>
          <a:bodyPr rot="0" vert="horz" wrap="square" lIns="0" tIns="0" rIns="43200" bIns="36000" numCol="1" spcCol="0" rtlCol="0" anchor="t" anchorCtr="0">
            <a:prstTxWarp prst="textNoShape">
              <a:avLst/>
            </a:prstTxWarp>
            <a:noAutofit/>
          </a:bodyPr>
          <a:lstStyle>
            <a:defPPr>
              <a:defRPr lang="ko-KR" altLang="en-US"/>
            </a:defPPr>
            <a:lvl1pPr marL="0" indent="0" algn="just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336699"/>
              </a:buClr>
              <a:buFont typeface="Arial"/>
              <a:buNone/>
              <a:defRPr lang="ko-KR" altLang="en-US" sz="2000" b="1">
                <a:solidFill>
                  <a:srgbClr val="111111"/>
                </a:solidFill>
                <a:latin typeface="나눔고딕"/>
                <a:ea typeface="나눔고딕"/>
                <a:cs typeface="나눔스퀘어"/>
              </a:defRPr>
            </a:lvl1pPr>
            <a:lvl2pPr marL="296545" indent="-144145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Char char="•"/>
              <a:defRPr lang="ko-KR" altLang="en-US" sz="1400" b="1">
                <a:solidFill>
                  <a:srgbClr val="111111"/>
                </a:solidFill>
                <a:latin typeface="+mj-lt"/>
                <a:ea typeface="+mn-ea"/>
              </a:defRPr>
            </a:lvl2pPr>
            <a:lvl3pPr marL="640715" indent="-164465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200" b="1">
                <a:solidFill>
                  <a:srgbClr val="111111"/>
                </a:solidFill>
                <a:latin typeface="+mj-lt"/>
                <a:ea typeface="+mn-ea"/>
              </a:defRPr>
            </a:lvl3pPr>
            <a:lvl4pPr marL="925195" indent="-175895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100" b="1">
                <a:solidFill>
                  <a:srgbClr val="111111"/>
                </a:solidFill>
                <a:latin typeface="+mj-lt"/>
                <a:ea typeface="+mn-ea"/>
              </a:defRPr>
            </a:lvl4pPr>
            <a:lvl5pPr marL="1243965" indent="-186690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+mj-lt"/>
                <a:ea typeface="+mn-ea"/>
              </a:defRPr>
            </a:lvl5pPr>
            <a:lvl6pPr marL="17011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6pPr>
            <a:lvl7pPr marL="21583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7pPr>
            <a:lvl8pPr marL="26155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8pPr>
            <a:lvl9pPr marL="30727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9pPr>
          </a:lstStyle>
          <a:p>
            <a:pPr latinLnBrk="0"/>
            <a:r>
              <a:rPr lang="ko-KR" altLang="en-US" kern="0" spc="-150" dirty="0" smtClean="0">
                <a:ln w="9525" cap="flat" cmpd="sng" algn="ctr">
                  <a:solidFill>
                    <a:srgbClr val="0097F2">
                      <a:alpha val="0"/>
                    </a:srgbClr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준비 사항</a:t>
            </a:r>
            <a:r>
              <a:rPr lang="en-US" altLang="ko-KR" kern="0" spc="-150" dirty="0" smtClean="0">
                <a:ln w="9525" cap="flat" cmpd="sng" algn="ctr">
                  <a:solidFill>
                    <a:srgbClr val="0097F2">
                      <a:alpha val="0"/>
                    </a:srgbClr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kern="0" spc="-150" dirty="0">
              <a:ln w="9525" cap="flat" cmpd="sng" algn="ctr">
                <a:solidFill>
                  <a:srgbClr val="0097F2">
                    <a:alpha val="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94347" y="2593152"/>
            <a:ext cx="11499178" cy="710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00" indent="-1800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en-US" altLang="ko-KR" dirty="0" smtClean="0"/>
              <a:t>Docker</a:t>
            </a:r>
          </a:p>
          <a:p>
            <a:pPr marL="360000" indent="-1800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en-US" altLang="ko-KR" dirty="0" err="1" smtClean="0"/>
              <a:t>WebtoB</a:t>
            </a:r>
            <a:r>
              <a:rPr lang="en-US" altLang="ko-KR" dirty="0" smtClean="0"/>
              <a:t> tar File </a:t>
            </a:r>
            <a:r>
              <a:rPr lang="en-US" altLang="ko-KR" sz="1600" dirty="0" smtClean="0"/>
              <a:t>ex)</a:t>
            </a:r>
            <a:r>
              <a:rPr lang="en-US" altLang="ko-KR" sz="1600" dirty="0"/>
              <a:t> WebtoB-5.0.0.4-B324.tar.gz </a:t>
            </a:r>
            <a:endParaRPr lang="en-US" altLang="ko-KR" sz="1600" dirty="0" smtClean="0"/>
          </a:p>
        </p:txBody>
      </p:sp>
    </p:spTree>
    <p:extLst>
      <p:ext uri="{BB962C8B-B14F-4D97-AF65-F5344CB8AC3E}">
        <p14:creationId xmlns:p14="http://schemas.microsoft.com/office/powerpoint/2010/main" val="8684061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18300" y="3449520"/>
            <a:ext cx="240097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b="1" dirty="0" err="1" smtClean="0">
                <a:latin typeface="+mn-ea"/>
              </a:rPr>
              <a:t>Dockerfile</a:t>
            </a:r>
            <a:endParaRPr lang="en-US" altLang="ko-KR" sz="2000" b="1" dirty="0">
              <a:latin typeface="+mn-ea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b="1" dirty="0" err="1" smtClean="0">
                <a:latin typeface="+mn-ea"/>
              </a:rPr>
              <a:t>Dockerfile</a:t>
            </a:r>
            <a:r>
              <a:rPr lang="en-US" altLang="ko-KR" sz="2000" b="1" dirty="0" smtClean="0">
                <a:latin typeface="+mn-ea"/>
              </a:rPr>
              <a:t> Tag</a:t>
            </a:r>
            <a:endParaRPr lang="en-US" altLang="ko-KR" sz="2000" b="1" dirty="0">
              <a:latin typeface="+mn-ea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2178005" y="1205477"/>
            <a:ext cx="7599867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altLang="ko-KR" sz="4400" b="1" dirty="0">
                <a:solidFill>
                  <a:schemeClr val="bg1"/>
                </a:solidFill>
              </a:rPr>
              <a:t>2</a:t>
            </a:r>
            <a:r>
              <a:rPr lang="en-US" altLang="ko-KR" sz="4400" b="1" dirty="0" smtClean="0">
                <a:solidFill>
                  <a:schemeClr val="bg1"/>
                </a:solidFill>
              </a:rPr>
              <a:t>. </a:t>
            </a:r>
            <a:r>
              <a:rPr lang="en-US" altLang="ko-KR" sz="4400" b="1" dirty="0" err="1" smtClean="0">
                <a:solidFill>
                  <a:schemeClr val="bg1"/>
                </a:solidFill>
              </a:rPr>
              <a:t>Dockerfile</a:t>
            </a:r>
            <a:endParaRPr lang="ko-KR" altLang="en-US" sz="4400" b="1" dirty="0">
              <a:solidFill>
                <a:schemeClr val="bg1"/>
              </a:solidFill>
              <a:latin typeface="+mj-lt"/>
              <a:ea typeface="Noto Sans KR Black" panose="020B0A00000000000000" pitchFamily="34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11970" y="6397944"/>
            <a:ext cx="1310640" cy="134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794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494348" y="0"/>
            <a:ext cx="759986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ko-KR" sz="3200" b="1" dirty="0">
                <a:solidFill>
                  <a:schemeClr val="bg1"/>
                </a:solidFill>
              </a:rPr>
              <a:t>2</a:t>
            </a:r>
            <a:r>
              <a:rPr lang="en-US" altLang="ko-KR" sz="3200" b="1" dirty="0" smtClean="0">
                <a:solidFill>
                  <a:schemeClr val="bg1"/>
                </a:solidFill>
              </a:rPr>
              <a:t>. </a:t>
            </a:r>
            <a:r>
              <a:rPr lang="en-US" altLang="ko-KR" sz="3200" b="1" dirty="0" err="1" smtClean="0">
                <a:solidFill>
                  <a:schemeClr val="bg1"/>
                </a:solidFill>
              </a:rPr>
              <a:t>Dockerfile</a:t>
            </a:r>
            <a:endParaRPr lang="ko-KR" altLang="en-US" sz="3200" b="1" dirty="0">
              <a:solidFill>
                <a:schemeClr val="bg1"/>
              </a:solidFill>
              <a:latin typeface="+mj-lt"/>
              <a:ea typeface="Noto Sans KR Black" panose="020B0A00000000000000" pitchFamily="34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11970" y="367921"/>
            <a:ext cx="1310640" cy="134995"/>
          </a:xfrm>
          <a:prstGeom prst="rect">
            <a:avLst/>
          </a:prstGeom>
        </p:spPr>
      </p:pic>
      <p:sp>
        <p:nvSpPr>
          <p:cNvPr id="5" name="내용 개체 틀 2"/>
          <p:cNvSpPr txBox="1">
            <a:spLocks/>
          </p:cNvSpPr>
          <p:nvPr/>
        </p:nvSpPr>
        <p:spPr>
          <a:xfrm>
            <a:off x="494348" y="1115171"/>
            <a:ext cx="11228262" cy="383767"/>
          </a:xfrm>
          <a:prstGeom prst="rect">
            <a:avLst/>
          </a:prstGeom>
          <a:noFill/>
          <a:ln w="0">
            <a:noFill/>
            <a:miter lim="800000"/>
            <a:headEnd type="none" w="med" len="med"/>
            <a:tailEnd type="none" w="med" len="med"/>
          </a:ln>
        </p:spPr>
        <p:txBody>
          <a:bodyPr rot="0" vert="horz" wrap="square" lIns="0" tIns="0" rIns="43200" bIns="36000" numCol="1" spcCol="0" rtlCol="0" anchor="t" anchorCtr="0">
            <a:prstTxWarp prst="textNoShape">
              <a:avLst/>
            </a:prstTxWarp>
            <a:noAutofit/>
          </a:bodyPr>
          <a:lstStyle>
            <a:defPPr>
              <a:defRPr lang="ko-KR" altLang="en-US"/>
            </a:defPPr>
            <a:lvl1pPr marL="0" indent="0" algn="just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336699"/>
              </a:buClr>
              <a:buFont typeface="Arial"/>
              <a:buNone/>
              <a:defRPr lang="ko-KR" altLang="en-US" sz="2000" b="1">
                <a:solidFill>
                  <a:srgbClr val="111111"/>
                </a:solidFill>
                <a:latin typeface="나눔고딕"/>
                <a:ea typeface="나눔고딕"/>
                <a:cs typeface="나눔스퀘어"/>
              </a:defRPr>
            </a:lvl1pPr>
            <a:lvl2pPr marL="296545" indent="-144145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Char char="•"/>
              <a:defRPr lang="ko-KR" altLang="en-US" sz="1400" b="1">
                <a:solidFill>
                  <a:srgbClr val="111111"/>
                </a:solidFill>
                <a:latin typeface="+mj-lt"/>
                <a:ea typeface="+mn-ea"/>
              </a:defRPr>
            </a:lvl2pPr>
            <a:lvl3pPr marL="640715" indent="-164465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200" b="1">
                <a:solidFill>
                  <a:srgbClr val="111111"/>
                </a:solidFill>
                <a:latin typeface="+mj-lt"/>
                <a:ea typeface="+mn-ea"/>
              </a:defRPr>
            </a:lvl3pPr>
            <a:lvl4pPr marL="925195" indent="-175895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100" b="1">
                <a:solidFill>
                  <a:srgbClr val="111111"/>
                </a:solidFill>
                <a:latin typeface="+mj-lt"/>
                <a:ea typeface="+mn-ea"/>
              </a:defRPr>
            </a:lvl4pPr>
            <a:lvl5pPr marL="1243965" indent="-186690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+mj-lt"/>
                <a:ea typeface="+mn-ea"/>
              </a:defRPr>
            </a:lvl5pPr>
            <a:lvl6pPr marL="17011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6pPr>
            <a:lvl7pPr marL="21583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7pPr>
            <a:lvl8pPr marL="26155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8pPr>
            <a:lvl9pPr marL="30727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9pPr>
          </a:lstStyle>
          <a:p>
            <a:pPr latinLnBrk="0"/>
            <a:r>
              <a:rPr lang="en-US" altLang="ko-KR" kern="0" spc="-150" dirty="0" err="1" smtClean="0">
                <a:ln w="9525" cap="flat" cmpd="sng" algn="ctr">
                  <a:solidFill>
                    <a:srgbClr val="0097F2">
                      <a:alpha val="0"/>
                    </a:srgbClr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Dockerfile</a:t>
            </a:r>
            <a:r>
              <a:rPr lang="en-US" altLang="ko-KR" kern="0" spc="-150" dirty="0" smtClean="0">
                <a:ln w="9525" cap="flat" cmpd="sng" algn="ctr">
                  <a:solidFill>
                    <a:srgbClr val="0097F2">
                      <a:alpha val="0"/>
                    </a:srgbClr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kern="0" spc="-150" dirty="0">
              <a:ln w="9525" cap="flat" cmpd="sng" algn="ctr">
                <a:solidFill>
                  <a:srgbClr val="0097F2">
                    <a:alpha val="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94347" y="1498936"/>
            <a:ext cx="11499178" cy="13926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00" indent="-1800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en-US" altLang="ko-KR" dirty="0" err="1" smtClean="0"/>
              <a:t>Dockerfile</a:t>
            </a:r>
            <a:r>
              <a:rPr lang="ko-KR" altLang="en-US" dirty="0" smtClean="0"/>
              <a:t>은 </a:t>
            </a:r>
            <a:r>
              <a:rPr lang="en-US" altLang="ko-KR" dirty="0" smtClean="0"/>
              <a:t>Docker Image</a:t>
            </a:r>
            <a:r>
              <a:rPr lang="ko-KR" altLang="en-US" dirty="0" smtClean="0"/>
              <a:t>를 생성 하기 위한 </a:t>
            </a:r>
            <a:r>
              <a:rPr lang="en-US" altLang="ko-KR" dirty="0" smtClean="0"/>
              <a:t>Script</a:t>
            </a:r>
          </a:p>
          <a:p>
            <a:pPr marL="360000" indent="-1800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ko-KR" altLang="en-US" dirty="0" smtClean="0"/>
              <a:t>여러가지 명령어를 토대로 </a:t>
            </a:r>
            <a:r>
              <a:rPr lang="en-US" altLang="ko-KR" dirty="0" err="1" smtClean="0"/>
              <a:t>Dockerfile</a:t>
            </a:r>
            <a:r>
              <a:rPr lang="en-US" altLang="ko-KR" dirty="0" smtClean="0"/>
              <a:t> </a:t>
            </a:r>
            <a:r>
              <a:rPr lang="ko-KR" altLang="en-US" dirty="0" smtClean="0"/>
              <a:t>작성 한 후 </a:t>
            </a:r>
            <a:r>
              <a:rPr lang="en-US" altLang="ko-KR" dirty="0" smtClean="0"/>
              <a:t>Build</a:t>
            </a:r>
          </a:p>
          <a:p>
            <a:pPr marL="360000" indent="-1800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en-US" altLang="ko-KR" dirty="0" smtClean="0"/>
              <a:t>Docker</a:t>
            </a:r>
            <a:r>
              <a:rPr lang="ko-KR" altLang="en-US" dirty="0" smtClean="0"/>
              <a:t>는 </a:t>
            </a:r>
            <a:r>
              <a:rPr lang="en-US" altLang="ko-KR" dirty="0" err="1" smtClean="0"/>
              <a:t>Dockerfile</a:t>
            </a:r>
            <a:r>
              <a:rPr lang="ko-KR" altLang="en-US" dirty="0" smtClean="0"/>
              <a:t>에 나열된 명령문을 차례대로 수행하며 </a:t>
            </a:r>
            <a:r>
              <a:rPr lang="en-US" altLang="ko-KR" dirty="0" smtClean="0"/>
              <a:t>Docker Image</a:t>
            </a:r>
            <a:r>
              <a:rPr lang="ko-KR" altLang="en-US" dirty="0" smtClean="0"/>
              <a:t>를 생성</a:t>
            </a:r>
            <a:endParaRPr lang="en-US" altLang="ko-KR" dirty="0" smtClean="0"/>
          </a:p>
          <a:p>
            <a:pPr marL="360000" indent="-1800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en-US" altLang="ko-KR" dirty="0" err="1" smtClean="0"/>
              <a:t>Dockerfile</a:t>
            </a:r>
            <a:r>
              <a:rPr lang="ko-KR" altLang="en-US" dirty="0" smtClean="0"/>
              <a:t>로 이미지 구성을 확인 가능</a:t>
            </a:r>
            <a:endParaRPr lang="en-US" altLang="ko-KR" dirty="0"/>
          </a:p>
        </p:txBody>
      </p:sp>
      <p:sp>
        <p:nvSpPr>
          <p:cNvPr id="9" name="내용 개체 틀 2"/>
          <p:cNvSpPr txBox="1">
            <a:spLocks/>
          </p:cNvSpPr>
          <p:nvPr/>
        </p:nvSpPr>
        <p:spPr>
          <a:xfrm>
            <a:off x="494346" y="2891623"/>
            <a:ext cx="11228262" cy="383767"/>
          </a:xfrm>
          <a:prstGeom prst="rect">
            <a:avLst/>
          </a:prstGeom>
          <a:noFill/>
          <a:ln w="0">
            <a:noFill/>
            <a:miter lim="800000"/>
            <a:headEnd type="none" w="med" len="med"/>
            <a:tailEnd type="none" w="med" len="med"/>
          </a:ln>
        </p:spPr>
        <p:txBody>
          <a:bodyPr rot="0" vert="horz" wrap="square" lIns="0" tIns="0" rIns="43200" bIns="36000" numCol="1" spcCol="0" rtlCol="0" anchor="t" anchorCtr="0">
            <a:prstTxWarp prst="textNoShape">
              <a:avLst/>
            </a:prstTxWarp>
            <a:noAutofit/>
          </a:bodyPr>
          <a:lstStyle>
            <a:defPPr>
              <a:defRPr lang="ko-KR" altLang="en-US"/>
            </a:defPPr>
            <a:lvl1pPr marL="0" indent="0" algn="just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336699"/>
              </a:buClr>
              <a:buFont typeface="Arial"/>
              <a:buNone/>
              <a:defRPr lang="ko-KR" altLang="en-US" sz="2000" b="1">
                <a:solidFill>
                  <a:srgbClr val="111111"/>
                </a:solidFill>
                <a:latin typeface="나눔고딕"/>
                <a:ea typeface="나눔고딕"/>
                <a:cs typeface="나눔스퀘어"/>
              </a:defRPr>
            </a:lvl1pPr>
            <a:lvl2pPr marL="296545" indent="-144145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Char char="•"/>
              <a:defRPr lang="ko-KR" altLang="en-US" sz="1400" b="1">
                <a:solidFill>
                  <a:srgbClr val="111111"/>
                </a:solidFill>
                <a:latin typeface="+mj-lt"/>
                <a:ea typeface="+mn-ea"/>
              </a:defRPr>
            </a:lvl2pPr>
            <a:lvl3pPr marL="640715" indent="-164465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200" b="1">
                <a:solidFill>
                  <a:srgbClr val="111111"/>
                </a:solidFill>
                <a:latin typeface="+mj-lt"/>
                <a:ea typeface="+mn-ea"/>
              </a:defRPr>
            </a:lvl3pPr>
            <a:lvl4pPr marL="925195" indent="-175895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100" b="1">
                <a:solidFill>
                  <a:srgbClr val="111111"/>
                </a:solidFill>
                <a:latin typeface="+mj-lt"/>
                <a:ea typeface="+mn-ea"/>
              </a:defRPr>
            </a:lvl4pPr>
            <a:lvl5pPr marL="1243965" indent="-186690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+mj-lt"/>
                <a:ea typeface="+mn-ea"/>
              </a:defRPr>
            </a:lvl5pPr>
            <a:lvl6pPr marL="17011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6pPr>
            <a:lvl7pPr marL="21583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7pPr>
            <a:lvl8pPr marL="26155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8pPr>
            <a:lvl9pPr marL="30727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9pPr>
          </a:lstStyle>
          <a:p>
            <a:pPr latinLnBrk="0"/>
            <a:r>
              <a:rPr lang="en-US" altLang="ko-KR" kern="0" spc="-150" dirty="0" err="1" smtClean="0">
                <a:ln w="9525" cap="flat" cmpd="sng" algn="ctr">
                  <a:solidFill>
                    <a:srgbClr val="0097F2">
                      <a:alpha val="0"/>
                    </a:srgbClr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Dockerfile</a:t>
            </a:r>
            <a:r>
              <a:rPr lang="en-US" altLang="ko-KR" kern="0" spc="-150" dirty="0" smtClean="0">
                <a:ln w="9525" cap="flat" cmpd="sng" algn="ctr">
                  <a:solidFill>
                    <a:srgbClr val="0097F2">
                      <a:alpha val="0"/>
                    </a:srgbClr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Build </a:t>
            </a:r>
            <a:r>
              <a:rPr lang="ko-KR" altLang="en-US" kern="0" spc="-150" dirty="0" smtClean="0">
                <a:ln w="9525" cap="flat" cmpd="sng" algn="ctr">
                  <a:solidFill>
                    <a:srgbClr val="0097F2">
                      <a:alpha val="0"/>
                    </a:srgbClr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명령어</a:t>
            </a:r>
            <a:r>
              <a:rPr lang="en-US" altLang="ko-KR" kern="0" spc="-150" dirty="0" smtClean="0">
                <a:ln w="9525" cap="flat" cmpd="sng" algn="ctr">
                  <a:solidFill>
                    <a:srgbClr val="0097F2">
                      <a:alpha val="0"/>
                    </a:srgbClr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kern="0" spc="-150" dirty="0">
              <a:ln w="9525" cap="flat" cmpd="sng" algn="ctr">
                <a:solidFill>
                  <a:srgbClr val="0097F2">
                    <a:alpha val="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3"/>
          <p:cNvSpPr txBox="1"/>
          <p:nvPr/>
        </p:nvSpPr>
        <p:spPr>
          <a:xfrm>
            <a:off x="494346" y="3282565"/>
            <a:ext cx="10838341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docker</a:t>
            </a:r>
            <a:r>
              <a:rPr lang="ko-KR" alt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Consolas" panose="020B0609020204030204" pitchFamily="49" charset="0"/>
              </a:rPr>
              <a:t>build</a:t>
            </a:r>
            <a:r>
              <a:rPr lang="ko-KR" alt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-f</a:t>
            </a:r>
            <a:r>
              <a:rPr lang="ko-KR" altLang="en-US" sz="12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Consolas" panose="020B0609020204030204" pitchFamily="49" charset="0"/>
              </a:rPr>
              <a:t>[</a:t>
            </a:r>
            <a:r>
              <a:rPr lang="en-US" altLang="ko-KR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Dockerfile</a:t>
            </a:r>
            <a:r>
              <a:rPr lang="en-US" altLang="ko-KR" sz="12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ko-KR" alt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명</a:t>
            </a:r>
            <a:r>
              <a:rPr lang="en-US" altLang="ko-KR" sz="1200" dirty="0">
                <a:solidFill>
                  <a:schemeClr val="bg1"/>
                </a:solidFill>
                <a:latin typeface="Consolas" panose="020B0609020204030204" pitchFamily="49" charset="0"/>
              </a:rPr>
              <a:t>] -</a:t>
            </a:r>
            <a:r>
              <a:rPr lang="en-US" altLang="ko-KR" sz="12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t </a:t>
            </a:r>
            <a:r>
              <a:rPr lang="en-US" altLang="ko-KR" sz="1200" dirty="0">
                <a:solidFill>
                  <a:schemeClr val="bg1"/>
                </a:solidFill>
                <a:latin typeface="Consolas" panose="020B0609020204030204" pitchFamily="49" charset="0"/>
              </a:rPr>
              <a:t>[</a:t>
            </a:r>
            <a:r>
              <a:rPr lang="ko-KR" alt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이미지이름</a:t>
            </a:r>
            <a:r>
              <a:rPr lang="en-US" altLang="ko-KR" sz="1200" dirty="0">
                <a:solidFill>
                  <a:schemeClr val="bg1"/>
                </a:solidFill>
                <a:latin typeface="Consolas" panose="020B0609020204030204" pitchFamily="49" charset="0"/>
              </a:rPr>
              <a:t>:</a:t>
            </a:r>
            <a:r>
              <a:rPr lang="ko-KR" alt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이미지버전</a:t>
            </a:r>
            <a:r>
              <a:rPr lang="en-US" altLang="ko-KR" sz="1200" dirty="0">
                <a:solidFill>
                  <a:schemeClr val="bg1"/>
                </a:solidFill>
                <a:latin typeface="Consolas" panose="020B0609020204030204" pitchFamily="49" charset="0"/>
              </a:rPr>
              <a:t>] [</a:t>
            </a:r>
            <a:r>
              <a:rPr lang="en-US" altLang="ko-KR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Dockerfile</a:t>
            </a:r>
            <a:r>
              <a:rPr lang="ko-KR" alt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의 경로</a:t>
            </a:r>
            <a:r>
              <a:rPr lang="en-US" altLang="ko-KR" sz="12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]</a:t>
            </a:r>
            <a:endParaRPr lang="en-US" altLang="ko-KR" sz="12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94347" y="3559562"/>
            <a:ext cx="11499178" cy="710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00" indent="-1800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en-US" altLang="ko-KR" dirty="0" smtClean="0"/>
              <a:t>Docker Image build </a:t>
            </a:r>
            <a:r>
              <a:rPr lang="ko-KR" altLang="en-US" dirty="0" smtClean="0"/>
              <a:t>참고 </a:t>
            </a:r>
            <a:r>
              <a:rPr lang="en-US" altLang="ko-KR" dirty="0" smtClean="0"/>
              <a:t>URL</a:t>
            </a:r>
          </a:p>
          <a:p>
            <a:pPr marL="180000">
              <a:spcBef>
                <a:spcPts val="500"/>
              </a:spcBef>
            </a:pPr>
            <a:r>
              <a:rPr lang="en-US" altLang="ko-KR" dirty="0"/>
              <a:t>  https://docs.docker.com/reference/cli/docker/image/build/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94694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494348" y="0"/>
            <a:ext cx="759986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ko-KR" sz="3200" b="1" dirty="0">
                <a:solidFill>
                  <a:schemeClr val="bg1"/>
                </a:solidFill>
              </a:rPr>
              <a:t>2</a:t>
            </a:r>
            <a:r>
              <a:rPr lang="en-US" altLang="ko-KR" sz="3200" b="1" dirty="0" smtClean="0">
                <a:solidFill>
                  <a:schemeClr val="bg1"/>
                </a:solidFill>
              </a:rPr>
              <a:t>. </a:t>
            </a:r>
            <a:r>
              <a:rPr lang="en-US" altLang="ko-KR" sz="3200" b="1" dirty="0" err="1" smtClean="0">
                <a:solidFill>
                  <a:schemeClr val="bg1"/>
                </a:solidFill>
              </a:rPr>
              <a:t>Dockerfile</a:t>
            </a:r>
            <a:endParaRPr lang="ko-KR" altLang="en-US" sz="3200" b="1" dirty="0">
              <a:solidFill>
                <a:schemeClr val="bg1"/>
              </a:solidFill>
              <a:latin typeface="+mj-lt"/>
              <a:ea typeface="Noto Sans KR Black" panose="020B0A00000000000000" pitchFamily="34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11970" y="367921"/>
            <a:ext cx="1310640" cy="134995"/>
          </a:xfrm>
          <a:prstGeom prst="rect">
            <a:avLst/>
          </a:prstGeom>
        </p:spPr>
      </p:pic>
      <p:sp>
        <p:nvSpPr>
          <p:cNvPr id="5" name="내용 개체 틀 2"/>
          <p:cNvSpPr txBox="1">
            <a:spLocks/>
          </p:cNvSpPr>
          <p:nvPr/>
        </p:nvSpPr>
        <p:spPr>
          <a:xfrm>
            <a:off x="494348" y="1115171"/>
            <a:ext cx="11228262" cy="383767"/>
          </a:xfrm>
          <a:prstGeom prst="rect">
            <a:avLst/>
          </a:prstGeom>
          <a:noFill/>
          <a:ln w="0">
            <a:noFill/>
            <a:miter lim="800000"/>
            <a:headEnd type="none" w="med" len="med"/>
            <a:tailEnd type="none" w="med" len="med"/>
          </a:ln>
        </p:spPr>
        <p:txBody>
          <a:bodyPr rot="0" vert="horz" wrap="square" lIns="0" tIns="0" rIns="43200" bIns="36000" numCol="1" spcCol="0" rtlCol="0" anchor="t" anchorCtr="0">
            <a:prstTxWarp prst="textNoShape">
              <a:avLst/>
            </a:prstTxWarp>
            <a:noAutofit/>
          </a:bodyPr>
          <a:lstStyle>
            <a:defPPr>
              <a:defRPr lang="ko-KR" altLang="en-US"/>
            </a:defPPr>
            <a:lvl1pPr marL="0" indent="0" algn="just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336699"/>
              </a:buClr>
              <a:buFont typeface="Arial"/>
              <a:buNone/>
              <a:defRPr lang="ko-KR" altLang="en-US" sz="2000" b="1">
                <a:solidFill>
                  <a:srgbClr val="111111"/>
                </a:solidFill>
                <a:latin typeface="나눔고딕"/>
                <a:ea typeface="나눔고딕"/>
                <a:cs typeface="나눔스퀘어"/>
              </a:defRPr>
            </a:lvl1pPr>
            <a:lvl2pPr marL="296545" indent="-144145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Char char="•"/>
              <a:defRPr lang="ko-KR" altLang="en-US" sz="1400" b="1">
                <a:solidFill>
                  <a:srgbClr val="111111"/>
                </a:solidFill>
                <a:latin typeface="+mj-lt"/>
                <a:ea typeface="+mn-ea"/>
              </a:defRPr>
            </a:lvl2pPr>
            <a:lvl3pPr marL="640715" indent="-164465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200" b="1">
                <a:solidFill>
                  <a:srgbClr val="111111"/>
                </a:solidFill>
                <a:latin typeface="+mj-lt"/>
                <a:ea typeface="+mn-ea"/>
              </a:defRPr>
            </a:lvl3pPr>
            <a:lvl4pPr marL="925195" indent="-175895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100" b="1">
                <a:solidFill>
                  <a:srgbClr val="111111"/>
                </a:solidFill>
                <a:latin typeface="+mj-lt"/>
                <a:ea typeface="+mn-ea"/>
              </a:defRPr>
            </a:lvl4pPr>
            <a:lvl5pPr marL="1243965" indent="-186690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+mj-lt"/>
                <a:ea typeface="+mn-ea"/>
              </a:defRPr>
            </a:lvl5pPr>
            <a:lvl6pPr marL="17011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6pPr>
            <a:lvl7pPr marL="21583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7pPr>
            <a:lvl8pPr marL="26155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8pPr>
            <a:lvl9pPr marL="30727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9pPr>
          </a:lstStyle>
          <a:p>
            <a:pPr latinLnBrk="0"/>
            <a:r>
              <a:rPr lang="en-US" altLang="ko-KR" kern="0" spc="-150" dirty="0" err="1" smtClean="0">
                <a:ln w="9525" cap="flat" cmpd="sng" algn="ctr">
                  <a:solidFill>
                    <a:srgbClr val="0097F2">
                      <a:alpha val="0"/>
                    </a:srgbClr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Dockerfile</a:t>
            </a:r>
            <a:r>
              <a:rPr lang="en-US" altLang="ko-KR" kern="0" spc="-150" dirty="0">
                <a:ln w="9525" cap="flat" cmpd="sng" algn="ctr">
                  <a:solidFill>
                    <a:srgbClr val="0097F2">
                      <a:alpha val="0"/>
                    </a:srgbClr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kern="0" spc="-150" dirty="0" smtClean="0">
                <a:ln w="9525" cap="flat" cmpd="sng" algn="ctr">
                  <a:solidFill>
                    <a:srgbClr val="0097F2">
                      <a:alpha val="0"/>
                    </a:srgbClr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Tag</a:t>
            </a:r>
            <a:endParaRPr lang="en-US" altLang="ko-KR" kern="0" spc="-150" dirty="0">
              <a:ln w="9525" cap="flat" cmpd="sng" algn="ctr">
                <a:solidFill>
                  <a:srgbClr val="0097F2">
                    <a:alpha val="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0997612"/>
              </p:ext>
            </p:extLst>
          </p:nvPr>
        </p:nvGraphicFramePr>
        <p:xfrm>
          <a:off x="494348" y="1498938"/>
          <a:ext cx="10637153" cy="3306317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807652">
                  <a:extLst>
                    <a:ext uri="{9D8B030D-6E8A-4147-A177-3AD203B41FA5}">
                      <a16:colId xmlns:a16="http://schemas.microsoft.com/office/drawing/2014/main" val="3346232985"/>
                    </a:ext>
                  </a:extLst>
                </a:gridCol>
                <a:gridCol w="7829501">
                  <a:extLst>
                    <a:ext uri="{9D8B030D-6E8A-4147-A177-3AD203B41FA5}">
                      <a16:colId xmlns:a16="http://schemas.microsoft.com/office/drawing/2014/main" val="740863177"/>
                    </a:ext>
                  </a:extLst>
                </a:gridCol>
              </a:tblGrid>
              <a:tr h="27058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항목명</a:t>
                      </a:r>
                      <a:endParaRPr lang="ko-KR" alt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2D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2D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  용</a:t>
                      </a:r>
                      <a:endParaRPr lang="ko-KR" alt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2D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2D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6049965"/>
                  </a:ext>
                </a:extLst>
              </a:tr>
              <a:tr h="303573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From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2D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spcBef>
                          <a:spcPts val="100"/>
                        </a:spcBef>
                        <a:spcAft>
                          <a:spcPts val="1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050" dirty="0" smtClean="0"/>
                        <a:t>Build</a:t>
                      </a:r>
                      <a:r>
                        <a:rPr lang="ko-KR" altLang="en-US" sz="1050" dirty="0" smtClean="0"/>
                        <a:t>에 사용할 </a:t>
                      </a:r>
                      <a:r>
                        <a:rPr lang="en-US" altLang="ko-KR" sz="1050" dirty="0" smtClean="0"/>
                        <a:t>BASE Image</a:t>
                      </a:r>
                      <a:r>
                        <a:rPr lang="en-US" altLang="ko-KR" sz="1050" baseline="0" dirty="0" smtClean="0"/>
                        <a:t> </a:t>
                      </a:r>
                      <a:r>
                        <a:rPr lang="ko-KR" altLang="en-US" sz="1050" baseline="0" dirty="0" smtClean="0"/>
                        <a:t>지정</a:t>
                      </a:r>
                      <a:endParaRPr lang="en-US" altLang="ko-KR" sz="1050" dirty="0"/>
                    </a:p>
                  </a:txBody>
                  <a:tcPr marL="72000" marR="0" marT="0" marB="0" anchor="ctr">
                    <a:lnL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2D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4669871"/>
                  </a:ext>
                </a:extLst>
              </a:tr>
              <a:tr h="3035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smtClean="0"/>
                        <a:t>LABEL description=“string”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dirty="0" smtClean="0"/>
                        <a:t>이미지에 대한 설명</a:t>
                      </a:r>
                      <a:endParaRPr lang="en-US" altLang="ko-KR" sz="1050" dirty="0" smtClean="0"/>
                    </a:p>
                  </a:txBody>
                  <a:tcPr marL="72000" marR="0" marT="0" marB="0" anchor="ctr">
                    <a:lnL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896816"/>
                  </a:ext>
                </a:extLst>
              </a:tr>
              <a:tr h="3035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smtClean="0"/>
                        <a:t>MAINTAINER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dirty="0" smtClean="0"/>
                        <a:t>이니셜 </a:t>
                      </a:r>
                      <a:r>
                        <a:rPr lang="en-US" altLang="ko-KR" sz="1050" dirty="0" smtClean="0"/>
                        <a:t>&lt;mail&gt;</a:t>
                      </a:r>
                      <a:r>
                        <a:rPr lang="en-US" altLang="ko-KR" sz="1050" baseline="0" dirty="0" smtClean="0"/>
                        <a:t> </a:t>
                      </a:r>
                      <a:r>
                        <a:rPr lang="ko-KR" altLang="en-US" sz="1050" baseline="0" dirty="0" smtClean="0"/>
                        <a:t>작성자 표시</a:t>
                      </a:r>
                      <a:endParaRPr lang="en-US" altLang="ko-KR" sz="1050" dirty="0" smtClean="0"/>
                    </a:p>
                  </a:txBody>
                  <a:tcPr marL="72000" marR="0" marT="0" marB="0" anchor="ctr">
                    <a:lnL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9077599"/>
                  </a:ext>
                </a:extLst>
              </a:tr>
              <a:tr h="3035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smtClean="0"/>
                        <a:t>WORKDIR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50" dirty="0" smtClean="0"/>
                        <a:t>Build</a:t>
                      </a:r>
                      <a:r>
                        <a:rPr lang="ko-KR" altLang="en-US" sz="1050" dirty="0" smtClean="0"/>
                        <a:t>에 사용할 작업 디렉터리를 변경</a:t>
                      </a:r>
                      <a:endParaRPr lang="en-US" altLang="ko-KR" sz="1050" dirty="0" smtClean="0"/>
                    </a:p>
                  </a:txBody>
                  <a:tcPr marL="72000" marR="0" marT="0" marB="0" anchor="ctr">
                    <a:lnL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6793100"/>
                  </a:ext>
                </a:extLst>
              </a:tr>
              <a:tr h="3035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smtClean="0"/>
                        <a:t>COPY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dirty="0" smtClean="0"/>
                        <a:t>파일이나 디렉터리 복사하는 경우 사용</a:t>
                      </a:r>
                      <a:endParaRPr lang="en-US" altLang="ko-KR" sz="1050" dirty="0" smtClean="0"/>
                    </a:p>
                  </a:txBody>
                  <a:tcPr marL="72000" marR="0" marT="0" marB="0" anchor="ctr">
                    <a:lnL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3663237"/>
                  </a:ext>
                </a:extLst>
              </a:tr>
              <a:tr h="3035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smtClean="0"/>
                        <a:t>ADD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dirty="0" smtClean="0"/>
                        <a:t>원격에서 파일을 내려 받기</a:t>
                      </a:r>
                      <a:r>
                        <a:rPr lang="en-US" altLang="ko-KR" sz="1050" dirty="0" smtClean="0"/>
                        <a:t>, </a:t>
                      </a:r>
                      <a:r>
                        <a:rPr lang="ko-KR" altLang="en-US" sz="1050" dirty="0" smtClean="0"/>
                        <a:t>복사하는 경우 사용</a:t>
                      </a:r>
                      <a:endParaRPr lang="en-US" altLang="ko-KR" sz="1050" dirty="0" smtClean="0"/>
                    </a:p>
                  </a:txBody>
                  <a:tcPr marL="72000" marR="0" marT="0" marB="0" anchor="ctr">
                    <a:lnL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01160"/>
                  </a:ext>
                </a:extLst>
              </a:tr>
              <a:tr h="3035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smtClean="0"/>
                        <a:t>RUN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dirty="0" smtClean="0"/>
                        <a:t>특정 명령어를 일시적으로 실행</a:t>
                      </a:r>
                      <a:endParaRPr lang="en-US" altLang="ko-KR" sz="1050" dirty="0" smtClean="0"/>
                    </a:p>
                  </a:txBody>
                  <a:tcPr marL="72000" marR="0" marT="0" marB="0" anchor="ctr">
                    <a:lnL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5214675"/>
                  </a:ext>
                </a:extLst>
              </a:tr>
              <a:tr h="3035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smtClean="0"/>
                        <a:t>EXPOSE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dirty="0" smtClean="0"/>
                        <a:t>컨테이너 실행 시 특정 포트를 호스트에 노출하기 위해서 사용</a:t>
                      </a:r>
                      <a:endParaRPr lang="en-US" altLang="ko-KR" sz="1050" dirty="0" smtClean="0"/>
                    </a:p>
                  </a:txBody>
                  <a:tcPr marL="72000" marR="0" marT="0" marB="0" anchor="ctr">
                    <a:lnL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0257471"/>
                  </a:ext>
                </a:extLst>
              </a:tr>
              <a:tr h="3035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smtClean="0"/>
                        <a:t>CMD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50" dirty="0" err="1" smtClean="0"/>
                        <a:t>docker</a:t>
                      </a:r>
                      <a:r>
                        <a:rPr lang="en-US" altLang="ko-KR" sz="1050" dirty="0" smtClean="0"/>
                        <a:t> run </a:t>
                      </a:r>
                      <a:r>
                        <a:rPr lang="ko-KR" altLang="en-US" sz="1050" dirty="0" smtClean="0"/>
                        <a:t>실행 시</a:t>
                      </a:r>
                      <a:r>
                        <a:rPr lang="en-US" altLang="ko-KR" sz="1050" dirty="0" smtClean="0"/>
                        <a:t>, </a:t>
                      </a:r>
                      <a:r>
                        <a:rPr lang="ko-KR" altLang="en-US" sz="1050" dirty="0" smtClean="0"/>
                        <a:t>추가적인 명령어에 따라 설정한 명령어를 수정하고자 할 때 사용</a:t>
                      </a:r>
                      <a:endParaRPr lang="en-US" altLang="ko-KR" sz="1050" dirty="0" smtClean="0"/>
                    </a:p>
                  </a:txBody>
                  <a:tcPr marL="72000" marR="0" marT="0" marB="0" anchor="ctr">
                    <a:lnL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3652065"/>
                  </a:ext>
                </a:extLst>
              </a:tr>
              <a:tr h="3035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smtClean="0"/>
                        <a:t>ENTRYPOINT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50" dirty="0" err="1" smtClean="0"/>
                        <a:t>docker</a:t>
                      </a:r>
                      <a:r>
                        <a:rPr lang="en-US" altLang="ko-KR" sz="1050" dirty="0" smtClean="0"/>
                        <a:t> run </a:t>
                      </a:r>
                      <a:r>
                        <a:rPr lang="ko-KR" altLang="en-US" sz="1050" dirty="0" smtClean="0"/>
                        <a:t>실행 시</a:t>
                      </a:r>
                      <a:r>
                        <a:rPr lang="en-US" altLang="ko-KR" sz="1050" dirty="0" smtClean="0"/>
                        <a:t>, </a:t>
                      </a:r>
                      <a:r>
                        <a:rPr lang="ko-KR" altLang="en-US" sz="1050" dirty="0" smtClean="0"/>
                        <a:t>추가적인 명령어의 존재 여부와 상관없이 무조건 실행되는 명령어</a:t>
                      </a:r>
                      <a:endParaRPr lang="en-US" altLang="ko-KR" sz="1050" dirty="0" smtClean="0"/>
                    </a:p>
                  </a:txBody>
                  <a:tcPr marL="72000" marR="0" marT="0" marB="0" anchor="ctr">
                    <a:lnL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89829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16377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178005" y="1205477"/>
            <a:ext cx="7599867" cy="9771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altLang="ko-KR" sz="4400" b="1" dirty="0">
                <a:solidFill>
                  <a:schemeClr val="bg1"/>
                </a:solidFill>
              </a:rPr>
              <a:t>3</a:t>
            </a:r>
            <a:r>
              <a:rPr lang="en-US" altLang="ko-KR" sz="4400" b="1" dirty="0" smtClean="0">
                <a:solidFill>
                  <a:schemeClr val="bg1"/>
                </a:solidFill>
              </a:rPr>
              <a:t>. </a:t>
            </a:r>
            <a:r>
              <a:rPr lang="en-US" altLang="ko-KR" sz="4400" b="1" dirty="0" smtClean="0">
                <a:solidFill>
                  <a:schemeClr val="bg1"/>
                </a:solidFill>
              </a:rPr>
              <a:t>Image Build</a:t>
            </a:r>
            <a:endParaRPr lang="ko-KR" altLang="en-US" sz="4400" b="1" dirty="0">
              <a:solidFill>
                <a:schemeClr val="bg1"/>
              </a:solidFill>
              <a:latin typeface="+mj-lt"/>
              <a:ea typeface="Noto Sans KR Black" panose="020B0A00000000000000" pitchFamily="34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11970" y="6397944"/>
            <a:ext cx="1310640" cy="134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063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494348" y="0"/>
            <a:ext cx="759986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ko-KR" sz="3200" b="1" dirty="0">
                <a:solidFill>
                  <a:schemeClr val="bg1"/>
                </a:solidFill>
              </a:rPr>
              <a:t>3</a:t>
            </a:r>
            <a:r>
              <a:rPr lang="en-US" altLang="ko-KR" sz="3200" b="1" dirty="0" smtClean="0">
                <a:solidFill>
                  <a:schemeClr val="bg1"/>
                </a:solidFill>
              </a:rPr>
              <a:t>. Image Build</a:t>
            </a:r>
            <a:endParaRPr lang="ko-KR" altLang="en-US" sz="3200" b="1" dirty="0">
              <a:solidFill>
                <a:schemeClr val="bg1"/>
              </a:solidFill>
              <a:latin typeface="+mj-lt"/>
              <a:ea typeface="Noto Sans KR Black" panose="020B0A00000000000000" pitchFamily="34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11970" y="367921"/>
            <a:ext cx="1310640" cy="134995"/>
          </a:xfrm>
          <a:prstGeom prst="rect">
            <a:avLst/>
          </a:prstGeom>
        </p:spPr>
      </p:pic>
      <p:sp>
        <p:nvSpPr>
          <p:cNvPr id="5" name="내용 개체 틀 2"/>
          <p:cNvSpPr txBox="1">
            <a:spLocks/>
          </p:cNvSpPr>
          <p:nvPr/>
        </p:nvSpPr>
        <p:spPr>
          <a:xfrm>
            <a:off x="494348" y="1115171"/>
            <a:ext cx="11228262" cy="383767"/>
          </a:xfrm>
          <a:prstGeom prst="rect">
            <a:avLst/>
          </a:prstGeom>
          <a:noFill/>
          <a:ln w="0">
            <a:noFill/>
            <a:miter lim="800000"/>
            <a:headEnd type="none" w="med" len="med"/>
            <a:tailEnd type="none" w="med" len="med"/>
          </a:ln>
        </p:spPr>
        <p:txBody>
          <a:bodyPr rot="0" vert="horz" wrap="square" lIns="0" tIns="0" rIns="43200" bIns="36000" numCol="1" spcCol="0" rtlCol="0" anchor="t" anchorCtr="0">
            <a:prstTxWarp prst="textNoShape">
              <a:avLst/>
            </a:prstTxWarp>
            <a:noAutofit/>
          </a:bodyPr>
          <a:lstStyle>
            <a:defPPr>
              <a:defRPr lang="ko-KR" altLang="en-US"/>
            </a:defPPr>
            <a:lvl1pPr marL="0" indent="0" algn="just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336699"/>
              </a:buClr>
              <a:buFont typeface="Arial"/>
              <a:buNone/>
              <a:defRPr lang="ko-KR" altLang="en-US" sz="2000" b="1">
                <a:solidFill>
                  <a:srgbClr val="111111"/>
                </a:solidFill>
                <a:latin typeface="나눔고딕"/>
                <a:ea typeface="나눔고딕"/>
                <a:cs typeface="나눔스퀘어"/>
              </a:defRPr>
            </a:lvl1pPr>
            <a:lvl2pPr marL="296545" indent="-144145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Char char="•"/>
              <a:defRPr lang="ko-KR" altLang="en-US" sz="1400" b="1">
                <a:solidFill>
                  <a:srgbClr val="111111"/>
                </a:solidFill>
                <a:latin typeface="+mj-lt"/>
                <a:ea typeface="+mn-ea"/>
              </a:defRPr>
            </a:lvl2pPr>
            <a:lvl3pPr marL="640715" indent="-164465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200" b="1">
                <a:solidFill>
                  <a:srgbClr val="111111"/>
                </a:solidFill>
                <a:latin typeface="+mj-lt"/>
                <a:ea typeface="+mn-ea"/>
              </a:defRPr>
            </a:lvl3pPr>
            <a:lvl4pPr marL="925195" indent="-175895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100" b="1">
                <a:solidFill>
                  <a:srgbClr val="111111"/>
                </a:solidFill>
                <a:latin typeface="+mj-lt"/>
                <a:ea typeface="+mn-ea"/>
              </a:defRPr>
            </a:lvl4pPr>
            <a:lvl5pPr marL="1243965" indent="-186690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+mj-lt"/>
                <a:ea typeface="+mn-ea"/>
              </a:defRPr>
            </a:lvl5pPr>
            <a:lvl6pPr marL="17011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6pPr>
            <a:lvl7pPr marL="21583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7pPr>
            <a:lvl8pPr marL="26155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8pPr>
            <a:lvl9pPr marL="30727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9pPr>
          </a:lstStyle>
          <a:p>
            <a:pPr latinLnBrk="0"/>
            <a:r>
              <a:rPr lang="en-US" altLang="ko-KR" kern="0" spc="-150" dirty="0" smtClean="0">
                <a:ln w="9525" cap="flat" cmpd="sng" algn="ctr">
                  <a:solidFill>
                    <a:srgbClr val="0097F2">
                      <a:alpha val="0"/>
                    </a:srgbClr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Image Build </a:t>
            </a:r>
            <a:r>
              <a:rPr lang="ko-KR" altLang="en-US" kern="0" spc="-150" dirty="0" smtClean="0">
                <a:ln w="9525" cap="flat" cmpd="sng" algn="ctr">
                  <a:solidFill>
                    <a:srgbClr val="0097F2">
                      <a:alpha val="0"/>
                    </a:srgbClr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디렉터리 구성</a:t>
            </a:r>
            <a:r>
              <a:rPr lang="en-US" altLang="ko-KR" kern="0" spc="-150" dirty="0" smtClean="0">
                <a:ln w="9525" cap="flat" cmpd="sng" algn="ctr">
                  <a:solidFill>
                    <a:srgbClr val="0097F2">
                      <a:alpha val="0"/>
                    </a:srgbClr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kern="0" spc="-150" dirty="0">
              <a:ln w="9525" cap="flat" cmpd="sng" algn="ctr">
                <a:solidFill>
                  <a:srgbClr val="0097F2">
                    <a:alpha val="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DEABAA9-903B-E199-113E-BF4B35312609}"/>
              </a:ext>
            </a:extLst>
          </p:cNvPr>
          <p:cNvSpPr txBox="1"/>
          <p:nvPr/>
        </p:nvSpPr>
        <p:spPr>
          <a:xfrm>
            <a:off x="3273549" y="5695257"/>
            <a:ext cx="48919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 dirty="0" err="1" smtClean="0"/>
              <a:t>WebtoB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설치 </a:t>
            </a:r>
            <a:r>
              <a:rPr lang="en-US" altLang="ko-KR" sz="1200" dirty="0" smtClean="0"/>
              <a:t>tar </a:t>
            </a:r>
            <a:r>
              <a:rPr lang="ko-KR" altLang="en-US" sz="1200" dirty="0" smtClean="0"/>
              <a:t>파일</a:t>
            </a:r>
            <a:endParaRPr lang="ko-KR" altLang="en-US" sz="1200" dirty="0"/>
          </a:p>
        </p:txBody>
      </p:sp>
      <p:grpSp>
        <p:nvGrpSpPr>
          <p:cNvPr id="4" name="그룹 3"/>
          <p:cNvGrpSpPr/>
          <p:nvPr/>
        </p:nvGrpSpPr>
        <p:grpSpPr>
          <a:xfrm>
            <a:off x="494348" y="1936677"/>
            <a:ext cx="6569334" cy="4242766"/>
            <a:chOff x="494348" y="1936677"/>
            <a:chExt cx="6569334" cy="4242766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C0B0E26-FC6F-E2A3-BFEE-FC7F981CEEA8}"/>
                </a:ext>
              </a:extLst>
            </p:cNvPr>
            <p:cNvSpPr txBox="1"/>
            <p:nvPr/>
          </p:nvSpPr>
          <p:spPr>
            <a:xfrm>
              <a:off x="1684582" y="2005284"/>
              <a:ext cx="37726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Image Build </a:t>
              </a:r>
              <a:r>
                <a:rPr lang="ko-KR" altLang="en-US" sz="1200" dirty="0" smtClean="0"/>
                <a:t>업무를 수행할 디렉터리 </a:t>
              </a:r>
              <a:r>
                <a:rPr lang="en-US" altLang="ko-KR" sz="1200" dirty="0" smtClean="0"/>
                <a:t>(ex /</a:t>
              </a:r>
              <a:r>
                <a:rPr lang="en-US" altLang="ko-KR" sz="1200" dirty="0" err="1" smtClean="0"/>
                <a:t>webtob</a:t>
              </a:r>
              <a:r>
                <a:rPr lang="en-US" altLang="ko-KR" sz="1200" dirty="0" smtClean="0"/>
                <a:t>)</a:t>
              </a:r>
              <a:r>
                <a:rPr lang="ko-KR" altLang="en-US" sz="1200" dirty="0" smtClean="0"/>
                <a:t> </a:t>
              </a:r>
              <a:endParaRPr lang="ko-KR" altLang="en-US" sz="1200" dirty="0"/>
            </a:p>
          </p:txBody>
        </p:sp>
        <p:sp>
          <p:nvSpPr>
            <p:cNvPr id="15" name="사각형: 둥근 모서리 9">
              <a:extLst>
                <a:ext uri="{FF2B5EF4-FFF2-40B4-BE49-F238E27FC236}">
                  <a16:creationId xmlns:a16="http://schemas.microsoft.com/office/drawing/2014/main" id="{4F3B2A9A-D03E-D874-A270-41CA85B128C5}"/>
                </a:ext>
              </a:extLst>
            </p:cNvPr>
            <p:cNvSpPr/>
            <p:nvPr/>
          </p:nvSpPr>
          <p:spPr bwMode="auto">
            <a:xfrm>
              <a:off x="494348" y="1936677"/>
              <a:ext cx="1190235" cy="458113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FFFFFF"/>
              </a:solidFill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1200" b="1" dirty="0" err="1" smtClean="0"/>
                <a:t>webtob</a:t>
              </a:r>
              <a:endParaRPr kumimoji="1" lang="ko-KR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20273FE8-458A-3965-4CC6-6D7D753D780C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989784" y="2394788"/>
              <a:ext cx="19648" cy="3784655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6280607-2E09-9119-33FD-0BA216DE6115}"/>
                </a:ext>
              </a:extLst>
            </p:cNvPr>
            <p:cNvCxnSpPr/>
            <p:nvPr/>
          </p:nvCxnSpPr>
          <p:spPr bwMode="auto">
            <a:xfrm>
              <a:off x="1000312" y="2823411"/>
              <a:ext cx="267898" cy="1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E391650-BDA1-71AC-DC02-B2D6C0AE9F56}"/>
                </a:ext>
              </a:extLst>
            </p:cNvPr>
            <p:cNvSpPr txBox="1"/>
            <p:nvPr/>
          </p:nvSpPr>
          <p:spPr>
            <a:xfrm>
              <a:off x="2467565" y="2697442"/>
              <a:ext cx="407219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050" dirty="0" err="1" smtClean="0"/>
                <a:t>WebtoB</a:t>
              </a:r>
              <a:r>
                <a:rPr lang="en-US" altLang="ko-KR" sz="1050" dirty="0" smtClean="0"/>
                <a:t> </a:t>
              </a:r>
              <a:r>
                <a:rPr lang="ko-KR" altLang="en-US" sz="1050" dirty="0" smtClean="0"/>
                <a:t>기동 스크립트</a:t>
              </a:r>
              <a:endParaRPr lang="ko-KR" altLang="en-US" sz="1050" dirty="0"/>
            </a:p>
          </p:txBody>
        </p:sp>
        <p:sp>
          <p:nvSpPr>
            <p:cNvPr id="20" name="사각형: 둥근 모서리 15">
              <a:extLst>
                <a:ext uri="{FF2B5EF4-FFF2-40B4-BE49-F238E27FC236}">
                  <a16:creationId xmlns:a16="http://schemas.microsoft.com/office/drawing/2014/main" id="{E2E70C5A-25D6-B6D1-A51A-AED8EAD6D563}"/>
                </a:ext>
              </a:extLst>
            </p:cNvPr>
            <p:cNvSpPr/>
            <p:nvPr/>
          </p:nvSpPr>
          <p:spPr bwMode="auto">
            <a:xfrm>
              <a:off x="1277330" y="2604453"/>
              <a:ext cx="1190235" cy="503607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200" b="1" dirty="0">
                  <a:latin typeface="맑은 고딕" pitchFamily="50" charset="-127"/>
                  <a:ea typeface="맑은 고딕" pitchFamily="50" charset="-127"/>
                </a:rPr>
                <a:t>s</a:t>
              </a:r>
              <a:r>
                <a:rPr kumimoji="1" lang="en-US" altLang="ko-KR" sz="1200" b="1" dirty="0" smtClean="0">
                  <a:latin typeface="맑은 고딕" pitchFamily="50" charset="-127"/>
                  <a:ea typeface="맑은 고딕" pitchFamily="50" charset="-127"/>
                </a:rPr>
                <a:t>tart.sh</a:t>
              </a:r>
              <a:endParaRPr kumimoji="1" lang="ko-KR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615DFFB-D8AD-0049-0978-D7E285373782}"/>
                </a:ext>
              </a:extLst>
            </p:cNvPr>
            <p:cNvCxnSpPr/>
            <p:nvPr/>
          </p:nvCxnSpPr>
          <p:spPr bwMode="auto">
            <a:xfrm>
              <a:off x="1002007" y="3427321"/>
              <a:ext cx="267898" cy="1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BE3ECF4-9112-FC6B-475F-9B697C39D435}"/>
                </a:ext>
              </a:extLst>
            </p:cNvPr>
            <p:cNvSpPr txBox="1"/>
            <p:nvPr/>
          </p:nvSpPr>
          <p:spPr>
            <a:xfrm>
              <a:off x="2469259" y="3271037"/>
              <a:ext cx="407219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050" dirty="0" err="1" smtClean="0"/>
                <a:t>http.m</a:t>
              </a:r>
              <a:r>
                <a:rPr lang="en-US" altLang="ko-KR" sz="1050" dirty="0" smtClean="0"/>
                <a:t> </a:t>
              </a:r>
              <a:r>
                <a:rPr lang="ko-KR" altLang="en-US" sz="1050" dirty="0" smtClean="0"/>
                <a:t>설정 파일이 존재하는 디렉터리</a:t>
              </a:r>
              <a:endParaRPr lang="ko-KR" altLang="en-US" sz="1050" dirty="0"/>
            </a:p>
          </p:txBody>
        </p:sp>
        <p:sp>
          <p:nvSpPr>
            <p:cNvPr id="23" name="사각형: 둥근 모서리 23">
              <a:extLst>
                <a:ext uri="{FF2B5EF4-FFF2-40B4-BE49-F238E27FC236}">
                  <a16:creationId xmlns:a16="http://schemas.microsoft.com/office/drawing/2014/main" id="{FE025FF9-D2DD-C748-1C94-4A9139DEE016}"/>
                </a:ext>
              </a:extLst>
            </p:cNvPr>
            <p:cNvSpPr/>
            <p:nvPr/>
          </p:nvSpPr>
          <p:spPr bwMode="auto">
            <a:xfrm>
              <a:off x="1279025" y="3208363"/>
              <a:ext cx="1190235" cy="503607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</a:rPr>
                <a:t>config</a:t>
              </a:r>
              <a:endParaRPr kumimoji="1" lang="ko-KR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52F7455C-EF8E-9318-8AB9-2085E24B55BA}"/>
                </a:ext>
              </a:extLst>
            </p:cNvPr>
            <p:cNvCxnSpPr/>
            <p:nvPr/>
          </p:nvCxnSpPr>
          <p:spPr bwMode="auto">
            <a:xfrm>
              <a:off x="1000312" y="4026336"/>
              <a:ext cx="267898" cy="1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C580C3D-B120-2833-C957-4FC71DB71588}"/>
                </a:ext>
              </a:extLst>
            </p:cNvPr>
            <p:cNvSpPr txBox="1"/>
            <p:nvPr/>
          </p:nvSpPr>
          <p:spPr>
            <a:xfrm>
              <a:off x="2467565" y="3880156"/>
              <a:ext cx="407219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050" dirty="0" err="1" smtClean="0"/>
                <a:t>WebtoB</a:t>
              </a:r>
              <a:r>
                <a:rPr lang="en-US" altLang="ko-KR" sz="1050" dirty="0" smtClean="0"/>
                <a:t> License file </a:t>
              </a:r>
              <a:r>
                <a:rPr lang="ko-KR" altLang="en-US" sz="1050" dirty="0" smtClean="0"/>
                <a:t>위치</a:t>
              </a:r>
              <a:endParaRPr lang="ko-KR" altLang="en-US" sz="1050" dirty="0"/>
            </a:p>
          </p:txBody>
        </p:sp>
        <p:sp>
          <p:nvSpPr>
            <p:cNvPr id="26" name="사각형: 둥근 모서리 26">
              <a:extLst>
                <a:ext uri="{FF2B5EF4-FFF2-40B4-BE49-F238E27FC236}">
                  <a16:creationId xmlns:a16="http://schemas.microsoft.com/office/drawing/2014/main" id="{91E97935-0A0F-932E-8163-11F29247493F}"/>
                </a:ext>
              </a:extLst>
            </p:cNvPr>
            <p:cNvSpPr/>
            <p:nvPr/>
          </p:nvSpPr>
          <p:spPr bwMode="auto">
            <a:xfrm>
              <a:off x="1277330" y="3807378"/>
              <a:ext cx="1190235" cy="503607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2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</a:rPr>
                <a:t>license</a:t>
              </a:r>
              <a:endParaRPr kumimoji="1" lang="ko-KR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A37EFF7B-9B26-93BF-0290-E631317894AC}"/>
                </a:ext>
              </a:extLst>
            </p:cNvPr>
            <p:cNvCxnSpPr/>
            <p:nvPr/>
          </p:nvCxnSpPr>
          <p:spPr bwMode="auto">
            <a:xfrm>
              <a:off x="998904" y="4630244"/>
              <a:ext cx="267898" cy="1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91D1F38-B76B-F5D1-512E-ED9E6182D812}"/>
                </a:ext>
              </a:extLst>
            </p:cNvPr>
            <p:cNvSpPr txBox="1"/>
            <p:nvPr/>
          </p:nvSpPr>
          <p:spPr>
            <a:xfrm>
              <a:off x="2466155" y="4504275"/>
              <a:ext cx="4597527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050" dirty="0" smtClean="0"/>
                <a:t>Docker build </a:t>
              </a:r>
              <a:r>
                <a:rPr lang="ko-KR" altLang="en-US" sz="1050" dirty="0" smtClean="0"/>
                <a:t>명령을 수행하는 스크립트</a:t>
              </a:r>
              <a:r>
                <a:rPr lang="ko-KR" altLang="en-US" sz="1050" dirty="0" smtClean="0"/>
                <a:t> </a:t>
              </a:r>
              <a:endParaRPr lang="ko-KR" altLang="en-US" sz="1050" dirty="0"/>
            </a:p>
          </p:txBody>
        </p:sp>
        <p:sp>
          <p:nvSpPr>
            <p:cNvPr id="29" name="사각형: 둥근 모서리 29">
              <a:extLst>
                <a:ext uri="{FF2B5EF4-FFF2-40B4-BE49-F238E27FC236}">
                  <a16:creationId xmlns:a16="http://schemas.microsoft.com/office/drawing/2014/main" id="{6088E25E-65B6-30D6-F359-B3844C439E6C}"/>
                </a:ext>
              </a:extLst>
            </p:cNvPr>
            <p:cNvSpPr/>
            <p:nvPr/>
          </p:nvSpPr>
          <p:spPr bwMode="auto">
            <a:xfrm>
              <a:off x="1275921" y="4411286"/>
              <a:ext cx="1190235" cy="503607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200" b="1" dirty="0" smtClean="0">
                  <a:latin typeface="맑은 고딕" pitchFamily="50" charset="-127"/>
                  <a:ea typeface="맑은 고딕" pitchFamily="50" charset="-127"/>
                </a:rPr>
                <a:t>build.sh</a:t>
              </a:r>
              <a:endParaRPr kumimoji="1" lang="ko-KR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4CC5FA94-7F31-49CF-F419-397DE2153DB5}"/>
                </a:ext>
              </a:extLst>
            </p:cNvPr>
            <p:cNvCxnSpPr/>
            <p:nvPr/>
          </p:nvCxnSpPr>
          <p:spPr bwMode="auto">
            <a:xfrm>
              <a:off x="989784" y="5241937"/>
              <a:ext cx="267898" cy="1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A08DD53-8BA7-EE24-C490-AD3EE649C90E}"/>
                </a:ext>
              </a:extLst>
            </p:cNvPr>
            <p:cNvSpPr txBox="1"/>
            <p:nvPr/>
          </p:nvSpPr>
          <p:spPr>
            <a:xfrm>
              <a:off x="2457035" y="5095758"/>
              <a:ext cx="438679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200" dirty="0" err="1" smtClean="0"/>
                <a:t>Dockerfile</a:t>
              </a:r>
              <a:r>
                <a:rPr lang="ko-KR" altLang="en-US" sz="1200" dirty="0" smtClean="0"/>
                <a:t> </a:t>
              </a:r>
              <a:endParaRPr lang="ko-KR" altLang="en-US" sz="1200" dirty="0"/>
            </a:p>
          </p:txBody>
        </p:sp>
        <p:sp>
          <p:nvSpPr>
            <p:cNvPr id="32" name="사각형: 둥근 모서리 32">
              <a:extLst>
                <a:ext uri="{FF2B5EF4-FFF2-40B4-BE49-F238E27FC236}">
                  <a16:creationId xmlns:a16="http://schemas.microsoft.com/office/drawing/2014/main" id="{36CD3A98-863A-668F-65CA-599E16AA6EC3}"/>
                </a:ext>
              </a:extLst>
            </p:cNvPr>
            <p:cNvSpPr/>
            <p:nvPr/>
          </p:nvSpPr>
          <p:spPr bwMode="auto">
            <a:xfrm>
              <a:off x="1266801" y="5022979"/>
              <a:ext cx="1190235" cy="503607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200" b="1" dirty="0" err="1" smtClean="0">
                  <a:latin typeface="맑은 고딕" pitchFamily="50" charset="-127"/>
                  <a:ea typeface="맑은 고딕" pitchFamily="50" charset="-127"/>
                </a:rPr>
                <a:t>Dockerfile</a:t>
              </a:r>
              <a:endParaRPr kumimoji="1" lang="ko-KR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7CBF22C6-3919-CDB0-2B05-53764D6DF3B4}"/>
                </a:ext>
              </a:extLst>
            </p:cNvPr>
            <p:cNvCxnSpPr/>
            <p:nvPr/>
          </p:nvCxnSpPr>
          <p:spPr bwMode="auto">
            <a:xfrm>
              <a:off x="998904" y="5841436"/>
              <a:ext cx="267898" cy="1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5" name="사각형: 둥근 모서리 35">
              <a:extLst>
                <a:ext uri="{FF2B5EF4-FFF2-40B4-BE49-F238E27FC236}">
                  <a16:creationId xmlns:a16="http://schemas.microsoft.com/office/drawing/2014/main" id="{93230086-347D-1D6E-D88B-ACA90ECA72B1}"/>
                </a:ext>
              </a:extLst>
            </p:cNvPr>
            <p:cNvSpPr/>
            <p:nvPr/>
          </p:nvSpPr>
          <p:spPr bwMode="auto">
            <a:xfrm>
              <a:off x="1275921" y="5622478"/>
              <a:ext cx="1992573" cy="503607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1200" b="1" dirty="0">
                  <a:latin typeface="맑은 고딕" pitchFamily="50" charset="-127"/>
                </a:rPr>
                <a:t>WebtoB-5.0.0.4-B324.tar.gz</a:t>
              </a:r>
              <a:endParaRPr kumimoji="1" lang="ko-KR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494347" y="1498936"/>
            <a:ext cx="11499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00" indent="-1800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ko-KR" altLang="en-US" dirty="0" smtClean="0"/>
              <a:t>본 문서에서는 </a:t>
            </a:r>
            <a:r>
              <a:rPr lang="en-US" altLang="ko-KR" dirty="0" smtClean="0"/>
              <a:t>Image Build </a:t>
            </a:r>
            <a:r>
              <a:rPr lang="ko-KR" altLang="en-US" dirty="0" smtClean="0"/>
              <a:t>작업을 수행할 디렉터리 구성을 아래와 같이 설정 하였습니다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33898689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494348" y="0"/>
            <a:ext cx="759986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ko-KR" sz="3200" b="1" dirty="0">
                <a:solidFill>
                  <a:schemeClr val="bg1"/>
                </a:solidFill>
              </a:rPr>
              <a:t>3</a:t>
            </a:r>
            <a:r>
              <a:rPr lang="en-US" altLang="ko-KR" sz="3200" b="1" dirty="0" smtClean="0">
                <a:solidFill>
                  <a:schemeClr val="bg1"/>
                </a:solidFill>
              </a:rPr>
              <a:t>. Image Build</a:t>
            </a:r>
            <a:endParaRPr lang="ko-KR" altLang="en-US" sz="3200" b="1" dirty="0">
              <a:solidFill>
                <a:schemeClr val="bg1"/>
              </a:solidFill>
              <a:latin typeface="+mj-lt"/>
              <a:ea typeface="Noto Sans KR Black" panose="020B0A00000000000000" pitchFamily="34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11970" y="367921"/>
            <a:ext cx="1310640" cy="134995"/>
          </a:xfrm>
          <a:prstGeom prst="rect">
            <a:avLst/>
          </a:prstGeom>
        </p:spPr>
      </p:pic>
      <p:sp>
        <p:nvSpPr>
          <p:cNvPr id="5" name="내용 개체 틀 2"/>
          <p:cNvSpPr txBox="1">
            <a:spLocks/>
          </p:cNvSpPr>
          <p:nvPr/>
        </p:nvSpPr>
        <p:spPr>
          <a:xfrm>
            <a:off x="494348" y="1115171"/>
            <a:ext cx="11228262" cy="383767"/>
          </a:xfrm>
          <a:prstGeom prst="rect">
            <a:avLst/>
          </a:prstGeom>
          <a:noFill/>
          <a:ln w="0">
            <a:noFill/>
            <a:miter lim="800000"/>
            <a:headEnd type="none" w="med" len="med"/>
            <a:tailEnd type="none" w="med" len="med"/>
          </a:ln>
        </p:spPr>
        <p:txBody>
          <a:bodyPr rot="0" vert="horz" wrap="square" lIns="0" tIns="0" rIns="43200" bIns="36000" numCol="1" spcCol="0" rtlCol="0" anchor="t" anchorCtr="0">
            <a:prstTxWarp prst="textNoShape">
              <a:avLst/>
            </a:prstTxWarp>
            <a:noAutofit/>
          </a:bodyPr>
          <a:lstStyle>
            <a:defPPr>
              <a:defRPr lang="ko-KR" altLang="en-US"/>
            </a:defPPr>
            <a:lvl1pPr marL="0" indent="0" algn="just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336699"/>
              </a:buClr>
              <a:buFont typeface="Arial"/>
              <a:buNone/>
              <a:defRPr lang="ko-KR" altLang="en-US" sz="2000" b="1">
                <a:solidFill>
                  <a:srgbClr val="111111"/>
                </a:solidFill>
                <a:latin typeface="나눔고딕"/>
                <a:ea typeface="나눔고딕"/>
                <a:cs typeface="나눔스퀘어"/>
              </a:defRPr>
            </a:lvl1pPr>
            <a:lvl2pPr marL="296545" indent="-144145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Char char="•"/>
              <a:defRPr lang="ko-KR" altLang="en-US" sz="1400" b="1">
                <a:solidFill>
                  <a:srgbClr val="111111"/>
                </a:solidFill>
                <a:latin typeface="+mj-lt"/>
                <a:ea typeface="+mn-ea"/>
              </a:defRPr>
            </a:lvl2pPr>
            <a:lvl3pPr marL="640715" indent="-164465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200" b="1">
                <a:solidFill>
                  <a:srgbClr val="111111"/>
                </a:solidFill>
                <a:latin typeface="+mj-lt"/>
                <a:ea typeface="+mn-ea"/>
              </a:defRPr>
            </a:lvl3pPr>
            <a:lvl4pPr marL="925195" indent="-175895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100" b="1">
                <a:solidFill>
                  <a:srgbClr val="111111"/>
                </a:solidFill>
                <a:latin typeface="+mj-lt"/>
                <a:ea typeface="+mn-ea"/>
              </a:defRPr>
            </a:lvl4pPr>
            <a:lvl5pPr marL="1243965" indent="-186690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+mj-lt"/>
                <a:ea typeface="+mn-ea"/>
              </a:defRPr>
            </a:lvl5pPr>
            <a:lvl6pPr marL="17011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6pPr>
            <a:lvl7pPr marL="21583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7pPr>
            <a:lvl8pPr marL="26155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8pPr>
            <a:lvl9pPr marL="30727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9pPr>
          </a:lstStyle>
          <a:p>
            <a:pPr latinLnBrk="0"/>
            <a:r>
              <a:rPr lang="en-US" altLang="ko-KR" kern="0" spc="-150" dirty="0" err="1" smtClean="0">
                <a:ln w="9525" cap="flat" cmpd="sng" algn="ctr">
                  <a:solidFill>
                    <a:srgbClr val="0097F2">
                      <a:alpha val="0"/>
                    </a:srgbClr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Dockerfile</a:t>
            </a:r>
            <a:r>
              <a:rPr lang="en-US" altLang="ko-KR" kern="0" spc="-150" dirty="0" smtClean="0">
                <a:ln w="9525" cap="flat" cmpd="sng" algn="ctr">
                  <a:solidFill>
                    <a:srgbClr val="0097F2">
                      <a:alpha val="0"/>
                    </a:srgbClr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kern="0" spc="-150" dirty="0" smtClean="0">
                <a:ln w="9525" cap="flat" cmpd="sng" algn="ctr">
                  <a:solidFill>
                    <a:srgbClr val="0097F2">
                      <a:alpha val="0"/>
                    </a:srgbClr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내용</a:t>
            </a:r>
            <a:r>
              <a:rPr lang="en-US" altLang="ko-KR" kern="0" spc="-150" dirty="0" smtClean="0">
                <a:ln w="9525" cap="flat" cmpd="sng" algn="ctr">
                  <a:solidFill>
                    <a:srgbClr val="0097F2">
                      <a:alpha val="0"/>
                    </a:srgbClr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kern="0" spc="-150" dirty="0">
              <a:ln w="9525" cap="flat" cmpd="sng" algn="ctr">
                <a:solidFill>
                  <a:srgbClr val="0097F2">
                    <a:alpha val="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TextBox 3"/>
          <p:cNvSpPr txBox="1"/>
          <p:nvPr/>
        </p:nvSpPr>
        <p:spPr>
          <a:xfrm>
            <a:off x="494348" y="1506113"/>
            <a:ext cx="10838341" cy="433965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FROM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debian:bookworm-slim</a:t>
            </a:r>
            <a:r>
              <a:rPr lang="en-US" altLang="ko-KR" sz="1200" dirty="0" smtClean="0">
                <a:solidFill>
                  <a:schemeClr val="bg1"/>
                </a:solidFill>
              </a:rPr>
              <a:t> #BASE IMAGE </a:t>
            </a:r>
            <a:r>
              <a:rPr lang="ko-KR" altLang="en-US" sz="1200" dirty="0" smtClean="0">
                <a:solidFill>
                  <a:schemeClr val="bg1"/>
                </a:solidFill>
              </a:rPr>
              <a:t>설정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USER </a:t>
            </a:r>
            <a:r>
              <a:rPr lang="en-US" altLang="ko-KR" sz="1200" dirty="0" smtClean="0">
                <a:solidFill>
                  <a:schemeClr val="bg1"/>
                </a:solidFill>
              </a:rPr>
              <a:t>root</a:t>
            </a:r>
            <a:endParaRPr lang="en-US" altLang="ko-KR" sz="1200" dirty="0">
              <a:solidFill>
                <a:schemeClr val="bg1"/>
              </a:solidFill>
            </a:endParaRPr>
          </a:p>
          <a:p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ENV </a:t>
            </a:r>
            <a:r>
              <a:rPr lang="en-US" altLang="ko-KR" sz="1200" dirty="0" smtClean="0">
                <a:solidFill>
                  <a:schemeClr val="bg1"/>
                </a:solidFill>
              </a:rPr>
              <a:t>TZ=Asia/Seoul #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Timezone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r>
              <a:rPr lang="ko-KR" altLang="en-US" sz="1200" dirty="0" smtClean="0">
                <a:solidFill>
                  <a:schemeClr val="bg1"/>
                </a:solidFill>
              </a:rPr>
              <a:t>설정</a:t>
            </a:r>
            <a:endParaRPr lang="en-US" altLang="ko-KR" sz="1200" dirty="0">
              <a:solidFill>
                <a:schemeClr val="bg1"/>
              </a:solidFill>
            </a:endParaRPr>
          </a:p>
          <a:p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RUN </a:t>
            </a:r>
            <a:r>
              <a:rPr lang="en-US" altLang="ko-KR" sz="1200" dirty="0" err="1">
                <a:solidFill>
                  <a:schemeClr val="bg1"/>
                </a:solidFill>
              </a:rPr>
              <a:t>mkdir</a:t>
            </a:r>
            <a:r>
              <a:rPr lang="en-US" altLang="ko-KR" sz="1200" dirty="0">
                <a:solidFill>
                  <a:schemeClr val="bg1"/>
                </a:solidFill>
              </a:rPr>
              <a:t> -p /home/</a:t>
            </a:r>
            <a:r>
              <a:rPr lang="en-US" altLang="ko-KR" sz="1200" dirty="0" err="1">
                <a:solidFill>
                  <a:schemeClr val="bg1"/>
                </a:solidFill>
              </a:rPr>
              <a:t>webtob</a:t>
            </a:r>
            <a:endParaRPr lang="en-US" altLang="ko-KR" sz="1200" dirty="0">
              <a:solidFill>
                <a:schemeClr val="bg1"/>
              </a:solidFill>
            </a:endParaRPr>
          </a:p>
          <a:p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WORKDIR /home/</a:t>
            </a:r>
            <a:r>
              <a:rPr lang="en-US" altLang="ko-KR" sz="1200" dirty="0" err="1">
                <a:solidFill>
                  <a:schemeClr val="bg1"/>
                </a:solidFill>
              </a:rPr>
              <a:t>webtob</a:t>
            </a:r>
            <a:endParaRPr lang="en-US" altLang="ko-KR" sz="1200" dirty="0">
              <a:solidFill>
                <a:schemeClr val="bg1"/>
              </a:solidFill>
            </a:endParaRPr>
          </a:p>
          <a:p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ADD WebtoB-5.0.0.4-B324.tar.gz ./</a:t>
            </a:r>
          </a:p>
          <a:p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# Container</a:t>
            </a:r>
            <a:r>
              <a:rPr lang="ko-KR" altLang="en-US" sz="1200" dirty="0" smtClean="0">
                <a:solidFill>
                  <a:schemeClr val="bg1"/>
                </a:solidFill>
              </a:rPr>
              <a:t>안 환경 변수 설정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ENV WEBTOB_HOME=/home/</a:t>
            </a:r>
            <a:r>
              <a:rPr lang="en-US" altLang="ko-KR" sz="1200" dirty="0" err="1">
                <a:solidFill>
                  <a:schemeClr val="bg1"/>
                </a:solidFill>
              </a:rPr>
              <a:t>webtob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ENV WEBTOBDIR=$WEBTOB_HOME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ENV PATH=$PATH:$WEBTOB_HOME/bin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ENV LD_LIBRARY_PATH=$WEBTOB_HOME/lib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ENV WEBTOB_CONFIG_FILE=$WEBTOB_HOME/</a:t>
            </a:r>
            <a:r>
              <a:rPr lang="en-US" altLang="ko-KR" sz="1200" dirty="0" err="1">
                <a:solidFill>
                  <a:schemeClr val="bg1"/>
                </a:solidFill>
              </a:rPr>
              <a:t>config</a:t>
            </a:r>
            <a:r>
              <a:rPr lang="en-US" altLang="ko-KR" sz="1200" dirty="0">
                <a:solidFill>
                  <a:schemeClr val="bg1"/>
                </a:solidFill>
              </a:rPr>
              <a:t>/</a:t>
            </a:r>
            <a:r>
              <a:rPr lang="en-US" altLang="ko-KR" sz="1200" dirty="0" err="1">
                <a:solidFill>
                  <a:schemeClr val="bg1"/>
                </a:solidFill>
              </a:rPr>
              <a:t>http.m</a:t>
            </a:r>
            <a:endParaRPr lang="en-US" altLang="ko-KR" sz="1200" dirty="0">
              <a:solidFill>
                <a:schemeClr val="bg1"/>
              </a:solidFill>
            </a:endParaRPr>
          </a:p>
          <a:p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COPY license/license.dat $WEBTOB_HOME/license/license.dat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COPY start.sh /home/webtob/start.sh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COPY </a:t>
            </a:r>
            <a:r>
              <a:rPr lang="en-US" altLang="ko-KR" sz="1200" dirty="0" err="1">
                <a:solidFill>
                  <a:schemeClr val="bg1"/>
                </a:solidFill>
              </a:rPr>
              <a:t>config</a:t>
            </a:r>
            <a:r>
              <a:rPr lang="en-US" altLang="ko-KR" sz="1200" dirty="0">
                <a:solidFill>
                  <a:schemeClr val="bg1"/>
                </a:solidFill>
              </a:rPr>
              <a:t>/</a:t>
            </a:r>
            <a:r>
              <a:rPr lang="en-US" altLang="ko-KR" sz="1200" dirty="0" err="1">
                <a:solidFill>
                  <a:schemeClr val="bg1"/>
                </a:solidFill>
              </a:rPr>
              <a:t>http.m_org</a:t>
            </a:r>
            <a:r>
              <a:rPr lang="en-US" altLang="ko-KR" sz="1200" dirty="0">
                <a:solidFill>
                  <a:schemeClr val="bg1"/>
                </a:solidFill>
              </a:rPr>
              <a:t> $WEBTOB_HOME/</a:t>
            </a:r>
            <a:r>
              <a:rPr lang="en-US" altLang="ko-KR" sz="1200" dirty="0" err="1">
                <a:solidFill>
                  <a:schemeClr val="bg1"/>
                </a:solidFill>
              </a:rPr>
              <a:t>config</a:t>
            </a:r>
            <a:r>
              <a:rPr lang="en-US" altLang="ko-KR" sz="1200" dirty="0">
                <a:solidFill>
                  <a:schemeClr val="bg1"/>
                </a:solidFill>
              </a:rPr>
              <a:t>/</a:t>
            </a:r>
            <a:r>
              <a:rPr lang="en-US" altLang="ko-KR" sz="1200" dirty="0" err="1">
                <a:solidFill>
                  <a:schemeClr val="bg1"/>
                </a:solidFill>
              </a:rPr>
              <a:t>http.m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CMD ["/home/</a:t>
            </a:r>
            <a:r>
              <a:rPr lang="en-US" altLang="ko-KR" sz="1200" dirty="0" err="1">
                <a:solidFill>
                  <a:schemeClr val="bg1"/>
                </a:solidFill>
              </a:rPr>
              <a:t>webtob</a:t>
            </a:r>
            <a:r>
              <a:rPr lang="en-US" altLang="ko-KR" sz="1200" dirty="0">
                <a:solidFill>
                  <a:schemeClr val="bg1"/>
                </a:solidFill>
              </a:rPr>
              <a:t>/start.sh"]</a:t>
            </a:r>
          </a:p>
          <a:p>
            <a:endParaRPr lang="en-US" altLang="ko-KR" sz="12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09640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494348" y="0"/>
            <a:ext cx="759986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ko-KR" sz="3200" b="1" dirty="0">
                <a:solidFill>
                  <a:schemeClr val="bg1"/>
                </a:solidFill>
              </a:rPr>
              <a:t>3</a:t>
            </a:r>
            <a:r>
              <a:rPr lang="en-US" altLang="ko-KR" sz="3200" b="1" dirty="0" smtClean="0">
                <a:solidFill>
                  <a:schemeClr val="bg1"/>
                </a:solidFill>
              </a:rPr>
              <a:t>. Image Build</a:t>
            </a:r>
            <a:endParaRPr lang="ko-KR" altLang="en-US" sz="3200" b="1" dirty="0">
              <a:solidFill>
                <a:schemeClr val="bg1"/>
              </a:solidFill>
              <a:latin typeface="+mj-lt"/>
              <a:ea typeface="Noto Sans KR Black" panose="020B0A00000000000000" pitchFamily="34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11970" y="367921"/>
            <a:ext cx="1310640" cy="134995"/>
          </a:xfrm>
          <a:prstGeom prst="rect">
            <a:avLst/>
          </a:prstGeom>
        </p:spPr>
      </p:pic>
      <p:sp>
        <p:nvSpPr>
          <p:cNvPr id="5" name="내용 개체 틀 2"/>
          <p:cNvSpPr txBox="1">
            <a:spLocks/>
          </p:cNvSpPr>
          <p:nvPr/>
        </p:nvSpPr>
        <p:spPr>
          <a:xfrm>
            <a:off x="494348" y="1115171"/>
            <a:ext cx="11228262" cy="383767"/>
          </a:xfrm>
          <a:prstGeom prst="rect">
            <a:avLst/>
          </a:prstGeom>
          <a:noFill/>
          <a:ln w="0">
            <a:noFill/>
            <a:miter lim="800000"/>
            <a:headEnd type="none" w="med" len="med"/>
            <a:tailEnd type="none" w="med" len="med"/>
          </a:ln>
        </p:spPr>
        <p:txBody>
          <a:bodyPr rot="0" vert="horz" wrap="square" lIns="0" tIns="0" rIns="43200" bIns="36000" numCol="1" spcCol="0" rtlCol="0" anchor="t" anchorCtr="0">
            <a:prstTxWarp prst="textNoShape">
              <a:avLst/>
            </a:prstTxWarp>
            <a:noAutofit/>
          </a:bodyPr>
          <a:lstStyle>
            <a:defPPr>
              <a:defRPr lang="ko-KR" altLang="en-US"/>
            </a:defPPr>
            <a:lvl1pPr marL="0" indent="0" algn="just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336699"/>
              </a:buClr>
              <a:buFont typeface="Arial"/>
              <a:buNone/>
              <a:defRPr lang="ko-KR" altLang="en-US" sz="2000" b="1">
                <a:solidFill>
                  <a:srgbClr val="111111"/>
                </a:solidFill>
                <a:latin typeface="나눔고딕"/>
                <a:ea typeface="나눔고딕"/>
                <a:cs typeface="나눔스퀘어"/>
              </a:defRPr>
            </a:lvl1pPr>
            <a:lvl2pPr marL="296545" indent="-144145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Char char="•"/>
              <a:defRPr lang="ko-KR" altLang="en-US" sz="1400" b="1">
                <a:solidFill>
                  <a:srgbClr val="111111"/>
                </a:solidFill>
                <a:latin typeface="+mj-lt"/>
                <a:ea typeface="+mn-ea"/>
              </a:defRPr>
            </a:lvl2pPr>
            <a:lvl3pPr marL="640715" indent="-164465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200" b="1">
                <a:solidFill>
                  <a:srgbClr val="111111"/>
                </a:solidFill>
                <a:latin typeface="+mj-lt"/>
                <a:ea typeface="+mn-ea"/>
              </a:defRPr>
            </a:lvl3pPr>
            <a:lvl4pPr marL="925195" indent="-175895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100" b="1">
                <a:solidFill>
                  <a:srgbClr val="111111"/>
                </a:solidFill>
                <a:latin typeface="+mj-lt"/>
                <a:ea typeface="+mn-ea"/>
              </a:defRPr>
            </a:lvl4pPr>
            <a:lvl5pPr marL="1243965" indent="-186690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+mj-lt"/>
                <a:ea typeface="+mn-ea"/>
              </a:defRPr>
            </a:lvl5pPr>
            <a:lvl6pPr marL="17011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6pPr>
            <a:lvl7pPr marL="21583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7pPr>
            <a:lvl8pPr marL="26155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8pPr>
            <a:lvl9pPr marL="30727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9pPr>
          </a:lstStyle>
          <a:p>
            <a:pPr latinLnBrk="0"/>
            <a:r>
              <a:rPr lang="en-US" altLang="ko-KR" kern="0" spc="-150" dirty="0" smtClean="0">
                <a:ln w="9525" cap="flat" cmpd="sng" algn="ctr">
                  <a:solidFill>
                    <a:srgbClr val="0097F2">
                      <a:alpha val="0"/>
                    </a:srgbClr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Image Build </a:t>
            </a:r>
            <a:r>
              <a:rPr lang="ko-KR" altLang="en-US" kern="0" spc="-150" dirty="0" smtClean="0">
                <a:ln w="9525" cap="flat" cmpd="sng" algn="ctr">
                  <a:solidFill>
                    <a:srgbClr val="0097F2">
                      <a:alpha val="0"/>
                    </a:srgbClr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진행</a:t>
            </a:r>
            <a:r>
              <a:rPr lang="en-US" altLang="ko-KR" kern="0" spc="-150" dirty="0" smtClean="0">
                <a:ln w="9525" cap="flat" cmpd="sng" algn="ctr">
                  <a:solidFill>
                    <a:srgbClr val="0097F2">
                      <a:alpha val="0"/>
                    </a:srgbClr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kern="0" spc="-150" dirty="0">
              <a:ln w="9525" cap="flat" cmpd="sng" algn="ctr">
                <a:solidFill>
                  <a:srgbClr val="0097F2">
                    <a:alpha val="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TextBox 3"/>
          <p:cNvSpPr txBox="1"/>
          <p:nvPr/>
        </p:nvSpPr>
        <p:spPr>
          <a:xfrm>
            <a:off x="494348" y="1506113"/>
            <a:ext cx="10838341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cd /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webtob</a:t>
            </a:r>
            <a:r>
              <a:rPr lang="en-US" altLang="ko-KR" sz="1200" dirty="0" smtClean="0">
                <a:solidFill>
                  <a:schemeClr val="bg1"/>
                </a:solidFill>
              </a:rPr>
              <a:t> #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Dockerfile</a:t>
            </a:r>
            <a:r>
              <a:rPr lang="ko-KR" altLang="en-US" sz="1200" dirty="0" smtClean="0">
                <a:solidFill>
                  <a:schemeClr val="bg1"/>
                </a:solidFill>
              </a:rPr>
              <a:t>이 있는 경로에서 실행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$ ./build.sh</a:t>
            </a:r>
            <a:endParaRPr lang="en-US" altLang="ko-KR" sz="12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내용 개체 틀 2"/>
          <p:cNvSpPr txBox="1">
            <a:spLocks/>
          </p:cNvSpPr>
          <p:nvPr/>
        </p:nvSpPr>
        <p:spPr>
          <a:xfrm>
            <a:off x="494348" y="2009264"/>
            <a:ext cx="11228262" cy="383767"/>
          </a:xfrm>
          <a:prstGeom prst="rect">
            <a:avLst/>
          </a:prstGeom>
          <a:noFill/>
          <a:ln w="0">
            <a:noFill/>
            <a:miter lim="800000"/>
            <a:headEnd type="none" w="med" len="med"/>
            <a:tailEnd type="none" w="med" len="med"/>
          </a:ln>
        </p:spPr>
        <p:txBody>
          <a:bodyPr rot="0" vert="horz" wrap="square" lIns="0" tIns="0" rIns="43200" bIns="36000" numCol="1" spcCol="0" rtlCol="0" anchor="t" anchorCtr="0">
            <a:prstTxWarp prst="textNoShape">
              <a:avLst/>
            </a:prstTxWarp>
            <a:noAutofit/>
          </a:bodyPr>
          <a:lstStyle>
            <a:defPPr>
              <a:defRPr lang="ko-KR" altLang="en-US"/>
            </a:defPPr>
            <a:lvl1pPr marL="0" indent="0" algn="just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336699"/>
              </a:buClr>
              <a:buFont typeface="Arial"/>
              <a:buNone/>
              <a:defRPr lang="ko-KR" altLang="en-US" sz="2000" b="1">
                <a:solidFill>
                  <a:srgbClr val="111111"/>
                </a:solidFill>
                <a:latin typeface="나눔고딕"/>
                <a:ea typeface="나눔고딕"/>
                <a:cs typeface="나눔스퀘어"/>
              </a:defRPr>
            </a:lvl1pPr>
            <a:lvl2pPr marL="296545" indent="-144145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Char char="•"/>
              <a:defRPr lang="ko-KR" altLang="en-US" sz="1400" b="1">
                <a:solidFill>
                  <a:srgbClr val="111111"/>
                </a:solidFill>
                <a:latin typeface="+mj-lt"/>
                <a:ea typeface="+mn-ea"/>
              </a:defRPr>
            </a:lvl2pPr>
            <a:lvl3pPr marL="640715" indent="-164465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200" b="1">
                <a:solidFill>
                  <a:srgbClr val="111111"/>
                </a:solidFill>
                <a:latin typeface="+mj-lt"/>
                <a:ea typeface="+mn-ea"/>
              </a:defRPr>
            </a:lvl3pPr>
            <a:lvl4pPr marL="925195" indent="-175895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100" b="1">
                <a:solidFill>
                  <a:srgbClr val="111111"/>
                </a:solidFill>
                <a:latin typeface="+mj-lt"/>
                <a:ea typeface="+mn-ea"/>
              </a:defRPr>
            </a:lvl4pPr>
            <a:lvl5pPr marL="1243965" indent="-186690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+mj-lt"/>
                <a:ea typeface="+mn-ea"/>
              </a:defRPr>
            </a:lvl5pPr>
            <a:lvl6pPr marL="17011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6pPr>
            <a:lvl7pPr marL="21583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7pPr>
            <a:lvl8pPr marL="26155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8pPr>
            <a:lvl9pPr marL="30727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9pPr>
          </a:lstStyle>
          <a:p>
            <a:pPr latinLnBrk="0"/>
            <a:r>
              <a:rPr lang="en-US" altLang="ko-KR" kern="0" spc="-150" dirty="0" smtClean="0">
                <a:ln w="9525" cap="flat" cmpd="sng" algn="ctr">
                  <a:solidFill>
                    <a:srgbClr val="0097F2">
                      <a:alpha val="0"/>
                    </a:srgbClr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Image </a:t>
            </a:r>
            <a:r>
              <a:rPr lang="ko-KR" altLang="en-US" kern="0" spc="-150" dirty="0" smtClean="0">
                <a:ln w="9525" cap="flat" cmpd="sng" algn="ctr">
                  <a:solidFill>
                    <a:srgbClr val="0097F2">
                      <a:alpha val="0"/>
                    </a:srgbClr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생성 확인</a:t>
            </a:r>
            <a:endParaRPr lang="en-US" altLang="ko-KR" kern="0" spc="-150" dirty="0">
              <a:ln w="9525" cap="flat" cmpd="sng" algn="ctr">
                <a:solidFill>
                  <a:srgbClr val="0097F2">
                    <a:alpha val="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TextBox 3"/>
          <p:cNvSpPr txBox="1"/>
          <p:nvPr/>
        </p:nvSpPr>
        <p:spPr>
          <a:xfrm>
            <a:off x="494347" y="2393031"/>
            <a:ext cx="10838341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docker</a:t>
            </a:r>
            <a:r>
              <a:rPr lang="en-US" altLang="ko-KR" sz="1200" dirty="0">
                <a:solidFill>
                  <a:schemeClr val="bg1"/>
                </a:solidFill>
              </a:rPr>
              <a:t> images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REPOSITORY       TAG          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IMAGE </a:t>
            </a:r>
            <a:r>
              <a:rPr lang="en-US" altLang="ko-KR" sz="1200" dirty="0">
                <a:solidFill>
                  <a:schemeClr val="bg1"/>
                </a:solidFill>
              </a:rPr>
              <a:t>ID 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CREATED            SIZE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webtob_5.0.0.4   b324_debian-slim   3d30fd008a5d   57 seconds ago   107MB</a:t>
            </a:r>
          </a:p>
        </p:txBody>
      </p:sp>
      <p:sp>
        <p:nvSpPr>
          <p:cNvPr id="39" name="내용 개체 틀 2"/>
          <p:cNvSpPr txBox="1">
            <a:spLocks/>
          </p:cNvSpPr>
          <p:nvPr/>
        </p:nvSpPr>
        <p:spPr>
          <a:xfrm>
            <a:off x="494348" y="3095240"/>
            <a:ext cx="11228262" cy="383767"/>
          </a:xfrm>
          <a:prstGeom prst="rect">
            <a:avLst/>
          </a:prstGeom>
          <a:noFill/>
          <a:ln w="0">
            <a:noFill/>
            <a:miter lim="800000"/>
            <a:headEnd type="none" w="med" len="med"/>
            <a:tailEnd type="none" w="med" len="med"/>
          </a:ln>
        </p:spPr>
        <p:txBody>
          <a:bodyPr rot="0" vert="horz" wrap="square" lIns="0" tIns="0" rIns="43200" bIns="36000" numCol="1" spcCol="0" rtlCol="0" anchor="t" anchorCtr="0">
            <a:prstTxWarp prst="textNoShape">
              <a:avLst/>
            </a:prstTxWarp>
            <a:noAutofit/>
          </a:bodyPr>
          <a:lstStyle>
            <a:defPPr>
              <a:defRPr lang="ko-KR" altLang="en-US"/>
            </a:defPPr>
            <a:lvl1pPr marL="0" indent="0" algn="just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336699"/>
              </a:buClr>
              <a:buFont typeface="Arial"/>
              <a:buNone/>
              <a:defRPr lang="ko-KR" altLang="en-US" sz="2000" b="1">
                <a:solidFill>
                  <a:srgbClr val="111111"/>
                </a:solidFill>
                <a:latin typeface="나눔고딕"/>
                <a:ea typeface="나눔고딕"/>
                <a:cs typeface="나눔스퀘어"/>
              </a:defRPr>
            </a:lvl1pPr>
            <a:lvl2pPr marL="296545" indent="-144145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Char char="•"/>
              <a:defRPr lang="ko-KR" altLang="en-US" sz="1400" b="1">
                <a:solidFill>
                  <a:srgbClr val="111111"/>
                </a:solidFill>
                <a:latin typeface="+mj-lt"/>
                <a:ea typeface="+mn-ea"/>
              </a:defRPr>
            </a:lvl2pPr>
            <a:lvl3pPr marL="640715" indent="-164465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200" b="1">
                <a:solidFill>
                  <a:srgbClr val="111111"/>
                </a:solidFill>
                <a:latin typeface="+mj-lt"/>
                <a:ea typeface="+mn-ea"/>
              </a:defRPr>
            </a:lvl3pPr>
            <a:lvl4pPr marL="925195" indent="-175895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100" b="1">
                <a:solidFill>
                  <a:srgbClr val="111111"/>
                </a:solidFill>
                <a:latin typeface="+mj-lt"/>
                <a:ea typeface="+mn-ea"/>
              </a:defRPr>
            </a:lvl4pPr>
            <a:lvl5pPr marL="1243965" indent="-186690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+mj-lt"/>
                <a:ea typeface="+mn-ea"/>
              </a:defRPr>
            </a:lvl5pPr>
            <a:lvl6pPr marL="17011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6pPr>
            <a:lvl7pPr marL="21583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7pPr>
            <a:lvl8pPr marL="26155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8pPr>
            <a:lvl9pPr marL="30727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9pPr>
          </a:lstStyle>
          <a:p>
            <a:pPr latinLnBrk="0"/>
            <a:r>
              <a:rPr lang="ko-KR" altLang="en-US" kern="0" spc="-150" dirty="0" smtClean="0">
                <a:ln w="9525" cap="flat" cmpd="sng" algn="ctr">
                  <a:solidFill>
                    <a:srgbClr val="0097F2">
                      <a:alpha val="0"/>
                    </a:srgbClr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생성한 </a:t>
            </a:r>
            <a:r>
              <a:rPr lang="en-US" altLang="ko-KR" kern="0" spc="-150" dirty="0" smtClean="0">
                <a:ln w="9525" cap="flat" cmpd="sng" algn="ctr">
                  <a:solidFill>
                    <a:srgbClr val="0097F2">
                      <a:alpha val="0"/>
                    </a:srgbClr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Image </a:t>
            </a:r>
            <a:r>
              <a:rPr lang="ko-KR" altLang="en-US" kern="0" spc="-150" dirty="0" smtClean="0">
                <a:ln w="9525" cap="flat" cmpd="sng" algn="ctr">
                  <a:solidFill>
                    <a:srgbClr val="0097F2">
                      <a:alpha val="0"/>
                    </a:srgbClr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실행</a:t>
            </a:r>
            <a:endParaRPr lang="en-US" altLang="ko-KR" kern="0" spc="-150" dirty="0">
              <a:ln w="9525" cap="flat" cmpd="sng" algn="ctr">
                <a:solidFill>
                  <a:srgbClr val="0097F2">
                    <a:alpha val="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TextBox 3"/>
          <p:cNvSpPr txBox="1"/>
          <p:nvPr/>
        </p:nvSpPr>
        <p:spPr>
          <a:xfrm>
            <a:off x="494346" y="3848654"/>
            <a:ext cx="10838341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docker</a:t>
            </a:r>
            <a:r>
              <a:rPr lang="en-US" altLang="ko-KR" sz="1200" dirty="0">
                <a:solidFill>
                  <a:schemeClr val="bg1"/>
                </a:solidFill>
              </a:rPr>
              <a:t> run -d -p 8080:80 webtob_5.0.0.4:b324_debian-slim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4346" y="3464615"/>
            <a:ext cx="11499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00" indent="-1800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en-US" altLang="ko-KR" dirty="0" smtClean="0"/>
              <a:t>Container </a:t>
            </a:r>
            <a:r>
              <a:rPr lang="ko-KR" altLang="en-US" dirty="0" smtClean="0"/>
              <a:t>내부 포트 </a:t>
            </a:r>
            <a:r>
              <a:rPr lang="en-US" altLang="ko-KR" dirty="0" smtClean="0"/>
              <a:t>80</a:t>
            </a:r>
            <a:r>
              <a:rPr lang="ko-KR" altLang="en-US" dirty="0" smtClean="0"/>
              <a:t>을 외부 </a:t>
            </a:r>
            <a:r>
              <a:rPr lang="en-US" altLang="ko-KR" dirty="0" smtClean="0"/>
              <a:t>8080</a:t>
            </a:r>
            <a:r>
              <a:rPr lang="ko-KR" altLang="en-US" dirty="0" smtClean="0"/>
              <a:t>포트를 통해 연결</a:t>
            </a:r>
            <a:endParaRPr lang="en-US" altLang="ko-KR" dirty="0" smtClean="0"/>
          </a:p>
        </p:txBody>
      </p:sp>
      <p:sp>
        <p:nvSpPr>
          <p:cNvPr id="43" name="내용 개체 틀 2"/>
          <p:cNvSpPr txBox="1">
            <a:spLocks/>
          </p:cNvSpPr>
          <p:nvPr/>
        </p:nvSpPr>
        <p:spPr>
          <a:xfrm>
            <a:off x="494346" y="4203322"/>
            <a:ext cx="11228262" cy="383767"/>
          </a:xfrm>
          <a:prstGeom prst="rect">
            <a:avLst/>
          </a:prstGeom>
          <a:noFill/>
          <a:ln w="0">
            <a:noFill/>
            <a:miter lim="800000"/>
            <a:headEnd type="none" w="med" len="med"/>
            <a:tailEnd type="none" w="med" len="med"/>
          </a:ln>
        </p:spPr>
        <p:txBody>
          <a:bodyPr rot="0" vert="horz" wrap="square" lIns="0" tIns="0" rIns="43200" bIns="36000" numCol="1" spcCol="0" rtlCol="0" anchor="t" anchorCtr="0">
            <a:prstTxWarp prst="textNoShape">
              <a:avLst/>
            </a:prstTxWarp>
            <a:noAutofit/>
          </a:bodyPr>
          <a:lstStyle>
            <a:defPPr>
              <a:defRPr lang="ko-KR" altLang="en-US"/>
            </a:defPPr>
            <a:lvl1pPr marL="0" indent="0" algn="just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336699"/>
              </a:buClr>
              <a:buFont typeface="Arial"/>
              <a:buNone/>
              <a:defRPr lang="ko-KR" altLang="en-US" sz="2000" b="1">
                <a:solidFill>
                  <a:srgbClr val="111111"/>
                </a:solidFill>
                <a:latin typeface="나눔고딕"/>
                <a:ea typeface="나눔고딕"/>
                <a:cs typeface="나눔스퀘어"/>
              </a:defRPr>
            </a:lvl1pPr>
            <a:lvl2pPr marL="296545" indent="-144145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Char char="•"/>
              <a:defRPr lang="ko-KR" altLang="en-US" sz="1400" b="1">
                <a:solidFill>
                  <a:srgbClr val="111111"/>
                </a:solidFill>
                <a:latin typeface="+mj-lt"/>
                <a:ea typeface="+mn-ea"/>
              </a:defRPr>
            </a:lvl2pPr>
            <a:lvl3pPr marL="640715" indent="-164465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200" b="1">
                <a:solidFill>
                  <a:srgbClr val="111111"/>
                </a:solidFill>
                <a:latin typeface="+mj-lt"/>
                <a:ea typeface="+mn-ea"/>
              </a:defRPr>
            </a:lvl3pPr>
            <a:lvl4pPr marL="925195" indent="-175895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100" b="1">
                <a:solidFill>
                  <a:srgbClr val="111111"/>
                </a:solidFill>
                <a:latin typeface="+mj-lt"/>
                <a:ea typeface="+mn-ea"/>
              </a:defRPr>
            </a:lvl4pPr>
            <a:lvl5pPr marL="1243965" indent="-186690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+mj-lt"/>
                <a:ea typeface="+mn-ea"/>
              </a:defRPr>
            </a:lvl5pPr>
            <a:lvl6pPr marL="17011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6pPr>
            <a:lvl7pPr marL="21583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7pPr>
            <a:lvl8pPr marL="26155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8pPr>
            <a:lvl9pPr marL="30727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9pPr>
          </a:lstStyle>
          <a:p>
            <a:pPr latinLnBrk="0"/>
            <a:r>
              <a:rPr lang="ko-KR" altLang="en-US" kern="0" spc="-150" dirty="0" smtClean="0">
                <a:ln w="9525" cap="flat" cmpd="sng" algn="ctr">
                  <a:solidFill>
                    <a:srgbClr val="0097F2">
                      <a:alpha val="0"/>
                    </a:srgbClr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컨테이너 실행 확인</a:t>
            </a:r>
            <a:endParaRPr lang="en-US" altLang="ko-KR" kern="0" spc="-150" dirty="0">
              <a:ln w="9525" cap="flat" cmpd="sng" algn="ctr">
                <a:solidFill>
                  <a:srgbClr val="0097F2">
                    <a:alpha val="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TextBox 3"/>
          <p:cNvSpPr txBox="1"/>
          <p:nvPr/>
        </p:nvSpPr>
        <p:spPr>
          <a:xfrm>
            <a:off x="494346" y="4601396"/>
            <a:ext cx="10838341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docker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ps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CONTAINER ID   IMAGE                       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   COMMAND                  </a:t>
            </a:r>
            <a:r>
              <a:rPr lang="en-US" altLang="ko-KR" sz="1200" dirty="0">
                <a:solidFill>
                  <a:schemeClr val="bg1"/>
                </a:solidFill>
              </a:rPr>
              <a:t>CREATED   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STATUS           PORTS                                   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307b6ba4cdb5   webtob_5.0.0.4:b324_debian-slim   "/home/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webtob</a:t>
            </a:r>
            <a:r>
              <a:rPr lang="en-US" altLang="ko-KR" sz="1200" dirty="0" smtClean="0">
                <a:solidFill>
                  <a:schemeClr val="bg1"/>
                </a:solidFill>
              </a:rPr>
              <a:t>/start.…"   2 seconds ago   Up 2 seconds   0.0.0.0:8080-&gt;80/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tcp</a:t>
            </a:r>
            <a:r>
              <a:rPr lang="en-US" altLang="ko-KR" sz="1200" dirty="0" smtClean="0">
                <a:solidFill>
                  <a:schemeClr val="bg1"/>
                </a:solidFill>
              </a:rPr>
              <a:t>, :::8080-&gt;80/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tcp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45" name="내용 개체 틀 2"/>
          <p:cNvSpPr txBox="1">
            <a:spLocks/>
          </p:cNvSpPr>
          <p:nvPr/>
        </p:nvSpPr>
        <p:spPr>
          <a:xfrm>
            <a:off x="494346" y="5330784"/>
            <a:ext cx="11228262" cy="383767"/>
          </a:xfrm>
          <a:prstGeom prst="rect">
            <a:avLst/>
          </a:prstGeom>
          <a:noFill/>
          <a:ln w="0">
            <a:noFill/>
            <a:miter lim="800000"/>
            <a:headEnd type="none" w="med" len="med"/>
            <a:tailEnd type="none" w="med" len="med"/>
          </a:ln>
        </p:spPr>
        <p:txBody>
          <a:bodyPr rot="0" vert="horz" wrap="square" lIns="0" tIns="0" rIns="43200" bIns="36000" numCol="1" spcCol="0" rtlCol="0" anchor="t" anchorCtr="0">
            <a:prstTxWarp prst="textNoShape">
              <a:avLst/>
            </a:prstTxWarp>
            <a:noAutofit/>
          </a:bodyPr>
          <a:lstStyle>
            <a:defPPr>
              <a:defRPr lang="ko-KR" altLang="en-US"/>
            </a:defPPr>
            <a:lvl1pPr marL="0" indent="0" algn="just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336699"/>
              </a:buClr>
              <a:buFont typeface="Arial"/>
              <a:buNone/>
              <a:defRPr lang="ko-KR" altLang="en-US" sz="2000" b="1">
                <a:solidFill>
                  <a:srgbClr val="111111"/>
                </a:solidFill>
                <a:latin typeface="나눔고딕"/>
                <a:ea typeface="나눔고딕"/>
                <a:cs typeface="나눔스퀘어"/>
              </a:defRPr>
            </a:lvl1pPr>
            <a:lvl2pPr marL="296545" indent="-144145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Char char="•"/>
              <a:defRPr lang="ko-KR" altLang="en-US" sz="1400" b="1">
                <a:solidFill>
                  <a:srgbClr val="111111"/>
                </a:solidFill>
                <a:latin typeface="+mj-lt"/>
                <a:ea typeface="+mn-ea"/>
              </a:defRPr>
            </a:lvl2pPr>
            <a:lvl3pPr marL="640715" indent="-164465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200" b="1">
                <a:solidFill>
                  <a:srgbClr val="111111"/>
                </a:solidFill>
                <a:latin typeface="+mj-lt"/>
                <a:ea typeface="+mn-ea"/>
              </a:defRPr>
            </a:lvl3pPr>
            <a:lvl4pPr marL="925195" indent="-175895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100" b="1">
                <a:solidFill>
                  <a:srgbClr val="111111"/>
                </a:solidFill>
                <a:latin typeface="+mj-lt"/>
                <a:ea typeface="+mn-ea"/>
              </a:defRPr>
            </a:lvl4pPr>
            <a:lvl5pPr marL="1243965" indent="-186690" algn="just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+mj-lt"/>
                <a:ea typeface="+mn-ea"/>
              </a:defRPr>
            </a:lvl5pPr>
            <a:lvl6pPr marL="17011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6pPr>
            <a:lvl7pPr marL="21583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7pPr>
            <a:lvl8pPr marL="26155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8pPr>
            <a:lvl9pPr marL="3072765" indent="-186690" algn="just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638CAD"/>
              </a:buClr>
              <a:buFont typeface="나눔스퀘어"/>
              <a:buChar char="-"/>
              <a:defRPr lang="ko-KR" altLang="en-US" sz="1000" b="1">
                <a:solidFill>
                  <a:srgbClr val="111111"/>
                </a:solidFill>
                <a:latin typeface="나눔스퀘어"/>
                <a:ea typeface="+mn-ea"/>
              </a:defRPr>
            </a:lvl9pPr>
          </a:lstStyle>
          <a:p>
            <a:pPr latinLnBrk="0"/>
            <a:r>
              <a:rPr lang="ko-KR" altLang="en-US" kern="0" spc="-150" dirty="0" smtClean="0">
                <a:ln w="9525" cap="flat" cmpd="sng" algn="ctr">
                  <a:solidFill>
                    <a:srgbClr val="0097F2">
                      <a:alpha val="0"/>
                    </a:srgbClr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서비스 호출 확인</a:t>
            </a:r>
            <a:endParaRPr lang="en-US" altLang="ko-KR" kern="0" spc="-150" dirty="0">
              <a:ln w="9525" cap="flat" cmpd="sng" algn="ctr">
                <a:solidFill>
                  <a:srgbClr val="0097F2">
                    <a:alpha val="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TextBox 3"/>
          <p:cNvSpPr txBox="1"/>
          <p:nvPr/>
        </p:nvSpPr>
        <p:spPr>
          <a:xfrm>
            <a:off x="494346" y="5710377"/>
            <a:ext cx="10838341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curl localhost:8080/index.html</a:t>
            </a:r>
          </a:p>
          <a:p>
            <a:r>
              <a:rPr lang="en-US" altLang="ko-KR" sz="1200" dirty="0" err="1">
                <a:solidFill>
                  <a:schemeClr val="bg1"/>
                </a:solidFill>
              </a:rPr>
              <a:t>WebtoB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docker</a:t>
            </a:r>
            <a:r>
              <a:rPr lang="en-US" altLang="ko-KR" sz="1200" dirty="0">
                <a:solidFill>
                  <a:schemeClr val="bg1"/>
                </a:solidFill>
              </a:rPr>
              <a:t> image build test</a:t>
            </a:r>
          </a:p>
        </p:txBody>
      </p:sp>
    </p:spTree>
    <p:extLst>
      <p:ext uri="{BB962C8B-B14F-4D97-AF65-F5344CB8AC3E}">
        <p14:creationId xmlns:p14="http://schemas.microsoft.com/office/powerpoint/2010/main" val="29344399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02524" y="2094660"/>
            <a:ext cx="4942186" cy="795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219"/>
              </a:lnSpc>
            </a:pPr>
            <a:r>
              <a:rPr sz="5400" spc="-104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WRTDIQ+SpoqaHanSans-Bold"/>
              </a:rPr>
              <a:t>감사합니다.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41464" y="4996703"/>
            <a:ext cx="5687935" cy="969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50" b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본사        </a:t>
            </a:r>
            <a:r>
              <a:rPr lang="ko-KR" altLang="en-US" sz="105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경기도 </a:t>
            </a:r>
            <a:r>
              <a:rPr lang="ko-KR" altLang="en-US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성남시 분당구 </a:t>
            </a:r>
            <a:r>
              <a:rPr lang="ko-KR" altLang="en-US" sz="1050" dirty="0" err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황새울로</a:t>
            </a:r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258</a:t>
            </a:r>
            <a:r>
              <a:rPr lang="ko-KR" altLang="en-US" sz="1050" dirty="0" err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번길</a:t>
            </a:r>
            <a:r>
              <a:rPr lang="ko-KR" altLang="en-US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 </a:t>
            </a:r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29, </a:t>
            </a:r>
            <a:r>
              <a:rPr lang="ko-KR" altLang="en-US" sz="1050" dirty="0" err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티맥스수내타워</a:t>
            </a:r>
            <a:r>
              <a:rPr lang="ko-KR" altLang="en-US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ko-KR" sz="1050" b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R&amp;D</a:t>
            </a:r>
            <a:r>
              <a:rPr lang="ko-KR" altLang="en-US" sz="1050" b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센터  </a:t>
            </a:r>
            <a:r>
              <a:rPr lang="ko-KR" altLang="en-US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경기도 성남시 분당구 </a:t>
            </a:r>
            <a:r>
              <a:rPr lang="ko-KR" altLang="en-US" sz="1050" dirty="0" err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정자일로</a:t>
            </a:r>
            <a:r>
              <a:rPr lang="ko-KR" altLang="en-US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 </a:t>
            </a:r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45</a:t>
            </a:r>
            <a:r>
              <a:rPr lang="en-US" altLang="ko-KR" sz="105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, </a:t>
            </a:r>
            <a:r>
              <a:rPr lang="ko-KR" altLang="en-US" sz="105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티맥스타워</a:t>
            </a:r>
            <a:endParaRPr lang="en-US" altLang="ko-KR" sz="105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BVOPUE+SpoqaHanSans-Bold"/>
            </a:endParaRPr>
          </a:p>
          <a:p>
            <a:pPr>
              <a:lnSpc>
                <a:spcPct val="150000"/>
              </a:lnSpc>
            </a:pPr>
            <a:r>
              <a:rPr lang="ko-KR" altLang="en-US" sz="1050" b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홈페이지</a:t>
            </a:r>
            <a:r>
              <a:rPr lang="en-US" altLang="ko-KR" sz="1050" b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 </a:t>
            </a:r>
            <a:r>
              <a:rPr lang="ko-KR" altLang="en-US" sz="1050" b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 </a:t>
            </a:r>
            <a:r>
              <a:rPr lang="en-US" altLang="ko-KR" sz="105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www.tmaxsoft.com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50" b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+mn-ea"/>
                <a:cs typeface="BVOPUE+SpoqaHanSans-Bold"/>
              </a:rPr>
              <a:t>대표번호</a:t>
            </a:r>
            <a:r>
              <a:rPr lang="en-US" altLang="ko-KR" sz="1050" b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+mn-ea"/>
                <a:cs typeface="BVOPUE+SpoqaHanSans-Bold"/>
              </a:rPr>
              <a:t> </a:t>
            </a:r>
            <a:r>
              <a:rPr lang="ko-KR" altLang="en-US" sz="1050" b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+mn-ea"/>
                <a:cs typeface="BVOPUE+SpoqaHanSans-Bold"/>
              </a:rPr>
              <a:t> </a:t>
            </a:r>
            <a:r>
              <a:rPr lang="en-US" altLang="ko-KR" sz="105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+mn-ea"/>
                <a:cs typeface="BVOPUE+SpoqaHanSans-Bold"/>
              </a:rPr>
              <a:t>031-8018-1000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1464" y="4336547"/>
            <a:ext cx="2254733" cy="466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2340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3923</TotalTime>
  <Words>522</Words>
  <Application>Microsoft Office PowerPoint</Application>
  <PresentationFormat>와이드스크린</PresentationFormat>
  <Paragraphs>131</Paragraphs>
  <Slides>12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22" baseType="lpstr">
      <vt:lpstr>BVOPUE+SpoqaHanSans-Bold</vt:lpstr>
      <vt:lpstr>Noto Sans KR Black</vt:lpstr>
      <vt:lpstr>WRTDIQ+SpoqaHanSans-Bold</vt:lpstr>
      <vt:lpstr>나눔스퀘어</vt:lpstr>
      <vt:lpstr>뉴티맥스고딕 CJK</vt:lpstr>
      <vt:lpstr>맑은 고딕</vt:lpstr>
      <vt:lpstr>Arial</vt:lpstr>
      <vt:lpstr>Consolas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Tmax</dc:creator>
  <cp:lastModifiedBy>조 성환</cp:lastModifiedBy>
  <cp:revision>251</cp:revision>
  <dcterms:created xsi:type="dcterms:W3CDTF">2022-09-15T01:21:24Z</dcterms:created>
  <dcterms:modified xsi:type="dcterms:W3CDTF">2024-07-16T06:07:42Z</dcterms:modified>
</cp:coreProperties>
</file>