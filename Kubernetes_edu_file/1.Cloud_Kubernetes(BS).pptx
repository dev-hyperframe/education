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13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70" r:id="rId2"/>
    <p:sldId id="271" r:id="rId3"/>
    <p:sldId id="360" r:id="rId4"/>
    <p:sldId id="396" r:id="rId5"/>
    <p:sldId id="427" r:id="rId6"/>
    <p:sldId id="428" r:id="rId7"/>
    <p:sldId id="429" r:id="rId8"/>
    <p:sldId id="431" r:id="rId9"/>
    <p:sldId id="432" r:id="rId10"/>
    <p:sldId id="425" r:id="rId11"/>
    <p:sldId id="399" r:id="rId12"/>
    <p:sldId id="400" r:id="rId13"/>
    <p:sldId id="405" r:id="rId14"/>
    <p:sldId id="401" r:id="rId15"/>
    <p:sldId id="402" r:id="rId16"/>
    <p:sldId id="403" r:id="rId17"/>
    <p:sldId id="404" r:id="rId18"/>
    <p:sldId id="295" r:id="rId19"/>
    <p:sldId id="362" r:id="rId20"/>
    <p:sldId id="366" r:id="rId21"/>
    <p:sldId id="417" r:id="rId22"/>
    <p:sldId id="418" r:id="rId23"/>
    <p:sldId id="419" r:id="rId24"/>
    <p:sldId id="420" r:id="rId25"/>
    <p:sldId id="421" r:id="rId26"/>
    <p:sldId id="422" r:id="rId27"/>
    <p:sldId id="423" r:id="rId28"/>
    <p:sldId id="407" r:id="rId29"/>
    <p:sldId id="408" r:id="rId30"/>
    <p:sldId id="413" r:id="rId31"/>
    <p:sldId id="414" r:id="rId32"/>
    <p:sldId id="415" r:id="rId33"/>
    <p:sldId id="416" r:id="rId34"/>
    <p:sldId id="409" r:id="rId35"/>
    <p:sldId id="308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96"/>
            <p14:sldId id="427"/>
            <p14:sldId id="428"/>
            <p14:sldId id="429"/>
            <p14:sldId id="431"/>
            <p14:sldId id="432"/>
            <p14:sldId id="425"/>
            <p14:sldId id="399"/>
            <p14:sldId id="400"/>
            <p14:sldId id="405"/>
            <p14:sldId id="401"/>
            <p14:sldId id="402"/>
            <p14:sldId id="403"/>
            <p14:sldId id="404"/>
            <p14:sldId id="295"/>
            <p14:sldId id="362"/>
            <p14:sldId id="366"/>
            <p14:sldId id="417"/>
            <p14:sldId id="418"/>
            <p14:sldId id="419"/>
            <p14:sldId id="420"/>
            <p14:sldId id="421"/>
            <p14:sldId id="422"/>
            <p14:sldId id="423"/>
            <p14:sldId id="407"/>
            <p14:sldId id="408"/>
            <p14:sldId id="413"/>
            <p14:sldId id="414"/>
            <p14:sldId id="415"/>
            <p14:sldId id="416"/>
            <p14:sldId id="409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pos="73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2366EF"/>
    <a:srgbClr val="9DC3E6"/>
    <a:srgbClr val="7D9EBB"/>
    <a:srgbClr val="171C2C"/>
    <a:srgbClr val="0232AE"/>
    <a:srgbClr val="BACDFE"/>
    <a:srgbClr val="333333"/>
    <a:srgbClr val="95BCF0"/>
    <a:srgbClr val="09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898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>
        <p:guide orient="horz" pos="2341"/>
        <p:guide pos="438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클라우드</a:t>
            </a:r>
            <a:r>
              <a:rPr lang="ko-KR" altLang="en-US" sz="1200" baseline="0" dirty="0" smtClean="0"/>
              <a:t> 환경에서 </a:t>
            </a:r>
            <a:r>
              <a:rPr lang="ko-KR" altLang="en-US" sz="1200" baseline="0" dirty="0" err="1" smtClean="0"/>
              <a:t>에플리케이션을</a:t>
            </a:r>
            <a:r>
              <a:rPr lang="ko-KR" altLang="en-US" sz="1200" baseline="0" dirty="0" smtClean="0"/>
              <a:t> 개발하고 실행할 수 있게 하는 방식으로 느슨하게 결합된 시스템을 가능하게 하며 최소한의 노력으로 영향이 큰 변경을 </a:t>
            </a:r>
            <a:r>
              <a:rPr lang="ko-KR" altLang="en-US" sz="1200" baseline="0" dirty="0" err="1" smtClean="0"/>
              <a:t>비번하고</a:t>
            </a:r>
            <a:r>
              <a:rPr lang="ko-KR" altLang="en-US" sz="1200" baseline="0" dirty="0" smtClean="0"/>
              <a:t> 예측 가능하게 수생할 수 잇게 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668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smtClean="0"/>
              <a:t>트래픽이 몰리는 서비스만 자동으로 컨테이너가 확장되어 트래픽을 감당할 수 있다</a:t>
            </a:r>
            <a:r>
              <a:rPr lang="en-US" altLang="ko-KR" sz="1200" baseline="0" dirty="0" smtClean="0"/>
              <a:t>.</a:t>
            </a: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18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모놀리틱</a:t>
            </a:r>
            <a:r>
              <a:rPr lang="ko-KR" altLang="en-US" sz="1200" baseline="0" dirty="0" smtClean="0"/>
              <a:t> 환경에서는 특정 기능 업데이트 시 전체 서비스를 재 배포 하여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배포가 무겁고 느리다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512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모놀리틱</a:t>
            </a:r>
            <a:r>
              <a:rPr lang="ko-KR" altLang="en-US" sz="1200" baseline="0" dirty="0" smtClean="0"/>
              <a:t> 환경에서는 특정 기능 업데이트 시 전체 서비스를 재 배포 하여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배포가 무겁고 느리다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31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모놀리틱</a:t>
            </a:r>
            <a:r>
              <a:rPr lang="ko-KR" altLang="en-US" sz="1200" baseline="0" dirty="0" smtClean="0"/>
              <a:t> 환경에서는 특정 기능 업데이트 시 전체 서비스를 재 배포 하여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배포가 무겁고 느리다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84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모놀리틱</a:t>
            </a:r>
            <a:r>
              <a:rPr lang="ko-KR" altLang="en-US" sz="1200" baseline="0" dirty="0" smtClean="0"/>
              <a:t> 환경에서는 특정 기능 업데이트 시 전체 서비스를 재 배포 하여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배포가 무겁고 느리다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61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19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모놀리식</a:t>
            </a:r>
            <a:r>
              <a:rPr lang="ko-KR" altLang="en-US" sz="1200" baseline="0" dirty="0" smtClean="0"/>
              <a:t> 방식 </a:t>
            </a:r>
            <a:r>
              <a:rPr lang="en-US" altLang="ko-KR" sz="1200" baseline="0" dirty="0" smtClean="0"/>
              <a:t>: </a:t>
            </a:r>
            <a:r>
              <a:rPr lang="ko-KR" altLang="en-US" sz="1200" baseline="0" dirty="0" smtClean="0"/>
              <a:t>애플리케이션 서비스를 하나로 구성하여 배포하는 방식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293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052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err="1" smtClean="0"/>
              <a:t>클라우드</a:t>
            </a:r>
            <a:r>
              <a:rPr lang="ko-KR" altLang="en-US" sz="1200" baseline="0" dirty="0" smtClean="0"/>
              <a:t> 서비스는 </a:t>
            </a:r>
            <a:r>
              <a:rPr lang="en-US" altLang="ko-KR" sz="1200" baseline="0" dirty="0" smtClean="0"/>
              <a:t>IaaS, PaaS, SaaS</a:t>
            </a:r>
            <a:r>
              <a:rPr lang="ko-KR" altLang="en-US" sz="1200" baseline="0" dirty="0" smtClean="0"/>
              <a:t>가 일반적으로 제공되는 형태이며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컨테이너와 서버 리스 등의 최신 기술이 발달되면서 </a:t>
            </a:r>
            <a:r>
              <a:rPr lang="en-US" altLang="ko-KR" sz="1200" baseline="0" dirty="0" err="1" smtClean="0"/>
              <a:t>CaaS</a:t>
            </a:r>
            <a:r>
              <a:rPr lang="ko-KR" altLang="en-US" sz="1200" baseline="0" dirty="0" smtClean="0"/>
              <a:t>와 </a:t>
            </a:r>
            <a:r>
              <a:rPr lang="en-US" altLang="ko-KR" sz="1200" baseline="0" dirty="0" err="1" smtClean="0"/>
              <a:t>FaaS</a:t>
            </a:r>
            <a:r>
              <a:rPr lang="ko-KR" altLang="en-US" sz="1200" baseline="0" dirty="0" smtClean="0"/>
              <a:t>등 다양한 </a:t>
            </a:r>
            <a:r>
              <a:rPr lang="ko-KR" altLang="en-US" sz="1200" baseline="0" dirty="0" err="1" smtClean="0"/>
              <a:t>클라우드</a:t>
            </a:r>
            <a:r>
              <a:rPr lang="ko-KR" altLang="en-US" sz="1200" baseline="0" dirty="0" smtClean="0"/>
              <a:t> 서비스 모델로 세분화 되었다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272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smtClean="0"/>
              <a:t>기존 </a:t>
            </a:r>
            <a:r>
              <a:rPr lang="ko-KR" altLang="en-US" sz="1200" baseline="0" dirty="0" err="1" smtClean="0"/>
              <a:t>온프레미스에서는</a:t>
            </a:r>
            <a:r>
              <a:rPr lang="ko-KR" altLang="en-US" sz="1200" baseline="0" dirty="0" smtClean="0"/>
              <a:t> 이렇게 사용하고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예전에는 대부분 회사가 서버를 구성하여 시스템을 운영 하였다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512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996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smtClean="0"/>
              <a:t>컨테이너 부분에 </a:t>
            </a:r>
            <a:r>
              <a:rPr lang="en-US" altLang="ko-KR" sz="1200" baseline="0" dirty="0" err="1" smtClean="0"/>
              <a:t>Tmax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제품은 이미지 형태로 제공</a:t>
            </a: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189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78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9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Google</a:t>
            </a:r>
            <a:r>
              <a:rPr lang="ko-KR" altLang="en-US" sz="1200" dirty="0" smtClean="0"/>
              <a:t>의 </a:t>
            </a:r>
            <a:r>
              <a:rPr lang="en-US" altLang="ko-KR" sz="1200" dirty="0" smtClean="0"/>
              <a:t>Borg</a:t>
            </a:r>
            <a:r>
              <a:rPr lang="ko-KR" altLang="en-US" sz="1200" dirty="0" smtClean="0"/>
              <a:t>라는 시스템으로 프로젝트를 시작하여</a:t>
            </a:r>
            <a:r>
              <a:rPr lang="en-US" altLang="ko-KR" sz="1200" dirty="0" smtClean="0"/>
              <a:t>, Google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CNCF</a:t>
            </a:r>
            <a:r>
              <a:rPr lang="ko-KR" altLang="en-US" sz="1200" dirty="0" smtClean="0"/>
              <a:t>에 코드를 기부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하였습니다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쿠버네티스는</a:t>
            </a:r>
            <a:r>
              <a:rPr lang="ko-KR" altLang="en-US" sz="1200" baseline="0" dirty="0" smtClean="0"/>
              <a:t> 컨테이너화된 </a:t>
            </a:r>
            <a:r>
              <a:rPr lang="en-US" altLang="ko-KR" sz="1200" baseline="0" dirty="0" smtClean="0"/>
              <a:t>Application</a:t>
            </a:r>
            <a:r>
              <a:rPr lang="ko-KR" altLang="en-US" sz="1200" baseline="0" dirty="0" smtClean="0"/>
              <a:t>을 배포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확장 및 관리를 자동화하는 </a:t>
            </a:r>
            <a:r>
              <a:rPr lang="ko-KR" altLang="en-US" sz="1200" baseline="0" dirty="0" err="1" smtClean="0"/>
              <a:t>오픈시스템입니다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쿠버네티스</a:t>
            </a:r>
            <a:r>
              <a:rPr lang="ko-KR" altLang="en-US" sz="1200" baseline="0" dirty="0" smtClean="0"/>
              <a:t> 종류로는 </a:t>
            </a:r>
            <a:r>
              <a:rPr lang="ko-KR" altLang="en-US" sz="1200" baseline="0" dirty="0" err="1" smtClean="0"/>
              <a:t>관리형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err="1" smtClean="0"/>
              <a:t>설치형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err="1" smtClean="0"/>
              <a:t>구성형이</a:t>
            </a:r>
            <a:r>
              <a:rPr lang="ko-KR" altLang="en-US" sz="1200" baseline="0" dirty="0" smtClean="0"/>
              <a:t> 있고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관리형은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AWS, Azure, GCP</a:t>
            </a:r>
            <a:r>
              <a:rPr lang="ko-KR" altLang="en-US" sz="1200" baseline="0" dirty="0" smtClean="0"/>
              <a:t>같은 </a:t>
            </a:r>
            <a:r>
              <a:rPr lang="en-US" altLang="ko-KR" sz="1200" baseline="0" dirty="0" smtClean="0"/>
              <a:t>CSP</a:t>
            </a:r>
            <a:r>
              <a:rPr lang="ko-KR" altLang="en-US" sz="1200" baseline="0" dirty="0" smtClean="0"/>
              <a:t>사에서 제공 해주고 사용자는 </a:t>
            </a:r>
            <a:r>
              <a:rPr lang="en-US" altLang="ko-KR" sz="1200" baseline="0" dirty="0" smtClean="0"/>
              <a:t>Application</a:t>
            </a:r>
            <a:r>
              <a:rPr lang="ko-KR" altLang="en-US" sz="1200" baseline="0" dirty="0" smtClean="0"/>
              <a:t>을 </a:t>
            </a:r>
            <a:r>
              <a:rPr lang="ko-KR" altLang="en-US" sz="1200" baseline="0" dirty="0" err="1" smtClean="0"/>
              <a:t>배포만</a:t>
            </a:r>
            <a:r>
              <a:rPr lang="ko-KR" altLang="en-US" sz="1200" baseline="0" dirty="0" smtClean="0"/>
              <a:t> 하는 형태로 사용한다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설치형은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Rancher, </a:t>
            </a:r>
            <a:r>
              <a:rPr lang="en-US" altLang="ko-KR" sz="1200" baseline="0" dirty="0" err="1" smtClean="0"/>
              <a:t>openshift</a:t>
            </a:r>
            <a:r>
              <a:rPr lang="ko-KR" altLang="en-US" sz="1200" baseline="0" dirty="0" smtClean="0"/>
              <a:t>같이 </a:t>
            </a:r>
            <a:r>
              <a:rPr lang="en-US" altLang="ko-KR" sz="1200" baseline="0" dirty="0" smtClean="0"/>
              <a:t>Kubernetes</a:t>
            </a:r>
            <a:r>
              <a:rPr lang="ko-KR" altLang="en-US" sz="1200" baseline="0" dirty="0" smtClean="0"/>
              <a:t>를 패키지화하여 설치를 진행하고 사용자는 </a:t>
            </a:r>
            <a:r>
              <a:rPr lang="en-US" altLang="ko-KR" sz="1200" baseline="0" dirty="0" err="1" smtClean="0"/>
              <a:t>Applicaton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배포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관리를 하는 형태로 사용한다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구성형은</a:t>
            </a:r>
            <a:r>
              <a:rPr lang="ko-KR" altLang="en-US" sz="1200" baseline="0" dirty="0" smtClean="0"/>
              <a:t> 사용자가 원하는 형태로 설치 </a:t>
            </a:r>
            <a:r>
              <a:rPr lang="ko-KR" altLang="en-US" sz="1200" baseline="0" dirty="0" err="1" smtClean="0"/>
              <a:t>부터</a:t>
            </a:r>
            <a:r>
              <a:rPr lang="ko-KR" altLang="en-US" sz="1200" baseline="0" dirty="0" smtClean="0"/>
              <a:t> 운영까지 직접 모두 사용한다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76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indent="0">
              <a:buFont typeface="Arial" panose="020B0604020202020204" pitchFamily="34" charset="0"/>
              <a:buNone/>
            </a:pPr>
            <a:r>
              <a:rPr lang="en-US" altLang="ko-KR" sz="1400" b="1" dirty="0" err="1" smtClean="0"/>
              <a:t>kube</a:t>
            </a:r>
            <a:r>
              <a:rPr lang="en-US" altLang="ko-KR" sz="1400" b="1" dirty="0" smtClean="0"/>
              <a:t> </a:t>
            </a:r>
            <a:r>
              <a:rPr lang="en-US" altLang="ko-KR" sz="1400" b="1" dirty="0" err="1" smtClean="0"/>
              <a:t>apiserver</a:t>
            </a:r>
            <a:endParaRPr lang="en-US" altLang="ko-KR" sz="1400" b="1" dirty="0" smtClean="0"/>
          </a:p>
          <a:p>
            <a:pPr marL="180000">
              <a:spcBef>
                <a:spcPts val="300"/>
              </a:spcBef>
            </a:pPr>
            <a:r>
              <a:rPr lang="en-US" altLang="ko-KR" sz="1200" dirty="0" err="1" smtClean="0"/>
              <a:t>Kubectl</a:t>
            </a:r>
            <a:r>
              <a:rPr lang="ko-KR" altLang="en-US" sz="1200" dirty="0" smtClean="0"/>
              <a:t>을 사용해 각종 명령을 수행할 경우 이 명령은 </a:t>
            </a:r>
            <a:r>
              <a:rPr lang="en-US" altLang="ko-KR" sz="1200" dirty="0" err="1" smtClean="0"/>
              <a:t>kube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apiserver</a:t>
            </a:r>
            <a:r>
              <a:rPr lang="ko-KR" altLang="en-US" sz="1200" dirty="0" smtClean="0"/>
              <a:t>로 전송됨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이렇게 전달된 요청에 대하여 </a:t>
            </a:r>
            <a:r>
              <a:rPr lang="en-US" altLang="ko-KR" sz="1200" dirty="0" err="1" smtClean="0"/>
              <a:t>kube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apiserver</a:t>
            </a:r>
            <a:r>
              <a:rPr lang="ko-KR" altLang="en-US" sz="1200" dirty="0" smtClean="0"/>
              <a:t>는 이 요청의 처리 흐름에 따라 적절한 </a:t>
            </a:r>
            <a:r>
              <a:rPr lang="ko-KR" altLang="en-US" sz="1200" dirty="0" err="1" smtClean="0"/>
              <a:t>컴포너틑로</a:t>
            </a:r>
            <a:r>
              <a:rPr lang="ko-KR" altLang="en-US" sz="1200" dirty="0" smtClean="0"/>
              <a:t> 요청을 전달하는 역할을 함 </a:t>
            </a:r>
            <a:endParaRPr lang="en-US" altLang="ko-KR" sz="120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026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432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ㅇ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api</a:t>
            </a:r>
            <a:r>
              <a:rPr lang="en-US" altLang="ko-KR" baseline="0" dirty="0" smtClean="0"/>
              <a:t> server </a:t>
            </a:r>
            <a:r>
              <a:rPr lang="ko-KR" altLang="en-US" baseline="0" dirty="0" smtClean="0"/>
              <a:t>호출은 크게 두 가지 방법이 존재한다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dirty="0" smtClean="0"/>
              <a:t>  - </a:t>
            </a:r>
            <a:r>
              <a:rPr lang="ko-KR" altLang="en-US" dirty="0" smtClean="0"/>
              <a:t>프록시 모드에서 </a:t>
            </a:r>
            <a:r>
              <a:rPr lang="en-US" altLang="ko-KR" dirty="0" err="1" smtClean="0"/>
              <a:t>kubectl</a:t>
            </a:r>
            <a:r>
              <a:rPr lang="ko-KR" altLang="en-US" dirty="0" smtClean="0"/>
              <a:t>을 실행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방법은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서버 위치를 사용하고 자체 서명된 인증서를 사용하여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서버의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확인 하므로 권장한다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이 방법을 사용하면 중간자 공격이 불가능하다</a:t>
            </a:r>
            <a:r>
              <a:rPr lang="en-US" altLang="ko-KR" dirty="0" smtClean="0"/>
              <a:t>.</a:t>
            </a:r>
          </a:p>
          <a:p>
            <a:r>
              <a:rPr lang="en-US" altLang="ko-KR" baseline="0" dirty="0" smtClean="0"/>
              <a:t> - </a:t>
            </a:r>
            <a:r>
              <a:rPr lang="ko-KR" altLang="en-US" dirty="0" smtClean="0"/>
              <a:t>위치와 자격증명을 </a:t>
            </a:r>
            <a:r>
              <a:rPr lang="en-US" altLang="ko-KR" dirty="0" smtClean="0"/>
              <a:t>http </a:t>
            </a:r>
            <a:r>
              <a:rPr lang="ko-KR" altLang="en-US" dirty="0" smtClean="0"/>
              <a:t>클라이언트에 직접 제공할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방법은 프록시를 혼란스럽게 하는 클라이언트 코드와 동작한다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중간자 공격으로 부터 보호하려면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브라우저로 루트 인증서를 가져와야 한다</a:t>
            </a:r>
            <a:r>
              <a:rPr lang="en-US" altLang="ko-KR" dirty="0" smtClean="0"/>
              <a:t>. (Kubernetes Dashboard </a:t>
            </a:r>
            <a:r>
              <a:rPr lang="ko-KR" altLang="en-US" dirty="0" smtClean="0"/>
              <a:t>방법</a:t>
            </a:r>
            <a:r>
              <a:rPr lang="en-US" altLang="ko-KR" dirty="0" smtClean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209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ㅇ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controller manager </a:t>
            </a:r>
            <a:r>
              <a:rPr lang="ko-KR" altLang="en-US" baseline="0" dirty="0" smtClean="0"/>
              <a:t>종류</a:t>
            </a:r>
            <a:endParaRPr lang="en-US" altLang="ko-KR" baseline="0" dirty="0" smtClean="0"/>
          </a:p>
          <a:p>
            <a:r>
              <a:rPr lang="en-US" altLang="ko-KR" baseline="0" dirty="0" smtClean="0"/>
              <a:t>  - Deployment, Namespace, Endpoint, </a:t>
            </a:r>
            <a:r>
              <a:rPr lang="en-US" altLang="ko-KR" baseline="0" dirty="0" err="1" smtClean="0"/>
              <a:t>CronJob</a:t>
            </a:r>
            <a:r>
              <a:rPr lang="en-US" altLang="ko-KR" baseline="0" dirty="0" smtClean="0"/>
              <a:t>, Service-Account-Controller, Job-</a:t>
            </a:r>
            <a:r>
              <a:rPr lang="en-US" altLang="ko-KR" baseline="0" dirty="0" err="1" smtClean="0"/>
              <a:t>Contoller</a:t>
            </a:r>
            <a:r>
              <a:rPr lang="en-US" altLang="ko-KR" baseline="0" dirty="0" smtClean="0"/>
              <a:t>, </a:t>
            </a:r>
            <a:r>
              <a:rPr lang="en-US" altLang="ko-KR" baseline="0" dirty="0" err="1" smtClean="0"/>
              <a:t>StatefulSet</a:t>
            </a:r>
            <a:r>
              <a:rPr lang="en-US" altLang="ko-KR" baseline="0" dirty="0" smtClean="0"/>
              <a:t>, PV-Protection-Controller, </a:t>
            </a:r>
            <a:r>
              <a:rPr lang="en-US" altLang="ko-KR" baseline="0" dirty="0" err="1" smtClean="0"/>
              <a:t>ReplicaSet</a:t>
            </a:r>
            <a:r>
              <a:rPr lang="en-US" altLang="ko-KR" baseline="0" dirty="0" smtClean="0"/>
              <a:t>, Node-</a:t>
            </a:r>
            <a:r>
              <a:rPr lang="en-US" altLang="ko-KR" baseline="0" dirty="0" err="1" smtClean="0"/>
              <a:t>Contoller</a:t>
            </a:r>
            <a:r>
              <a:rPr lang="en-US" altLang="ko-KR" baseline="0" dirty="0" smtClean="0"/>
              <a:t>, PV-Binder-Controller, Replication-Controller</a:t>
            </a:r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ㅇ</a:t>
            </a:r>
            <a:r>
              <a:rPr lang="en-US" altLang="ko-KR" baseline="0" dirty="0" smtClean="0"/>
              <a:t> Default Option Value</a:t>
            </a:r>
          </a:p>
          <a:p>
            <a:r>
              <a:rPr lang="en-US" altLang="ko-KR" baseline="0" dirty="0" smtClean="0"/>
              <a:t>  - --node-monitor-period=5s</a:t>
            </a:r>
          </a:p>
          <a:p>
            <a:r>
              <a:rPr lang="en-US" altLang="ko-KR" baseline="0" dirty="0" smtClean="0"/>
              <a:t>  - --node-monitor-grace-period=40s</a:t>
            </a:r>
          </a:p>
          <a:p>
            <a:r>
              <a:rPr lang="en-US" altLang="ko-KR" baseline="0" dirty="0" smtClean="0"/>
              <a:t>  - --pod-</a:t>
            </a:r>
            <a:r>
              <a:rPr lang="en-US" altLang="ko-KR" baseline="0" dirty="0" err="1" smtClean="0"/>
              <a:t>evition</a:t>
            </a:r>
            <a:r>
              <a:rPr lang="en-US" altLang="ko-KR" baseline="0" dirty="0" smtClean="0"/>
              <a:t>-timeout=5m //</a:t>
            </a:r>
            <a:r>
              <a:rPr lang="ko-KR" altLang="en-US" baseline="0" dirty="0" smtClean="0"/>
              <a:t>문제 발생 노드를 다시 띄우는데 소요되는 시간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ㅇ</a:t>
            </a:r>
            <a:r>
              <a:rPr lang="ko-KR" altLang="en-US" baseline="0" dirty="0" smtClean="0"/>
              <a:t> 위 옵션들은 아래 </a:t>
            </a:r>
            <a:r>
              <a:rPr lang="en-US" altLang="ko-KR" baseline="0" dirty="0" err="1" smtClean="0"/>
              <a:t>yaml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파일에서 추가 설정 가능</a:t>
            </a:r>
            <a:endParaRPr lang="en-US" altLang="ko-KR" baseline="0" dirty="0" smtClean="0"/>
          </a:p>
          <a:p>
            <a:r>
              <a:rPr lang="en-US" altLang="ko-KR" baseline="0" dirty="0" smtClean="0"/>
              <a:t>  - /</a:t>
            </a:r>
            <a:r>
              <a:rPr lang="en-US" altLang="ko-KR" baseline="0" dirty="0" err="1" smtClean="0"/>
              <a:t>etc</a:t>
            </a:r>
            <a:r>
              <a:rPr lang="en-US" altLang="ko-KR" baseline="0" dirty="0" smtClean="0"/>
              <a:t>/</a:t>
            </a:r>
            <a:r>
              <a:rPr lang="en-US" altLang="ko-KR" baseline="0" dirty="0" err="1" smtClean="0"/>
              <a:t>kubernetes</a:t>
            </a:r>
            <a:r>
              <a:rPr lang="en-US" altLang="ko-KR" baseline="0" dirty="0" smtClean="0"/>
              <a:t>/manifests/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-controller-</a:t>
            </a:r>
            <a:r>
              <a:rPr lang="en-US" altLang="ko-KR" baseline="0" dirty="0" err="1" smtClean="0"/>
              <a:t>manager.yaml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err="1" smtClean="0"/>
              <a:t>ㅇ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관리형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쿠버네티스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(</a:t>
            </a:r>
            <a:r>
              <a:rPr lang="en-US" altLang="ko-KR" baseline="0" dirty="0" err="1" smtClean="0"/>
              <a:t>kubeadm</a:t>
            </a:r>
            <a:r>
              <a:rPr lang="en-US" altLang="ko-KR" baseline="0" dirty="0" smtClean="0"/>
              <a:t>)</a:t>
            </a:r>
            <a:r>
              <a:rPr lang="ko-KR" altLang="en-US" baseline="0" dirty="0" smtClean="0"/>
              <a:t>으로 </a:t>
            </a:r>
            <a:r>
              <a:rPr lang="en-US" altLang="ko-KR" baseline="0" dirty="0" err="1" smtClean="0"/>
              <a:t>kubernetes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설치 시</a:t>
            </a:r>
            <a:r>
              <a:rPr lang="en-US" altLang="ko-KR" baseline="0" dirty="0" smtClean="0"/>
              <a:t>, controller manage</a:t>
            </a:r>
            <a:r>
              <a:rPr lang="ko-KR" altLang="en-US" baseline="0" dirty="0" smtClean="0"/>
              <a:t>는 아래 명령어로 옵션이 확인 가능</a:t>
            </a: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  - cat /</a:t>
            </a:r>
            <a:r>
              <a:rPr lang="en-US" altLang="ko-KR" baseline="0" dirty="0" err="1" smtClean="0"/>
              <a:t>etc</a:t>
            </a:r>
            <a:r>
              <a:rPr lang="en-US" altLang="ko-KR" baseline="0" dirty="0" smtClean="0"/>
              <a:t>/</a:t>
            </a:r>
            <a:r>
              <a:rPr lang="en-US" altLang="ko-KR" baseline="0" dirty="0" err="1" smtClean="0"/>
              <a:t>kubernetes</a:t>
            </a:r>
            <a:r>
              <a:rPr lang="en-US" altLang="ko-KR" baseline="0" dirty="0" smtClean="0"/>
              <a:t>/manifests/</a:t>
            </a:r>
            <a:r>
              <a:rPr lang="en-US" altLang="ko-KR" baseline="0" dirty="0" err="1" smtClean="0"/>
              <a:t>kube</a:t>
            </a:r>
            <a:r>
              <a:rPr lang="en-US" altLang="ko-KR" baseline="0" dirty="0" smtClean="0"/>
              <a:t>-controller-</a:t>
            </a:r>
            <a:r>
              <a:rPr lang="en-US" altLang="ko-KR" baseline="0" dirty="0" err="1" smtClean="0"/>
              <a:t>manager.yaml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742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dirty="0" err="1" smtClean="0"/>
              <a:t>ㅇ</a:t>
            </a:r>
            <a:r>
              <a:rPr lang="ko-KR" altLang="en-US" dirty="0" smtClean="0"/>
              <a:t> </a:t>
            </a:r>
            <a:r>
              <a:rPr lang="ko-KR" altLang="en-US" sz="1200" dirty="0" smtClean="0"/>
              <a:t>노드 </a:t>
            </a:r>
            <a:r>
              <a:rPr lang="ko-KR" altLang="en-US" sz="1200" dirty="0" err="1" smtClean="0"/>
              <a:t>파드의</a:t>
            </a:r>
            <a:r>
              <a:rPr lang="ko-KR" altLang="en-US" sz="1200" dirty="0" smtClean="0"/>
              <a:t> 일정 관리를 책임지는 역할을 함</a:t>
            </a: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dirty="0" err="1" smtClean="0"/>
              <a:t>ㅇ</a:t>
            </a:r>
            <a:r>
              <a:rPr lang="ko-KR" altLang="en-US" sz="1200" dirty="0" smtClean="0"/>
              <a:t> 어떤 </a:t>
            </a:r>
            <a:r>
              <a:rPr lang="ko-KR" altLang="en-US" sz="1200" dirty="0" err="1" smtClean="0"/>
              <a:t>파드가</a:t>
            </a:r>
            <a:r>
              <a:rPr lang="ko-KR" altLang="en-US" sz="1200" dirty="0" smtClean="0"/>
              <a:t> 어떤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로 들어갈지 만 결정함</a:t>
            </a:r>
            <a:r>
              <a:rPr lang="en-US" altLang="ko-KR" sz="1200" dirty="0" smtClean="0"/>
              <a:t>. Node</a:t>
            </a:r>
            <a:r>
              <a:rPr lang="ko-KR" altLang="en-US" sz="1200" dirty="0" smtClean="0"/>
              <a:t>에 </a:t>
            </a:r>
            <a:r>
              <a:rPr lang="ko-KR" altLang="en-US" sz="1200" dirty="0" err="1" smtClean="0"/>
              <a:t>파드를</a:t>
            </a:r>
            <a:r>
              <a:rPr lang="ko-KR" altLang="en-US" sz="1200" dirty="0" smtClean="0"/>
              <a:t> 배치하는 것은 </a:t>
            </a:r>
            <a:r>
              <a:rPr lang="en-US" altLang="ko-KR" sz="1200" dirty="0" err="1" smtClean="0"/>
              <a:t>kubelet</a:t>
            </a:r>
            <a:r>
              <a:rPr lang="ko-KR" altLang="en-US" sz="1200" dirty="0" smtClean="0"/>
              <a:t>이다</a:t>
            </a: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dirty="0" err="1" smtClean="0"/>
              <a:t>ㅇ</a:t>
            </a:r>
            <a:r>
              <a:rPr lang="ko-KR" altLang="en-US" sz="1200" dirty="0" smtClean="0"/>
              <a:t> 스케줄러 역할</a:t>
            </a:r>
            <a:endParaRPr lang="en-US" altLang="ko-KR" sz="120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dirty="0" smtClean="0"/>
              <a:t>  -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일정 기준에 따라 특정 </a:t>
            </a:r>
            <a:r>
              <a:rPr lang="ko-KR" altLang="en-US" sz="1200" baseline="0" dirty="0" err="1" smtClean="0"/>
              <a:t>파드를</a:t>
            </a:r>
            <a:r>
              <a:rPr lang="ko-KR" altLang="en-US" sz="1200" baseline="0" dirty="0" smtClean="0"/>
              <a:t> 어떤 노드에 둘지 결정함</a:t>
            </a:r>
            <a:r>
              <a:rPr lang="en-US" altLang="ko-KR" sz="1200" baseline="0" dirty="0" smtClean="0"/>
              <a:t>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- CPU, Memory Resource</a:t>
            </a:r>
            <a:r>
              <a:rPr lang="ko-KR" altLang="en-US" sz="1200" baseline="0" dirty="0" smtClean="0"/>
              <a:t>를 확인하여 </a:t>
            </a:r>
            <a:r>
              <a:rPr lang="ko-KR" altLang="en-US" sz="1200" baseline="0" dirty="0" err="1" smtClean="0"/>
              <a:t>파드를</a:t>
            </a:r>
            <a:r>
              <a:rPr lang="ko-KR" altLang="en-US" sz="1200" baseline="0" dirty="0" smtClean="0"/>
              <a:t> 배치함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  </a:t>
            </a:r>
            <a:r>
              <a:rPr lang="ko-KR" altLang="en-US" sz="1200" baseline="0" dirty="0" smtClean="0"/>
              <a:t>남은 노드들중에는 남은 </a:t>
            </a:r>
            <a:r>
              <a:rPr lang="ko-KR" altLang="en-US" sz="1200" baseline="0" dirty="0" err="1" smtClean="0"/>
              <a:t>리스소가</a:t>
            </a:r>
            <a:r>
              <a:rPr lang="ko-KR" altLang="en-US" sz="1200" baseline="0" dirty="0" smtClean="0"/>
              <a:t> 많은 </a:t>
            </a:r>
            <a:r>
              <a:rPr lang="ko-KR" altLang="en-US" sz="1200" baseline="0" dirty="0" err="1" smtClean="0"/>
              <a:t>노드쪽으로</a:t>
            </a:r>
            <a:r>
              <a:rPr lang="ko-KR" altLang="en-US" sz="1200" baseline="0" dirty="0" smtClean="0"/>
              <a:t> 배치함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baseline="0" dirty="0" err="1" smtClean="0"/>
              <a:t>ㅇ</a:t>
            </a:r>
            <a:r>
              <a:rPr lang="ko-KR" altLang="en-US" sz="1200" baseline="0" dirty="0" smtClean="0"/>
              <a:t> 스케줄링 기준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- Label &amp; Selectors, Resource Limits, Manual Scheduling, </a:t>
            </a:r>
            <a:r>
              <a:rPr lang="en-US" altLang="ko-KR" sz="1200" baseline="0" dirty="0" err="1" smtClean="0"/>
              <a:t>DaemonSet</a:t>
            </a:r>
            <a:r>
              <a:rPr lang="en-US" altLang="ko-KR" sz="1200" baseline="0" dirty="0" smtClean="0"/>
              <a:t>, Multiple Schedulers, Scheduler Events, Configure Kubernetes Scheduler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sz="1200" baseline="0" dirty="0" err="1" smtClean="0"/>
              <a:t>ㅇ</a:t>
            </a:r>
            <a:r>
              <a:rPr lang="ko-KR" altLang="en-US" sz="1200" baseline="0" dirty="0" smtClean="0"/>
              <a:t> </a:t>
            </a:r>
            <a:r>
              <a:rPr lang="ko-KR" altLang="en-US" sz="1200" baseline="0" dirty="0" err="1" smtClean="0"/>
              <a:t>관리형</a:t>
            </a:r>
            <a:r>
              <a:rPr lang="ko-KR" altLang="en-US" sz="1200" baseline="0" dirty="0" smtClean="0"/>
              <a:t> </a:t>
            </a:r>
            <a:r>
              <a:rPr lang="ko-KR" altLang="en-US" sz="1200" baseline="0" dirty="0" err="1" smtClean="0"/>
              <a:t>쿠버네티스</a:t>
            </a:r>
            <a:r>
              <a:rPr lang="en-US" altLang="ko-KR" sz="1200" baseline="0" dirty="0" smtClean="0"/>
              <a:t>(</a:t>
            </a:r>
            <a:r>
              <a:rPr lang="en-US" altLang="ko-KR" sz="1200" baseline="0" dirty="0" err="1" smtClean="0"/>
              <a:t>kubeadm</a:t>
            </a:r>
            <a:r>
              <a:rPr lang="en-US" altLang="ko-KR" sz="1200" baseline="0" dirty="0" smtClean="0"/>
              <a:t>) </a:t>
            </a:r>
            <a:r>
              <a:rPr lang="ko-KR" altLang="en-US" sz="1200" baseline="0" dirty="0" smtClean="0"/>
              <a:t>설치 시 아래 명령어로 설정 확인 가능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sz="1200" baseline="0" dirty="0" smtClean="0"/>
              <a:t>  - cat /</a:t>
            </a:r>
            <a:r>
              <a:rPr lang="en-US" altLang="ko-KR" sz="1200" baseline="0" dirty="0" err="1" smtClean="0"/>
              <a:t>etc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kubernetes</a:t>
            </a:r>
            <a:r>
              <a:rPr lang="en-US" altLang="ko-KR" sz="1200" baseline="0" dirty="0" smtClean="0"/>
              <a:t>/manifests/</a:t>
            </a:r>
            <a:r>
              <a:rPr lang="en-US" altLang="ko-KR" sz="1200" baseline="0" dirty="0" err="1" smtClean="0"/>
              <a:t>kube-scheduler.yaml</a:t>
            </a:r>
            <a:endParaRPr lang="en-US" altLang="ko-KR" sz="1200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 smtClean="0"/>
          </a:p>
          <a:p>
            <a:pPr marL="18000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sz="1200" dirty="0" smtClean="0"/>
          </a:p>
          <a:p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22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baseline="0" dirty="0" err="1" smtClean="0"/>
              <a:t>kubelet</a:t>
            </a:r>
            <a:r>
              <a:rPr lang="ko-KR" altLang="en-US" baseline="0" dirty="0" smtClean="0"/>
              <a:t>은 </a:t>
            </a:r>
            <a:r>
              <a:rPr lang="ko-KR" altLang="en-US" baseline="0" dirty="0" err="1" smtClean="0"/>
              <a:t>파드와</a:t>
            </a:r>
            <a:r>
              <a:rPr lang="ko-KR" altLang="en-US" baseline="0" dirty="0" smtClean="0"/>
              <a:t> 노드를 계속 모니터링 하여 상태를 </a:t>
            </a:r>
            <a:r>
              <a:rPr lang="en-US" altLang="ko-KR" baseline="0" dirty="0" err="1" smtClean="0"/>
              <a:t>kube-apiserver</a:t>
            </a:r>
            <a:r>
              <a:rPr lang="ko-KR" altLang="en-US" baseline="0" dirty="0" smtClean="0"/>
              <a:t>쪽으로 보고한다</a:t>
            </a:r>
            <a:r>
              <a:rPr lang="en-US" altLang="ko-KR" baseline="0" dirty="0" smtClean="0"/>
              <a:t>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ko-KR" altLang="en-US" baseline="0" dirty="0" smtClean="0"/>
              <a:t>필요한 이미지를 끌어와 인스턴스를 실행하라고 </a:t>
            </a:r>
            <a:r>
              <a:rPr lang="en-US" altLang="ko-KR" baseline="0" dirty="0" smtClean="0"/>
              <a:t>Container Runtime Engine</a:t>
            </a:r>
            <a:r>
              <a:rPr lang="ko-KR" altLang="en-US" baseline="0" dirty="0" smtClean="0"/>
              <a:t>한테 명령한다</a:t>
            </a:r>
            <a:r>
              <a:rPr lang="en-US" altLang="ko-KR" baseline="0" dirty="0" smtClean="0"/>
              <a:t>.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ko-KR" baseline="0" dirty="0" smtClean="0"/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ko-KR" baseline="0" dirty="0" err="1" smtClean="0"/>
              <a:t>Kubelet</a:t>
            </a:r>
            <a:r>
              <a:rPr lang="ko-KR" altLang="en-US" baseline="0" dirty="0" smtClean="0"/>
              <a:t>은 실질적으로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를 </a:t>
            </a:r>
            <a:r>
              <a:rPr lang="en-US" altLang="ko-KR" baseline="0" dirty="0" smtClean="0"/>
              <a:t>Worker Node</a:t>
            </a:r>
            <a:r>
              <a:rPr lang="ko-KR" altLang="en-US" baseline="0" dirty="0" smtClean="0"/>
              <a:t>에 배치시키는 역할을 한다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6297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/>
              <a:t>컨테이너 가상화는 기존의 서버 가상화 방식과 격리 컨테이너 별로 </a:t>
            </a:r>
            <a:r>
              <a:rPr lang="ko-KR" altLang="en-US" sz="1200" dirty="0" err="1" smtClean="0"/>
              <a:t>실행환경을</a:t>
            </a:r>
            <a:r>
              <a:rPr lang="ko-KR" altLang="en-US" sz="1200" dirty="0" smtClean="0"/>
              <a:t> 격리하여 가볍고 빠른 </a:t>
            </a:r>
            <a:r>
              <a:rPr lang="ko-KR" altLang="en-US" sz="1200" dirty="0" err="1" smtClean="0"/>
              <a:t>서버환경을</a:t>
            </a:r>
            <a:r>
              <a:rPr lang="ko-KR" altLang="en-US" sz="1200" dirty="0" smtClean="0"/>
              <a:t> 제공 하며 하나의 </a:t>
            </a:r>
            <a:r>
              <a:rPr lang="ko-KR" altLang="en-US" sz="1200" dirty="0" err="1" smtClean="0"/>
              <a:t>물리서버에</a:t>
            </a:r>
            <a:r>
              <a:rPr lang="ko-KR" altLang="en-US" sz="1200" dirty="0" smtClean="0"/>
              <a:t> 많은 수의 컨테이너를 필요시 즉각 생성할 수 있음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좀더 효율적이고 경량화된애플리케이션 실행 환경에 대한 요구가 증가함에 따라 가상화 방식은 기존의 가상화 기술인 </a:t>
            </a:r>
            <a:r>
              <a:rPr lang="ko-KR" altLang="en-US" sz="1200" dirty="0" err="1" smtClean="0"/>
              <a:t>하이퍼바이저</a:t>
            </a:r>
            <a:r>
              <a:rPr lang="ko-KR" altLang="en-US" sz="1200" dirty="0" smtClean="0"/>
              <a:t> 방식에서 컨테이너 엔진 기반 가상화 방식으로 전환되고 있음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1976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8464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188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4335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baseline="0" dirty="0" smtClean="0"/>
              <a:t>컨테이너 부분에 </a:t>
            </a:r>
            <a:r>
              <a:rPr lang="en-US" altLang="ko-KR" sz="1200" baseline="0" dirty="0" err="1" smtClean="0"/>
              <a:t>Tmax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제품은 이미지 형태로 제공</a:t>
            </a: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2213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860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6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2025.03.06.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Core Concept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2" y="3254174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ko-KR" altLang="en-US" sz="1200" b="1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클라우드</a:t>
            </a:r>
            <a:r>
              <a:rPr lang="ko-KR" alt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 </a:t>
            </a:r>
            <a:r>
              <a:rPr lang="ko-KR" altLang="en-US" sz="1200" b="1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네이티브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ko-KR" altLang="en-US" sz="1200" b="1" spc="-40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클라우드</a:t>
            </a:r>
            <a:r>
              <a:rPr lang="ko-KR" altLang="en-US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 서비스 모델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Kubernetes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12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18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7" name="object 18"/>
          <p:cNvSpPr/>
          <p:nvPr/>
        </p:nvSpPr>
        <p:spPr>
          <a:xfrm>
            <a:off x="6173663" y="4844028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8" name="object 4"/>
          <p:cNvSpPr txBox="1"/>
          <p:nvPr/>
        </p:nvSpPr>
        <p:spPr>
          <a:xfrm>
            <a:off x="6162121" y="5057318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ko-KR" altLang="en-US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사  </a:t>
            </a:r>
            <a:r>
              <a:rPr lang="ko-KR" altLang="en-US" sz="1200" b="1" spc="-40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례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9" name="object 11"/>
          <p:cNvSpPr txBox="1"/>
          <p:nvPr/>
        </p:nvSpPr>
        <p:spPr>
          <a:xfrm>
            <a:off x="9217147" y="5113630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30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0" name="object 18"/>
          <p:cNvSpPr/>
          <p:nvPr/>
        </p:nvSpPr>
        <p:spPr>
          <a:xfrm>
            <a:off x="6173663" y="5428774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200" y="715450"/>
            <a:ext cx="1092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/>
              <a:t>개</a:t>
            </a:r>
            <a:r>
              <a:rPr lang="ko-KR" altLang="en-US" sz="1400" b="1" dirty="0" smtClean="0"/>
              <a:t> 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요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err="1" smtClean="0"/>
              <a:t>클라우드</a:t>
            </a:r>
            <a:r>
              <a:rPr lang="ko-KR" altLang="en-US" sz="1200" dirty="0" smtClean="0"/>
              <a:t> 환경에서 </a:t>
            </a:r>
            <a:r>
              <a:rPr lang="ko-KR" altLang="en-US" sz="1200" dirty="0"/>
              <a:t>애</a:t>
            </a:r>
            <a:r>
              <a:rPr lang="ko-KR" altLang="en-US" sz="1200" dirty="0" smtClean="0"/>
              <a:t>플리케이션을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설계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개발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배포 및 운영 하는 접근 방식 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err="1" smtClean="0"/>
              <a:t>온프레미스</a:t>
            </a:r>
            <a:r>
              <a:rPr lang="ko-KR" altLang="en-US" sz="1200" dirty="0" smtClean="0"/>
              <a:t> 환경이 아닌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클라우드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인프라를 최대한 활용</a:t>
            </a:r>
            <a:r>
              <a:rPr lang="ko-KR" altLang="en-US" sz="1200" dirty="0" smtClean="0"/>
              <a:t>하도록 설계된 </a:t>
            </a:r>
            <a:r>
              <a:rPr lang="ko-KR" altLang="en-US" sz="1200" dirty="0"/>
              <a:t>애</a:t>
            </a:r>
            <a:r>
              <a:rPr lang="ko-KR" altLang="en-US" sz="1200" dirty="0" smtClean="0"/>
              <a:t>플리케이션과 시스템을 구성하는 방식</a:t>
            </a:r>
            <a:endParaRPr lang="en-US" altLang="ko-KR" sz="1200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695325" y="162745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주요 구성요소</a:t>
            </a:r>
            <a:endParaRPr lang="en-US" altLang="ko-KR" sz="1400" b="1" dirty="0" smtClean="0"/>
          </a:p>
        </p:txBody>
      </p:sp>
      <p:grpSp>
        <p:nvGrpSpPr>
          <p:cNvPr id="3" name="그룹 2"/>
          <p:cNvGrpSpPr/>
          <p:nvPr/>
        </p:nvGrpSpPr>
        <p:grpSpPr>
          <a:xfrm>
            <a:off x="960800" y="1995069"/>
            <a:ext cx="10391049" cy="4281200"/>
            <a:chOff x="725714" y="1797705"/>
            <a:chExt cx="10834916" cy="4499727"/>
          </a:xfrm>
        </p:grpSpPr>
        <p:sp>
          <p:nvSpPr>
            <p:cNvPr id="47" name="사각형: 둥근 모서리 37">
              <a:extLst>
                <a:ext uri="{FF2B5EF4-FFF2-40B4-BE49-F238E27FC236}">
                  <a16:creationId xmlns:a16="http://schemas.microsoft.com/office/drawing/2014/main" id="{A1AF9511-4909-47D5-AF0B-7A899AE4899A}"/>
                </a:ext>
              </a:extLst>
            </p:cNvPr>
            <p:cNvSpPr/>
            <p:nvPr/>
          </p:nvSpPr>
          <p:spPr>
            <a:xfrm>
              <a:off x="725714" y="1797705"/>
              <a:ext cx="5239657" cy="2075542"/>
            </a:xfrm>
            <a:prstGeom prst="roundRect">
              <a:avLst>
                <a:gd name="adj" fmla="val 9674"/>
              </a:avLst>
            </a:prstGeom>
            <a:solidFill>
              <a:schemeClr val="bg1"/>
            </a:solidFill>
            <a:ln w="38100" cap="flat">
              <a:solidFill>
                <a:srgbClr val="5B69FF"/>
              </a:solidFill>
              <a:prstDash val="solid"/>
              <a:miter/>
            </a:ln>
          </p:spPr>
          <p:txBody>
            <a:bodyPr lIns="720000" rIns="720000" rtlCol="0" anchor="ctr"/>
            <a:lstStyle/>
            <a:p>
              <a:r>
                <a:rPr lang="en-US" altLang="ko-KR" sz="1600" b="1" dirty="0" smtClean="0"/>
                <a:t>CI/CD</a:t>
              </a:r>
              <a:endParaRPr lang="en-US" altLang="ko-KR" sz="1600" b="1" dirty="0"/>
            </a:p>
            <a:p>
              <a:endParaRPr lang="en-US" altLang="ko-KR" sz="1200" dirty="0"/>
            </a:p>
            <a:p>
              <a:r>
                <a:rPr lang="ko-KR" altLang="en-US" sz="1200" dirty="0" smtClean="0"/>
                <a:t>개발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빌드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테스트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배포에 이르는 전체 프로세스를 자동화</a:t>
              </a:r>
              <a:endParaRPr lang="en-US" altLang="ko-KR" sz="1200" dirty="0"/>
            </a:p>
          </p:txBody>
        </p:sp>
        <p:sp>
          <p:nvSpPr>
            <p:cNvPr id="48" name="사각형: 둥근 모서리 38">
              <a:extLst>
                <a:ext uri="{FF2B5EF4-FFF2-40B4-BE49-F238E27FC236}">
                  <a16:creationId xmlns:a16="http://schemas.microsoft.com/office/drawing/2014/main" id="{296B9A31-0BA7-4869-B7E2-683BB8F82D21}"/>
                </a:ext>
              </a:extLst>
            </p:cNvPr>
            <p:cNvSpPr/>
            <p:nvPr/>
          </p:nvSpPr>
          <p:spPr>
            <a:xfrm>
              <a:off x="6320973" y="1797705"/>
              <a:ext cx="5239657" cy="2075542"/>
            </a:xfrm>
            <a:prstGeom prst="roundRect">
              <a:avLst>
                <a:gd name="adj" fmla="val 9674"/>
              </a:avLst>
            </a:prstGeom>
            <a:solidFill>
              <a:schemeClr val="bg1"/>
            </a:solidFill>
            <a:ln w="38100" cap="flat">
              <a:solidFill>
                <a:srgbClr val="5B69FF"/>
              </a:solidFill>
              <a:prstDash val="solid"/>
              <a:miter/>
            </a:ln>
          </p:spPr>
          <p:txBody>
            <a:bodyPr lIns="720000" rIns="720000" rtlCol="0" anchor="ctr"/>
            <a:lstStyle/>
            <a:p>
              <a:r>
                <a:rPr lang="en-US" altLang="ko-KR" sz="1600" b="1" dirty="0" smtClean="0"/>
                <a:t>DevOps</a:t>
              </a:r>
              <a:endParaRPr lang="en-US" altLang="ko-KR" sz="1600" b="1" dirty="0"/>
            </a:p>
            <a:p>
              <a:endParaRPr lang="en-US" altLang="ko-KR" sz="1200" dirty="0"/>
            </a:p>
            <a:p>
              <a:r>
                <a:rPr lang="ko-KR" altLang="en-US" sz="1200" dirty="0" smtClean="0"/>
                <a:t>애플리케이션 개발</a:t>
              </a:r>
              <a:r>
                <a:rPr lang="en-US" altLang="ko-KR" sz="1200" dirty="0" smtClean="0"/>
                <a:t>-</a:t>
              </a:r>
              <a:r>
                <a:rPr lang="ko-KR" altLang="en-US" sz="1200" dirty="0" smtClean="0"/>
                <a:t>운영 간의 협업 프로세스를 자동화하는 것을 의미</a:t>
              </a:r>
              <a:endParaRPr lang="en-US" altLang="ko-KR" sz="1200" dirty="0" smtClean="0"/>
            </a:p>
          </p:txBody>
        </p:sp>
        <p:sp>
          <p:nvSpPr>
            <p:cNvPr id="49" name="사각형: 둥근 모서리 40">
              <a:extLst>
                <a:ext uri="{FF2B5EF4-FFF2-40B4-BE49-F238E27FC236}">
                  <a16:creationId xmlns:a16="http://schemas.microsoft.com/office/drawing/2014/main" id="{2E2BEFD2-A6AD-43CF-BD6F-8FB4BB9E3D00}"/>
                </a:ext>
              </a:extLst>
            </p:cNvPr>
            <p:cNvSpPr/>
            <p:nvPr/>
          </p:nvSpPr>
          <p:spPr>
            <a:xfrm>
              <a:off x="725714" y="4221890"/>
              <a:ext cx="5239657" cy="2075542"/>
            </a:xfrm>
            <a:prstGeom prst="roundRect">
              <a:avLst>
                <a:gd name="adj" fmla="val 9674"/>
              </a:avLst>
            </a:prstGeom>
            <a:solidFill>
              <a:schemeClr val="bg1"/>
            </a:solidFill>
            <a:ln w="38100" cap="flat">
              <a:solidFill>
                <a:srgbClr val="5B69FF"/>
              </a:solidFill>
              <a:prstDash val="solid"/>
              <a:miter/>
            </a:ln>
          </p:spPr>
          <p:txBody>
            <a:bodyPr lIns="720000" rIns="720000" rtlCol="0" anchor="ctr"/>
            <a:lstStyle/>
            <a:p>
              <a:r>
                <a:rPr lang="en-US" altLang="ko-KR" sz="1600" b="1" dirty="0" smtClean="0"/>
                <a:t>MSA(Micro Service Architecture)</a:t>
              </a:r>
              <a:endParaRPr lang="en-US" altLang="ko-KR" sz="1600" b="1" dirty="0"/>
            </a:p>
            <a:p>
              <a:endParaRPr lang="en-US" altLang="ko-KR" sz="1200" dirty="0"/>
            </a:p>
            <a:p>
              <a:r>
                <a:rPr lang="ko-KR" altLang="en-US" sz="1200" dirty="0" smtClean="0"/>
                <a:t>애플리케이션을 이루는 서비스들을 기능 단위로 쪼개서 구축하는 것을 의미</a:t>
              </a:r>
              <a:endParaRPr lang="en-US" altLang="ko-KR" sz="1200" dirty="0"/>
            </a:p>
          </p:txBody>
        </p:sp>
        <p:sp>
          <p:nvSpPr>
            <p:cNvPr id="50" name="사각형: 둥근 모서리 41">
              <a:extLst>
                <a:ext uri="{FF2B5EF4-FFF2-40B4-BE49-F238E27FC236}">
                  <a16:creationId xmlns:a16="http://schemas.microsoft.com/office/drawing/2014/main" id="{42E13575-B208-4CDD-9191-C31935189359}"/>
                </a:ext>
              </a:extLst>
            </p:cNvPr>
            <p:cNvSpPr/>
            <p:nvPr/>
          </p:nvSpPr>
          <p:spPr>
            <a:xfrm>
              <a:off x="6320973" y="4221890"/>
              <a:ext cx="5239657" cy="2075542"/>
            </a:xfrm>
            <a:prstGeom prst="roundRect">
              <a:avLst>
                <a:gd name="adj" fmla="val 9674"/>
              </a:avLst>
            </a:prstGeom>
            <a:solidFill>
              <a:schemeClr val="bg1"/>
            </a:solidFill>
            <a:ln w="38100" cap="flat">
              <a:solidFill>
                <a:srgbClr val="5B69FF"/>
              </a:solidFill>
              <a:prstDash val="solid"/>
              <a:miter/>
            </a:ln>
          </p:spPr>
          <p:txBody>
            <a:bodyPr lIns="720000" rIns="720000" rtlCol="0" anchor="ctr"/>
            <a:lstStyle/>
            <a:p>
              <a:r>
                <a:rPr lang="en-US" altLang="ko-KR" sz="1600" b="1" dirty="0" smtClean="0"/>
                <a:t>Containers</a:t>
              </a:r>
              <a:endParaRPr lang="en-US" altLang="ko-KR" sz="1600" b="1" dirty="0"/>
            </a:p>
            <a:p>
              <a:endParaRPr lang="en-US" altLang="ko-KR" sz="1200" dirty="0"/>
            </a:p>
            <a:p>
              <a:r>
                <a:rPr lang="ko-KR" altLang="en-US" sz="1200" dirty="0" smtClean="0"/>
                <a:t>애플리케이션을 실행에 필요한 라이브러리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구성 파일 등과 패키지로 묶어서 이미지 처럼 배포하는 것을 의미</a:t>
              </a:r>
              <a:endParaRPr lang="en-US" altLang="ko-KR" sz="1200" dirty="0"/>
            </a:p>
          </p:txBody>
        </p:sp>
        <p:sp>
          <p:nvSpPr>
            <p:cNvPr id="51" name="자유형: 도형 42">
              <a:extLst>
                <a:ext uri="{FF2B5EF4-FFF2-40B4-BE49-F238E27FC236}">
                  <a16:creationId xmlns:a16="http://schemas.microsoft.com/office/drawing/2014/main" id="{BED55B58-A9D0-46BC-9F0A-627C3415C800}"/>
                </a:ext>
              </a:extLst>
            </p:cNvPr>
            <p:cNvSpPr/>
            <p:nvPr/>
          </p:nvSpPr>
          <p:spPr>
            <a:xfrm>
              <a:off x="5058002" y="3008186"/>
              <a:ext cx="2078765" cy="2078765"/>
            </a:xfrm>
            <a:custGeom>
              <a:avLst/>
              <a:gdLst>
                <a:gd name="connsiteX0" fmla="*/ 3721894 w 3724275"/>
                <a:gd name="connsiteY0" fmla="*/ 1864519 h 3724275"/>
                <a:gd name="connsiteX1" fmla="*/ 1864519 w 3724275"/>
                <a:gd name="connsiteY1" fmla="*/ 3721894 h 3724275"/>
                <a:gd name="connsiteX2" fmla="*/ 7144 w 3724275"/>
                <a:gd name="connsiteY2" fmla="*/ 1864519 h 3724275"/>
                <a:gd name="connsiteX3" fmla="*/ 1864519 w 3724275"/>
                <a:gd name="connsiteY3" fmla="*/ 7144 h 3724275"/>
                <a:gd name="connsiteX4" fmla="*/ 3721894 w 3724275"/>
                <a:gd name="connsiteY4" fmla="*/ 1864519 h 372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275" h="3724275">
                  <a:moveTo>
                    <a:pt x="3721894" y="1864519"/>
                  </a:moveTo>
                  <a:cubicBezTo>
                    <a:pt x="3721894" y="2890319"/>
                    <a:pt x="2890319" y="3721894"/>
                    <a:pt x="1864519" y="3721894"/>
                  </a:cubicBezTo>
                  <a:cubicBezTo>
                    <a:pt x="838719" y="3721894"/>
                    <a:pt x="7144" y="2890319"/>
                    <a:pt x="7144" y="1864519"/>
                  </a:cubicBezTo>
                  <a:cubicBezTo>
                    <a:pt x="7144" y="838719"/>
                    <a:pt x="838719" y="7144"/>
                    <a:pt x="1864519" y="7144"/>
                  </a:cubicBezTo>
                  <a:cubicBezTo>
                    <a:pt x="2890319" y="7144"/>
                    <a:pt x="3721894" y="838719"/>
                    <a:pt x="3721894" y="1864519"/>
                  </a:cubicBezTo>
                  <a:close/>
                </a:path>
              </a:pathLst>
            </a:custGeom>
            <a:solidFill>
              <a:srgbClr val="5B69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주요 구성 요소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59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/>
          <p:cNvGrpSpPr/>
          <p:nvPr/>
        </p:nvGrpSpPr>
        <p:grpSpPr>
          <a:xfrm>
            <a:off x="9265932" y="1282716"/>
            <a:ext cx="1679945" cy="835314"/>
            <a:chOff x="8867553" y="1631440"/>
            <a:chExt cx="1679945" cy="835314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8867553" y="1631440"/>
              <a:ext cx="1679945" cy="8353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VM/Container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9172853" y="2062716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9065435" y="1572109"/>
            <a:ext cx="1679945" cy="835314"/>
            <a:chOff x="8867553" y="1631440"/>
            <a:chExt cx="1679945" cy="835314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8867553" y="1631440"/>
              <a:ext cx="1679945" cy="8353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VM/Container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9172853" y="2062716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3608233" y="1716327"/>
            <a:ext cx="1679945" cy="2126512"/>
            <a:chOff x="2732567" y="2466753"/>
            <a:chExt cx="1679945" cy="2126512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732567" y="2466753"/>
              <a:ext cx="1679945" cy="212651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Server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037867" y="2975683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3037866" y="3403197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mtClean="0">
                  <a:solidFill>
                    <a:schemeClr val="tx1"/>
                  </a:solidFill>
                </a:rPr>
                <a:t>회원가입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3037866" y="3842839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물품 구매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3168502" y="2062716"/>
            <a:ext cx="1679945" cy="2126512"/>
            <a:chOff x="2732567" y="2466753"/>
            <a:chExt cx="1679945" cy="2126512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2732567" y="2466753"/>
              <a:ext cx="1679945" cy="212651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Server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037867" y="2975683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037866" y="3403197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mtClean="0">
                  <a:solidFill>
                    <a:schemeClr val="tx1"/>
                  </a:solidFill>
                </a:rPr>
                <a:t>회원가입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037866" y="3842839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물품 구매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특성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(1/5)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200" y="715450"/>
            <a:ext cx="10922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확장성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자동 확장 기능으로 트래픽이 증가하여도 안정적 대응 가능 </a:t>
            </a:r>
            <a:endParaRPr lang="en-US" altLang="ko-KR" sz="12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30" y="3064283"/>
            <a:ext cx="955498" cy="9554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4104555"/>
            <a:ext cx="103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트래픽 증가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732567" y="2466753"/>
            <a:ext cx="1679945" cy="2126512"/>
            <a:chOff x="2732567" y="2466753"/>
            <a:chExt cx="1679945" cy="2126512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2732567" y="2466753"/>
              <a:ext cx="1679945" cy="212651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Server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037867" y="2975683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037866" y="3403197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mtClean="0">
                  <a:solidFill>
                    <a:schemeClr val="tx1"/>
                  </a:solidFill>
                </a:rPr>
                <a:t>회원가입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037866" y="3842839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물품 구매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직선 화살표 연결선 8"/>
          <p:cNvCxnSpPr>
            <a:stCxn id="2" idx="3"/>
            <a:endCxn id="4" idx="1"/>
          </p:cNvCxnSpPr>
          <p:nvPr/>
        </p:nvCxnSpPr>
        <p:spPr>
          <a:xfrm flipV="1">
            <a:off x="1704628" y="3530009"/>
            <a:ext cx="1027939" cy="1202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56858" y="4674390"/>
            <a:ext cx="103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/>
              <a:t>WAS Node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345017" y="5206018"/>
            <a:ext cx="2762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고사양의 서버 단위로 증설</a:t>
            </a:r>
            <a:endParaRPr lang="ko-KR" altLang="en-US" sz="2400" b="1" dirty="0"/>
          </a:p>
        </p:txBody>
      </p:sp>
      <p:sp>
        <p:nvSpPr>
          <p:cNvPr id="10" name="오른쪽 화살표 9"/>
          <p:cNvSpPr/>
          <p:nvPr/>
        </p:nvSpPr>
        <p:spPr>
          <a:xfrm>
            <a:off x="5593477" y="3060966"/>
            <a:ext cx="999460" cy="962132"/>
          </a:xfrm>
          <a:prstGeom prst="rightArrow">
            <a:avLst/>
          </a:prstGeom>
          <a:solidFill>
            <a:srgbClr val="2366EF"/>
          </a:solidFill>
          <a:ln>
            <a:solidFill>
              <a:srgbClr val="2366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236" y="3064283"/>
            <a:ext cx="955498" cy="9554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60306" y="4104554"/>
            <a:ext cx="1031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트래픽 증가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8878185" y="1890862"/>
            <a:ext cx="1679945" cy="835314"/>
            <a:chOff x="8867553" y="1631440"/>
            <a:chExt cx="1679945" cy="835314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8867553" y="1631440"/>
              <a:ext cx="1679945" cy="8353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VM/Container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9172853" y="2062716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8878185" y="3105168"/>
            <a:ext cx="1679945" cy="835314"/>
            <a:chOff x="8867553" y="1631440"/>
            <a:chExt cx="1679945" cy="835314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8867553" y="1631440"/>
              <a:ext cx="1679945" cy="8353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VM/Container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9172853" y="2062716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8867553" y="4370704"/>
            <a:ext cx="1679945" cy="835314"/>
            <a:chOff x="8867553" y="1631440"/>
            <a:chExt cx="1679945" cy="835314"/>
          </a:xfrm>
        </p:grpSpPr>
        <p:sp>
          <p:nvSpPr>
            <p:cNvPr id="46" name="모서리가 둥근 직사각형 45"/>
            <p:cNvSpPr/>
            <p:nvPr/>
          </p:nvSpPr>
          <p:spPr>
            <a:xfrm>
              <a:off x="8867553" y="1631440"/>
              <a:ext cx="1679945" cy="83531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VM/Container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9172853" y="2062716"/>
              <a:ext cx="1069343" cy="3090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이벤트 신청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9" name="직선 화살표 연결선 58"/>
          <p:cNvCxnSpPr>
            <a:stCxn id="35" idx="3"/>
            <a:endCxn id="38" idx="1"/>
          </p:cNvCxnSpPr>
          <p:nvPr/>
        </p:nvCxnSpPr>
        <p:spPr>
          <a:xfrm flipV="1">
            <a:off x="7853734" y="2308519"/>
            <a:ext cx="1024451" cy="12335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35" idx="3"/>
            <a:endCxn id="46" idx="1"/>
          </p:cNvCxnSpPr>
          <p:nvPr/>
        </p:nvCxnSpPr>
        <p:spPr>
          <a:xfrm>
            <a:off x="7853734" y="3542032"/>
            <a:ext cx="1013819" cy="124632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stCxn id="35" idx="3"/>
            <a:endCxn id="43" idx="1"/>
          </p:cNvCxnSpPr>
          <p:nvPr/>
        </p:nvCxnSpPr>
        <p:spPr>
          <a:xfrm flipV="1">
            <a:off x="7853734" y="3522825"/>
            <a:ext cx="1024451" cy="1920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113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특성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(2/5)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200" y="715450"/>
            <a:ext cx="10922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빠른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배포 및 업데이트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변경 된 서비스만 독립적으로 배포하여 빠른 배포 및 업데이트가 수월 함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2702373" y="4065118"/>
            <a:ext cx="1359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 smtClean="0"/>
              <a:t>모놀리틱</a:t>
            </a:r>
            <a:endParaRPr lang="ko-KR" altLang="en-US" sz="2400" b="1" dirty="0"/>
          </a:p>
        </p:txBody>
      </p:sp>
      <p:sp>
        <p:nvSpPr>
          <p:cNvPr id="3" name="정육면체 2"/>
          <p:cNvSpPr/>
          <p:nvPr/>
        </p:nvSpPr>
        <p:spPr>
          <a:xfrm>
            <a:off x="2595480" y="2450388"/>
            <a:ext cx="1573618" cy="1477925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원형 화살표 46"/>
          <p:cNvSpPr/>
          <p:nvPr/>
        </p:nvSpPr>
        <p:spPr>
          <a:xfrm>
            <a:off x="2843425" y="31570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오른쪽 화살표 47"/>
          <p:cNvSpPr/>
          <p:nvPr/>
        </p:nvSpPr>
        <p:spPr>
          <a:xfrm>
            <a:off x="4689709" y="2708284"/>
            <a:ext cx="999460" cy="962132"/>
          </a:xfrm>
          <a:prstGeom prst="rightArrow">
            <a:avLst/>
          </a:prstGeom>
          <a:solidFill>
            <a:srgbClr val="2366EF"/>
          </a:solidFill>
          <a:ln>
            <a:solidFill>
              <a:srgbClr val="2366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정육면체 48"/>
          <p:cNvSpPr/>
          <p:nvPr/>
        </p:nvSpPr>
        <p:spPr>
          <a:xfrm>
            <a:off x="6731545" y="2450387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정육면체 49"/>
          <p:cNvSpPr/>
          <p:nvPr/>
        </p:nvSpPr>
        <p:spPr>
          <a:xfrm>
            <a:off x="7240772" y="2450386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정육면체 50"/>
          <p:cNvSpPr/>
          <p:nvPr/>
        </p:nvSpPr>
        <p:spPr>
          <a:xfrm>
            <a:off x="7773921" y="2450386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정육면체 61"/>
          <p:cNvSpPr/>
          <p:nvPr/>
        </p:nvSpPr>
        <p:spPr>
          <a:xfrm>
            <a:off x="6731545" y="3045810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정육면체 62"/>
          <p:cNvSpPr/>
          <p:nvPr/>
        </p:nvSpPr>
        <p:spPr>
          <a:xfrm>
            <a:off x="7240772" y="3045809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정육면체 63"/>
          <p:cNvSpPr/>
          <p:nvPr/>
        </p:nvSpPr>
        <p:spPr>
          <a:xfrm>
            <a:off x="7773921" y="3045809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정육면체 64"/>
          <p:cNvSpPr/>
          <p:nvPr/>
        </p:nvSpPr>
        <p:spPr>
          <a:xfrm>
            <a:off x="6731545" y="3641232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정육면체 65"/>
          <p:cNvSpPr/>
          <p:nvPr/>
        </p:nvSpPr>
        <p:spPr>
          <a:xfrm>
            <a:off x="7240772" y="3641231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정육면체 66"/>
          <p:cNvSpPr/>
          <p:nvPr/>
        </p:nvSpPr>
        <p:spPr>
          <a:xfrm>
            <a:off x="7773921" y="3641231"/>
            <a:ext cx="509227" cy="515793"/>
          </a:xfrm>
          <a:prstGeom prst="cube">
            <a:avLst>
              <a:gd name="adj" fmla="val 3047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6815469" y="4237876"/>
            <a:ext cx="1359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MSA</a:t>
            </a:r>
            <a:endParaRPr lang="ko-KR" altLang="en-US" sz="2400" b="1" dirty="0"/>
          </a:p>
        </p:txBody>
      </p:sp>
      <p:sp>
        <p:nvSpPr>
          <p:cNvPr id="70" name="원형 화살표 69"/>
          <p:cNvSpPr/>
          <p:nvPr/>
        </p:nvSpPr>
        <p:spPr>
          <a:xfrm>
            <a:off x="7299855" y="3228002"/>
            <a:ext cx="263466" cy="26271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9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특성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(3/5)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200" y="715450"/>
            <a:ext cx="1092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높은 고 가용성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한 서비스에 장애가 발생 하여도 다른 서비스에 영향이 없음</a:t>
            </a: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장애 발생 시 자동 복구 기능 제공  </a:t>
            </a:r>
            <a:endParaRPr lang="en-US" altLang="ko-KR" sz="1200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1916700" y="5331785"/>
            <a:ext cx="2195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/>
              <a:t>전체 프로그램 교체</a:t>
            </a:r>
            <a:endParaRPr lang="ko-KR" altLang="en-US" sz="2400" b="1" dirty="0"/>
          </a:p>
        </p:txBody>
      </p:sp>
      <p:sp>
        <p:nvSpPr>
          <p:cNvPr id="48" name="오른쪽 화살표 47"/>
          <p:cNvSpPr/>
          <p:nvPr/>
        </p:nvSpPr>
        <p:spPr>
          <a:xfrm>
            <a:off x="4689709" y="2708284"/>
            <a:ext cx="999460" cy="962132"/>
          </a:xfrm>
          <a:prstGeom prst="rightArrow">
            <a:avLst/>
          </a:prstGeom>
          <a:solidFill>
            <a:srgbClr val="2366EF"/>
          </a:solidFill>
          <a:ln>
            <a:solidFill>
              <a:srgbClr val="2366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6918465" y="5295013"/>
            <a:ext cx="2121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smtClean="0"/>
              <a:t>C </a:t>
            </a:r>
            <a:r>
              <a:rPr lang="ko-KR" altLang="en-US" sz="1600" b="1" dirty="0" smtClean="0"/>
              <a:t>기능 부분만 교체</a:t>
            </a:r>
            <a:endParaRPr lang="ko-KR" altLang="en-US" sz="2400" b="1" dirty="0"/>
          </a:p>
        </p:txBody>
      </p:sp>
      <p:sp>
        <p:nvSpPr>
          <p:cNvPr id="2" name="직사각형 1"/>
          <p:cNvSpPr/>
          <p:nvPr/>
        </p:nvSpPr>
        <p:spPr>
          <a:xfrm>
            <a:off x="1711842" y="1956390"/>
            <a:ext cx="2604977" cy="33386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898276" y="2073349"/>
            <a:ext cx="2248422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 </a:t>
            </a:r>
            <a:r>
              <a:rPr lang="ko-KR" altLang="en-US" sz="1600" dirty="0" smtClean="0"/>
              <a:t>기능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898276" y="2850116"/>
            <a:ext cx="2248422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B </a:t>
            </a:r>
            <a:r>
              <a:rPr lang="ko-KR" altLang="en-US" sz="1600" dirty="0" smtClean="0"/>
              <a:t>기능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1898276" y="3626587"/>
            <a:ext cx="2248422" cy="73364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C </a:t>
            </a:r>
            <a:r>
              <a:rPr lang="ko-KR" altLang="en-US" sz="1600" dirty="0" smtClean="0"/>
              <a:t>기능</a:t>
            </a:r>
            <a:endParaRPr lang="en-US" altLang="ko-KR" dirty="0" smtClean="0"/>
          </a:p>
          <a:p>
            <a:pPr algn="ctr"/>
            <a:r>
              <a:rPr lang="en-US" altLang="ko-KR" sz="1600" dirty="0" smtClean="0"/>
              <a:t>(</a:t>
            </a:r>
            <a:r>
              <a:rPr lang="ko-KR" altLang="en-US" sz="1600" dirty="0" smtClean="0"/>
              <a:t>장애 발생</a:t>
            </a:r>
            <a:r>
              <a:rPr lang="en-US" altLang="ko-KR" sz="1600" dirty="0" smtClean="0"/>
              <a:t>)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898276" y="4397005"/>
            <a:ext cx="2248422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D </a:t>
            </a:r>
            <a:r>
              <a:rPr lang="ko-KR" altLang="en-US" sz="1600" dirty="0" smtClean="0"/>
              <a:t>기능</a:t>
            </a:r>
            <a:endParaRPr lang="ko-KR" altLang="en-US" dirty="0"/>
          </a:p>
        </p:txBody>
      </p:sp>
      <p:sp>
        <p:nvSpPr>
          <p:cNvPr id="5" name="폭발 1 4"/>
          <p:cNvSpPr/>
          <p:nvPr/>
        </p:nvSpPr>
        <p:spPr>
          <a:xfrm>
            <a:off x="1076729" y="1546447"/>
            <a:ext cx="1456660" cy="1137684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전체 장애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6854887" y="2073349"/>
            <a:ext cx="2248422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 </a:t>
            </a:r>
            <a:r>
              <a:rPr lang="ko-KR" altLang="en-US" sz="1600" dirty="0" smtClean="0"/>
              <a:t>기능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6854887" y="2850116"/>
            <a:ext cx="2248422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B </a:t>
            </a:r>
            <a:r>
              <a:rPr lang="ko-KR" altLang="en-US" sz="1600" dirty="0" smtClean="0"/>
              <a:t>기능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6854887" y="3626587"/>
            <a:ext cx="2248422" cy="73364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C </a:t>
            </a:r>
            <a:r>
              <a:rPr lang="ko-KR" altLang="en-US" sz="1600" dirty="0" smtClean="0"/>
              <a:t>기능</a:t>
            </a:r>
            <a:endParaRPr lang="en-US" altLang="ko-KR" dirty="0" smtClean="0"/>
          </a:p>
          <a:p>
            <a:pPr algn="ctr"/>
            <a:r>
              <a:rPr lang="en-US" altLang="ko-KR" sz="1600" dirty="0" smtClean="0"/>
              <a:t>(</a:t>
            </a:r>
            <a:r>
              <a:rPr lang="ko-KR" altLang="en-US" sz="1600" dirty="0" smtClean="0"/>
              <a:t>장애 발생</a:t>
            </a:r>
            <a:r>
              <a:rPr lang="en-US" altLang="ko-KR" sz="1600" dirty="0" smtClean="0"/>
              <a:t>)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6854887" y="4397005"/>
            <a:ext cx="2248422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D </a:t>
            </a:r>
            <a:r>
              <a:rPr lang="ko-KR" altLang="en-US" sz="1600" dirty="0" smtClean="0"/>
              <a:t>기능</a:t>
            </a:r>
            <a:endParaRPr lang="ko-KR" altLang="en-US" dirty="0"/>
          </a:p>
        </p:txBody>
      </p:sp>
      <p:sp>
        <p:nvSpPr>
          <p:cNvPr id="29" name="폭발 1 28"/>
          <p:cNvSpPr/>
          <p:nvPr/>
        </p:nvSpPr>
        <p:spPr>
          <a:xfrm>
            <a:off x="5880100" y="3377018"/>
            <a:ext cx="1456660" cy="1137684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C</a:t>
            </a:r>
            <a:r>
              <a:rPr lang="ko-KR" altLang="en-US" sz="1600" dirty="0" smtClean="0"/>
              <a:t>부분 장애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10142803" y="3625701"/>
            <a:ext cx="1490397" cy="733646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C </a:t>
            </a:r>
            <a:r>
              <a:rPr lang="ko-KR" altLang="en-US" sz="1600" dirty="0" smtClean="0"/>
              <a:t>기능</a:t>
            </a:r>
            <a:endParaRPr lang="en-US" altLang="ko-KR" dirty="0" smtClean="0"/>
          </a:p>
        </p:txBody>
      </p:sp>
      <p:sp>
        <p:nvSpPr>
          <p:cNvPr id="32" name="오른쪽 화살표 31"/>
          <p:cNvSpPr/>
          <p:nvPr/>
        </p:nvSpPr>
        <p:spPr>
          <a:xfrm>
            <a:off x="9251108" y="3812709"/>
            <a:ext cx="712382" cy="35962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079932" y="4189294"/>
            <a:ext cx="1031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/>
              <a:t>자동 복구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97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특성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(4/5)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200" y="715450"/>
            <a:ext cx="1092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운영 자동화 및 관리 용이성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와 같은 오케스트레이션 도구를 활용하여 자동 배포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관리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복구 기능</a:t>
            </a: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모니터링 도구</a:t>
            </a:r>
            <a:r>
              <a:rPr lang="en-US" altLang="ko-KR" sz="1200" dirty="0" smtClean="0"/>
              <a:t>(</a:t>
            </a:r>
            <a:r>
              <a:rPr lang="en-US" altLang="ko-KR" sz="1200" dirty="0" err="1" smtClean="0"/>
              <a:t>Grafana</a:t>
            </a:r>
            <a:r>
              <a:rPr lang="en-US" altLang="ko-KR" sz="1200" dirty="0" smtClean="0"/>
              <a:t>, Prometheus)</a:t>
            </a:r>
            <a:r>
              <a:rPr lang="ko-KR" altLang="en-US" sz="1200" dirty="0" smtClean="0"/>
              <a:t>로 실시간 상태 확인 가능</a:t>
            </a:r>
            <a:endParaRPr lang="en-US" altLang="ko-KR" sz="1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584919"/>
            <a:ext cx="8007498" cy="46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특성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(5/5)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200" y="715450"/>
            <a:ext cx="10922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멀티 </a:t>
            </a:r>
            <a:r>
              <a:rPr lang="ko-KR" altLang="en-US" sz="1400" b="1" dirty="0" err="1" smtClean="0"/>
              <a:t>클라우드</a:t>
            </a:r>
            <a:r>
              <a:rPr lang="ko-KR" altLang="en-US" sz="1400" b="1" dirty="0" smtClean="0"/>
              <a:t> 및 </a:t>
            </a:r>
            <a:r>
              <a:rPr lang="ko-KR" altLang="en-US" sz="1400" b="1" dirty="0" err="1" smtClean="0"/>
              <a:t>하이브리드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클라우드</a:t>
            </a:r>
            <a:r>
              <a:rPr lang="ko-KR" altLang="en-US" sz="1400" b="1" dirty="0" smtClean="0"/>
              <a:t> 지원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특정 벤더에 종속되지 않고 자유롭게 전환 가능</a:t>
            </a:r>
            <a:endParaRPr lang="en-US" altLang="ko-KR" sz="1200" dirty="0" smtClean="0"/>
          </a:p>
        </p:txBody>
      </p:sp>
      <p:sp>
        <p:nvSpPr>
          <p:cNvPr id="13" name="육각형 12"/>
          <p:cNvSpPr/>
          <p:nvPr/>
        </p:nvSpPr>
        <p:spPr>
          <a:xfrm>
            <a:off x="1750827" y="2869021"/>
            <a:ext cx="1935126" cy="1669312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A </a:t>
            </a:r>
            <a:r>
              <a:rPr lang="ko-KR" altLang="en-US" b="1" dirty="0" smtClean="0">
                <a:solidFill>
                  <a:schemeClr val="tx1"/>
                </a:solidFill>
              </a:rPr>
              <a:t>서비스</a:t>
            </a:r>
            <a:endParaRPr lang="ko-KR" altLang="en-US" b="1" dirty="0"/>
          </a:p>
        </p:txBody>
      </p:sp>
      <p:sp>
        <p:nvSpPr>
          <p:cNvPr id="18" name="직사각형 17"/>
          <p:cNvSpPr/>
          <p:nvPr/>
        </p:nvSpPr>
        <p:spPr>
          <a:xfrm>
            <a:off x="1040809" y="1669312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432595" y="1669312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577" y="1949571"/>
            <a:ext cx="1066800" cy="639191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74" y="1843899"/>
            <a:ext cx="1758328" cy="478430"/>
          </a:xfrm>
          <a:prstGeom prst="rect">
            <a:avLst/>
          </a:prstGeom>
        </p:spPr>
      </p:pic>
      <p:sp>
        <p:nvSpPr>
          <p:cNvPr id="36" name="육각형 35"/>
          <p:cNvSpPr/>
          <p:nvPr/>
        </p:nvSpPr>
        <p:spPr>
          <a:xfrm>
            <a:off x="5043967" y="2869021"/>
            <a:ext cx="1935126" cy="1669312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A </a:t>
            </a:r>
            <a:r>
              <a:rPr lang="ko-KR" altLang="en-US" b="1" dirty="0" smtClean="0">
                <a:solidFill>
                  <a:schemeClr val="tx1"/>
                </a:solidFill>
              </a:rPr>
              <a:t>서비스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8" t="34542" r="8536" b="31556"/>
          <a:stretch/>
        </p:blipFill>
        <p:spPr>
          <a:xfrm>
            <a:off x="7873036" y="1781322"/>
            <a:ext cx="2152401" cy="603583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7824381" y="1658680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육각형 38"/>
          <p:cNvSpPr/>
          <p:nvPr/>
        </p:nvSpPr>
        <p:spPr>
          <a:xfrm>
            <a:off x="8435753" y="2858389"/>
            <a:ext cx="1935126" cy="1669312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A </a:t>
            </a:r>
            <a:r>
              <a:rPr lang="ko-KR" altLang="en-US" b="1" dirty="0" smtClean="0">
                <a:solidFill>
                  <a:schemeClr val="tx1"/>
                </a:solidFill>
              </a:rPr>
              <a:t>서비스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6545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변화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32465" y="1637415"/>
            <a:ext cx="3127154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76253" y="3868876"/>
            <a:ext cx="2456120" cy="7031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기존 애플리케이션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" name="오각형 1"/>
          <p:cNvSpPr/>
          <p:nvPr/>
        </p:nvSpPr>
        <p:spPr>
          <a:xfrm>
            <a:off x="732465" y="1063257"/>
            <a:ext cx="3424865" cy="574158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1</a:t>
            </a:r>
            <a:r>
              <a:rPr lang="ko-KR" altLang="en-US" sz="1600" dirty="0" smtClean="0">
                <a:solidFill>
                  <a:schemeClr val="tx1"/>
                </a:solidFill>
              </a:rPr>
              <a:t>단계 </a:t>
            </a:r>
            <a:r>
              <a:rPr lang="ko-KR" altLang="en-US" sz="1600" b="1" dirty="0" err="1" smtClean="0">
                <a:solidFill>
                  <a:schemeClr val="tx1"/>
                </a:solidFill>
              </a:rPr>
              <a:t>레거시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갈매기형 수장 3"/>
          <p:cNvSpPr/>
          <p:nvPr/>
        </p:nvSpPr>
        <p:spPr>
          <a:xfrm>
            <a:off x="3976576" y="1063256"/>
            <a:ext cx="3423600" cy="576000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  <a:r>
              <a:rPr lang="ko-KR" altLang="en-US" sz="1600" dirty="0" smtClean="0">
                <a:solidFill>
                  <a:schemeClr val="tx1"/>
                </a:solidFill>
              </a:rPr>
              <a:t>단계 </a:t>
            </a:r>
            <a:r>
              <a:rPr lang="ko-KR" altLang="en-US" sz="1600" b="1" dirty="0" err="1" smtClean="0">
                <a:solidFill>
                  <a:schemeClr val="tx1"/>
                </a:solidFill>
              </a:rPr>
              <a:t>클라우드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갈매기형 수장 19"/>
          <p:cNvSpPr/>
          <p:nvPr/>
        </p:nvSpPr>
        <p:spPr>
          <a:xfrm>
            <a:off x="7220687" y="1063256"/>
            <a:ext cx="4464494" cy="57600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3</a:t>
            </a:r>
            <a:r>
              <a:rPr lang="ko-KR" altLang="en-US" sz="1600" dirty="0" smtClean="0">
                <a:solidFill>
                  <a:schemeClr val="tx1"/>
                </a:solidFill>
              </a:rPr>
              <a:t>단계 </a:t>
            </a:r>
            <a:r>
              <a:rPr lang="ko-KR" altLang="en-US" sz="1600" b="1" dirty="0" err="1" smtClean="0">
                <a:solidFill>
                  <a:schemeClr val="tx1"/>
                </a:solidFill>
              </a:rPr>
              <a:t>클라우드</a:t>
            </a:r>
            <a:r>
              <a:rPr lang="ko-KR" altLang="en-US" sz="16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600" b="1" dirty="0" err="1" smtClean="0">
                <a:solidFill>
                  <a:schemeClr val="tx1"/>
                </a:solidFill>
              </a:rPr>
              <a:t>네이티브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076253" y="1871331"/>
            <a:ext cx="2456120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물리 서버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200" b="1" dirty="0" err="1" smtClean="0">
                <a:solidFill>
                  <a:schemeClr val="tx1"/>
                </a:solidFill>
              </a:rPr>
              <a:t>온프레미스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2091662" y="2708553"/>
            <a:ext cx="425302" cy="457200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976576" y="1637415"/>
            <a:ext cx="3127154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320364" y="1871331"/>
            <a:ext cx="2456120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IaaS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아래쪽 화살표 25"/>
          <p:cNvSpPr/>
          <p:nvPr/>
        </p:nvSpPr>
        <p:spPr>
          <a:xfrm>
            <a:off x="5335773" y="2708553"/>
            <a:ext cx="425302" cy="457200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220687" y="1637415"/>
            <a:ext cx="419868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7386084" y="1871331"/>
            <a:ext cx="1845339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PaaS +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컨테이너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0" name="아래쪽 화살표 29"/>
          <p:cNvSpPr/>
          <p:nvPr/>
        </p:nvSpPr>
        <p:spPr>
          <a:xfrm>
            <a:off x="9105607" y="2831514"/>
            <a:ext cx="425302" cy="457200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9396820" y="1871331"/>
            <a:ext cx="1845339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PaaS +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컨테이너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312093" y="3868876"/>
            <a:ext cx="2456120" cy="7031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chemeClr val="tx1"/>
                </a:solidFill>
              </a:rPr>
              <a:t>클라우드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 준비단계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애플리케이션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7400176" y="3868876"/>
            <a:ext cx="1831247" cy="7031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chemeClr val="tx1"/>
                </a:solidFill>
              </a:rPr>
              <a:t>클라우드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 smtClean="0">
                <a:solidFill>
                  <a:schemeClr val="tx1"/>
                </a:solidFill>
              </a:rPr>
              <a:t>친화단계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애플리케이션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9396820" y="3868876"/>
            <a:ext cx="1831247" cy="7031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chemeClr val="tx1"/>
                </a:solidFill>
              </a:rPr>
              <a:t>클라우드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 smtClean="0">
                <a:solidFill>
                  <a:schemeClr val="tx1"/>
                </a:solidFill>
              </a:rPr>
              <a:t>네이티브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애플리케이션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7394357" y="2368311"/>
            <a:ext cx="3847802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DevOps + CI/CD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365" y="3165753"/>
            <a:ext cx="2447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/>
              <a:t>OS, </a:t>
            </a:r>
            <a:r>
              <a:rPr lang="ko-KR" altLang="en-US" sz="1200" dirty="0" smtClean="0"/>
              <a:t>데이터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애플리케이션을 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그대로 옮김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094334" y="3270363"/>
            <a:ext cx="244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/>
              <a:t>클라우드</a:t>
            </a:r>
            <a:r>
              <a:rPr lang="ko-KR" altLang="en-US" sz="1200" dirty="0" smtClean="0"/>
              <a:t> 환경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아키텍처 제공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750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네이티브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vs </a:t>
            </a:r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레거시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444638"/>
              </p:ext>
            </p:extLst>
          </p:nvPr>
        </p:nvGraphicFramePr>
        <p:xfrm>
          <a:off x="636117" y="961515"/>
          <a:ext cx="10922000" cy="29444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24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800788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4800788">
                  <a:extLst>
                    <a:ext uri="{9D8B030D-6E8A-4147-A177-3AD203B41FA5}">
                      <a16:colId xmlns:a16="http://schemas.microsoft.com/office/drawing/2014/main" val="35048891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구  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레거시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</a:t>
                      </a:r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네이티브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방식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모놀리식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마이크로 서비스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환경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온프레미스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방식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수동 확장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추가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확장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(Auto Scaling)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 복구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수동 대응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복구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(Self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Healing)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648843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r>
                        <a:rPr 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의존성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종속성 높음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종속성 제거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126136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교체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하나의 모듈 변경 시 전체 재 배포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하나의 모듈 변경 시 변경 된 서비스만 재 배포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554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17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서비스 모델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181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클라우드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서비스 모델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15450"/>
            <a:ext cx="10878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err="1" smtClean="0"/>
              <a:t>클라우드</a:t>
            </a:r>
            <a:r>
              <a:rPr lang="ko-KR" altLang="en-US" sz="1400" b="1" dirty="0" smtClean="0"/>
              <a:t> 서비스는 </a:t>
            </a:r>
            <a:r>
              <a:rPr lang="en-US" altLang="ko-KR" sz="1400" b="1" dirty="0" smtClean="0"/>
              <a:t>IaaS, PaaS, SaaS</a:t>
            </a:r>
            <a:r>
              <a:rPr lang="ko-KR" altLang="en-US" sz="1400" b="1" dirty="0" smtClean="0"/>
              <a:t>가 일반적으로 제공되는 형태이며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컨테이너와 </a:t>
            </a:r>
            <a:r>
              <a:rPr lang="ko-KR" altLang="en-US" sz="1400" b="1" dirty="0" err="1" smtClean="0"/>
              <a:t>서버리스</a:t>
            </a:r>
            <a:r>
              <a:rPr lang="ko-KR" altLang="en-US" sz="1400" b="1" dirty="0" smtClean="0"/>
              <a:t> 등의 최신 기술이 발달하면서 </a:t>
            </a:r>
            <a:r>
              <a:rPr lang="en-US" altLang="ko-KR" sz="1400" b="1" dirty="0" err="1" smtClean="0"/>
              <a:t>CaaS</a:t>
            </a:r>
            <a:r>
              <a:rPr lang="ko-KR" altLang="en-US" sz="1400" b="1" dirty="0" smtClean="0"/>
              <a:t>와 </a:t>
            </a:r>
            <a:r>
              <a:rPr lang="en-US" altLang="ko-KR" sz="1400" b="1" dirty="0" err="1" smtClean="0"/>
              <a:t>FaaS</a:t>
            </a:r>
            <a:r>
              <a:rPr lang="ko-KR" altLang="en-US" sz="1400" b="1" dirty="0" smtClean="0"/>
              <a:t>등 다양한 </a:t>
            </a:r>
            <a:r>
              <a:rPr lang="ko-KR" altLang="en-US" sz="1400" b="1" dirty="0" err="1" smtClean="0"/>
              <a:t>클라우드</a:t>
            </a:r>
            <a:r>
              <a:rPr lang="ko-KR" altLang="en-US" sz="1400" b="1" dirty="0" smtClean="0"/>
              <a:t> 서비스 모델로 세분화 되었다</a:t>
            </a:r>
            <a:endParaRPr lang="en-US" altLang="ko-KR" sz="1200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355600" y="1786270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인프라부터 </a:t>
            </a:r>
            <a:r>
              <a:rPr lang="en-US" altLang="ko-KR" sz="1100" dirty="0" smtClean="0">
                <a:solidFill>
                  <a:schemeClr val="tx1"/>
                </a:solidFill>
              </a:rPr>
              <a:t>SW</a:t>
            </a:r>
            <a:r>
              <a:rPr lang="ko-KR" altLang="en-US" sz="1100" dirty="0" smtClean="0">
                <a:solidFill>
                  <a:schemeClr val="tx1"/>
                </a:solidFill>
              </a:rPr>
              <a:t>까지 전부 구축하고 개발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04902" y="1786269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인프라 요소를 서비스 형태로 제공하며</a:t>
            </a:r>
            <a:r>
              <a:rPr lang="en-US" altLang="ko-KR" sz="1100" dirty="0" smtClean="0">
                <a:solidFill>
                  <a:schemeClr val="tx1"/>
                </a:solidFill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</a:rPr>
              <a:t>원하는 사양의 서버를 </a:t>
            </a:r>
            <a:r>
              <a:rPr lang="en-US" altLang="ko-KR" sz="1100" dirty="0" smtClean="0">
                <a:solidFill>
                  <a:schemeClr val="tx1"/>
                </a:solidFill>
              </a:rPr>
              <a:t>VM</a:t>
            </a:r>
            <a:r>
              <a:rPr lang="ko-KR" altLang="en-US" sz="1100" dirty="0" smtClean="0">
                <a:solidFill>
                  <a:schemeClr val="tx1"/>
                </a:solidFill>
              </a:rPr>
              <a:t>으로 생성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254204" y="1786269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서비스로 제공되는 컨테이너를 활용해 애플리케이션 배포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203506" y="1786268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</a:rPr>
              <a:t>애플리케이션 개발에 집중할 수 있도록 인프라와 런타임 환경 제공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8152808" y="1786268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실행할 함수 코드에 집중 가능</a:t>
            </a:r>
            <a:r>
              <a:rPr lang="en-US" altLang="ko-KR" sz="1100" dirty="0" smtClean="0">
                <a:solidFill>
                  <a:schemeClr val="tx1"/>
                </a:solidFill>
              </a:rPr>
              <a:t/>
            </a:r>
            <a:br>
              <a:rPr lang="en-US" altLang="ko-KR" sz="1100" dirty="0" smtClean="0">
                <a:solidFill>
                  <a:schemeClr val="tx1"/>
                </a:solidFill>
              </a:rPr>
            </a:br>
            <a:r>
              <a:rPr lang="en-US" altLang="ko-KR" sz="1100" dirty="0" smtClean="0">
                <a:solidFill>
                  <a:schemeClr val="tx1"/>
                </a:solidFill>
              </a:rPr>
              <a:t>(</a:t>
            </a:r>
            <a:r>
              <a:rPr lang="ko-KR" altLang="en-US" sz="1100" dirty="0" smtClean="0">
                <a:solidFill>
                  <a:schemeClr val="tx1"/>
                </a:solidFill>
              </a:rPr>
              <a:t>서버 없이 함수 단위 확장</a:t>
            </a:r>
            <a:r>
              <a:rPr lang="en-US" altLang="ko-KR" sz="1100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10102112" y="1786267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제공되는 </a:t>
            </a:r>
            <a:r>
              <a:rPr lang="en-US" altLang="ko-KR" sz="1100" dirty="0" smtClean="0">
                <a:solidFill>
                  <a:schemeClr val="tx1"/>
                </a:solidFill>
              </a:rPr>
              <a:t>SW</a:t>
            </a:r>
            <a:r>
              <a:rPr lang="ko-KR" altLang="en-US" sz="1100" dirty="0" smtClean="0">
                <a:solidFill>
                  <a:schemeClr val="tx1"/>
                </a:solidFill>
              </a:rPr>
              <a:t>를 사용하는 형태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4249" y="1441821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 smtClean="0"/>
              <a:t>온프레미스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23551" y="1441820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IaaS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572853" y="1441820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/>
              <a:t>CaaS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22155" y="1441820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PaaS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471457" y="1441820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/>
              <a:t>FaaS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420759" y="1441820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SaaS</a:t>
            </a:r>
            <a:endParaRPr lang="ko-KR" altLang="en-US" dirty="0"/>
          </a:p>
        </p:txBody>
      </p:sp>
      <p:grpSp>
        <p:nvGrpSpPr>
          <p:cNvPr id="23" name="그룹 22"/>
          <p:cNvGrpSpPr/>
          <p:nvPr/>
        </p:nvGrpSpPr>
        <p:grpSpPr>
          <a:xfrm>
            <a:off x="467241" y="2642250"/>
            <a:ext cx="1511005" cy="2897316"/>
            <a:chOff x="467241" y="2642250"/>
            <a:chExt cx="1511005" cy="2897316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하드웨어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가상화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OS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>
                  <a:solidFill>
                    <a:schemeClr val="tx1"/>
                  </a:solidFill>
                </a:rPr>
                <a:t>미들웨어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런타임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애플리케이션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2416543" y="2652882"/>
            <a:ext cx="1511005" cy="2897316"/>
            <a:chOff x="467241" y="2642250"/>
            <a:chExt cx="1511005" cy="2897316"/>
          </a:xfrm>
        </p:grpSpPr>
        <p:sp>
          <p:nvSpPr>
            <p:cNvPr id="25" name="모서리가 둥근 직사각형 24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rgbClr val="9DC3E6"/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OS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>
                  <a:solidFill>
                    <a:schemeClr val="tx1"/>
                  </a:solidFill>
                </a:rPr>
                <a:t>미들웨어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런타임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애플리케이션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4364991" y="2642250"/>
            <a:ext cx="1511005" cy="2897316"/>
            <a:chOff x="467241" y="2642250"/>
            <a:chExt cx="1511005" cy="2897316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OS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solidFill>
              <a:srgbClr val="9DC3E6"/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컨테이너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런타임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애플리케이션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6315147" y="2652882"/>
            <a:ext cx="1511005" cy="2897316"/>
            <a:chOff x="467241" y="2642250"/>
            <a:chExt cx="1511005" cy="2897316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OS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컨테이너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런타임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애플리케이션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8264449" y="2652882"/>
            <a:ext cx="1511005" cy="2897316"/>
            <a:chOff x="467241" y="2642250"/>
            <a:chExt cx="1511005" cy="2897316"/>
          </a:xfrm>
        </p:grpSpPr>
        <p:sp>
          <p:nvSpPr>
            <p:cNvPr id="49" name="모서리가 둥근 직사각형 48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OS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컨테이너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런타임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애플리케이션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10213751" y="2652882"/>
            <a:ext cx="1511005" cy="2897316"/>
            <a:chOff x="467241" y="2642250"/>
            <a:chExt cx="1511005" cy="2897316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9" name="모서리가 둥근 직사각형 58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OS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>
                  <a:solidFill>
                    <a:schemeClr val="bg1"/>
                  </a:solidFill>
                </a:rPr>
                <a:t>미들웨어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런타임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애플리케이션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기능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55600" y="5911702"/>
            <a:ext cx="11480799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latin typeface="중고딕"/>
              </a:rPr>
              <a:t>* </a:t>
            </a:r>
            <a:r>
              <a:rPr lang="ko-KR" altLang="en-US" sz="1200" dirty="0" smtClean="0">
                <a:latin typeface="중고딕"/>
              </a:rPr>
              <a:t>범례 </a:t>
            </a:r>
            <a:r>
              <a:rPr lang="en-US" altLang="ko-KR" sz="1200" dirty="0" smtClean="0">
                <a:latin typeface="중고딕"/>
              </a:rPr>
              <a:t>:            </a:t>
            </a:r>
            <a:r>
              <a:rPr lang="ko-KR" altLang="en-US" sz="1200" dirty="0" err="1" smtClean="0">
                <a:latin typeface="중고딕"/>
              </a:rPr>
              <a:t>고객사</a:t>
            </a:r>
            <a:r>
              <a:rPr lang="ko-KR" altLang="en-US" sz="1200" dirty="0" smtClean="0">
                <a:latin typeface="중고딕"/>
              </a:rPr>
              <a:t> 관리           </a:t>
            </a:r>
            <a:r>
              <a:rPr lang="ko-KR" altLang="en-US" sz="1200" dirty="0" err="1" smtClean="0">
                <a:latin typeface="중고딕"/>
              </a:rPr>
              <a:t>고객사</a:t>
            </a:r>
            <a:r>
              <a:rPr lang="en-US" altLang="ko-KR" sz="1200" dirty="0" smtClean="0">
                <a:latin typeface="중고딕"/>
              </a:rPr>
              <a:t>, </a:t>
            </a:r>
            <a:r>
              <a:rPr lang="ko-KR" altLang="en-US" sz="1200" dirty="0" smtClean="0">
                <a:latin typeface="중고딕"/>
              </a:rPr>
              <a:t>공급자 공통 관리</a:t>
            </a:r>
            <a:r>
              <a:rPr lang="en-US" altLang="ko-KR" sz="1200" dirty="0" smtClean="0">
                <a:latin typeface="중고딕"/>
              </a:rPr>
              <a:t>             </a:t>
            </a:r>
            <a:r>
              <a:rPr lang="ko-KR" altLang="en-US" sz="1200" dirty="0" smtClean="0">
                <a:latin typeface="중고딕"/>
              </a:rPr>
              <a:t>공급자 제공</a:t>
            </a:r>
            <a:r>
              <a:rPr lang="en-US" altLang="ko-KR" sz="1200" dirty="0" smtClean="0">
                <a:latin typeface="중고딕"/>
              </a:rPr>
              <a:t>            </a:t>
            </a:r>
            <a:endParaRPr lang="ko-KR" altLang="en-US" dirty="0">
              <a:latin typeface="중고딕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10503456" y="5966802"/>
            <a:ext cx="326657" cy="16561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8141848" y="5966802"/>
            <a:ext cx="326657" cy="1656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6733359" y="5966802"/>
            <a:ext cx="326657" cy="16561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92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온프레미스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15450"/>
            <a:ext cx="10867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서버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네트워크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스토리지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소프트웨어 등을 기업이 자체적으로 구축하고 운영하는 방식</a:t>
            </a:r>
            <a:endParaRPr lang="en-US" altLang="ko-KR" sz="1200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711200" y="1616149"/>
            <a:ext cx="1734288" cy="397657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인프라부터 </a:t>
            </a:r>
            <a:r>
              <a:rPr lang="en-US" altLang="ko-KR" sz="1100" dirty="0" smtClean="0">
                <a:solidFill>
                  <a:schemeClr val="tx1"/>
                </a:solidFill>
              </a:rPr>
              <a:t>SW</a:t>
            </a:r>
            <a:r>
              <a:rPr lang="ko-KR" altLang="en-US" sz="1100" dirty="0" smtClean="0">
                <a:solidFill>
                  <a:schemeClr val="tx1"/>
                </a:solidFill>
              </a:rPr>
              <a:t>까지 전부 구축하고 개발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9849" y="1271700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 smtClean="0"/>
              <a:t>온프레미스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822841" y="2472129"/>
            <a:ext cx="1511005" cy="2897316"/>
            <a:chOff x="467241" y="2642250"/>
            <a:chExt cx="1511005" cy="2897316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하드웨어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가상화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OS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noFill/>
            <a:ln w="28575">
              <a:solidFill>
                <a:srgbClr val="2366E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err="1" smtClean="0">
                  <a:solidFill>
                    <a:srgbClr val="2366EF"/>
                  </a:solidFill>
                </a:rPr>
                <a:t>미들웨어</a:t>
              </a:r>
              <a:endParaRPr lang="ko-KR" altLang="en-US" b="1" dirty="0">
                <a:solidFill>
                  <a:srgbClr val="2366EF"/>
                </a:solidFill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런타임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rgbClr val="FF0000"/>
                  </a:solidFill>
                </a:rPr>
                <a:t>애플리케이션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07" r="39139" b="22169"/>
          <a:stretch/>
        </p:blipFill>
        <p:spPr>
          <a:xfrm>
            <a:off x="5301633" y="3113688"/>
            <a:ext cx="2066027" cy="1041990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5065712" y="2990867"/>
            <a:ext cx="4816549" cy="1836304"/>
          </a:xfrm>
          <a:prstGeom prst="rect">
            <a:avLst/>
          </a:prstGeom>
          <a:noFill/>
          <a:ln w="28575">
            <a:solidFill>
              <a:srgbClr val="2366E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0" t="14711" r="9729" b="22274"/>
          <a:stretch/>
        </p:blipFill>
        <p:spPr>
          <a:xfrm>
            <a:off x="7473986" y="3223091"/>
            <a:ext cx="2187308" cy="841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62776" y="4184609"/>
            <a:ext cx="1743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Apache  Tomcat Nginx  </a:t>
            </a:r>
            <a:r>
              <a:rPr lang="en-US" altLang="ko-KR" sz="1400" dirty="0" err="1" smtClean="0"/>
              <a:t>Wildfly</a:t>
            </a:r>
            <a:endParaRPr lang="ko-KR" alt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7695770" y="4184609"/>
            <a:ext cx="174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JEUS  </a:t>
            </a:r>
            <a:r>
              <a:rPr lang="en-US" altLang="ko-KR" sz="1400" dirty="0" err="1" smtClean="0"/>
              <a:t>WebtoB</a:t>
            </a:r>
            <a:endParaRPr lang="ko-KR" altLang="en-US" sz="1400" dirty="0"/>
          </a:p>
        </p:txBody>
      </p:sp>
      <p:grpSp>
        <p:nvGrpSpPr>
          <p:cNvPr id="58" name="그룹 57"/>
          <p:cNvGrpSpPr/>
          <p:nvPr/>
        </p:nvGrpSpPr>
        <p:grpSpPr>
          <a:xfrm>
            <a:off x="5065712" y="1281755"/>
            <a:ext cx="4816549" cy="1573716"/>
            <a:chOff x="5065712" y="1579477"/>
            <a:chExt cx="4816549" cy="1573716"/>
          </a:xfrm>
        </p:grpSpPr>
        <p:sp>
          <p:nvSpPr>
            <p:cNvPr id="41" name="직사각형 40"/>
            <p:cNvSpPr/>
            <p:nvPr/>
          </p:nvSpPr>
          <p:spPr>
            <a:xfrm>
              <a:off x="5065712" y="1579477"/>
              <a:ext cx="4816549" cy="15737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7544" y="1736539"/>
              <a:ext cx="1367313" cy="1161769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770" y="1736539"/>
              <a:ext cx="1386416" cy="1162800"/>
            </a:xfrm>
            <a:prstGeom prst="rect">
              <a:avLst/>
            </a:prstGeom>
          </p:spPr>
        </p:pic>
      </p:grpSp>
      <p:cxnSp>
        <p:nvCxnSpPr>
          <p:cNvPr id="53" name="직선 화살표 연결선 52"/>
          <p:cNvCxnSpPr>
            <a:stCxn id="12" idx="3"/>
            <a:endCxn id="34" idx="1"/>
          </p:cNvCxnSpPr>
          <p:nvPr/>
        </p:nvCxnSpPr>
        <p:spPr>
          <a:xfrm flipV="1">
            <a:off x="2333845" y="3909019"/>
            <a:ext cx="2731867" cy="11768"/>
          </a:xfrm>
          <a:prstGeom prst="straightConnector1">
            <a:avLst/>
          </a:prstGeom>
          <a:ln w="28575"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14" idx="3"/>
            <a:endCxn id="41" idx="1"/>
          </p:cNvCxnSpPr>
          <p:nvPr/>
        </p:nvCxnSpPr>
        <p:spPr>
          <a:xfrm flipV="1">
            <a:off x="2333845" y="2068613"/>
            <a:ext cx="2731867" cy="99981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01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IaaS(Infra as a Service)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15450"/>
            <a:ext cx="10878288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가상화된 </a:t>
            </a:r>
            <a:r>
              <a:rPr lang="en-US" altLang="ko-KR" sz="1400" b="1" dirty="0" smtClean="0"/>
              <a:t>IT </a:t>
            </a:r>
            <a:r>
              <a:rPr lang="ko-KR" altLang="en-US" sz="1400" b="1" dirty="0" smtClean="0"/>
              <a:t>인프라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서버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네트워크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스토리지 등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를 통해 제공하는 </a:t>
            </a:r>
            <a:r>
              <a:rPr lang="ko-KR" altLang="en-US" sz="1400" b="1" dirty="0" err="1" smtClean="0"/>
              <a:t>클라우드</a:t>
            </a:r>
            <a:r>
              <a:rPr lang="ko-KR" altLang="en-US" sz="1400" b="1" dirty="0" smtClean="0"/>
              <a:t> 서비스 모델</a:t>
            </a:r>
            <a:endParaRPr lang="en-US" altLang="ko-KR" sz="1400" b="1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물리적인 하드웨어를 직접 구매하거나 관리할 필요 없이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필요할 때만 빌려서 사용</a:t>
            </a:r>
            <a:endParaRPr lang="en-US" altLang="ko-KR" sz="1400" b="1" dirty="0" smtClean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711200" y="1629377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인프라 요소를 서비스 형태로 제공하며</a:t>
            </a:r>
            <a:r>
              <a:rPr lang="en-US" altLang="ko-KR" sz="1100" dirty="0" smtClean="0">
                <a:solidFill>
                  <a:schemeClr val="tx1"/>
                </a:solidFill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</a:rPr>
              <a:t>원하는 사양의 서버를 </a:t>
            </a:r>
            <a:r>
              <a:rPr lang="en-US" altLang="ko-KR" sz="1100" dirty="0" smtClean="0">
                <a:solidFill>
                  <a:schemeClr val="tx1"/>
                </a:solidFill>
              </a:rPr>
              <a:t>VM</a:t>
            </a:r>
            <a:r>
              <a:rPr lang="ko-KR" altLang="en-US" sz="1100" dirty="0" smtClean="0">
                <a:solidFill>
                  <a:schemeClr val="tx1"/>
                </a:solidFill>
              </a:rPr>
              <a:t>으로 생성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9849" y="1284928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IaaS</a:t>
            </a:r>
            <a:endParaRPr lang="ko-KR" altLang="en-US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822842" y="5053064"/>
            <a:ext cx="1511004" cy="3402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하드웨어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822842" y="4626885"/>
            <a:ext cx="1511004" cy="3402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bg1"/>
                </a:solidFill>
              </a:rPr>
              <a:t>가상화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822842" y="4200706"/>
            <a:ext cx="1511004" cy="340242"/>
          </a:xfrm>
          <a:prstGeom prst="roundRect">
            <a:avLst/>
          </a:prstGeom>
          <a:solidFill>
            <a:srgbClr val="9DC3E6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OS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22841" y="3774527"/>
            <a:ext cx="1511004" cy="340242"/>
          </a:xfrm>
          <a:prstGeom prst="roundRect">
            <a:avLst/>
          </a:prstGeom>
          <a:noFill/>
          <a:ln w="28575">
            <a:solidFill>
              <a:srgbClr val="2366E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미들웨어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822841" y="3348348"/>
            <a:ext cx="1511004" cy="34024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런타임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822841" y="2922169"/>
            <a:ext cx="1511004" cy="34024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애플리케이션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822841" y="2495990"/>
            <a:ext cx="1511004" cy="34024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기능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11201" y="4151441"/>
            <a:ext cx="1734288" cy="1321155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07" r="39139" b="22169"/>
          <a:stretch/>
        </p:blipFill>
        <p:spPr>
          <a:xfrm>
            <a:off x="5301633" y="3113688"/>
            <a:ext cx="2066027" cy="1041990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5065712" y="2990867"/>
            <a:ext cx="4816549" cy="1836304"/>
          </a:xfrm>
          <a:prstGeom prst="rect">
            <a:avLst/>
          </a:prstGeom>
          <a:noFill/>
          <a:ln w="28575">
            <a:solidFill>
              <a:srgbClr val="2366E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0" t="14711" r="9729" b="22274"/>
          <a:stretch/>
        </p:blipFill>
        <p:spPr>
          <a:xfrm>
            <a:off x="7473986" y="3223091"/>
            <a:ext cx="2187308" cy="841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62776" y="4184609"/>
            <a:ext cx="1743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Apache  Tomcat Nginx  </a:t>
            </a:r>
            <a:r>
              <a:rPr lang="en-US" altLang="ko-KR" sz="1400" dirty="0" err="1" smtClean="0"/>
              <a:t>Wildfly</a:t>
            </a:r>
            <a:endParaRPr lang="ko-KR" alt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7695770" y="4184609"/>
            <a:ext cx="174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JEUS  </a:t>
            </a:r>
            <a:r>
              <a:rPr lang="en-US" altLang="ko-KR" sz="1400" dirty="0" err="1" smtClean="0"/>
              <a:t>WebtoB</a:t>
            </a:r>
            <a:endParaRPr lang="ko-KR" altLang="en-US" sz="1400" dirty="0"/>
          </a:p>
        </p:txBody>
      </p:sp>
      <p:grpSp>
        <p:nvGrpSpPr>
          <p:cNvPr id="31" name="그룹 30"/>
          <p:cNvGrpSpPr/>
          <p:nvPr/>
        </p:nvGrpSpPr>
        <p:grpSpPr>
          <a:xfrm>
            <a:off x="5065712" y="1281755"/>
            <a:ext cx="4816549" cy="1573716"/>
            <a:chOff x="5065712" y="1579477"/>
            <a:chExt cx="4816549" cy="1573716"/>
          </a:xfrm>
        </p:grpSpPr>
        <p:sp>
          <p:nvSpPr>
            <p:cNvPr id="32" name="직사각형 31"/>
            <p:cNvSpPr/>
            <p:nvPr/>
          </p:nvSpPr>
          <p:spPr>
            <a:xfrm>
              <a:off x="5065712" y="1579477"/>
              <a:ext cx="4816549" cy="15737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7544" y="1736539"/>
              <a:ext cx="1367313" cy="1161769"/>
            </a:xfrm>
            <a:prstGeom prst="rect">
              <a:avLst/>
            </a:prstGeom>
          </p:spPr>
        </p:pic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770" y="1736539"/>
              <a:ext cx="1386416" cy="1162800"/>
            </a:xfrm>
            <a:prstGeom prst="rect">
              <a:avLst/>
            </a:prstGeom>
          </p:spPr>
        </p:pic>
      </p:grpSp>
      <p:cxnSp>
        <p:nvCxnSpPr>
          <p:cNvPr id="35" name="직선 화살표 연결선 34"/>
          <p:cNvCxnSpPr>
            <a:stCxn id="22" idx="3"/>
            <a:endCxn id="27" idx="1"/>
          </p:cNvCxnSpPr>
          <p:nvPr/>
        </p:nvCxnSpPr>
        <p:spPr>
          <a:xfrm flipV="1">
            <a:off x="2333845" y="3909019"/>
            <a:ext cx="2731867" cy="35629"/>
          </a:xfrm>
          <a:prstGeom prst="straightConnector1">
            <a:avLst/>
          </a:prstGeom>
          <a:ln w="28575"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4" idx="3"/>
            <a:endCxn id="32" idx="1"/>
          </p:cNvCxnSpPr>
          <p:nvPr/>
        </p:nvCxnSpPr>
        <p:spPr>
          <a:xfrm flipV="1">
            <a:off x="2333845" y="2068613"/>
            <a:ext cx="2731867" cy="1023677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065711" y="4962567"/>
            <a:ext cx="4816549" cy="1214949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AWS EC2, Azure Virtual Machine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Google Compute Engine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Oracle Cloud Infrastructure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1" name="꺾인 연결선 40"/>
          <p:cNvCxnSpPr>
            <a:stCxn id="2" idx="3"/>
            <a:endCxn id="39" idx="1"/>
          </p:cNvCxnSpPr>
          <p:nvPr/>
        </p:nvCxnSpPr>
        <p:spPr>
          <a:xfrm>
            <a:off x="2445489" y="4812019"/>
            <a:ext cx="2620222" cy="758023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24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CaaS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(Container as a Service)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10888921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컨테이너 기반 애플리케이션을 배포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관리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확장할 수 있도록 지원하는 </a:t>
            </a:r>
            <a:r>
              <a:rPr lang="ko-KR" altLang="en-US" sz="1400" b="1" dirty="0" err="1" smtClean="0"/>
              <a:t>클라우드</a:t>
            </a:r>
            <a:r>
              <a:rPr lang="ko-KR" altLang="en-US" sz="1400" b="1" dirty="0" smtClean="0"/>
              <a:t> 서비스 모델</a:t>
            </a:r>
            <a:endParaRPr lang="en-US" altLang="ko-KR" sz="1400" b="1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IaaS</a:t>
            </a:r>
            <a:r>
              <a:rPr lang="ko-KR" altLang="en-US" sz="1400" b="1" dirty="0" smtClean="0"/>
              <a:t>를 기반으로 컨테이너 오케스트레이션</a:t>
            </a:r>
            <a:r>
              <a:rPr lang="en-US" altLang="ko-KR" sz="1400" b="1" dirty="0" smtClean="0"/>
              <a:t>(Kubernetes)</a:t>
            </a:r>
            <a:r>
              <a:rPr lang="ko-KR" altLang="en-US" sz="1400" b="1" dirty="0" smtClean="0"/>
              <a:t>을 자동화하여 제공하는 형태</a:t>
            </a:r>
            <a:endParaRPr lang="en-US" altLang="ko-KR" sz="1200" b="1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712052" y="1626204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</a:rPr>
              <a:t>서비스로 제공되는 컨테이너를 활용해 애플리케이션 배포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0701" y="1281755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/>
              <a:t>CaaS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822839" y="2482185"/>
            <a:ext cx="1511005" cy="2897316"/>
            <a:chOff x="467241" y="2642250"/>
            <a:chExt cx="1511005" cy="2897316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OS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solidFill>
              <a:srgbClr val="9DC3E6"/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컨테이너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런타임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애플리케이션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07" r="39139" b="22169"/>
          <a:stretch/>
        </p:blipFill>
        <p:spPr>
          <a:xfrm>
            <a:off x="5301633" y="3113688"/>
            <a:ext cx="2066027" cy="1041990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5065712" y="2990867"/>
            <a:ext cx="4816549" cy="1836304"/>
          </a:xfrm>
          <a:prstGeom prst="rect">
            <a:avLst/>
          </a:prstGeom>
          <a:noFill/>
          <a:ln w="28575">
            <a:solidFill>
              <a:srgbClr val="2366E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0" t="14711" r="9729" b="22274"/>
          <a:stretch/>
        </p:blipFill>
        <p:spPr>
          <a:xfrm>
            <a:off x="7473986" y="3223091"/>
            <a:ext cx="2187308" cy="841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62776" y="4184609"/>
            <a:ext cx="1743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Apache  Tomcat Nginx  </a:t>
            </a:r>
            <a:r>
              <a:rPr lang="en-US" altLang="ko-KR" sz="1400" dirty="0" err="1" smtClean="0"/>
              <a:t>Wildfly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7695770" y="4184609"/>
            <a:ext cx="174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JEUS  </a:t>
            </a:r>
            <a:r>
              <a:rPr lang="en-US" altLang="ko-KR" sz="1400" dirty="0" err="1" smtClean="0"/>
              <a:t>WebtoB</a:t>
            </a:r>
            <a:endParaRPr lang="ko-KR" altLang="en-US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5065712" y="1281755"/>
            <a:ext cx="4816549" cy="1573716"/>
            <a:chOff x="5065712" y="1579477"/>
            <a:chExt cx="4816549" cy="1573716"/>
          </a:xfrm>
        </p:grpSpPr>
        <p:sp>
          <p:nvSpPr>
            <p:cNvPr id="22" name="직사각형 21"/>
            <p:cNvSpPr/>
            <p:nvPr/>
          </p:nvSpPr>
          <p:spPr>
            <a:xfrm>
              <a:off x="5065712" y="1579477"/>
              <a:ext cx="4816549" cy="15737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7544" y="1736539"/>
              <a:ext cx="1367313" cy="1161769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770" y="1736539"/>
              <a:ext cx="1386416" cy="1162800"/>
            </a:xfrm>
            <a:prstGeom prst="rect">
              <a:avLst/>
            </a:prstGeom>
          </p:spPr>
        </p:pic>
      </p:grpSp>
      <p:cxnSp>
        <p:nvCxnSpPr>
          <p:cNvPr id="25" name="직선 화살표 연결선 24"/>
          <p:cNvCxnSpPr>
            <a:stCxn id="12" idx="3"/>
            <a:endCxn id="17" idx="1"/>
          </p:cNvCxnSpPr>
          <p:nvPr/>
        </p:nvCxnSpPr>
        <p:spPr>
          <a:xfrm flipV="1">
            <a:off x="2333843" y="3909019"/>
            <a:ext cx="2731869" cy="21824"/>
          </a:xfrm>
          <a:prstGeom prst="straightConnector1">
            <a:avLst/>
          </a:prstGeom>
          <a:ln w="28575"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4" idx="3"/>
            <a:endCxn id="22" idx="1"/>
          </p:cNvCxnSpPr>
          <p:nvPr/>
        </p:nvCxnSpPr>
        <p:spPr>
          <a:xfrm flipV="1">
            <a:off x="2333843" y="2068613"/>
            <a:ext cx="2731869" cy="1009872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10548" y="3674785"/>
            <a:ext cx="1734288" cy="1769081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065711" y="4962567"/>
            <a:ext cx="4816549" cy="1214949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AWS ECS, Azure Kubernetes Service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Google Kubernetes Engine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Red Hat </a:t>
            </a:r>
            <a:r>
              <a:rPr lang="en-US" altLang="ko-KR" dirty="0" err="1" smtClean="0">
                <a:solidFill>
                  <a:schemeClr val="tx1"/>
                </a:solidFill>
              </a:rPr>
              <a:t>OpenShift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9" name="꺾인 연결선 28"/>
          <p:cNvCxnSpPr>
            <a:stCxn id="27" idx="3"/>
            <a:endCxn id="28" idx="1"/>
          </p:cNvCxnSpPr>
          <p:nvPr/>
        </p:nvCxnSpPr>
        <p:spPr>
          <a:xfrm>
            <a:off x="2444836" y="4559326"/>
            <a:ext cx="2620875" cy="1010716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913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PaaS(Platform as a Service)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10931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애플리케이션 개발에 필요한 플랫폼을 </a:t>
            </a:r>
            <a:r>
              <a:rPr lang="ko-KR" altLang="en-US" sz="1400" b="1" dirty="0" err="1" smtClean="0"/>
              <a:t>클라우드에서</a:t>
            </a:r>
            <a:r>
              <a:rPr lang="ko-KR" altLang="en-US" sz="1400" b="1" dirty="0" smtClean="0"/>
              <a:t> 제공하는 서비스 모델</a:t>
            </a:r>
            <a:endParaRPr lang="en-US" altLang="ko-KR" sz="1200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711200" y="1629285"/>
            <a:ext cx="1734288" cy="397657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</a:rPr>
              <a:t>애플리케이션 개발에 집중할 수 있도록 인프라와 런타임 환경 제공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9849" y="1284837"/>
            <a:ext cx="1096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PaaS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822841" y="2495899"/>
            <a:ext cx="1511005" cy="2897316"/>
            <a:chOff x="467241" y="2642250"/>
            <a:chExt cx="1511005" cy="2897316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467242" y="5199324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하드웨어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467242" y="4773145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가상화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467242" y="4346966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bg1"/>
                  </a:solidFill>
                </a:rPr>
                <a:t>OS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467241" y="3920787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컨테이너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467241" y="3494608"/>
              <a:ext cx="1511004" cy="34024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bg1"/>
                  </a:solidFill>
                </a:rPr>
                <a:t>런타임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67241" y="3068429"/>
              <a:ext cx="1511004" cy="34024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애플리케이션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467241" y="2642250"/>
              <a:ext cx="1511004" cy="340242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기능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07" r="39139" b="22169"/>
          <a:stretch/>
        </p:blipFill>
        <p:spPr>
          <a:xfrm>
            <a:off x="5301633" y="3113688"/>
            <a:ext cx="2066027" cy="104199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5065712" y="2990867"/>
            <a:ext cx="4816549" cy="1836304"/>
          </a:xfrm>
          <a:prstGeom prst="rect">
            <a:avLst/>
          </a:prstGeom>
          <a:noFill/>
          <a:ln w="28575">
            <a:solidFill>
              <a:srgbClr val="2366E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0" t="14711" r="9729" b="22274"/>
          <a:stretch/>
        </p:blipFill>
        <p:spPr>
          <a:xfrm>
            <a:off x="7473986" y="3223091"/>
            <a:ext cx="2187308" cy="841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62776" y="4184609"/>
            <a:ext cx="1743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Apache  Tomcat Nginx  </a:t>
            </a:r>
            <a:r>
              <a:rPr lang="en-US" altLang="ko-KR" sz="1400" dirty="0" err="1" smtClean="0"/>
              <a:t>Wildfly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7695770" y="4184609"/>
            <a:ext cx="174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JEUS  </a:t>
            </a:r>
            <a:r>
              <a:rPr lang="en-US" altLang="ko-KR" sz="1400" dirty="0" err="1" smtClean="0"/>
              <a:t>WebtoB</a:t>
            </a:r>
            <a:endParaRPr lang="ko-KR" altLang="en-US" sz="14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5065712" y="1281755"/>
            <a:ext cx="4816549" cy="1573716"/>
            <a:chOff x="5065712" y="1579477"/>
            <a:chExt cx="4816549" cy="1573716"/>
          </a:xfrm>
        </p:grpSpPr>
        <p:sp>
          <p:nvSpPr>
            <p:cNvPr id="23" name="직사각형 22"/>
            <p:cNvSpPr/>
            <p:nvPr/>
          </p:nvSpPr>
          <p:spPr>
            <a:xfrm>
              <a:off x="5065712" y="1579477"/>
              <a:ext cx="4816549" cy="15737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7544" y="1736539"/>
              <a:ext cx="1367313" cy="1161769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770" y="1736539"/>
              <a:ext cx="1386416" cy="1162800"/>
            </a:xfrm>
            <a:prstGeom prst="rect">
              <a:avLst/>
            </a:prstGeom>
          </p:spPr>
        </p:pic>
      </p:grpSp>
      <p:cxnSp>
        <p:nvCxnSpPr>
          <p:cNvPr id="26" name="직선 화살표 연결선 25"/>
          <p:cNvCxnSpPr>
            <a:endCxn id="18" idx="1"/>
          </p:cNvCxnSpPr>
          <p:nvPr/>
        </p:nvCxnSpPr>
        <p:spPr>
          <a:xfrm flipV="1">
            <a:off x="2333843" y="3909019"/>
            <a:ext cx="2731869" cy="21824"/>
          </a:xfrm>
          <a:prstGeom prst="straightConnector1">
            <a:avLst/>
          </a:prstGeom>
          <a:ln w="28575"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endCxn id="23" idx="1"/>
          </p:cNvCxnSpPr>
          <p:nvPr/>
        </p:nvCxnSpPr>
        <p:spPr>
          <a:xfrm flipV="1">
            <a:off x="2333843" y="2068613"/>
            <a:ext cx="2731869" cy="1009872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065711" y="4962567"/>
            <a:ext cx="4816549" cy="1214949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AWS Elastic Beanstalk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Red Hat </a:t>
            </a:r>
            <a:r>
              <a:rPr lang="en-US" altLang="ko-KR" dirty="0" err="1" smtClean="0">
                <a:solidFill>
                  <a:schemeClr val="tx1"/>
                </a:solidFill>
              </a:rPr>
              <a:t>OpenShift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err="1" smtClean="0">
                <a:solidFill>
                  <a:schemeClr val="tx1"/>
                </a:solidFill>
              </a:rPr>
              <a:t>맨텍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ACCORDIAN</a:t>
            </a: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오케스트로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VIOLA PaaS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9" name="꺾인 연결선 28"/>
          <p:cNvCxnSpPr>
            <a:endCxn id="28" idx="1"/>
          </p:cNvCxnSpPr>
          <p:nvPr/>
        </p:nvCxnSpPr>
        <p:spPr>
          <a:xfrm>
            <a:off x="2444836" y="4559326"/>
            <a:ext cx="2620875" cy="1010716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710548" y="2872813"/>
            <a:ext cx="1734288" cy="2571054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4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5952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280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830" y="2299260"/>
            <a:ext cx="889808" cy="8542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</a:t>
            </a:r>
          </a:p>
          <a:p>
            <a:pPr marL="180000">
              <a:spcBef>
                <a:spcPts val="600"/>
              </a:spcBef>
            </a:pPr>
            <a:r>
              <a:rPr lang="ko-KR" altLang="en-US" sz="1200" b="1" dirty="0" smtClean="0">
                <a:solidFill>
                  <a:srgbClr val="FF0000"/>
                </a:solidFill>
              </a:rPr>
              <a:t>컨테이너화된 </a:t>
            </a:r>
            <a:r>
              <a:rPr lang="en-US" altLang="ko-KR" sz="1200" dirty="0" smtClean="0"/>
              <a:t>Application </a:t>
            </a:r>
            <a:r>
              <a:rPr lang="ko-KR" altLang="en-US" sz="1200" dirty="0" smtClean="0"/>
              <a:t>배포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확장 및 관리를 자동화하는 오픈 소스 시스템</a:t>
            </a:r>
            <a:endParaRPr lang="en-US" altLang="ko-KR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</a:t>
            </a:r>
            <a:r>
              <a:rPr lang="ko-KR" altLang="en-US" sz="1400" b="1" dirty="0" smtClean="0"/>
              <a:t>종류</a:t>
            </a:r>
            <a:endParaRPr lang="en-US" altLang="ko-KR" sz="1400" b="1" dirty="0" smtClean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D8C657D-17EC-47EB-A647-9CB0A7A47008}"/>
              </a:ext>
            </a:extLst>
          </p:cNvPr>
          <p:cNvGrpSpPr/>
          <p:nvPr/>
        </p:nvGrpSpPr>
        <p:grpSpPr>
          <a:xfrm>
            <a:off x="3020527" y="2548336"/>
            <a:ext cx="294475" cy="294475"/>
            <a:chOff x="746465" y="2902362"/>
            <a:chExt cx="390525" cy="390525"/>
          </a:xfrm>
          <a:solidFill>
            <a:schemeClr val="bg1"/>
          </a:solidFill>
        </p:grpSpPr>
        <p:sp>
          <p:nvSpPr>
            <p:cNvPr id="14" name="자유형: 도형 5">
              <a:extLst>
                <a:ext uri="{FF2B5EF4-FFF2-40B4-BE49-F238E27FC236}">
                  <a16:creationId xmlns:a16="http://schemas.microsoft.com/office/drawing/2014/main" id="{7053608B-AB80-4D37-9A2C-72ECE45B8E31}"/>
                </a:ext>
              </a:extLst>
            </p:cNvPr>
            <p:cNvSpPr/>
            <p:nvPr/>
          </p:nvSpPr>
          <p:spPr>
            <a:xfrm>
              <a:off x="746465" y="2902362"/>
              <a:ext cx="390525" cy="390525"/>
            </a:xfrm>
            <a:custGeom>
              <a:avLst/>
              <a:gdLst>
                <a:gd name="connsiteX0" fmla="*/ 346520 w 390525"/>
                <a:gd name="connsiteY0" fmla="*/ 7144 h 390525"/>
                <a:gd name="connsiteX1" fmla="*/ 48101 w 390525"/>
                <a:gd name="connsiteY1" fmla="*/ 7144 h 390525"/>
                <a:gd name="connsiteX2" fmla="*/ 7144 w 390525"/>
                <a:gd name="connsiteY2" fmla="*/ 48101 h 390525"/>
                <a:gd name="connsiteX3" fmla="*/ 7144 w 390525"/>
                <a:gd name="connsiteY3" fmla="*/ 346519 h 390525"/>
                <a:gd name="connsiteX4" fmla="*/ 48101 w 390525"/>
                <a:gd name="connsiteY4" fmla="*/ 387477 h 390525"/>
                <a:gd name="connsiteX5" fmla="*/ 346520 w 390525"/>
                <a:gd name="connsiteY5" fmla="*/ 387477 h 390525"/>
                <a:gd name="connsiteX6" fmla="*/ 387477 w 390525"/>
                <a:gd name="connsiteY6" fmla="*/ 346519 h 390525"/>
                <a:gd name="connsiteX7" fmla="*/ 387477 w 390525"/>
                <a:gd name="connsiteY7" fmla="*/ 48101 h 390525"/>
                <a:gd name="connsiteX8" fmla="*/ 346520 w 390525"/>
                <a:gd name="connsiteY8" fmla="*/ 7144 h 390525"/>
                <a:gd name="connsiteX9" fmla="*/ 308420 w 390525"/>
                <a:gd name="connsiteY9" fmla="*/ 70009 h 390525"/>
                <a:gd name="connsiteX10" fmla="*/ 316325 w 390525"/>
                <a:gd name="connsiteY10" fmla="*/ 66770 h 390525"/>
                <a:gd name="connsiteX11" fmla="*/ 324231 w 390525"/>
                <a:gd name="connsiteY11" fmla="*/ 70009 h 390525"/>
                <a:gd name="connsiteX12" fmla="*/ 327470 w 390525"/>
                <a:gd name="connsiteY12" fmla="*/ 77914 h 390525"/>
                <a:gd name="connsiteX13" fmla="*/ 324231 w 390525"/>
                <a:gd name="connsiteY13" fmla="*/ 85820 h 390525"/>
                <a:gd name="connsiteX14" fmla="*/ 316325 w 390525"/>
                <a:gd name="connsiteY14" fmla="*/ 89059 h 390525"/>
                <a:gd name="connsiteX15" fmla="*/ 308420 w 390525"/>
                <a:gd name="connsiteY15" fmla="*/ 85820 h 390525"/>
                <a:gd name="connsiteX16" fmla="*/ 305181 w 390525"/>
                <a:gd name="connsiteY16" fmla="*/ 77914 h 390525"/>
                <a:gd name="connsiteX17" fmla="*/ 308420 w 390525"/>
                <a:gd name="connsiteY17" fmla="*/ 70009 h 390525"/>
                <a:gd name="connsiteX18" fmla="*/ 248793 w 390525"/>
                <a:gd name="connsiteY18" fmla="*/ 70009 h 390525"/>
                <a:gd name="connsiteX19" fmla="*/ 256699 w 390525"/>
                <a:gd name="connsiteY19" fmla="*/ 66770 h 390525"/>
                <a:gd name="connsiteX20" fmla="*/ 264605 w 390525"/>
                <a:gd name="connsiteY20" fmla="*/ 70009 h 390525"/>
                <a:gd name="connsiteX21" fmla="*/ 267843 w 390525"/>
                <a:gd name="connsiteY21" fmla="*/ 77914 h 390525"/>
                <a:gd name="connsiteX22" fmla="*/ 264605 w 390525"/>
                <a:gd name="connsiteY22" fmla="*/ 85820 h 390525"/>
                <a:gd name="connsiteX23" fmla="*/ 256699 w 390525"/>
                <a:gd name="connsiteY23" fmla="*/ 89059 h 390525"/>
                <a:gd name="connsiteX24" fmla="*/ 248793 w 390525"/>
                <a:gd name="connsiteY24" fmla="*/ 85820 h 390525"/>
                <a:gd name="connsiteX25" fmla="*/ 245555 w 390525"/>
                <a:gd name="connsiteY25" fmla="*/ 77914 h 390525"/>
                <a:gd name="connsiteX26" fmla="*/ 248793 w 390525"/>
                <a:gd name="connsiteY26" fmla="*/ 70009 h 390525"/>
                <a:gd name="connsiteX27" fmla="*/ 189071 w 390525"/>
                <a:gd name="connsiteY27" fmla="*/ 70009 h 390525"/>
                <a:gd name="connsiteX28" fmla="*/ 196977 w 390525"/>
                <a:gd name="connsiteY28" fmla="*/ 66770 h 390525"/>
                <a:gd name="connsiteX29" fmla="*/ 204883 w 390525"/>
                <a:gd name="connsiteY29" fmla="*/ 70009 h 390525"/>
                <a:gd name="connsiteX30" fmla="*/ 208121 w 390525"/>
                <a:gd name="connsiteY30" fmla="*/ 77914 h 390525"/>
                <a:gd name="connsiteX31" fmla="*/ 204883 w 390525"/>
                <a:gd name="connsiteY31" fmla="*/ 85820 h 390525"/>
                <a:gd name="connsiteX32" fmla="*/ 196977 w 390525"/>
                <a:gd name="connsiteY32" fmla="*/ 89059 h 390525"/>
                <a:gd name="connsiteX33" fmla="*/ 189071 w 390525"/>
                <a:gd name="connsiteY33" fmla="*/ 85820 h 390525"/>
                <a:gd name="connsiteX34" fmla="*/ 185833 w 390525"/>
                <a:gd name="connsiteY34" fmla="*/ 77914 h 390525"/>
                <a:gd name="connsiteX35" fmla="*/ 189071 w 390525"/>
                <a:gd name="connsiteY35" fmla="*/ 70009 h 390525"/>
                <a:gd name="connsiteX36" fmla="*/ 77629 w 390525"/>
                <a:gd name="connsiteY36" fmla="*/ 66580 h 390525"/>
                <a:gd name="connsiteX37" fmla="*/ 137065 w 390525"/>
                <a:gd name="connsiteY37" fmla="*/ 66580 h 390525"/>
                <a:gd name="connsiteX38" fmla="*/ 148400 w 390525"/>
                <a:gd name="connsiteY38" fmla="*/ 76486 h 390525"/>
                <a:gd name="connsiteX39" fmla="*/ 137351 w 390525"/>
                <a:gd name="connsiteY39" fmla="*/ 88868 h 390525"/>
                <a:gd name="connsiteX40" fmla="*/ 77915 w 390525"/>
                <a:gd name="connsiteY40" fmla="*/ 88868 h 390525"/>
                <a:gd name="connsiteX41" fmla="*/ 66580 w 390525"/>
                <a:gd name="connsiteY41" fmla="*/ 78962 h 390525"/>
                <a:gd name="connsiteX42" fmla="*/ 77629 w 390525"/>
                <a:gd name="connsiteY42" fmla="*/ 66580 h 390525"/>
                <a:gd name="connsiteX43" fmla="*/ 346520 w 390525"/>
                <a:gd name="connsiteY43" fmla="*/ 365188 h 390525"/>
                <a:gd name="connsiteX44" fmla="*/ 48101 w 390525"/>
                <a:gd name="connsiteY44" fmla="*/ 365188 h 390525"/>
                <a:gd name="connsiteX45" fmla="*/ 29432 w 390525"/>
                <a:gd name="connsiteY45" fmla="*/ 346519 h 390525"/>
                <a:gd name="connsiteX46" fmla="*/ 29432 w 390525"/>
                <a:gd name="connsiteY46" fmla="*/ 148971 h 390525"/>
                <a:gd name="connsiteX47" fmla="*/ 365284 w 390525"/>
                <a:gd name="connsiteY47" fmla="*/ 148971 h 390525"/>
                <a:gd name="connsiteX48" fmla="*/ 365284 w 390525"/>
                <a:gd name="connsiteY48" fmla="*/ 346519 h 390525"/>
                <a:gd name="connsiteX49" fmla="*/ 346520 w 390525"/>
                <a:gd name="connsiteY49" fmla="*/ 36518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90525" h="390525">
                  <a:moveTo>
                    <a:pt x="346520" y="7144"/>
                  </a:moveTo>
                  <a:lnTo>
                    <a:pt x="48101" y="7144"/>
                  </a:lnTo>
                  <a:cubicBezTo>
                    <a:pt x="25432" y="7144"/>
                    <a:pt x="7144" y="25527"/>
                    <a:pt x="7144" y="48101"/>
                  </a:cubicBezTo>
                  <a:lnTo>
                    <a:pt x="7144" y="346519"/>
                  </a:lnTo>
                  <a:cubicBezTo>
                    <a:pt x="7144" y="369189"/>
                    <a:pt x="25527" y="387477"/>
                    <a:pt x="48101" y="387477"/>
                  </a:cubicBezTo>
                  <a:lnTo>
                    <a:pt x="346520" y="387477"/>
                  </a:lnTo>
                  <a:cubicBezTo>
                    <a:pt x="369189" y="387477"/>
                    <a:pt x="387477" y="369094"/>
                    <a:pt x="387477" y="346519"/>
                  </a:cubicBezTo>
                  <a:lnTo>
                    <a:pt x="387477" y="48101"/>
                  </a:lnTo>
                  <a:cubicBezTo>
                    <a:pt x="387572" y="25432"/>
                    <a:pt x="369189" y="7144"/>
                    <a:pt x="346520" y="7144"/>
                  </a:cubicBezTo>
                  <a:close/>
                  <a:moveTo>
                    <a:pt x="308420" y="70009"/>
                  </a:moveTo>
                  <a:cubicBezTo>
                    <a:pt x="310515" y="67913"/>
                    <a:pt x="313373" y="66770"/>
                    <a:pt x="316325" y="66770"/>
                  </a:cubicBezTo>
                  <a:cubicBezTo>
                    <a:pt x="319278" y="66770"/>
                    <a:pt x="322136" y="67913"/>
                    <a:pt x="324231" y="70009"/>
                  </a:cubicBezTo>
                  <a:cubicBezTo>
                    <a:pt x="326326" y="72104"/>
                    <a:pt x="327470" y="74962"/>
                    <a:pt x="327470" y="77914"/>
                  </a:cubicBezTo>
                  <a:cubicBezTo>
                    <a:pt x="327470" y="80867"/>
                    <a:pt x="326326" y="83725"/>
                    <a:pt x="324231" y="85820"/>
                  </a:cubicBezTo>
                  <a:cubicBezTo>
                    <a:pt x="322136" y="87916"/>
                    <a:pt x="319278" y="89059"/>
                    <a:pt x="316325" y="89059"/>
                  </a:cubicBezTo>
                  <a:cubicBezTo>
                    <a:pt x="313373" y="89059"/>
                    <a:pt x="310515" y="87916"/>
                    <a:pt x="308420" y="85820"/>
                  </a:cubicBezTo>
                  <a:cubicBezTo>
                    <a:pt x="306324" y="83725"/>
                    <a:pt x="305181" y="80867"/>
                    <a:pt x="305181" y="77914"/>
                  </a:cubicBezTo>
                  <a:cubicBezTo>
                    <a:pt x="305181" y="74962"/>
                    <a:pt x="306419" y="72104"/>
                    <a:pt x="308420" y="70009"/>
                  </a:cubicBezTo>
                  <a:close/>
                  <a:moveTo>
                    <a:pt x="248793" y="70009"/>
                  </a:moveTo>
                  <a:cubicBezTo>
                    <a:pt x="250889" y="67913"/>
                    <a:pt x="253746" y="66770"/>
                    <a:pt x="256699" y="66770"/>
                  </a:cubicBezTo>
                  <a:cubicBezTo>
                    <a:pt x="259652" y="66770"/>
                    <a:pt x="262509" y="67913"/>
                    <a:pt x="264605" y="70009"/>
                  </a:cubicBezTo>
                  <a:cubicBezTo>
                    <a:pt x="266700" y="72104"/>
                    <a:pt x="267843" y="74962"/>
                    <a:pt x="267843" y="77914"/>
                  </a:cubicBezTo>
                  <a:cubicBezTo>
                    <a:pt x="267843" y="80867"/>
                    <a:pt x="266700" y="83725"/>
                    <a:pt x="264605" y="85820"/>
                  </a:cubicBezTo>
                  <a:cubicBezTo>
                    <a:pt x="262509" y="87916"/>
                    <a:pt x="259652" y="89059"/>
                    <a:pt x="256699" y="89059"/>
                  </a:cubicBezTo>
                  <a:cubicBezTo>
                    <a:pt x="253746" y="89059"/>
                    <a:pt x="250889" y="87916"/>
                    <a:pt x="248793" y="85820"/>
                  </a:cubicBezTo>
                  <a:cubicBezTo>
                    <a:pt x="246698" y="83725"/>
                    <a:pt x="245555" y="80867"/>
                    <a:pt x="245555" y="77914"/>
                  </a:cubicBezTo>
                  <a:cubicBezTo>
                    <a:pt x="245555" y="74962"/>
                    <a:pt x="246698" y="72104"/>
                    <a:pt x="248793" y="70009"/>
                  </a:cubicBezTo>
                  <a:close/>
                  <a:moveTo>
                    <a:pt x="189071" y="70009"/>
                  </a:moveTo>
                  <a:cubicBezTo>
                    <a:pt x="191167" y="67913"/>
                    <a:pt x="194024" y="66770"/>
                    <a:pt x="196977" y="66770"/>
                  </a:cubicBezTo>
                  <a:cubicBezTo>
                    <a:pt x="199930" y="66770"/>
                    <a:pt x="202787" y="67913"/>
                    <a:pt x="204883" y="70009"/>
                  </a:cubicBezTo>
                  <a:cubicBezTo>
                    <a:pt x="206978" y="72104"/>
                    <a:pt x="208121" y="74962"/>
                    <a:pt x="208121" y="77914"/>
                  </a:cubicBezTo>
                  <a:cubicBezTo>
                    <a:pt x="208121" y="80867"/>
                    <a:pt x="206978" y="83725"/>
                    <a:pt x="204883" y="85820"/>
                  </a:cubicBezTo>
                  <a:cubicBezTo>
                    <a:pt x="202787" y="87916"/>
                    <a:pt x="199930" y="89059"/>
                    <a:pt x="196977" y="89059"/>
                  </a:cubicBezTo>
                  <a:cubicBezTo>
                    <a:pt x="194024" y="89059"/>
                    <a:pt x="191167" y="87916"/>
                    <a:pt x="189071" y="85820"/>
                  </a:cubicBezTo>
                  <a:cubicBezTo>
                    <a:pt x="186976" y="83725"/>
                    <a:pt x="185833" y="80867"/>
                    <a:pt x="185833" y="77914"/>
                  </a:cubicBezTo>
                  <a:cubicBezTo>
                    <a:pt x="185833" y="74962"/>
                    <a:pt x="186976" y="72104"/>
                    <a:pt x="189071" y="70009"/>
                  </a:cubicBezTo>
                  <a:close/>
                  <a:moveTo>
                    <a:pt x="77629" y="66580"/>
                  </a:moveTo>
                  <a:lnTo>
                    <a:pt x="137065" y="66580"/>
                  </a:lnTo>
                  <a:cubicBezTo>
                    <a:pt x="142780" y="66580"/>
                    <a:pt x="147828" y="70771"/>
                    <a:pt x="148400" y="76486"/>
                  </a:cubicBezTo>
                  <a:cubicBezTo>
                    <a:pt x="149162" y="83248"/>
                    <a:pt x="143923" y="88868"/>
                    <a:pt x="137351" y="88868"/>
                  </a:cubicBezTo>
                  <a:lnTo>
                    <a:pt x="77915" y="88868"/>
                  </a:lnTo>
                  <a:cubicBezTo>
                    <a:pt x="72200" y="88868"/>
                    <a:pt x="67151" y="84677"/>
                    <a:pt x="66580" y="78962"/>
                  </a:cubicBezTo>
                  <a:cubicBezTo>
                    <a:pt x="65818" y="72199"/>
                    <a:pt x="71057" y="66580"/>
                    <a:pt x="77629" y="66580"/>
                  </a:cubicBezTo>
                  <a:close/>
                  <a:moveTo>
                    <a:pt x="346520" y="365188"/>
                  </a:moveTo>
                  <a:lnTo>
                    <a:pt x="48101" y="365188"/>
                  </a:lnTo>
                  <a:cubicBezTo>
                    <a:pt x="37814" y="365188"/>
                    <a:pt x="29432" y="356806"/>
                    <a:pt x="29432" y="346519"/>
                  </a:cubicBezTo>
                  <a:lnTo>
                    <a:pt x="29432" y="148971"/>
                  </a:lnTo>
                  <a:lnTo>
                    <a:pt x="365284" y="148971"/>
                  </a:lnTo>
                  <a:lnTo>
                    <a:pt x="365284" y="346519"/>
                  </a:lnTo>
                  <a:cubicBezTo>
                    <a:pt x="365284" y="356806"/>
                    <a:pt x="356902" y="365188"/>
                    <a:pt x="346520" y="365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5" name="자유형: 도형 6">
              <a:extLst>
                <a:ext uri="{FF2B5EF4-FFF2-40B4-BE49-F238E27FC236}">
                  <a16:creationId xmlns:a16="http://schemas.microsoft.com/office/drawing/2014/main" id="{741A90B8-A00F-44B2-829E-E014D217554D}"/>
                </a:ext>
              </a:extLst>
            </p:cNvPr>
            <p:cNvSpPr/>
            <p:nvPr/>
          </p:nvSpPr>
          <p:spPr>
            <a:xfrm>
              <a:off x="805827" y="3200971"/>
              <a:ext cx="266700" cy="28575"/>
            </a:xfrm>
            <a:custGeom>
              <a:avLst/>
              <a:gdLst>
                <a:gd name="connsiteX0" fmla="*/ 18267 w 266700"/>
                <a:gd name="connsiteY0" fmla="*/ 29432 h 28575"/>
                <a:gd name="connsiteX1" fmla="*/ 256677 w 266700"/>
                <a:gd name="connsiteY1" fmla="*/ 29432 h 28575"/>
                <a:gd name="connsiteX2" fmla="*/ 268012 w 266700"/>
                <a:gd name="connsiteY2" fmla="*/ 19526 h 28575"/>
                <a:gd name="connsiteX3" fmla="*/ 256963 w 266700"/>
                <a:gd name="connsiteY3" fmla="*/ 7144 h 28575"/>
                <a:gd name="connsiteX4" fmla="*/ 18552 w 266700"/>
                <a:gd name="connsiteY4" fmla="*/ 7144 h 28575"/>
                <a:gd name="connsiteX5" fmla="*/ 7218 w 266700"/>
                <a:gd name="connsiteY5" fmla="*/ 17050 h 28575"/>
                <a:gd name="connsiteX6" fmla="*/ 18267 w 2667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700" h="28575">
                  <a:moveTo>
                    <a:pt x="18267" y="29432"/>
                  </a:moveTo>
                  <a:lnTo>
                    <a:pt x="256677" y="29432"/>
                  </a:lnTo>
                  <a:cubicBezTo>
                    <a:pt x="262392" y="29432"/>
                    <a:pt x="267441" y="25241"/>
                    <a:pt x="268012" y="19526"/>
                  </a:cubicBezTo>
                  <a:cubicBezTo>
                    <a:pt x="268774" y="12763"/>
                    <a:pt x="263535" y="7144"/>
                    <a:pt x="256963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717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6" name="자유형: 도형 7">
              <a:extLst>
                <a:ext uri="{FF2B5EF4-FFF2-40B4-BE49-F238E27FC236}">
                  <a16:creationId xmlns:a16="http://schemas.microsoft.com/office/drawing/2014/main" id="{1B1203F4-F138-436C-808B-8A9FFAA217EE}"/>
                </a:ext>
              </a:extLst>
            </p:cNvPr>
            <p:cNvSpPr/>
            <p:nvPr/>
          </p:nvSpPr>
          <p:spPr>
            <a:xfrm>
              <a:off x="805806" y="3081432"/>
              <a:ext cx="95250" cy="95250"/>
            </a:xfrm>
            <a:custGeom>
              <a:avLst/>
              <a:gdLst>
                <a:gd name="connsiteX0" fmla="*/ 48101 w 95250"/>
                <a:gd name="connsiteY0" fmla="*/ 89059 h 95250"/>
                <a:gd name="connsiteX1" fmla="*/ 89059 w 95250"/>
                <a:gd name="connsiteY1" fmla="*/ 48101 h 95250"/>
                <a:gd name="connsiteX2" fmla="*/ 48101 w 95250"/>
                <a:gd name="connsiteY2" fmla="*/ 7144 h 95250"/>
                <a:gd name="connsiteX3" fmla="*/ 7144 w 95250"/>
                <a:gd name="connsiteY3" fmla="*/ 48101 h 95250"/>
                <a:gd name="connsiteX4" fmla="*/ 48101 w 95250"/>
                <a:gd name="connsiteY4" fmla="*/ 8905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89059"/>
                  </a:moveTo>
                  <a:cubicBezTo>
                    <a:pt x="70676" y="89059"/>
                    <a:pt x="89059" y="70675"/>
                    <a:pt x="89059" y="48101"/>
                  </a:cubicBezTo>
                  <a:cubicBezTo>
                    <a:pt x="89059" y="25527"/>
                    <a:pt x="70676" y="7144"/>
                    <a:pt x="48101" y="7144"/>
                  </a:cubicBezTo>
                  <a:cubicBezTo>
                    <a:pt x="25527" y="7144"/>
                    <a:pt x="7144" y="25527"/>
                    <a:pt x="7144" y="48101"/>
                  </a:cubicBezTo>
                  <a:cubicBezTo>
                    <a:pt x="7144" y="70675"/>
                    <a:pt x="25527" y="89059"/>
                    <a:pt x="48101" y="890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7" name="자유형: 도형 8">
              <a:extLst>
                <a:ext uri="{FF2B5EF4-FFF2-40B4-BE49-F238E27FC236}">
                  <a16:creationId xmlns:a16="http://schemas.microsoft.com/office/drawing/2014/main" id="{7B9D1526-43E6-4F04-BA0D-2E40984367B4}"/>
                </a:ext>
              </a:extLst>
            </p:cNvPr>
            <p:cNvSpPr/>
            <p:nvPr/>
          </p:nvSpPr>
          <p:spPr>
            <a:xfrm>
              <a:off x="925154" y="3081337"/>
              <a:ext cx="152400" cy="28575"/>
            </a:xfrm>
            <a:custGeom>
              <a:avLst/>
              <a:gdLst>
                <a:gd name="connsiteX0" fmla="*/ 18288 w 152400"/>
                <a:gd name="connsiteY0" fmla="*/ 29432 h 28575"/>
                <a:gd name="connsiteX1" fmla="*/ 137636 w 152400"/>
                <a:gd name="connsiteY1" fmla="*/ 29432 h 28575"/>
                <a:gd name="connsiteX2" fmla="*/ 148781 w 152400"/>
                <a:gd name="connsiteY2" fmla="*/ 18288 h 28575"/>
                <a:gd name="connsiteX3" fmla="*/ 137636 w 152400"/>
                <a:gd name="connsiteY3" fmla="*/ 7144 h 28575"/>
                <a:gd name="connsiteX4" fmla="*/ 18288 w 152400"/>
                <a:gd name="connsiteY4" fmla="*/ 7144 h 28575"/>
                <a:gd name="connsiteX5" fmla="*/ 7144 w 152400"/>
                <a:gd name="connsiteY5" fmla="*/ 18288 h 28575"/>
                <a:gd name="connsiteX6" fmla="*/ 18288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88" y="29432"/>
                  </a:moveTo>
                  <a:lnTo>
                    <a:pt x="137636" y="29432"/>
                  </a:lnTo>
                  <a:cubicBezTo>
                    <a:pt x="143828" y="29432"/>
                    <a:pt x="148781" y="24479"/>
                    <a:pt x="148781" y="18288"/>
                  </a:cubicBezTo>
                  <a:cubicBezTo>
                    <a:pt x="148781" y="12097"/>
                    <a:pt x="143828" y="7144"/>
                    <a:pt x="137636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cubicBezTo>
                    <a:pt x="7144" y="24479"/>
                    <a:pt x="12097" y="29432"/>
                    <a:pt x="18288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18" name="자유형: 도형 9">
              <a:extLst>
                <a:ext uri="{FF2B5EF4-FFF2-40B4-BE49-F238E27FC236}">
                  <a16:creationId xmlns:a16="http://schemas.microsoft.com/office/drawing/2014/main" id="{F1F68AA1-3142-4972-9F41-E576255266CC}"/>
                </a:ext>
              </a:extLst>
            </p:cNvPr>
            <p:cNvSpPr/>
            <p:nvPr/>
          </p:nvSpPr>
          <p:spPr>
            <a:xfrm>
              <a:off x="925176" y="3140773"/>
              <a:ext cx="152400" cy="28575"/>
            </a:xfrm>
            <a:custGeom>
              <a:avLst/>
              <a:gdLst>
                <a:gd name="connsiteX0" fmla="*/ 18267 w 152400"/>
                <a:gd name="connsiteY0" fmla="*/ 29432 h 28575"/>
                <a:gd name="connsiteX1" fmla="*/ 137329 w 152400"/>
                <a:gd name="connsiteY1" fmla="*/ 29432 h 28575"/>
                <a:gd name="connsiteX2" fmla="*/ 148664 w 152400"/>
                <a:gd name="connsiteY2" fmla="*/ 19526 h 28575"/>
                <a:gd name="connsiteX3" fmla="*/ 137615 w 152400"/>
                <a:gd name="connsiteY3" fmla="*/ 7144 h 28575"/>
                <a:gd name="connsiteX4" fmla="*/ 18552 w 152400"/>
                <a:gd name="connsiteY4" fmla="*/ 7144 h 28575"/>
                <a:gd name="connsiteX5" fmla="*/ 7218 w 152400"/>
                <a:gd name="connsiteY5" fmla="*/ 17050 h 28575"/>
                <a:gd name="connsiteX6" fmla="*/ 18267 w 152400"/>
                <a:gd name="connsiteY6" fmla="*/ 2943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28575">
                  <a:moveTo>
                    <a:pt x="18267" y="29432"/>
                  </a:moveTo>
                  <a:lnTo>
                    <a:pt x="137329" y="29432"/>
                  </a:lnTo>
                  <a:cubicBezTo>
                    <a:pt x="143044" y="29432"/>
                    <a:pt x="148092" y="25241"/>
                    <a:pt x="148664" y="19526"/>
                  </a:cubicBezTo>
                  <a:cubicBezTo>
                    <a:pt x="149426" y="12763"/>
                    <a:pt x="144187" y="7144"/>
                    <a:pt x="137615" y="7144"/>
                  </a:cubicBezTo>
                  <a:lnTo>
                    <a:pt x="18552" y="7144"/>
                  </a:lnTo>
                  <a:cubicBezTo>
                    <a:pt x="12837" y="7144"/>
                    <a:pt x="7789" y="11335"/>
                    <a:pt x="7218" y="17050"/>
                  </a:cubicBezTo>
                  <a:cubicBezTo>
                    <a:pt x="6456" y="23813"/>
                    <a:pt x="11694" y="29432"/>
                    <a:pt x="18267" y="294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3056DD-D5C9-496D-8530-A5AD2BD1BD01}"/>
              </a:ext>
            </a:extLst>
          </p:cNvPr>
          <p:cNvSpPr txBox="1"/>
          <p:nvPr/>
        </p:nvSpPr>
        <p:spPr>
          <a:xfrm>
            <a:off x="2157060" y="3920901"/>
            <a:ext cx="201756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AWS, GCP, Azure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Kubernetes</a:t>
            </a:r>
            <a:r>
              <a:rPr lang="ko-KR" altLang="en-US" dirty="0" smtClean="0"/>
              <a:t>를 관리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사용자는 </a:t>
            </a:r>
            <a:r>
              <a:rPr lang="en-US" altLang="ko-KR" dirty="0" smtClean="0"/>
              <a:t>Application</a:t>
            </a:r>
            <a:r>
              <a:rPr lang="ko-KR" altLang="en-US" dirty="0" smtClean="0"/>
              <a:t>만 올린다</a:t>
            </a:r>
            <a:endParaRPr lang="en-US" alt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3AA22C-BB89-44BF-BCE6-1BF735CC01B7}"/>
              </a:ext>
            </a:extLst>
          </p:cNvPr>
          <p:cNvSpPr/>
          <p:nvPr/>
        </p:nvSpPr>
        <p:spPr>
          <a:xfrm>
            <a:off x="2236385" y="3621191"/>
            <a:ext cx="183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관리형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Kubernetes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EA22A86-BFCF-468F-8D7F-3068D56E1949}"/>
              </a:ext>
            </a:extLst>
          </p:cNvPr>
          <p:cNvGrpSpPr/>
          <p:nvPr/>
        </p:nvGrpSpPr>
        <p:grpSpPr>
          <a:xfrm>
            <a:off x="5948764" y="2570672"/>
            <a:ext cx="294475" cy="294475"/>
            <a:chOff x="752656" y="1562597"/>
            <a:chExt cx="390525" cy="390525"/>
          </a:xfrm>
          <a:solidFill>
            <a:schemeClr val="bg1"/>
          </a:solidFill>
        </p:grpSpPr>
        <p:sp>
          <p:nvSpPr>
            <p:cNvPr id="23" name="자유형: 도형 26">
              <a:extLst>
                <a:ext uri="{FF2B5EF4-FFF2-40B4-BE49-F238E27FC236}">
                  <a16:creationId xmlns:a16="http://schemas.microsoft.com/office/drawing/2014/main" id="{30E2E536-4334-44E3-833A-4D5FDD7D06D8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4" name="자유형: 도형 27">
              <a:extLst>
                <a:ext uri="{FF2B5EF4-FFF2-40B4-BE49-F238E27FC236}">
                  <a16:creationId xmlns:a16="http://schemas.microsoft.com/office/drawing/2014/main" id="{73D109EF-7854-4BD0-AF9D-F4A203634219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5" name="자유형: 도형 28">
              <a:extLst>
                <a:ext uri="{FF2B5EF4-FFF2-40B4-BE49-F238E27FC236}">
                  <a16:creationId xmlns:a16="http://schemas.microsoft.com/office/drawing/2014/main" id="{073DBA4D-06EE-4A5B-B76E-A72D508F33EF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6" name="자유형: 도형 29">
              <a:extLst>
                <a:ext uri="{FF2B5EF4-FFF2-40B4-BE49-F238E27FC236}">
                  <a16:creationId xmlns:a16="http://schemas.microsoft.com/office/drawing/2014/main" id="{6049A0D6-77E5-4CCA-B4E5-462E3FFB9CE5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27" name="자유형: 도형 30">
              <a:extLst>
                <a:ext uri="{FF2B5EF4-FFF2-40B4-BE49-F238E27FC236}">
                  <a16:creationId xmlns:a16="http://schemas.microsoft.com/office/drawing/2014/main" id="{46459674-8767-490A-BAE5-DBAB1D89AAD7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129600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8B3BFCC-2766-482F-ACEA-780E50AAFB9C}"/>
              </a:ext>
            </a:extLst>
          </p:cNvPr>
          <p:cNvSpPr txBox="1"/>
          <p:nvPr/>
        </p:nvSpPr>
        <p:spPr>
          <a:xfrm>
            <a:off x="5103430" y="3920901"/>
            <a:ext cx="19989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Rancher, OPENSHIFT </a:t>
            </a:r>
            <a:r>
              <a:rPr lang="ko-KR" altLang="en-US" dirty="0" smtClean="0"/>
              <a:t>같이 </a:t>
            </a:r>
            <a:r>
              <a:rPr lang="en-US" altLang="ko-KR" dirty="0" smtClean="0"/>
              <a:t>Kubernetes</a:t>
            </a:r>
            <a:r>
              <a:rPr lang="ko-KR" altLang="en-US" dirty="0" smtClean="0"/>
              <a:t>를 패키지화 하여 설치를 진행</a:t>
            </a:r>
            <a:endParaRPr lang="en-US" altLang="ko-KR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15CFD6-4255-41A2-A4C3-258626A8E7BE}"/>
              </a:ext>
            </a:extLst>
          </p:cNvPr>
          <p:cNvSpPr/>
          <p:nvPr/>
        </p:nvSpPr>
        <p:spPr>
          <a:xfrm>
            <a:off x="5177119" y="3621191"/>
            <a:ext cx="183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설치형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Kubernetes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96546A-1663-4488-A691-85CBCFC36C61}"/>
              </a:ext>
            </a:extLst>
          </p:cNvPr>
          <p:cNvSpPr txBox="1"/>
          <p:nvPr/>
        </p:nvSpPr>
        <p:spPr>
          <a:xfrm>
            <a:off x="8180761" y="3920901"/>
            <a:ext cx="17119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0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ko-KR" altLang="en-US" dirty="0" smtClean="0"/>
              <a:t>사용자가 원하는 형태로 </a:t>
            </a:r>
            <a:r>
              <a:rPr lang="en-US" altLang="ko-KR" dirty="0" smtClean="0"/>
              <a:t>Kubernetes</a:t>
            </a:r>
            <a:r>
              <a:rPr lang="ko-KR" altLang="en-US" dirty="0" smtClean="0"/>
              <a:t>를 설치하고 환경을 직접 구성</a:t>
            </a:r>
            <a:endParaRPr lang="en-US" altLang="ko-KR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DBAA9C4-4B48-4EC6-A4D5-5631FFD11CF6}"/>
              </a:ext>
            </a:extLst>
          </p:cNvPr>
          <p:cNvSpPr/>
          <p:nvPr/>
        </p:nvSpPr>
        <p:spPr>
          <a:xfrm>
            <a:off x="8117853" y="3621191"/>
            <a:ext cx="18377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구성형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Kubernetes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B806354-09EA-4A21-9254-B794C8ED6683}"/>
              </a:ext>
            </a:extLst>
          </p:cNvPr>
          <p:cNvCxnSpPr/>
          <p:nvPr/>
        </p:nvCxnSpPr>
        <p:spPr>
          <a:xfrm>
            <a:off x="4618941" y="2171699"/>
            <a:ext cx="0" cy="11193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12EF142-AAA3-4929-9580-C28C2C5A7394}"/>
              </a:ext>
            </a:extLst>
          </p:cNvPr>
          <p:cNvCxnSpPr/>
          <p:nvPr/>
        </p:nvCxnSpPr>
        <p:spPr>
          <a:xfrm>
            <a:off x="7609791" y="2171699"/>
            <a:ext cx="0" cy="11193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910" y="2205755"/>
            <a:ext cx="1066800" cy="63919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06" y="2856985"/>
            <a:ext cx="1758328" cy="478430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257" y="1980111"/>
            <a:ext cx="1409278" cy="737318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884" y="1526663"/>
            <a:ext cx="889543" cy="95600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187" y="2604269"/>
            <a:ext cx="1263855" cy="85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6320970" y="2688958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       </a:t>
            </a:r>
            <a:r>
              <a:rPr lang="ko-KR" altLang="en-US" sz="1600" b="1" dirty="0" smtClean="0"/>
              <a:t>자동화된 복구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         </a:t>
            </a:r>
            <a:r>
              <a:rPr lang="ko-KR" altLang="en-US" sz="1200" dirty="0" smtClean="0"/>
              <a:t>실패한 컨테이너를 다시 시작하고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컨테이너를                 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</a:t>
            </a:r>
            <a:r>
              <a:rPr lang="ko-KR" altLang="en-US" sz="1200" dirty="0" smtClean="0"/>
              <a:t>교체</a:t>
            </a:r>
            <a:endParaRPr lang="en-US" altLang="ko-KR" sz="1200" dirty="0" smtClean="0"/>
          </a:p>
        </p:txBody>
      </p:sp>
      <p:sp>
        <p:nvSpPr>
          <p:cNvPr id="13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634140" y="2706140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리소스 제한 설정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각 컨테이너가 필요로 하는 </a:t>
            </a:r>
            <a:r>
              <a:rPr lang="en-US" altLang="ko-KR" sz="1200" dirty="0" smtClean="0"/>
              <a:t>CPU</a:t>
            </a:r>
            <a:r>
              <a:rPr lang="ko-KR" altLang="en-US" sz="1200" dirty="0" smtClean="0"/>
              <a:t>와 메모리 제공</a:t>
            </a:r>
            <a:endParaRPr lang="en-US" altLang="ko-KR" sz="1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기능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634141" y="1078123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err="1" smtClean="0"/>
              <a:t>로드밸런싱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DNS </a:t>
            </a:r>
            <a:r>
              <a:rPr lang="ko-KR" altLang="en-US" sz="1200" dirty="0" smtClean="0"/>
              <a:t>이름을 사용하거나 자체 </a:t>
            </a:r>
            <a:r>
              <a:rPr lang="en-US" altLang="ko-KR" sz="1200" dirty="0" smtClean="0"/>
              <a:t>IP</a:t>
            </a:r>
            <a:r>
              <a:rPr lang="ko-KR" altLang="en-US" sz="1200" dirty="0" smtClean="0"/>
              <a:t>주소를 사용하여 </a:t>
            </a:r>
            <a:endParaRPr lang="en-US" altLang="ko-KR" sz="1200" dirty="0" smtClean="0"/>
          </a:p>
          <a:p>
            <a:r>
              <a:rPr lang="ko-KR" altLang="en-US" sz="1200" dirty="0" smtClean="0"/>
              <a:t>컨테이너 노출</a:t>
            </a:r>
            <a:endParaRPr lang="en-US" altLang="ko-KR" sz="1200" dirty="0"/>
          </a:p>
        </p:txBody>
      </p:sp>
      <p:sp>
        <p:nvSpPr>
          <p:cNvPr id="8" name="사각형: 둥근 모서리 38">
            <a:extLst>
              <a:ext uri="{FF2B5EF4-FFF2-40B4-BE49-F238E27FC236}">
                <a16:creationId xmlns:a16="http://schemas.microsoft.com/office/drawing/2014/main" id="{296B9A31-0BA7-4869-B7E2-683BB8F82D21}"/>
              </a:ext>
            </a:extLst>
          </p:cNvPr>
          <p:cNvSpPr/>
          <p:nvPr/>
        </p:nvSpPr>
        <p:spPr>
          <a:xfrm>
            <a:off x="6320970" y="1078123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스토리지 오케스트레이션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로컬 저장소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공용 </a:t>
            </a:r>
            <a:r>
              <a:rPr lang="ko-KR" altLang="en-US" sz="1200" dirty="0" err="1" smtClean="0"/>
              <a:t>클라우드</a:t>
            </a:r>
            <a:r>
              <a:rPr lang="ko-KR" altLang="en-US" sz="1200" dirty="0" smtClean="0"/>
              <a:t> 공급자 등과 같이 원하는 저장 시스템을 자동으로 탑재</a:t>
            </a:r>
            <a:endParaRPr lang="en-US" altLang="ko-KR" sz="1200" dirty="0"/>
          </a:p>
        </p:txBody>
      </p:sp>
      <p:sp>
        <p:nvSpPr>
          <p:cNvPr id="9" name="사각형: 둥근 모서리 40">
            <a:extLst>
              <a:ext uri="{FF2B5EF4-FFF2-40B4-BE49-F238E27FC236}">
                <a16:creationId xmlns:a16="http://schemas.microsoft.com/office/drawing/2014/main" id="{2E2BEFD2-A6AD-43CF-BD6F-8FB4BB9E3D00}"/>
              </a:ext>
            </a:extLst>
          </p:cNvPr>
          <p:cNvSpPr/>
          <p:nvPr/>
        </p:nvSpPr>
        <p:spPr>
          <a:xfrm>
            <a:off x="634140" y="4345611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Auto Scaling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트랜잭션에 따라 컨테이너 리소스를 변경 가능하고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컨테이너를 늘리고 줄일 수 있음</a:t>
            </a:r>
            <a:endParaRPr lang="en-US" altLang="ko-KR" sz="1200" dirty="0" smtClean="0"/>
          </a:p>
        </p:txBody>
      </p:sp>
      <p:sp>
        <p:nvSpPr>
          <p:cNvPr id="11" name="사각형: 둥근 모서리 41">
            <a:extLst>
              <a:ext uri="{FF2B5EF4-FFF2-40B4-BE49-F238E27FC236}">
                <a16:creationId xmlns:a16="http://schemas.microsoft.com/office/drawing/2014/main" id="{42E13575-B208-4CDD-9191-C31935189359}"/>
              </a:ext>
            </a:extLst>
          </p:cNvPr>
          <p:cNvSpPr/>
          <p:nvPr/>
        </p:nvSpPr>
        <p:spPr>
          <a:xfrm>
            <a:off x="6320970" y="4345611"/>
            <a:ext cx="5239657" cy="1507016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ko-KR" altLang="en-US" sz="1600" b="1" dirty="0" smtClean="0"/>
              <a:t>시크릿과 구성 관리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암호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Oauth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Token </a:t>
            </a:r>
            <a:r>
              <a:rPr lang="ko-KR" altLang="en-US" sz="1200" dirty="0" smtClean="0"/>
              <a:t>및 </a:t>
            </a:r>
            <a:r>
              <a:rPr lang="en-US" altLang="ko-KR" sz="1200" dirty="0" smtClean="0"/>
              <a:t>SSH</a:t>
            </a:r>
            <a:r>
              <a:rPr lang="ko-KR" altLang="en-US" sz="1200" dirty="0" smtClean="0"/>
              <a:t>키와 같은 중요한 정보를 저장하고 관리</a:t>
            </a:r>
            <a:endParaRPr lang="en-US" altLang="ko-KR" sz="1200" dirty="0"/>
          </a:p>
        </p:txBody>
      </p:sp>
      <p:sp>
        <p:nvSpPr>
          <p:cNvPr id="12" name="자유형: 도형 42">
            <a:extLst>
              <a:ext uri="{FF2B5EF4-FFF2-40B4-BE49-F238E27FC236}">
                <a16:creationId xmlns:a16="http://schemas.microsoft.com/office/drawing/2014/main" id="{BED55B58-A9D0-46BC-9F0A-627C3415C800}"/>
              </a:ext>
            </a:extLst>
          </p:cNvPr>
          <p:cNvSpPr/>
          <p:nvPr/>
        </p:nvSpPr>
        <p:spPr>
          <a:xfrm>
            <a:off x="4720543" y="2111788"/>
            <a:ext cx="2753684" cy="2579480"/>
          </a:xfrm>
          <a:custGeom>
            <a:avLst/>
            <a:gdLst>
              <a:gd name="connsiteX0" fmla="*/ 3721894 w 3724275"/>
              <a:gd name="connsiteY0" fmla="*/ 1864519 h 3724275"/>
              <a:gd name="connsiteX1" fmla="*/ 1864519 w 3724275"/>
              <a:gd name="connsiteY1" fmla="*/ 3721894 h 3724275"/>
              <a:gd name="connsiteX2" fmla="*/ 7144 w 3724275"/>
              <a:gd name="connsiteY2" fmla="*/ 1864519 h 3724275"/>
              <a:gd name="connsiteX3" fmla="*/ 1864519 w 3724275"/>
              <a:gd name="connsiteY3" fmla="*/ 7144 h 3724275"/>
              <a:gd name="connsiteX4" fmla="*/ 3721894 w 3724275"/>
              <a:gd name="connsiteY4" fmla="*/ 1864519 h 372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4275" h="3724275">
                <a:moveTo>
                  <a:pt x="3721894" y="1864519"/>
                </a:moveTo>
                <a:cubicBezTo>
                  <a:pt x="3721894" y="2890319"/>
                  <a:pt x="2890319" y="3721894"/>
                  <a:pt x="1864519" y="3721894"/>
                </a:cubicBezTo>
                <a:cubicBezTo>
                  <a:pt x="838719" y="3721894"/>
                  <a:pt x="7144" y="2890319"/>
                  <a:pt x="7144" y="1864519"/>
                </a:cubicBezTo>
                <a:cubicBezTo>
                  <a:pt x="7144" y="838719"/>
                  <a:pt x="838719" y="7144"/>
                  <a:pt x="1864519" y="7144"/>
                </a:cubicBezTo>
                <a:cubicBezTo>
                  <a:pt x="2890319" y="7144"/>
                  <a:pt x="3721894" y="838719"/>
                  <a:pt x="3721894" y="1864519"/>
                </a:cubicBezTo>
                <a:close/>
              </a:path>
            </a:pathLst>
          </a:custGeom>
          <a:solidFill>
            <a:srgbClr val="5B69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Kubernetes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837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전체 구성 요소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160105" y="904462"/>
            <a:ext cx="7871791" cy="4870174"/>
            <a:chOff x="2160105" y="904462"/>
            <a:chExt cx="7871791" cy="4870174"/>
          </a:xfrm>
        </p:grpSpPr>
        <p:sp>
          <p:nvSpPr>
            <p:cNvPr id="5" name="직사각형 4"/>
            <p:cNvSpPr/>
            <p:nvPr/>
          </p:nvSpPr>
          <p:spPr>
            <a:xfrm>
              <a:off x="2160105" y="904462"/>
              <a:ext cx="7871791" cy="4870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0105" y="904463"/>
              <a:ext cx="714376" cy="685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874481" y="1062697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2721977" y="1798985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121" y="1799148"/>
              <a:ext cx="549380" cy="527404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574501" y="1893573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6376936" y="1798985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080" y="1799148"/>
              <a:ext cx="549380" cy="52740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229460" y="1893573"/>
              <a:ext cx="161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Worker Node</a:t>
              </a:r>
              <a:endParaRPr lang="ko-KR" altLang="en-US" b="1" dirty="0"/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3372989" y="249760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3372989" y="3043140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3372988" y="358914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3104785" y="4134680"/>
              <a:ext cx="2265813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7027948" y="249760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kubelet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7033073" y="3043140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-proxy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7027947" y="3589145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 Runtime Engine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826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Master Node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6118" y="924339"/>
            <a:ext cx="3975652" cy="4870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924340"/>
            <a:ext cx="71437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0493" y="1082574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197989" y="1818862"/>
            <a:ext cx="3031435" cy="3756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3" y="1819025"/>
            <a:ext cx="549380" cy="5274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50513" y="1913450"/>
            <a:ext cx="1469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Master Node</a:t>
            </a:r>
            <a:endParaRPr lang="ko-KR" altLang="en-US" b="1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849001" y="2517482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kube-apiserver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849001" y="3063017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scheduler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1849000" y="3609022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ETCD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580797" y="4154557"/>
            <a:ext cx="2265813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-controller-manager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5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2" y="92433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ube-apiserver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Kubernetes Cluster</a:t>
            </a:r>
            <a:r>
              <a:rPr lang="ko-KR" altLang="en-US" sz="1200" dirty="0" smtClean="0"/>
              <a:t>로 들어오는 요청을 가장 앞에서 접수하는 역할</a:t>
            </a:r>
            <a:endParaRPr lang="en-US" altLang="ko-KR" sz="1200" dirty="0"/>
          </a:p>
        </p:txBody>
      </p:sp>
      <p:sp>
        <p:nvSpPr>
          <p:cNvPr id="26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1" y="2201624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</a:t>
            </a:r>
            <a:r>
              <a:rPr lang="en-US" altLang="ko-KR" sz="1600" b="1" dirty="0" smtClean="0"/>
              <a:t>-scheduler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새로 생성된 </a:t>
            </a:r>
            <a:r>
              <a:rPr lang="ko-KR" altLang="en-US" sz="1200" dirty="0" err="1" smtClean="0"/>
              <a:t>파드를</a:t>
            </a:r>
            <a:r>
              <a:rPr lang="ko-KR" altLang="en-US" sz="1200" dirty="0" smtClean="0"/>
              <a:t> 감지하여 어떤 노드로 배치할지 결정하는 작업을 하는 역할</a:t>
            </a:r>
            <a:endParaRPr lang="en-US" altLang="ko-KR" sz="1200" dirty="0"/>
          </a:p>
        </p:txBody>
      </p:sp>
      <p:sp>
        <p:nvSpPr>
          <p:cNvPr id="27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0" y="347890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ETCD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Kubernetes Cluster </a:t>
            </a:r>
            <a:r>
              <a:rPr lang="ko-KR" altLang="en-US" sz="1200" dirty="0" smtClean="0"/>
              <a:t>및 리소스의 구성 정보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상태 정보 및 명세 정보 등을 </a:t>
            </a:r>
            <a:r>
              <a:rPr lang="en-US" altLang="ko-KR" sz="1200" dirty="0" smtClean="0"/>
              <a:t>key-value </a:t>
            </a:r>
            <a:r>
              <a:rPr lang="ko-KR" altLang="en-US" sz="1200" dirty="0" smtClean="0"/>
              <a:t>형태로 저장하는 저장소</a:t>
            </a:r>
            <a:endParaRPr lang="en-US" altLang="ko-KR" sz="1200" dirty="0"/>
          </a:p>
        </p:txBody>
      </p:sp>
      <p:sp>
        <p:nvSpPr>
          <p:cNvPr id="28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0" y="4756194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</a:t>
            </a:r>
            <a:r>
              <a:rPr lang="en-US" altLang="ko-KR" sz="1600" b="1" dirty="0" smtClean="0"/>
              <a:t>-controller-manager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노드 및 </a:t>
            </a:r>
            <a:r>
              <a:rPr lang="ko-KR" altLang="en-US" sz="1200" dirty="0" err="1" smtClean="0"/>
              <a:t>파드</a:t>
            </a:r>
            <a:r>
              <a:rPr lang="ko-KR" altLang="en-US" sz="1200" dirty="0" smtClean="0"/>
              <a:t> 상태 확인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서비스와 </a:t>
            </a:r>
            <a:r>
              <a:rPr lang="ko-KR" altLang="en-US" sz="1200" dirty="0" err="1" smtClean="0"/>
              <a:t>파드</a:t>
            </a:r>
            <a:r>
              <a:rPr lang="ko-KR" altLang="en-US" sz="1200" dirty="0" smtClean="0"/>
              <a:t> 제대로 연결되어 있는지 확인하고 적절하지 않다면 적절한 수준을 유지하기 위해 조치하는 역할</a:t>
            </a:r>
            <a:endParaRPr lang="en-US" altLang="ko-KR" sz="1200" dirty="0"/>
          </a:p>
        </p:txBody>
      </p:sp>
      <p:cxnSp>
        <p:nvCxnSpPr>
          <p:cNvPr id="3" name="꺾인 연결선 2"/>
          <p:cNvCxnSpPr>
            <a:stCxn id="18" idx="3"/>
            <a:endCxn id="25" idx="1"/>
          </p:cNvCxnSpPr>
          <p:nvPr/>
        </p:nvCxnSpPr>
        <p:spPr>
          <a:xfrm flipV="1">
            <a:off x="3578410" y="1448656"/>
            <a:ext cx="2194262" cy="125606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9" idx="3"/>
            <a:endCxn id="26" idx="1"/>
          </p:cNvCxnSpPr>
          <p:nvPr/>
        </p:nvCxnSpPr>
        <p:spPr>
          <a:xfrm flipV="1">
            <a:off x="3578410" y="2725941"/>
            <a:ext cx="2194261" cy="524317"/>
          </a:xfrm>
          <a:prstGeom prst="bentConnector3">
            <a:avLst>
              <a:gd name="adj1" fmla="val 5769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0" idx="3"/>
            <a:endCxn id="27" idx="1"/>
          </p:cNvCxnSpPr>
          <p:nvPr/>
        </p:nvCxnSpPr>
        <p:spPr>
          <a:xfrm>
            <a:off x="3578409" y="3796263"/>
            <a:ext cx="2194261" cy="20696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21" idx="3"/>
            <a:endCxn id="28" idx="1"/>
          </p:cNvCxnSpPr>
          <p:nvPr/>
        </p:nvCxnSpPr>
        <p:spPr>
          <a:xfrm>
            <a:off x="3846610" y="4341798"/>
            <a:ext cx="1926060" cy="938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61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6118" y="924339"/>
            <a:ext cx="3975652" cy="4870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924340"/>
            <a:ext cx="714376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0493" y="1082574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25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2" y="92433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 smtClean="0"/>
              <a:t>kubelet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smtClean="0"/>
              <a:t>노드에서 컨테이너가 동작하도록 관리해주는 핵심 </a:t>
            </a:r>
            <a:endParaRPr lang="en-US" altLang="ko-KR" sz="1200" dirty="0" smtClean="0"/>
          </a:p>
          <a:p>
            <a:r>
              <a:rPr lang="ko-KR" altLang="en-US" sz="1200" dirty="0" smtClean="0"/>
              <a:t>요소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각 노드에서 </a:t>
            </a:r>
            <a:r>
              <a:rPr lang="ko-KR" altLang="en-US" sz="1200" dirty="0" err="1" smtClean="0"/>
              <a:t>파드를</a:t>
            </a:r>
            <a:r>
              <a:rPr lang="ko-KR" altLang="en-US" sz="1200" dirty="0" smtClean="0"/>
              <a:t> 생성하고 관리하는 역할</a:t>
            </a:r>
            <a:endParaRPr lang="en-US" altLang="ko-KR" sz="1200" dirty="0"/>
          </a:p>
        </p:txBody>
      </p:sp>
      <p:sp>
        <p:nvSpPr>
          <p:cNvPr id="26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1" y="2201624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err="1"/>
              <a:t>k</a:t>
            </a:r>
            <a:r>
              <a:rPr lang="en-US" altLang="ko-KR" sz="1600" b="1" dirty="0" err="1" smtClean="0"/>
              <a:t>ube</a:t>
            </a:r>
            <a:r>
              <a:rPr lang="en-US" altLang="ko-KR" sz="1600" b="1" dirty="0" smtClean="0"/>
              <a:t>-proxy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en-US" altLang="ko-KR" sz="1200" dirty="0" smtClean="0"/>
              <a:t>Kubernetes Cluster </a:t>
            </a:r>
            <a:r>
              <a:rPr lang="ko-KR" altLang="en-US" sz="1200" dirty="0" smtClean="0"/>
              <a:t>내부에서 네트워크 요청을 전달하는 역할</a:t>
            </a:r>
            <a:endParaRPr lang="en-US" altLang="ko-KR" sz="1200" dirty="0"/>
          </a:p>
        </p:txBody>
      </p:sp>
      <p:sp>
        <p:nvSpPr>
          <p:cNvPr id="27" name="사각형: 둥근 모서리 37">
            <a:extLst>
              <a:ext uri="{FF2B5EF4-FFF2-40B4-BE49-F238E27FC236}">
                <a16:creationId xmlns:a16="http://schemas.microsoft.com/office/drawing/2014/main" id="{A1AF9511-4909-47D5-AF0B-7A899AE4899A}"/>
              </a:ext>
            </a:extLst>
          </p:cNvPr>
          <p:cNvSpPr/>
          <p:nvPr/>
        </p:nvSpPr>
        <p:spPr>
          <a:xfrm>
            <a:off x="5772670" y="3478909"/>
            <a:ext cx="5239657" cy="1048634"/>
          </a:xfrm>
          <a:prstGeom prst="roundRect">
            <a:avLst>
              <a:gd name="adj" fmla="val 9674"/>
            </a:avLst>
          </a:prstGeom>
          <a:solidFill>
            <a:schemeClr val="bg1"/>
          </a:solidFill>
          <a:ln w="38100" cap="flat">
            <a:solidFill>
              <a:srgbClr val="5B69FF"/>
            </a:solidFill>
            <a:prstDash val="solid"/>
            <a:miter/>
          </a:ln>
        </p:spPr>
        <p:txBody>
          <a:bodyPr lIns="720000" rIns="720000" rtlCol="0" anchor="ctr"/>
          <a:lstStyle/>
          <a:p>
            <a:r>
              <a:rPr lang="en-US" altLang="ko-KR" sz="1600" b="1" dirty="0" smtClean="0"/>
              <a:t>Container Runtime Engine</a:t>
            </a:r>
            <a:endParaRPr lang="en-US" altLang="ko-KR" sz="1600" b="1" dirty="0"/>
          </a:p>
          <a:p>
            <a:endParaRPr lang="en-US" altLang="ko-KR" sz="1200" dirty="0"/>
          </a:p>
          <a:p>
            <a:r>
              <a:rPr lang="ko-KR" altLang="en-US" sz="1200" dirty="0" err="1" smtClean="0"/>
              <a:t>파드에</a:t>
            </a:r>
            <a:r>
              <a:rPr lang="ko-KR" altLang="en-US" sz="1200" dirty="0" smtClean="0"/>
              <a:t> 포함된 컨테이너 실행을 실질적으로 담당하는 </a:t>
            </a:r>
            <a:r>
              <a:rPr lang="en-US" altLang="ko-KR" sz="1200" dirty="0" smtClean="0"/>
              <a:t>Application</a:t>
            </a:r>
            <a:endParaRPr lang="en-US" altLang="ko-KR" sz="12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108227" y="1699267"/>
            <a:ext cx="3031435" cy="3756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194" y="1689235"/>
            <a:ext cx="549380" cy="5274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14104" y="1793855"/>
            <a:ext cx="1619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1759240" y="2397887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759240" y="2943422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ysClr val="windowText" lastClr="000000"/>
                </a:solidFill>
              </a:rPr>
              <a:t>k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-proxy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759240" y="3489427"/>
            <a:ext cx="1729409" cy="3744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Container Runtime Engine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꺾인 연결선 2"/>
          <p:cNvCxnSpPr>
            <a:stCxn id="31" idx="3"/>
            <a:endCxn id="25" idx="1"/>
          </p:cNvCxnSpPr>
          <p:nvPr/>
        </p:nvCxnSpPr>
        <p:spPr>
          <a:xfrm flipV="1">
            <a:off x="3488649" y="1448656"/>
            <a:ext cx="2284023" cy="113647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33" idx="3"/>
            <a:endCxn id="26" idx="1"/>
          </p:cNvCxnSpPr>
          <p:nvPr/>
        </p:nvCxnSpPr>
        <p:spPr>
          <a:xfrm flipV="1">
            <a:off x="3488649" y="2725941"/>
            <a:ext cx="2284022" cy="4047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34" idx="3"/>
            <a:endCxn id="27" idx="1"/>
          </p:cNvCxnSpPr>
          <p:nvPr/>
        </p:nvCxnSpPr>
        <p:spPr>
          <a:xfrm>
            <a:off x="3488649" y="3676668"/>
            <a:ext cx="2284021" cy="32655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979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apiserver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33495" y="1014299"/>
            <a:ext cx="4576014" cy="546144"/>
            <a:chOff x="2500647" y="1163386"/>
            <a:chExt cx="4576014" cy="546144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647" y="1163386"/>
              <a:ext cx="546144" cy="546144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3179428" y="1163386"/>
              <a:ext cx="3897233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179428" y="1371600"/>
              <a:ext cx="3897233" cy="3379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get nodes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975508" y="1858618"/>
            <a:ext cx="4091989" cy="4283765"/>
            <a:chOff x="1314898" y="1858618"/>
            <a:chExt cx="4091989" cy="4283765"/>
          </a:xfrm>
        </p:grpSpPr>
        <p:sp>
          <p:nvSpPr>
            <p:cNvPr id="31" name="직사각형 30"/>
            <p:cNvSpPr/>
            <p:nvPr/>
          </p:nvSpPr>
          <p:spPr>
            <a:xfrm>
              <a:off x="1314898" y="1858618"/>
              <a:ext cx="4091989" cy="4283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4898" y="1858619"/>
              <a:ext cx="714376" cy="6858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2029274" y="2016853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1876770" y="2753141"/>
              <a:ext cx="3031435" cy="312088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9914" y="2753304"/>
              <a:ext cx="549380" cy="52740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2729294" y="2847729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2527782" y="345176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1995521" y="4333697"/>
              <a:ext cx="149569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3772156" y="4317907"/>
              <a:ext cx="97006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2259579" y="5172909"/>
              <a:ext cx="2265813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4" name="꺾인 연결선 13"/>
          <p:cNvCxnSpPr>
            <a:stCxn id="28" idx="2"/>
            <a:endCxn id="40" idx="0"/>
          </p:cNvCxnSpPr>
          <p:nvPr/>
        </p:nvCxnSpPr>
        <p:spPr>
          <a:xfrm rot="5400000">
            <a:off x="2261336" y="2352204"/>
            <a:ext cx="1891318" cy="307796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750392" y="2401765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①</a:t>
            </a:r>
            <a:endParaRPr lang="ko-KR" altLang="en-US" b="1" dirty="0"/>
          </a:p>
        </p:txBody>
      </p:sp>
      <p:cxnSp>
        <p:nvCxnSpPr>
          <p:cNvPr id="50" name="꺾인 연결선 49"/>
          <p:cNvCxnSpPr>
            <a:stCxn id="40" idx="2"/>
            <a:endCxn id="42" idx="0"/>
          </p:cNvCxnSpPr>
          <p:nvPr/>
        </p:nvCxnSpPr>
        <p:spPr>
          <a:xfrm rot="16200000" flipH="1">
            <a:off x="3239617" y="3639723"/>
            <a:ext cx="491664" cy="86470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60892" y="3852772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②</a:t>
            </a:r>
            <a:endParaRPr lang="ko-KR" alt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5585791" y="2016853"/>
            <a:ext cx="6132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① 사용자가 </a:t>
            </a:r>
            <a:r>
              <a:rPr lang="en-US" altLang="ko-KR" sz="1400" dirty="0" err="1" smtClean="0"/>
              <a:t>kubectl</a:t>
            </a:r>
            <a:r>
              <a:rPr lang="ko-KR" altLang="en-US" sz="1400" dirty="0" smtClean="0"/>
              <a:t>을 통해 명령어 </a:t>
            </a:r>
            <a:r>
              <a:rPr lang="ko-KR" altLang="en-US" sz="1400" dirty="0" err="1" smtClean="0"/>
              <a:t>입력시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로 요청을 보낸다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②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ETCD</a:t>
            </a:r>
            <a:r>
              <a:rPr lang="ko-KR" altLang="en-US" sz="1400" dirty="0" smtClean="0"/>
              <a:t>에서 데이터를 회수해서 응답한다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52177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controller manager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160105" y="1639956"/>
            <a:ext cx="7871791" cy="4668741"/>
            <a:chOff x="636117" y="1398768"/>
            <a:chExt cx="7871791" cy="4870174"/>
          </a:xfrm>
        </p:grpSpPr>
        <p:sp>
          <p:nvSpPr>
            <p:cNvPr id="24" name="직사각형 23"/>
            <p:cNvSpPr/>
            <p:nvPr/>
          </p:nvSpPr>
          <p:spPr>
            <a:xfrm>
              <a:off x="636117" y="1398768"/>
              <a:ext cx="7871791" cy="4870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398769"/>
              <a:ext cx="714376" cy="68580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350493" y="1557003"/>
              <a:ext cx="2425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Kubernetes Cluster</a:t>
              </a:r>
              <a:endParaRPr lang="ko-KR" altLang="en-US" b="1" dirty="0"/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1197989" y="2293291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1133" y="2293454"/>
              <a:ext cx="549380" cy="527404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2050513" y="2387879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Master Node</a:t>
              </a:r>
              <a:endParaRPr lang="ko-KR" altLang="en-US" b="1" dirty="0"/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4852948" y="2293291"/>
              <a:ext cx="3031435" cy="375699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6092" y="2293454"/>
              <a:ext cx="549380" cy="527404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5705472" y="2387879"/>
              <a:ext cx="161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Worker Node</a:t>
              </a:r>
              <a:endParaRPr lang="ko-KR" altLang="en-US" b="1" dirty="0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849001" y="299191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kube-apiserver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1274575" y="3987193"/>
              <a:ext cx="150379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scheduler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3196365" y="3987193"/>
              <a:ext cx="76408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ETCD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1580797" y="4987280"/>
              <a:ext cx="2265813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-controller-manager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5503960" y="299191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kubelet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5503958" y="3989271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400" dirty="0" err="1" smtClean="0">
                  <a:solidFill>
                    <a:sysClr val="windowText" lastClr="000000"/>
                  </a:solidFill>
                </a:rPr>
                <a:t>ube</a:t>
              </a:r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-proxy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5503959" y="4987280"/>
              <a:ext cx="1729409" cy="37448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Container Runtime Engine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" name="직선 화살표 연결선 4"/>
            <p:cNvCxnSpPr>
              <a:stCxn id="49" idx="0"/>
              <a:endCxn id="45" idx="2"/>
            </p:cNvCxnSpPr>
            <p:nvPr/>
          </p:nvCxnSpPr>
          <p:spPr>
            <a:xfrm flipV="1">
              <a:off x="2713704" y="3366393"/>
              <a:ext cx="2" cy="16208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431512" y="4532728"/>
              <a:ext cx="346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/>
                <a:t>5s</a:t>
              </a:r>
              <a:endParaRPr lang="ko-KR" altLang="en-US" b="1" dirty="0"/>
            </a:p>
          </p:txBody>
        </p:sp>
        <p:cxnSp>
          <p:nvCxnSpPr>
            <p:cNvPr id="56" name="직선 화살표 연결선 55"/>
            <p:cNvCxnSpPr>
              <a:stCxn id="45" idx="3"/>
              <a:endCxn id="51" idx="1"/>
            </p:cNvCxnSpPr>
            <p:nvPr/>
          </p:nvCxnSpPr>
          <p:spPr>
            <a:xfrm>
              <a:off x="3578410" y="3179152"/>
              <a:ext cx="19255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4398580" y="2902153"/>
              <a:ext cx="4543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/>
                <a:t>40s</a:t>
              </a:r>
              <a:endParaRPr lang="ko-KR" altLang="en-US" b="1" dirty="0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11200" y="715450"/>
            <a:ext cx="10922000" cy="1128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시스템 상태를 감시하고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문제가 있으면 원하는 상태로 만드는 역할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Node-Controller </a:t>
            </a:r>
            <a:r>
              <a:rPr lang="ko-KR" altLang="en-US" sz="1400" dirty="0" smtClean="0"/>
              <a:t>같은 경우 </a:t>
            </a: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를 통해 </a:t>
            </a:r>
            <a:r>
              <a:rPr lang="en-US" altLang="ko-KR" sz="1400" dirty="0" smtClean="0"/>
              <a:t>5</a:t>
            </a:r>
            <a:r>
              <a:rPr lang="ko-KR" altLang="en-US" sz="1400" dirty="0" smtClean="0"/>
              <a:t>초 주기로 </a:t>
            </a:r>
            <a:r>
              <a:rPr lang="en-US" altLang="ko-KR" sz="1400" dirty="0" smtClean="0"/>
              <a:t>Worker Node </a:t>
            </a:r>
            <a:r>
              <a:rPr lang="ko-KR" altLang="en-US" sz="1400" dirty="0" smtClean="0"/>
              <a:t>상태를 모니터링 한다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문제가 생긴 노드는 </a:t>
            </a:r>
            <a:r>
              <a:rPr lang="en-US" altLang="ko-KR" sz="1400" dirty="0" smtClean="0"/>
              <a:t>40</a:t>
            </a:r>
            <a:r>
              <a:rPr lang="ko-KR" altLang="en-US" sz="1400" dirty="0" smtClean="0"/>
              <a:t>초 뒤에 수신 불가로 표시 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  <a:p>
            <a:pPr marL="180000">
              <a:spcBef>
                <a:spcPts val="600"/>
              </a:spcBef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983495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scheduler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6117" y="1620078"/>
            <a:ext cx="7871791" cy="46687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1620079"/>
            <a:ext cx="714376" cy="6574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0493" y="1771768"/>
            <a:ext cx="2425148" cy="35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1197989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3" y="2477759"/>
            <a:ext cx="549380" cy="5055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50513" y="2568279"/>
            <a:ext cx="1469505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Master Node</a:t>
            </a:r>
            <a:endParaRPr lang="ko-KR" altLang="en-US" b="1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4852948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2" y="2477759"/>
            <a:ext cx="549380" cy="50559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05472" y="2568279"/>
            <a:ext cx="1619680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1849001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kube-apiserver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608992" y="4103436"/>
            <a:ext cx="150379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scheduler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533141" y="4108338"/>
            <a:ext cx="76408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ETCD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580797" y="5060167"/>
            <a:ext cx="2265813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-controller-manager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503960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5503958" y="4103436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ysClr val="windowText" lastClr="000000"/>
                </a:solidFill>
              </a:rPr>
              <a:t>k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-proxy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503959" y="5060167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Container Runtime Engine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33495" y="1014299"/>
            <a:ext cx="4576014" cy="546144"/>
            <a:chOff x="733495" y="1014299"/>
            <a:chExt cx="4576014" cy="546144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495" y="1014299"/>
              <a:ext cx="546144" cy="546144"/>
            </a:xfrm>
            <a:prstGeom prst="rect">
              <a:avLst/>
            </a:prstGeom>
          </p:spPr>
        </p:pic>
        <p:sp>
          <p:nvSpPr>
            <p:cNvPr id="31" name="직사각형 30"/>
            <p:cNvSpPr/>
            <p:nvPr/>
          </p:nvSpPr>
          <p:spPr>
            <a:xfrm>
              <a:off x="1412276" y="1014299"/>
              <a:ext cx="3897233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412276" y="1222513"/>
              <a:ext cx="3897233" cy="3379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run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pod --image=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3" name="꺾인 연결선 32"/>
          <p:cNvCxnSpPr>
            <a:stCxn id="32" idx="2"/>
            <a:endCxn id="45" idx="0"/>
          </p:cNvCxnSpPr>
          <p:nvPr/>
        </p:nvCxnSpPr>
        <p:spPr>
          <a:xfrm rot="5400000">
            <a:off x="2243858" y="2030292"/>
            <a:ext cx="1586885" cy="64718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85265" y="211457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①</a:t>
            </a:r>
            <a:endParaRPr lang="ko-KR" altLang="en-US" b="1" dirty="0"/>
          </a:p>
        </p:txBody>
      </p:sp>
      <p:cxnSp>
        <p:nvCxnSpPr>
          <p:cNvPr id="35" name="꺾인 연결선 34"/>
          <p:cNvCxnSpPr>
            <a:stCxn id="45" idx="2"/>
            <a:endCxn id="46" idx="0"/>
          </p:cNvCxnSpPr>
          <p:nvPr/>
        </p:nvCxnSpPr>
        <p:spPr>
          <a:xfrm rot="16200000" flipH="1">
            <a:off x="2738742" y="3481285"/>
            <a:ext cx="597115" cy="64718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37330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②</a:t>
            </a:r>
            <a:endParaRPr lang="ko-KR" altLang="en-US" b="1" dirty="0"/>
          </a:p>
        </p:txBody>
      </p:sp>
      <p:cxnSp>
        <p:nvCxnSpPr>
          <p:cNvPr id="40" name="꺾인 연결선 39"/>
          <p:cNvCxnSpPr>
            <a:stCxn id="46" idx="3"/>
            <a:endCxn id="51" idx="1"/>
          </p:cNvCxnSpPr>
          <p:nvPr/>
        </p:nvCxnSpPr>
        <p:spPr>
          <a:xfrm flipV="1">
            <a:off x="4112791" y="3326825"/>
            <a:ext cx="1391169" cy="95610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93834" y="368995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③</a:t>
            </a:r>
            <a:endParaRPr lang="ko-KR" altLang="en-US" b="1" dirty="0"/>
          </a:p>
        </p:txBody>
      </p:sp>
      <p:cxnSp>
        <p:nvCxnSpPr>
          <p:cNvPr id="42" name="꺾인 연결선 41"/>
          <p:cNvCxnSpPr>
            <a:stCxn id="45" idx="2"/>
            <a:endCxn id="47" idx="0"/>
          </p:cNvCxnSpPr>
          <p:nvPr/>
        </p:nvCxnSpPr>
        <p:spPr>
          <a:xfrm rot="5400000">
            <a:off x="2013438" y="3408069"/>
            <a:ext cx="602017" cy="79852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15191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④</a:t>
            </a:r>
            <a:endParaRPr lang="ko-KR" alt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718613" y="1620078"/>
            <a:ext cx="339718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① 사용자가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시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로 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명령을 전달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②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scheduler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성 명령을 전달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③ </a:t>
            </a:r>
            <a:r>
              <a:rPr lang="en-US" altLang="ko-KR" sz="1400" dirty="0" smtClean="0"/>
              <a:t>scheduler</a:t>
            </a:r>
            <a:r>
              <a:rPr lang="ko-KR" altLang="en-US" sz="1400" dirty="0" smtClean="0"/>
              <a:t>는 </a:t>
            </a:r>
            <a:r>
              <a:rPr lang="en-US" altLang="ko-KR" sz="1400" dirty="0"/>
              <a:t>W</a:t>
            </a:r>
            <a:r>
              <a:rPr lang="en-US" altLang="ko-KR" sz="1400" dirty="0" smtClean="0"/>
              <a:t>orker </a:t>
            </a:r>
            <a:r>
              <a:rPr lang="en-US" altLang="ko-KR" sz="1400" dirty="0"/>
              <a:t>N</a:t>
            </a:r>
            <a:r>
              <a:rPr lang="en-US" altLang="ko-KR" sz="1400" dirty="0" smtClean="0"/>
              <a:t>ode</a:t>
            </a:r>
            <a:r>
              <a:rPr lang="ko-KR" altLang="en-US" sz="1400" dirty="0" smtClean="0"/>
              <a:t>들 중에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서 리소스가 많은 </a:t>
            </a:r>
            <a:r>
              <a:rPr lang="en-US" altLang="ko-KR" sz="1400" dirty="0"/>
              <a:t>N</a:t>
            </a:r>
            <a:r>
              <a:rPr lang="en-US" altLang="ko-KR" sz="1400" dirty="0" smtClean="0"/>
              <a:t>ode</a:t>
            </a:r>
            <a:r>
              <a:rPr lang="ko-KR" altLang="en-US" sz="1400" dirty="0" smtClean="0"/>
              <a:t>를 선택해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해당 </a:t>
            </a:r>
            <a:r>
              <a:rPr lang="en-US" altLang="ko-KR" sz="1400" dirty="0" smtClean="0"/>
              <a:t>node </a:t>
            </a:r>
            <a:r>
              <a:rPr lang="en-US" altLang="ko-KR" sz="1400" dirty="0" err="1" smtClean="0"/>
              <a:t>kubelet</a:t>
            </a:r>
            <a:r>
              <a:rPr lang="ko-KR" altLang="en-US" sz="1400" dirty="0" smtClean="0"/>
              <a:t>에 명령을 전달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④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배치된 정보를 </a:t>
            </a:r>
            <a:r>
              <a:rPr lang="en-US" altLang="ko-KR" sz="1400" dirty="0" err="1" smtClean="0"/>
              <a:t>etcd</a:t>
            </a:r>
            <a:r>
              <a:rPr lang="ko-KR" altLang="en-US" sz="1400" dirty="0" smtClean="0"/>
              <a:t>에 저장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26561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312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kubelet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동작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6117" y="1620078"/>
            <a:ext cx="7871791" cy="46687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1620079"/>
            <a:ext cx="714376" cy="6574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0493" y="1771768"/>
            <a:ext cx="2425148" cy="35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Kubernetes Cluster</a:t>
            </a:r>
            <a:endParaRPr lang="ko-KR" altLang="en-US" b="1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1197989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33" y="2477759"/>
            <a:ext cx="549380" cy="5055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50513" y="2568279"/>
            <a:ext cx="1469505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Master Node</a:t>
            </a:r>
            <a:endParaRPr lang="ko-KR" altLang="en-US" b="1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4852948" y="2477603"/>
            <a:ext cx="3031435" cy="360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2" y="2477759"/>
            <a:ext cx="549380" cy="50559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05472" y="2568279"/>
            <a:ext cx="1619680" cy="324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Worker Node</a:t>
            </a:r>
            <a:endParaRPr lang="ko-KR" altLang="en-US" b="1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1849001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kube-apiserver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608992" y="4103436"/>
            <a:ext cx="150379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scheduler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533141" y="4108338"/>
            <a:ext cx="76408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ETCD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580797" y="5060167"/>
            <a:ext cx="2265813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-controller-manager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503960" y="3147328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kubelet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5503958" y="4103436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ysClr val="windowText" lastClr="000000"/>
                </a:solidFill>
              </a:rPr>
              <a:t>k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ube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-proxy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503959" y="5060167"/>
            <a:ext cx="1729409" cy="3589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Container Runtime Engine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733495" y="1014299"/>
            <a:ext cx="4576014" cy="546144"/>
            <a:chOff x="2500647" y="1163386"/>
            <a:chExt cx="4576014" cy="546144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0647" y="1163386"/>
              <a:ext cx="546144" cy="546144"/>
            </a:xfrm>
            <a:prstGeom prst="rect">
              <a:avLst/>
            </a:prstGeom>
          </p:spPr>
        </p:pic>
        <p:sp>
          <p:nvSpPr>
            <p:cNvPr id="31" name="직사각형 30"/>
            <p:cNvSpPr/>
            <p:nvPr/>
          </p:nvSpPr>
          <p:spPr>
            <a:xfrm>
              <a:off x="3179428" y="1163386"/>
              <a:ext cx="3897233" cy="20821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179428" y="1371600"/>
              <a:ext cx="3897233" cy="3379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kubectl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run 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pod --image=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nginx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3" name="꺾인 연결선 32"/>
          <p:cNvCxnSpPr>
            <a:stCxn id="32" idx="2"/>
            <a:endCxn id="45" idx="0"/>
          </p:cNvCxnSpPr>
          <p:nvPr/>
        </p:nvCxnSpPr>
        <p:spPr>
          <a:xfrm rot="5400000">
            <a:off x="2243858" y="2030292"/>
            <a:ext cx="1586885" cy="64718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785265" y="211457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①</a:t>
            </a:r>
            <a:endParaRPr lang="ko-KR" altLang="en-US" b="1" dirty="0"/>
          </a:p>
        </p:txBody>
      </p:sp>
      <p:cxnSp>
        <p:nvCxnSpPr>
          <p:cNvPr id="35" name="꺾인 연결선 34"/>
          <p:cNvCxnSpPr>
            <a:stCxn id="45" idx="2"/>
            <a:endCxn id="46" idx="0"/>
          </p:cNvCxnSpPr>
          <p:nvPr/>
        </p:nvCxnSpPr>
        <p:spPr>
          <a:xfrm rot="16200000" flipH="1">
            <a:off x="2738742" y="3481285"/>
            <a:ext cx="597115" cy="64718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37330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②</a:t>
            </a:r>
            <a:endParaRPr lang="ko-KR" altLang="en-US" b="1" dirty="0"/>
          </a:p>
        </p:txBody>
      </p:sp>
      <p:cxnSp>
        <p:nvCxnSpPr>
          <p:cNvPr id="40" name="꺾인 연결선 39"/>
          <p:cNvCxnSpPr>
            <a:stCxn id="46" idx="3"/>
            <a:endCxn id="51" idx="1"/>
          </p:cNvCxnSpPr>
          <p:nvPr/>
        </p:nvCxnSpPr>
        <p:spPr>
          <a:xfrm flipV="1">
            <a:off x="4112791" y="3326825"/>
            <a:ext cx="1391169" cy="95610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493834" y="3689954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③</a:t>
            </a:r>
            <a:endParaRPr lang="ko-KR" altLang="en-US" b="1" dirty="0"/>
          </a:p>
        </p:txBody>
      </p:sp>
      <p:cxnSp>
        <p:nvCxnSpPr>
          <p:cNvPr id="42" name="꺾인 연결선 41"/>
          <p:cNvCxnSpPr>
            <a:stCxn id="45" idx="2"/>
            <a:endCxn id="47" idx="0"/>
          </p:cNvCxnSpPr>
          <p:nvPr/>
        </p:nvCxnSpPr>
        <p:spPr>
          <a:xfrm rot="5400000">
            <a:off x="2013438" y="3408069"/>
            <a:ext cx="602017" cy="79852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15191" y="354489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④</a:t>
            </a:r>
            <a:endParaRPr lang="ko-KR" alt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718613" y="1620078"/>
            <a:ext cx="33971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⑤ </a:t>
            </a: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apiserver</a:t>
            </a:r>
            <a:r>
              <a:rPr lang="ko-KR" altLang="en-US" sz="1400" dirty="0" smtClean="0"/>
              <a:t>로 부터 명령을 </a:t>
            </a:r>
            <a:r>
              <a:rPr lang="ko-KR" altLang="en-US" sz="1400" dirty="0" err="1" smtClean="0"/>
              <a:t>받으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면 </a:t>
            </a:r>
            <a:r>
              <a:rPr lang="en-US" altLang="ko-KR" sz="1400" dirty="0" smtClean="0"/>
              <a:t>Worker Node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Runtime Engine</a:t>
            </a:r>
            <a:r>
              <a:rPr lang="ko-KR" altLang="en-US" sz="1400" dirty="0" smtClean="0"/>
              <a:t>에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</a:t>
            </a:r>
            <a:r>
              <a:rPr lang="ko-KR" altLang="en-US" sz="1400" dirty="0" smtClean="0"/>
              <a:t>게 명령을 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cxnSp>
        <p:nvCxnSpPr>
          <p:cNvPr id="43" name="꺾인 연결선 42"/>
          <p:cNvCxnSpPr>
            <a:stCxn id="51" idx="2"/>
            <a:endCxn id="55" idx="0"/>
          </p:cNvCxnSpPr>
          <p:nvPr/>
        </p:nvCxnSpPr>
        <p:spPr>
          <a:xfrm rot="5400000">
            <a:off x="5591742" y="4283244"/>
            <a:ext cx="1553846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76803" y="3697843"/>
            <a:ext cx="304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/>
              <a:t>⑤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52577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컨테이너 정의 및 구조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15450"/>
            <a:ext cx="1086765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컨테이너</a:t>
            </a:r>
            <a:endParaRPr lang="en-US" altLang="ko-KR" sz="1400" b="1" dirty="0" smtClean="0"/>
          </a:p>
          <a:p>
            <a:pPr marL="180000">
              <a:spcBef>
                <a:spcPts val="600"/>
              </a:spcBef>
            </a:pPr>
            <a:r>
              <a:rPr lang="ko-KR" altLang="en-US" sz="1200" dirty="0" smtClean="0"/>
              <a:t>어떤 환경 에서든 실행하기 위해 필요한 애플리케이션 코드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런타임 모듈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라이브러리 등의 모든 요소를 포함하는 경량화된 소프트웨어 패키지</a:t>
            </a:r>
            <a:endParaRPr lang="en-US" altLang="ko-KR" sz="1200" dirty="0"/>
          </a:p>
        </p:txBody>
      </p:sp>
      <p:sp>
        <p:nvSpPr>
          <p:cNvPr id="2" name="직사각형 1"/>
          <p:cNvSpPr/>
          <p:nvPr/>
        </p:nvSpPr>
        <p:spPr>
          <a:xfrm>
            <a:off x="711200" y="2126512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물리 서버 전체를 하나의 </a:t>
            </a:r>
            <a:r>
              <a:rPr lang="en-US" altLang="ko-KR" sz="1200" dirty="0" smtClean="0">
                <a:solidFill>
                  <a:schemeClr val="tx1"/>
                </a:solidFill>
              </a:rPr>
              <a:t>OS </a:t>
            </a:r>
            <a:r>
              <a:rPr lang="ko-KR" altLang="en-US" sz="1200" dirty="0" smtClean="0">
                <a:solidFill>
                  <a:schemeClr val="tx1"/>
                </a:solidFill>
              </a:rPr>
              <a:t>환경으로 사용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1200" y="1552354"/>
            <a:ext cx="3157870" cy="574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/>
                </a:solidFill>
              </a:rPr>
              <a:t>베어메탈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566093" y="2126512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물리 서버 자원을 분할하여 논리적인 가상 서버를 생성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복수의 </a:t>
            </a:r>
            <a:r>
              <a:rPr lang="en-US" altLang="ko-KR" sz="1200" dirty="0" smtClean="0">
                <a:solidFill>
                  <a:schemeClr val="tx1"/>
                </a:solidFill>
              </a:rPr>
              <a:t>OS </a:t>
            </a:r>
            <a:r>
              <a:rPr lang="ko-KR" altLang="en-US" sz="1200" dirty="0" smtClean="0">
                <a:solidFill>
                  <a:schemeClr val="tx1"/>
                </a:solidFill>
              </a:rPr>
              <a:t>환경 사용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solidFill>
                  <a:schemeClr val="tx1"/>
                </a:solidFill>
              </a:rPr>
              <a:t>IaaS </a:t>
            </a:r>
            <a:r>
              <a:rPr lang="ko-KR" altLang="en-US" sz="1200" dirty="0" smtClean="0">
                <a:solidFill>
                  <a:schemeClr val="tx1"/>
                </a:solidFill>
              </a:rPr>
              <a:t>환경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566093" y="1552354"/>
            <a:ext cx="3157870" cy="574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서버 가상화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(HW)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420986" y="2126512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172800" indent="-17280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물리 서버 자원을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분할하여 논리적인 컨테이너를 생성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하나의 </a:t>
            </a:r>
            <a:r>
              <a:rPr lang="en-US" altLang="ko-KR" sz="1200" dirty="0" smtClean="0">
                <a:solidFill>
                  <a:schemeClr val="tx1"/>
                </a:solidFill>
              </a:rPr>
              <a:t>OS </a:t>
            </a:r>
            <a:r>
              <a:rPr lang="ko-KR" altLang="en-US" sz="1200" dirty="0" smtClean="0">
                <a:solidFill>
                  <a:schemeClr val="tx1"/>
                </a:solidFill>
              </a:rPr>
              <a:t>환경에 복수 실행 환경 사용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altLang="ko-KR" sz="1200" dirty="0" err="1" smtClean="0">
                <a:solidFill>
                  <a:schemeClr val="tx1"/>
                </a:solidFill>
              </a:rPr>
              <a:t>CaaS</a:t>
            </a:r>
            <a:r>
              <a:rPr lang="en-US" altLang="ko-KR" sz="1200" dirty="0" smtClean="0">
                <a:solidFill>
                  <a:schemeClr val="tx1"/>
                </a:solidFill>
              </a:rPr>
              <a:t>, PaaS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420986" y="1552354"/>
            <a:ext cx="3157870" cy="574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서버 가상화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(OS)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054988" y="4229008"/>
            <a:ext cx="2456120" cy="34024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</a:rPr>
              <a:t>물리 서버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054988" y="3790323"/>
            <a:ext cx="2456120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호스트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OS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054988" y="3351637"/>
            <a:ext cx="2451393" cy="340242"/>
            <a:chOff x="1063257" y="2915700"/>
            <a:chExt cx="2451393" cy="340242"/>
          </a:xfrm>
        </p:grpSpPr>
        <p:sp>
          <p:nvSpPr>
            <p:cNvPr id="28" name="모서리가 둥근 직사각형 27"/>
            <p:cNvSpPr/>
            <p:nvPr/>
          </p:nvSpPr>
          <p:spPr>
            <a:xfrm>
              <a:off x="1063257" y="2915700"/>
              <a:ext cx="1169580" cy="3402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App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2345070" y="2915700"/>
              <a:ext cx="1169580" cy="3402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App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4837814" y="2386145"/>
            <a:ext cx="2610296" cy="2183105"/>
            <a:chOff x="4837814" y="2386145"/>
            <a:chExt cx="2610296" cy="2183105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4912243" y="4229008"/>
              <a:ext cx="2456120" cy="340242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</a:rPr>
                <a:t>물리 서버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4912243" y="3752252"/>
              <a:ext cx="2456120" cy="3402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err="1" smtClean="0">
                  <a:solidFill>
                    <a:schemeClr val="tx1"/>
                  </a:solidFill>
                </a:rPr>
                <a:t>하이퍼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200" b="1" dirty="0" err="1" smtClean="0">
                  <a:solidFill>
                    <a:schemeClr val="tx1"/>
                  </a:solidFill>
                </a:rPr>
                <a:t>바이저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/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호스트 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OS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4912244" y="2798742"/>
              <a:ext cx="2456119" cy="340242"/>
              <a:chOff x="4912244" y="2798742"/>
              <a:chExt cx="2456119" cy="340242"/>
            </a:xfrm>
          </p:grpSpPr>
          <p:grpSp>
            <p:nvGrpSpPr>
              <p:cNvPr id="33" name="그룹 32"/>
              <p:cNvGrpSpPr/>
              <p:nvPr/>
            </p:nvGrpSpPr>
            <p:grpSpPr>
              <a:xfrm>
                <a:off x="4912244" y="2798742"/>
                <a:ext cx="1158948" cy="340242"/>
                <a:chOff x="1063257" y="2915700"/>
                <a:chExt cx="2451393" cy="340242"/>
              </a:xfrm>
            </p:grpSpPr>
            <p:sp>
              <p:nvSpPr>
                <p:cNvPr id="34" name="모서리가 둥근 직사각형 33"/>
                <p:cNvSpPr/>
                <p:nvPr/>
              </p:nvSpPr>
              <p:spPr>
                <a:xfrm>
                  <a:off x="1063257" y="2915700"/>
                  <a:ext cx="1169580" cy="34024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 smtClean="0">
                      <a:solidFill>
                        <a:schemeClr val="tx1"/>
                      </a:solidFill>
                    </a:rPr>
                    <a:t>App</a:t>
                  </a:r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모서리가 둥근 직사각형 34"/>
                <p:cNvSpPr/>
                <p:nvPr/>
              </p:nvSpPr>
              <p:spPr>
                <a:xfrm>
                  <a:off x="2345070" y="2915700"/>
                  <a:ext cx="1169580" cy="34024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 smtClean="0">
                      <a:solidFill>
                        <a:schemeClr val="tx1"/>
                      </a:solidFill>
                    </a:rPr>
                    <a:t>App</a:t>
                  </a:r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" name="그룹 40"/>
              <p:cNvGrpSpPr/>
              <p:nvPr/>
            </p:nvGrpSpPr>
            <p:grpSpPr>
              <a:xfrm>
                <a:off x="6209415" y="2798742"/>
                <a:ext cx="1158948" cy="340242"/>
                <a:chOff x="1063257" y="2915700"/>
                <a:chExt cx="2451393" cy="340242"/>
              </a:xfrm>
            </p:grpSpPr>
            <p:sp>
              <p:nvSpPr>
                <p:cNvPr id="42" name="모서리가 둥근 직사각형 41"/>
                <p:cNvSpPr/>
                <p:nvPr/>
              </p:nvSpPr>
              <p:spPr>
                <a:xfrm>
                  <a:off x="1063257" y="2915700"/>
                  <a:ext cx="1169580" cy="34024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 smtClean="0">
                      <a:solidFill>
                        <a:schemeClr val="tx1"/>
                      </a:solidFill>
                    </a:rPr>
                    <a:t>App</a:t>
                  </a:r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모서리가 둥근 직사각형 42"/>
                <p:cNvSpPr/>
                <p:nvPr/>
              </p:nvSpPr>
              <p:spPr>
                <a:xfrm>
                  <a:off x="2345070" y="2915700"/>
                  <a:ext cx="1169580" cy="34024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 smtClean="0">
                      <a:solidFill>
                        <a:schemeClr val="tx1"/>
                      </a:solidFill>
                    </a:rPr>
                    <a:t>App</a:t>
                  </a:r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46" name="그룹 45"/>
            <p:cNvGrpSpPr/>
            <p:nvPr/>
          </p:nvGrpSpPr>
          <p:grpSpPr>
            <a:xfrm>
              <a:off x="4912244" y="3275497"/>
              <a:ext cx="2456119" cy="340242"/>
              <a:chOff x="4912244" y="3262450"/>
              <a:chExt cx="2456119" cy="340242"/>
            </a:xfrm>
          </p:grpSpPr>
          <p:sp>
            <p:nvSpPr>
              <p:cNvPr id="36" name="모서리가 둥근 직사각형 35"/>
              <p:cNvSpPr/>
              <p:nvPr/>
            </p:nvSpPr>
            <p:spPr>
              <a:xfrm>
                <a:off x="4912244" y="3262450"/>
                <a:ext cx="1158948" cy="34024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dirty="0" smtClean="0">
                    <a:solidFill>
                      <a:schemeClr val="tx1"/>
                    </a:solidFill>
                  </a:rPr>
                  <a:t>게스트 </a:t>
                </a:r>
                <a:r>
                  <a:rPr lang="en-US" altLang="ko-KR" sz="1200" b="1" dirty="0" smtClean="0">
                    <a:solidFill>
                      <a:schemeClr val="tx1"/>
                    </a:solidFill>
                  </a:rPr>
                  <a:t>OS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43"/>
              <p:cNvSpPr/>
              <p:nvPr/>
            </p:nvSpPr>
            <p:spPr>
              <a:xfrm>
                <a:off x="6209415" y="3262450"/>
                <a:ext cx="1158948" cy="34024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dirty="0" smtClean="0">
                    <a:solidFill>
                      <a:schemeClr val="tx1"/>
                    </a:solidFill>
                  </a:rPr>
                  <a:t>게스트 </a:t>
                </a:r>
                <a:r>
                  <a:rPr lang="en-US" altLang="ko-KR" sz="1200" b="1" dirty="0" smtClean="0">
                    <a:solidFill>
                      <a:schemeClr val="tx1"/>
                    </a:solidFill>
                  </a:rPr>
                  <a:t>OS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모서리가 둥근 직사각형 46"/>
            <p:cNvSpPr/>
            <p:nvPr/>
          </p:nvSpPr>
          <p:spPr>
            <a:xfrm>
              <a:off x="4837814" y="2394030"/>
              <a:ext cx="1302489" cy="1297850"/>
            </a:xfrm>
            <a:prstGeom prst="round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가상 서버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(VM)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모서리가 둥근 직사각형 47"/>
            <p:cNvSpPr/>
            <p:nvPr/>
          </p:nvSpPr>
          <p:spPr>
            <a:xfrm>
              <a:off x="6145621" y="2386145"/>
              <a:ext cx="1302489" cy="1297850"/>
            </a:xfrm>
            <a:prstGeom prst="round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가상 서버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(VM)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모서리가 둥근 직사각형 50"/>
          <p:cNvSpPr/>
          <p:nvPr/>
        </p:nvSpPr>
        <p:spPr>
          <a:xfrm>
            <a:off x="8769202" y="4229008"/>
            <a:ext cx="2456120" cy="34024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</a:rPr>
              <a:t>물리 서버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769202" y="3752252"/>
            <a:ext cx="2456120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컨테이너 엔진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호스트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OS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10066374" y="3275497"/>
            <a:ext cx="1158948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App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10002580" y="2798741"/>
            <a:ext cx="1302489" cy="885253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컨테이너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8747932" y="3283382"/>
            <a:ext cx="1158948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App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8684138" y="2806626"/>
            <a:ext cx="1302489" cy="885253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컨테이너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747932" y="2254102"/>
            <a:ext cx="2477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서비스를 컨테이너 별로 격리</a:t>
            </a:r>
            <a:endParaRPr lang="ko-KR" altLang="en-US" dirty="0"/>
          </a:p>
        </p:txBody>
      </p:sp>
      <p:cxnSp>
        <p:nvCxnSpPr>
          <p:cNvPr id="69" name="직선 연결선 68"/>
          <p:cNvCxnSpPr>
            <a:endCxn id="52" idx="0"/>
          </p:cNvCxnSpPr>
          <p:nvPr/>
        </p:nvCxnSpPr>
        <p:spPr>
          <a:xfrm>
            <a:off x="9986627" y="2700670"/>
            <a:ext cx="10635" cy="105158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737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컨테이너 이미지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15450"/>
            <a:ext cx="1086765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컨테이너 이미지</a:t>
            </a:r>
            <a:endParaRPr lang="en-US" altLang="ko-KR" sz="1400" b="1" dirty="0" smtClean="0"/>
          </a:p>
          <a:p>
            <a:pPr marL="180000">
              <a:spcBef>
                <a:spcPts val="600"/>
              </a:spcBef>
            </a:pPr>
            <a:r>
              <a:rPr lang="ko-KR" altLang="en-US" sz="1200" dirty="0" smtClean="0"/>
              <a:t>컨테이너를 실행하기 위한 모든 파일과 설정을 포함하는 패키지</a:t>
            </a:r>
            <a:endParaRPr lang="en-US" altLang="ko-KR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776157" y="2126512"/>
            <a:ext cx="3157870" cy="361507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172800" indent="-17280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물리 서버 자원을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분할하여 논리적인 컨테이너를 생성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solidFill>
                  <a:schemeClr val="tx1"/>
                </a:solidFill>
              </a:rPr>
              <a:t>하나의 </a:t>
            </a:r>
            <a:r>
              <a:rPr lang="en-US" altLang="ko-KR" sz="1200" dirty="0" smtClean="0">
                <a:solidFill>
                  <a:schemeClr val="tx1"/>
                </a:solidFill>
              </a:rPr>
              <a:t>OS </a:t>
            </a:r>
            <a:r>
              <a:rPr lang="ko-KR" altLang="en-US" sz="1200" dirty="0" smtClean="0">
                <a:solidFill>
                  <a:schemeClr val="tx1"/>
                </a:solidFill>
              </a:rPr>
              <a:t>환경에 복수 실행 환경 사용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altLang="ko-KR" sz="1200" dirty="0" err="1" smtClean="0">
                <a:solidFill>
                  <a:schemeClr val="tx1"/>
                </a:solidFill>
              </a:rPr>
              <a:t>CaaS</a:t>
            </a:r>
            <a:r>
              <a:rPr lang="en-US" altLang="ko-KR" sz="1200" dirty="0" smtClean="0">
                <a:solidFill>
                  <a:schemeClr val="tx1"/>
                </a:solidFill>
              </a:rPr>
              <a:t>, PaaS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76157" y="1552354"/>
            <a:ext cx="3157870" cy="5741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</a:rPr>
              <a:t>서버 가상화</a:t>
            </a:r>
            <a:r>
              <a:rPr lang="en-US" altLang="ko-KR" sz="1600" b="1" dirty="0" smtClean="0">
                <a:solidFill>
                  <a:schemeClr val="tx1"/>
                </a:solidFill>
              </a:rPr>
              <a:t>(OS)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1124373" y="4229008"/>
            <a:ext cx="2456120" cy="34024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</a:rPr>
              <a:t>물리 서버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1124373" y="3752252"/>
            <a:ext cx="2456120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</a:rPr>
              <a:t>컨테이너 엔진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/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호스트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OS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2421545" y="3275497"/>
            <a:ext cx="1158948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App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2357751" y="2798741"/>
            <a:ext cx="1302489" cy="885253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컨테이너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1103103" y="3283382"/>
            <a:ext cx="1158948" cy="3402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App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039309" y="2806626"/>
            <a:ext cx="1302489" cy="885253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컨테이너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03103" y="2254102"/>
            <a:ext cx="2477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서비스를 컨테이너 별로 격리</a:t>
            </a:r>
            <a:endParaRPr lang="ko-KR" altLang="en-US" dirty="0"/>
          </a:p>
        </p:txBody>
      </p:sp>
      <p:cxnSp>
        <p:nvCxnSpPr>
          <p:cNvPr id="69" name="직선 연결선 68"/>
          <p:cNvCxnSpPr>
            <a:endCxn id="52" idx="0"/>
          </p:cNvCxnSpPr>
          <p:nvPr/>
        </p:nvCxnSpPr>
        <p:spPr>
          <a:xfrm>
            <a:off x="2341798" y="2700670"/>
            <a:ext cx="10635" cy="1051582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54" idx="1"/>
            <a:endCxn id="56" idx="3"/>
          </p:cNvCxnSpPr>
          <p:nvPr/>
        </p:nvCxnSpPr>
        <p:spPr>
          <a:xfrm flipH="1" flipV="1">
            <a:off x="3660240" y="3241368"/>
            <a:ext cx="1839428" cy="7884"/>
          </a:xfrm>
          <a:prstGeom prst="straightConnector1">
            <a:avLst/>
          </a:prstGeom>
          <a:ln w="28575"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5499668" y="2331100"/>
            <a:ext cx="4816549" cy="1836304"/>
          </a:xfrm>
          <a:prstGeom prst="rect">
            <a:avLst/>
          </a:prstGeom>
          <a:noFill/>
          <a:ln w="28575">
            <a:solidFill>
              <a:srgbClr val="2366E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Image Registry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652183" y="3008815"/>
            <a:ext cx="4353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Apache Image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Tomcat Image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JEUS Image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WebtoB</a:t>
            </a:r>
            <a:r>
              <a:rPr lang="en-US" altLang="ko-KR" sz="1400" dirty="0" smtClean="0"/>
              <a:t> Image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38" y="2392601"/>
            <a:ext cx="554713" cy="55471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890" y="2429549"/>
            <a:ext cx="959760" cy="51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70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5952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사  </a:t>
            </a:r>
            <a:r>
              <a:rPr lang="ko-KR" altLang="en-US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례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439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IaaS(Infra as a Service)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사례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200" y="715450"/>
            <a:ext cx="1087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AK</a:t>
            </a:r>
            <a:r>
              <a:rPr lang="ko-KR" altLang="en-US" sz="1400" b="1" dirty="0" smtClean="0"/>
              <a:t>플라자 </a:t>
            </a:r>
            <a:r>
              <a:rPr lang="en-US" altLang="ko-KR" sz="1400" b="1" dirty="0" smtClean="0"/>
              <a:t>AWS EC2 </a:t>
            </a:r>
            <a:r>
              <a:rPr lang="ko-KR" altLang="en-US" sz="1400" b="1" dirty="0" smtClean="0"/>
              <a:t>환경 </a:t>
            </a:r>
            <a:r>
              <a:rPr lang="en-US" altLang="ko-KR" sz="1400" b="1" dirty="0" err="1" smtClean="0"/>
              <a:t>HyperFrame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구성</a:t>
            </a:r>
            <a:endParaRPr lang="en-US" altLang="ko-KR" sz="1400" b="1" dirty="0" smtClean="0"/>
          </a:p>
        </p:txBody>
      </p:sp>
      <p:sp>
        <p:nvSpPr>
          <p:cNvPr id="80" name="직사각형 79"/>
          <p:cNvSpPr/>
          <p:nvPr/>
        </p:nvSpPr>
        <p:spPr>
          <a:xfrm>
            <a:off x="783780" y="4199229"/>
            <a:ext cx="4835785" cy="107256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모서리가 둥근 직사각형 111">
            <a:extLst>
              <a:ext uri="{FF2B5EF4-FFF2-40B4-BE49-F238E27FC236}">
                <a16:creationId xmlns:a16="http://schemas.microsoft.com/office/drawing/2014/main" id="{49B5644A-EA09-433E-81E2-2838EFC82BAF}"/>
              </a:ext>
            </a:extLst>
          </p:cNvPr>
          <p:cNvSpPr/>
          <p:nvPr/>
        </p:nvSpPr>
        <p:spPr>
          <a:xfrm>
            <a:off x="6366000" y="1326209"/>
            <a:ext cx="5541350" cy="1352105"/>
          </a:xfrm>
          <a:prstGeom prst="roundRect">
            <a:avLst>
              <a:gd name="adj" fmla="val 0"/>
            </a:avLst>
          </a:prstGeom>
          <a:noFill/>
          <a:ln w="19050" cap="sq">
            <a:solidFill>
              <a:srgbClr val="9DC3E6"/>
            </a:solidFill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대각선 방향의 모서리가 둥근 사각형 110">
            <a:extLst>
              <a:ext uri="{FF2B5EF4-FFF2-40B4-BE49-F238E27FC236}">
                <a16:creationId xmlns:a16="http://schemas.microsoft.com/office/drawing/2014/main" id="{62FCC842-7136-4BE1-8BEC-47F616589403}"/>
              </a:ext>
            </a:extLst>
          </p:cNvPr>
          <p:cNvSpPr/>
          <p:nvPr/>
        </p:nvSpPr>
        <p:spPr>
          <a:xfrm>
            <a:off x="6546974" y="1175010"/>
            <a:ext cx="1682570" cy="315278"/>
          </a:xfrm>
          <a:prstGeom prst="round2DiagRect">
            <a:avLst>
              <a:gd name="adj1" fmla="val 37766"/>
              <a:gd name="adj2" fmla="val 0"/>
            </a:avLst>
          </a:prstGeom>
          <a:solidFill>
            <a:srgbClr val="2366EF"/>
          </a:solidFill>
          <a:ln w="12700" cap="sq">
            <a:noFill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0" tIns="0" rIns="360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사업 개요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56711" y="1583565"/>
            <a:ext cx="502928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사업명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50" b="1" dirty="0" smtClean="0">
                <a:latin typeface="맑은 고딕" panose="020B0503020000020004" pitchFamily="50" charset="-127"/>
              </a:rPr>
              <a:t>AK</a:t>
            </a:r>
            <a:r>
              <a:rPr lang="ko-KR" altLang="en-US" sz="1050" b="1" smtClean="0">
                <a:latin typeface="맑은 고딕" panose="020B0503020000020004" pitchFamily="50" charset="-127"/>
              </a:rPr>
              <a:t>플라자</a:t>
            </a:r>
            <a:r>
              <a:rPr lang="en-US" altLang="ko-KR" sz="1050" b="1" smtClean="0">
                <a:latin typeface="맑은 고딕" panose="020B0503020000020004" pitchFamily="50" charset="-127"/>
              </a:rPr>
              <a:t> OSS</a:t>
            </a:r>
            <a:r>
              <a:rPr lang="ko-KR" altLang="en-US" sz="1050" b="1" smtClean="0">
                <a:latin typeface="맑은 고딕" panose="020B0503020000020004" pitchFamily="50" charset="-127"/>
              </a:rPr>
              <a:t> </a:t>
            </a:r>
            <a:r>
              <a:rPr lang="ko-KR" altLang="en-US" sz="1050" b="1" dirty="0" smtClean="0">
                <a:latin typeface="맑은 고딕" panose="020B0503020000020004" pitchFamily="50" charset="-127"/>
              </a:rPr>
              <a:t>유지보수</a:t>
            </a:r>
            <a:r>
              <a:rPr lang="en-US" altLang="ko-KR" sz="1050" b="1" dirty="0" smtClean="0">
                <a:latin typeface="맑은 고딕" panose="020B0503020000020004" pitchFamily="50" charset="-127"/>
              </a:rPr>
              <a:t>(</a:t>
            </a:r>
            <a:r>
              <a:rPr lang="en-US" altLang="ko-KR" sz="1050" b="1" dirty="0" err="1" smtClean="0">
                <a:latin typeface="맑은 고딕" panose="020B0503020000020004" pitchFamily="50" charset="-127"/>
              </a:rPr>
              <a:t>HyperFrame</a:t>
            </a:r>
            <a:r>
              <a:rPr lang="en-US" altLang="ko-KR" sz="1050" b="1" dirty="0" smtClean="0">
                <a:latin typeface="맑은 고딕" panose="020B0503020000020004" pitchFamily="50" charset="-127"/>
              </a:rPr>
              <a:t>)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사업기간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2024.01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~ 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2026.12 (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진행중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사업 내용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AK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플라자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kumimoji="0" lang="ko-KR" altLang="en-US" sz="105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내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b="1" noProof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r>
              <a:rPr lang="ko-KR" altLang="en-US" sz="105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유지보수 및 기술지원 서비스 제공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모서리가 둥근 직사각형 111">
            <a:extLst>
              <a:ext uri="{FF2B5EF4-FFF2-40B4-BE49-F238E27FC236}">
                <a16:creationId xmlns:a16="http://schemas.microsoft.com/office/drawing/2014/main" id="{49B5644A-EA09-433E-81E2-2838EFC82BAF}"/>
              </a:ext>
            </a:extLst>
          </p:cNvPr>
          <p:cNvSpPr/>
          <p:nvPr/>
        </p:nvSpPr>
        <p:spPr>
          <a:xfrm>
            <a:off x="6366000" y="4155391"/>
            <a:ext cx="5541350" cy="1969619"/>
          </a:xfrm>
          <a:prstGeom prst="roundRect">
            <a:avLst>
              <a:gd name="adj" fmla="val 0"/>
            </a:avLst>
          </a:prstGeom>
          <a:noFill/>
          <a:ln w="19050" cap="sq">
            <a:solidFill>
              <a:srgbClr val="9DC3E6"/>
            </a:solidFill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대각선 방향의 모서리가 둥근 사각형 110">
            <a:extLst>
              <a:ext uri="{FF2B5EF4-FFF2-40B4-BE49-F238E27FC236}">
                <a16:creationId xmlns:a16="http://schemas.microsoft.com/office/drawing/2014/main" id="{62FCC842-7136-4BE1-8BEC-47F616589403}"/>
              </a:ext>
            </a:extLst>
          </p:cNvPr>
          <p:cNvSpPr/>
          <p:nvPr/>
        </p:nvSpPr>
        <p:spPr>
          <a:xfrm>
            <a:off x="6546974" y="4010010"/>
            <a:ext cx="1682570" cy="315278"/>
          </a:xfrm>
          <a:prstGeom prst="round2DiagRect">
            <a:avLst>
              <a:gd name="adj1" fmla="val 37766"/>
              <a:gd name="adj2" fmla="val 0"/>
            </a:avLst>
          </a:prstGeom>
          <a:solidFill>
            <a:srgbClr val="2366EF"/>
          </a:solidFill>
          <a:ln w="12700" cap="sq">
            <a:noFill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0" tIns="0" rIns="360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기대 효과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모서리가 둥근 직사각형 111">
            <a:extLst>
              <a:ext uri="{FF2B5EF4-FFF2-40B4-BE49-F238E27FC236}">
                <a16:creationId xmlns:a16="http://schemas.microsoft.com/office/drawing/2014/main" id="{49B5644A-EA09-433E-81E2-2838EFC82BAF}"/>
              </a:ext>
            </a:extLst>
          </p:cNvPr>
          <p:cNvSpPr/>
          <p:nvPr/>
        </p:nvSpPr>
        <p:spPr>
          <a:xfrm>
            <a:off x="6366000" y="3132649"/>
            <a:ext cx="5541350" cy="635699"/>
          </a:xfrm>
          <a:prstGeom prst="roundRect">
            <a:avLst>
              <a:gd name="adj" fmla="val 0"/>
            </a:avLst>
          </a:prstGeom>
          <a:noFill/>
          <a:ln w="19050" cap="sq">
            <a:solidFill>
              <a:srgbClr val="9DC3E6"/>
            </a:solidFill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대각선 방향의 모서리가 둥근 사각형 110">
            <a:extLst>
              <a:ext uri="{FF2B5EF4-FFF2-40B4-BE49-F238E27FC236}">
                <a16:creationId xmlns:a16="http://schemas.microsoft.com/office/drawing/2014/main" id="{62FCC842-7136-4BE1-8BEC-47F616589403}"/>
              </a:ext>
            </a:extLst>
          </p:cNvPr>
          <p:cNvSpPr/>
          <p:nvPr/>
        </p:nvSpPr>
        <p:spPr>
          <a:xfrm>
            <a:off x="6546974" y="2975010"/>
            <a:ext cx="1682570" cy="315278"/>
          </a:xfrm>
          <a:prstGeom prst="round2DiagRect">
            <a:avLst>
              <a:gd name="adj1" fmla="val 37766"/>
              <a:gd name="adj2" fmla="val 0"/>
            </a:avLst>
          </a:prstGeom>
          <a:solidFill>
            <a:srgbClr val="2366EF"/>
          </a:solidFill>
          <a:ln w="12700" cap="sq">
            <a:noFill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0" tIns="0" rIns="360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구성 정보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504206" y="4473175"/>
            <a:ext cx="545242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JEUS, </a:t>
            </a:r>
            <a:r>
              <a:rPr kumimoji="0" lang="en-US" altLang="ko-KR" sz="105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WebtoB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en-US" altLang="ko-KR" sz="105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AnyLink</a:t>
            </a:r>
            <a:r>
              <a:rPr kumimoji="0" lang="en-US" altLang="ko-KR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5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등의 상용 </a:t>
            </a:r>
            <a:r>
              <a:rPr kumimoji="0" lang="ko-KR" altLang="en-US" sz="1050" b="1" i="0" u="none" strike="noStrike" kern="1200" cap="none" spc="0" normalizeH="0" baseline="0" noProof="0" err="1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미들웨어</a:t>
            </a:r>
            <a:r>
              <a:rPr lang="ko-KR" altLang="en-US" sz="105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05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OSS</a:t>
            </a:r>
            <a:r>
              <a:rPr lang="ko-KR" altLang="en-US" sz="105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</a:t>
            </a:r>
            <a:r>
              <a:rPr lang="ko-KR" altLang="en-US" sz="105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고려한 일원화된 기술지원 서비스 가능</a:t>
            </a:r>
            <a:endParaRPr lang="en-US" altLang="ko-KR" sz="105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고객사의</a:t>
            </a:r>
            <a:r>
              <a:rPr kumimoji="0" lang="ko-KR" altLang="en-US" sz="105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5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OSS</a:t>
            </a:r>
            <a:r>
              <a:rPr lang="ko-KR" altLang="en-US" sz="105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활용 경쟁력 강화와 시스템 고도화 지원</a:t>
            </a:r>
            <a:endParaRPr lang="en-US" altLang="ko-KR" sz="105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장애 발생 시 빠른 원인 분석 및 대응 방안 도출로 이슈 해결 시간 단축</a:t>
            </a:r>
            <a:endParaRPr kumimoji="0" lang="en-US" altLang="ko-KR" sz="105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556711" y="3362052"/>
            <a:ext cx="4424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적용 솔루션 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en-US" altLang="ko-KR" sz="105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Web/WAS (Apache, </a:t>
            </a:r>
            <a:r>
              <a:rPr lang="en-US" altLang="ko-KR" sz="10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Tomcat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13500" y="1326209"/>
            <a:ext cx="5708650" cy="4798802"/>
          </a:xfrm>
          <a:prstGeom prst="rect">
            <a:avLst/>
          </a:prstGeom>
          <a:noFill/>
          <a:ln w="19050" cap="flat">
            <a:solidFill>
              <a:srgbClr val="9DC3E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81958" y="5406982"/>
            <a:ext cx="4836102" cy="337351"/>
          </a:xfrm>
          <a:prstGeom prst="rect">
            <a:avLst/>
          </a:prstGeom>
          <a:solidFill>
            <a:srgbClr val="2366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AWS Cloud Infra</a:t>
            </a:r>
            <a:endParaRPr lang="ko-KR" altLang="en-US" sz="1400" dirty="0"/>
          </a:p>
        </p:txBody>
      </p:sp>
      <p:sp>
        <p:nvSpPr>
          <p:cNvPr id="92" name="대각선 방향의 모서리가 둥근 사각형 110">
            <a:extLst>
              <a:ext uri="{FF2B5EF4-FFF2-40B4-BE49-F238E27FC236}">
                <a16:creationId xmlns:a16="http://schemas.microsoft.com/office/drawing/2014/main" id="{62FCC842-7136-4BE1-8BEC-47F616589403}"/>
              </a:ext>
            </a:extLst>
          </p:cNvPr>
          <p:cNvSpPr/>
          <p:nvPr/>
        </p:nvSpPr>
        <p:spPr>
          <a:xfrm>
            <a:off x="494348" y="1171394"/>
            <a:ext cx="2353100" cy="315278"/>
          </a:xfrm>
          <a:prstGeom prst="round2DiagRect">
            <a:avLst>
              <a:gd name="adj1" fmla="val 37766"/>
              <a:gd name="adj2" fmla="val 0"/>
            </a:avLst>
          </a:prstGeom>
          <a:solidFill>
            <a:srgbClr val="2366EF"/>
          </a:solidFill>
          <a:ln w="12700" cap="sq">
            <a:noFill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0" tIns="0" rIns="36000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AK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플라자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81958" y="2093435"/>
            <a:ext cx="1263431" cy="164697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7CDE331-C15A-43E5-B442-5ABA5285394C}"/>
              </a:ext>
            </a:extLst>
          </p:cNvPr>
          <p:cNvSpPr/>
          <p:nvPr/>
        </p:nvSpPr>
        <p:spPr bwMode="auto">
          <a:xfrm>
            <a:off x="870305" y="2196876"/>
            <a:ext cx="1086735" cy="406013"/>
          </a:xfrm>
          <a:prstGeom prst="rect">
            <a:avLst/>
          </a:prstGeom>
          <a:solidFill>
            <a:srgbClr val="2366EF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Web Server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67CDE331-C15A-43E5-B442-5ABA5285394C}"/>
              </a:ext>
            </a:extLst>
          </p:cNvPr>
          <p:cNvSpPr/>
          <p:nvPr/>
        </p:nvSpPr>
        <p:spPr bwMode="auto">
          <a:xfrm>
            <a:off x="870305" y="2920692"/>
            <a:ext cx="1086735" cy="406013"/>
          </a:xfrm>
          <a:prstGeom prst="rect">
            <a:avLst/>
          </a:prstGeom>
          <a:solidFill>
            <a:srgbClr val="003A7A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WA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70305" y="3422625"/>
            <a:ext cx="1086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EC2</a:t>
            </a:r>
            <a:endParaRPr lang="ko-KR" altLang="en-US" sz="1000" b="1" dirty="0"/>
          </a:p>
        </p:txBody>
      </p:sp>
      <p:sp>
        <p:nvSpPr>
          <p:cNvPr id="97" name="직사각형 96"/>
          <p:cNvSpPr/>
          <p:nvPr/>
        </p:nvSpPr>
        <p:spPr>
          <a:xfrm>
            <a:off x="2137890" y="2093435"/>
            <a:ext cx="1263431" cy="164697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7CDE331-C15A-43E5-B442-5ABA5285394C}"/>
              </a:ext>
            </a:extLst>
          </p:cNvPr>
          <p:cNvSpPr/>
          <p:nvPr/>
        </p:nvSpPr>
        <p:spPr bwMode="auto">
          <a:xfrm>
            <a:off x="2226237" y="2196876"/>
            <a:ext cx="1086735" cy="406013"/>
          </a:xfrm>
          <a:prstGeom prst="rect">
            <a:avLst/>
          </a:prstGeom>
          <a:solidFill>
            <a:srgbClr val="2366EF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Web Server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7CDE331-C15A-43E5-B442-5ABA5285394C}"/>
              </a:ext>
            </a:extLst>
          </p:cNvPr>
          <p:cNvSpPr/>
          <p:nvPr/>
        </p:nvSpPr>
        <p:spPr bwMode="auto">
          <a:xfrm>
            <a:off x="2226237" y="2920692"/>
            <a:ext cx="1086735" cy="406013"/>
          </a:xfrm>
          <a:prstGeom prst="rect">
            <a:avLst/>
          </a:prstGeom>
          <a:solidFill>
            <a:srgbClr val="003A7A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WA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6237" y="3422625"/>
            <a:ext cx="1086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EC2</a:t>
            </a:r>
            <a:endParaRPr lang="ko-KR" altLang="en-US" sz="1000" b="1" dirty="0"/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5C2C93DF-BEC8-42EC-AEF0-EB7048C612A1}"/>
              </a:ext>
            </a:extLst>
          </p:cNvPr>
          <p:cNvGrpSpPr/>
          <p:nvPr/>
        </p:nvGrpSpPr>
        <p:grpSpPr>
          <a:xfrm>
            <a:off x="987871" y="4290617"/>
            <a:ext cx="1184148" cy="1154163"/>
            <a:chOff x="2006235" y="5899354"/>
            <a:chExt cx="696621" cy="683628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AB94DA3F-431C-45F2-908E-BD29167E2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239" y="5899354"/>
              <a:ext cx="436612" cy="421404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3775EFD-6383-4CD5-9F20-23550B9D66E9}"/>
                </a:ext>
              </a:extLst>
            </p:cNvPr>
            <p:cNvSpPr txBox="1"/>
            <p:nvPr/>
          </p:nvSpPr>
          <p:spPr>
            <a:xfrm>
              <a:off x="2006235" y="6320758"/>
              <a:ext cx="696621" cy="262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51435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NAS #1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3303333" y="2832344"/>
            <a:ext cx="1086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...</a:t>
            </a:r>
            <a:endParaRPr lang="ko-KR" altLang="en-US" sz="2400" b="1" dirty="0"/>
          </a:p>
        </p:txBody>
      </p:sp>
      <p:sp>
        <p:nvSpPr>
          <p:cNvPr id="105" name="직사각형 104"/>
          <p:cNvSpPr/>
          <p:nvPr/>
        </p:nvSpPr>
        <p:spPr>
          <a:xfrm>
            <a:off x="4354629" y="2093435"/>
            <a:ext cx="1263431" cy="164697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7CDE331-C15A-43E5-B442-5ABA5285394C}"/>
              </a:ext>
            </a:extLst>
          </p:cNvPr>
          <p:cNvSpPr/>
          <p:nvPr/>
        </p:nvSpPr>
        <p:spPr bwMode="auto">
          <a:xfrm>
            <a:off x="4442976" y="2196876"/>
            <a:ext cx="1086735" cy="406013"/>
          </a:xfrm>
          <a:prstGeom prst="rect">
            <a:avLst/>
          </a:prstGeom>
          <a:solidFill>
            <a:srgbClr val="2366EF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Web Server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7CDE331-C15A-43E5-B442-5ABA5285394C}"/>
              </a:ext>
            </a:extLst>
          </p:cNvPr>
          <p:cNvSpPr/>
          <p:nvPr/>
        </p:nvSpPr>
        <p:spPr bwMode="auto">
          <a:xfrm>
            <a:off x="4442976" y="2920692"/>
            <a:ext cx="1086735" cy="406013"/>
          </a:xfrm>
          <a:prstGeom prst="rect">
            <a:avLst/>
          </a:prstGeom>
          <a:solidFill>
            <a:srgbClr val="003A7A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HyperFrame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0500" marR="0" lvl="0" indent="0" algn="ctr" defTabSz="5143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WA</a:t>
            </a:r>
            <a:r>
              <a: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442976" y="3422625"/>
            <a:ext cx="1086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/>
              <a:t>EC2</a:t>
            </a:r>
            <a:endParaRPr lang="ko-KR" altLang="en-US" sz="1000" b="1" dirty="0"/>
          </a:p>
        </p:txBody>
      </p:sp>
      <p:cxnSp>
        <p:nvCxnSpPr>
          <p:cNvPr id="109" name="직선 화살표 연결선 108"/>
          <p:cNvCxnSpPr>
            <a:stCxn id="94" idx="2"/>
            <a:endCxn id="95" idx="0"/>
          </p:cNvCxnSpPr>
          <p:nvPr/>
        </p:nvCxnSpPr>
        <p:spPr>
          <a:xfrm>
            <a:off x="1413673" y="2602889"/>
            <a:ext cx="0" cy="317803"/>
          </a:xfrm>
          <a:prstGeom prst="straightConnector1">
            <a:avLst/>
          </a:prstGeom>
          <a:ln>
            <a:solidFill>
              <a:srgbClr val="2366E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stCxn id="98" idx="2"/>
            <a:endCxn id="99" idx="0"/>
          </p:cNvCxnSpPr>
          <p:nvPr/>
        </p:nvCxnSpPr>
        <p:spPr>
          <a:xfrm>
            <a:off x="2769605" y="2602889"/>
            <a:ext cx="0" cy="317803"/>
          </a:xfrm>
          <a:prstGeom prst="straightConnector1">
            <a:avLst/>
          </a:prstGeom>
          <a:ln>
            <a:solidFill>
              <a:srgbClr val="2366E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>
            <a:endCxn id="107" idx="0"/>
          </p:cNvCxnSpPr>
          <p:nvPr/>
        </p:nvCxnSpPr>
        <p:spPr>
          <a:xfrm>
            <a:off x="4980373" y="2602889"/>
            <a:ext cx="5971" cy="317803"/>
          </a:xfrm>
          <a:prstGeom prst="straightConnector1">
            <a:avLst/>
          </a:prstGeom>
          <a:ln>
            <a:solidFill>
              <a:srgbClr val="2366E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93" idx="2"/>
            <a:endCxn id="80" idx="0"/>
          </p:cNvCxnSpPr>
          <p:nvPr/>
        </p:nvCxnSpPr>
        <p:spPr>
          <a:xfrm rot="16200000" flipH="1">
            <a:off x="2078263" y="3075819"/>
            <a:ext cx="458820" cy="1787999"/>
          </a:xfrm>
          <a:prstGeom prst="bentConnector3">
            <a:avLst>
              <a:gd name="adj1" fmla="val 50000"/>
            </a:avLst>
          </a:prstGeom>
          <a:ln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97" idx="2"/>
            <a:endCxn id="80" idx="0"/>
          </p:cNvCxnSpPr>
          <p:nvPr/>
        </p:nvCxnSpPr>
        <p:spPr>
          <a:xfrm rot="16200000" flipH="1">
            <a:off x="2756229" y="3753785"/>
            <a:ext cx="458820" cy="432067"/>
          </a:xfrm>
          <a:prstGeom prst="bentConnector3">
            <a:avLst/>
          </a:prstGeom>
          <a:ln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105" idx="2"/>
            <a:endCxn id="80" idx="0"/>
          </p:cNvCxnSpPr>
          <p:nvPr/>
        </p:nvCxnSpPr>
        <p:spPr>
          <a:xfrm rot="5400000">
            <a:off x="3864599" y="3077483"/>
            <a:ext cx="458820" cy="1784672"/>
          </a:xfrm>
          <a:prstGeom prst="bentConnector3">
            <a:avLst/>
          </a:prstGeom>
          <a:ln>
            <a:solidFill>
              <a:srgbClr val="2366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5C2C93DF-BEC8-42EC-AEF0-EB7048C612A1}"/>
              </a:ext>
            </a:extLst>
          </p:cNvPr>
          <p:cNvGrpSpPr/>
          <p:nvPr/>
        </p:nvGrpSpPr>
        <p:grpSpPr>
          <a:xfrm>
            <a:off x="4383014" y="4290615"/>
            <a:ext cx="742173" cy="988452"/>
            <a:chOff x="2136239" y="5899354"/>
            <a:chExt cx="436612" cy="585475"/>
          </a:xfrm>
        </p:grpSpPr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AB94DA3F-431C-45F2-908E-BD29167E2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239" y="5899354"/>
              <a:ext cx="436612" cy="421404"/>
            </a:xfrm>
            <a:prstGeom prst="rect">
              <a:avLst/>
            </a:prstGeom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3775EFD-6383-4CD5-9F20-23550B9D66E9}"/>
                </a:ext>
              </a:extLst>
            </p:cNvPr>
            <p:cNvSpPr txBox="1"/>
            <p:nvPr/>
          </p:nvSpPr>
          <p:spPr>
            <a:xfrm>
              <a:off x="2136611" y="6320758"/>
              <a:ext cx="435868" cy="164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51435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NAS #3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2C93DF-BEC8-42EC-AEF0-EB7048C612A1}"/>
              </a:ext>
            </a:extLst>
          </p:cNvPr>
          <p:cNvGrpSpPr/>
          <p:nvPr/>
        </p:nvGrpSpPr>
        <p:grpSpPr>
          <a:xfrm>
            <a:off x="2828922" y="4307964"/>
            <a:ext cx="742173" cy="988452"/>
            <a:chOff x="2136239" y="5899354"/>
            <a:chExt cx="436612" cy="585475"/>
          </a:xfrm>
        </p:grpSpPr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AB94DA3F-431C-45F2-908E-BD29167E2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239" y="5899354"/>
              <a:ext cx="436612" cy="421404"/>
            </a:xfrm>
            <a:prstGeom prst="rect">
              <a:avLst/>
            </a:prstGeom>
          </p:spPr>
        </p:pic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3775EFD-6383-4CD5-9F20-23550B9D66E9}"/>
                </a:ext>
              </a:extLst>
            </p:cNvPr>
            <p:cNvSpPr txBox="1"/>
            <p:nvPr/>
          </p:nvSpPr>
          <p:spPr>
            <a:xfrm>
              <a:off x="2136611" y="6320758"/>
              <a:ext cx="435868" cy="164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51435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NAS #2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28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10347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PaaS(Container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as a Service)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사례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–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한국지역정보개발원 차세대 지방재정 정보시스템 구축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05" name="직사각형 704">
            <a:extLst>
              <a:ext uri="{FF2B5EF4-FFF2-40B4-BE49-F238E27FC236}">
                <a16:creationId xmlns:a16="http://schemas.microsoft.com/office/drawing/2014/main" id="{D55C9499-F2AE-4C0C-B9F0-26780B85A670}"/>
              </a:ext>
            </a:extLst>
          </p:cNvPr>
          <p:cNvSpPr/>
          <p:nvPr/>
        </p:nvSpPr>
        <p:spPr bwMode="auto">
          <a:xfrm>
            <a:off x="8786827" y="665876"/>
            <a:ext cx="3162375" cy="442905"/>
          </a:xfrm>
          <a:prstGeom prst="rect">
            <a:avLst/>
          </a:prstGeom>
          <a:solidFill>
            <a:srgbClr val="0070C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335811" eaLnBrk="0" latinLnBrk="0" hangingPunct="0">
              <a:spcBef>
                <a:spcPts val="800"/>
              </a:spcBef>
              <a:buClr>
                <a:srgbClr val="45ADDB"/>
              </a:buClr>
              <a:buSzPct val="110000"/>
              <a:defRPr/>
            </a:pPr>
            <a:r>
              <a:rPr lang="ko-KR" altLang="en-US" sz="2400" b="1" dirty="0">
                <a:solidFill>
                  <a:prstClr val="white"/>
                </a:solidFill>
                <a:latin typeface="맑은 고딕" panose="020F0502020204030204"/>
                <a:ea typeface="맑은 고딕" pitchFamily="50" charset="-127"/>
              </a:rPr>
              <a:t>구성 정보</a:t>
            </a:r>
          </a:p>
        </p:txBody>
      </p:sp>
      <p:graphicFrame>
        <p:nvGraphicFramePr>
          <p:cNvPr id="706" name="Group 4">
            <a:extLst>
              <a:ext uri="{FF2B5EF4-FFF2-40B4-BE49-F238E27FC236}">
                <a16:creationId xmlns:a16="http://schemas.microsoft.com/office/drawing/2014/main" id="{A80221F9-F87A-4D28-BED3-6CFEBAB3C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828107"/>
              </p:ext>
            </p:extLst>
          </p:nvPr>
        </p:nvGraphicFramePr>
        <p:xfrm>
          <a:off x="8797272" y="1302049"/>
          <a:ext cx="3144536" cy="5093839"/>
        </p:xfrm>
        <a:graphic>
          <a:graphicData uri="http://schemas.openxmlformats.org/drawingml/2006/table">
            <a:tbl>
              <a:tblPr/>
              <a:tblGrid>
                <a:gridCol w="137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9164">
                  <a:extLst>
                    <a:ext uri="{9D8B030D-6E8A-4147-A177-3AD203B41FA5}">
                      <a16:colId xmlns:a16="http://schemas.microsoft.com/office/drawing/2014/main" val="691218945"/>
                    </a:ext>
                  </a:extLst>
                </a:gridCol>
              </a:tblGrid>
              <a:tr h="460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WebtoB 5.0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WAS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JEUS 8.5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IMDG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HazleCast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155307"/>
                  </a:ext>
                </a:extLst>
              </a:tr>
              <a:tr h="460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Framework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Spring 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18615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OS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581688"/>
                  </a:ext>
                </a:extLst>
              </a:tr>
              <a:tr h="4102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Platform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OpenShift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861362"/>
                  </a:ext>
                </a:extLst>
              </a:tr>
              <a:tr h="3918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DataBase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Oracle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64513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JDK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422017"/>
                  </a:ext>
                </a:extLst>
              </a:tr>
              <a:tr h="28231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5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3366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기대 효과</a:t>
                      </a: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7259">
                <a:tc gridSpan="2">
                  <a:txBody>
                    <a:bodyPr/>
                    <a:lstStyle/>
                    <a:p>
                      <a:pPr marL="114300" marR="0" lvl="0" indent="-1143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신기술 도입 및 시스템 고도화 통한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안정적인 시스템 기반 구성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14300" marR="0" lvl="0" indent="-1143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클라우드 기반 비즈니스 유연한 확장 확보</a:t>
                      </a:r>
                      <a:endParaRPr kumimoji="1" lang="en-US" altLang="ko-KR" sz="1200" b="0" i="0" u="none" strike="noStrike" cap="none" spc="-10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14300" marR="0" lvl="0" indent="-1143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WAS : 680 Core / WEB : 320 Core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7" name="직사각형 706">
            <a:extLst>
              <a:ext uri="{FF2B5EF4-FFF2-40B4-BE49-F238E27FC236}">
                <a16:creationId xmlns:a16="http://schemas.microsoft.com/office/drawing/2014/main" id="{EB8439E4-C60E-4ADD-883F-08622FB3F3A6}"/>
              </a:ext>
            </a:extLst>
          </p:cNvPr>
          <p:cNvSpPr/>
          <p:nvPr/>
        </p:nvSpPr>
        <p:spPr bwMode="auto">
          <a:xfrm>
            <a:off x="298904" y="676978"/>
            <a:ext cx="8436333" cy="442905"/>
          </a:xfrm>
          <a:prstGeom prst="rect">
            <a:avLst/>
          </a:prstGeom>
          <a:solidFill>
            <a:srgbClr val="0070C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335811" eaLnBrk="0" latinLnBrk="0" hangingPunct="0">
              <a:spcBef>
                <a:spcPts val="800"/>
              </a:spcBef>
              <a:buClr>
                <a:srgbClr val="45ADDB"/>
              </a:buClr>
              <a:buSzPct val="110000"/>
              <a:defRPr/>
            </a:pPr>
            <a:r>
              <a:rPr lang="ko-KR" altLang="en-US" sz="2400" b="1" kern="0" spc="-133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rgbClr val="FFFFFF"/>
                </a:solidFill>
                <a:latin typeface="맑은 고딕"/>
                <a:ea typeface="맑은 고딕"/>
              </a:rPr>
              <a:t>차세대 지방재정 정보시스템 구성도</a:t>
            </a:r>
          </a:p>
        </p:txBody>
      </p:sp>
      <p:sp>
        <p:nvSpPr>
          <p:cNvPr id="708" name="이등변 삼각형 707">
            <a:extLst>
              <a:ext uri="{FF2B5EF4-FFF2-40B4-BE49-F238E27FC236}">
                <a16:creationId xmlns:a16="http://schemas.microsoft.com/office/drawing/2014/main" id="{B0B2257A-5FF2-4C5B-8278-A780C2F5AA90}"/>
              </a:ext>
            </a:extLst>
          </p:cNvPr>
          <p:cNvSpPr/>
          <p:nvPr/>
        </p:nvSpPr>
        <p:spPr>
          <a:xfrm>
            <a:off x="2066880" y="1216643"/>
            <a:ext cx="460455" cy="268497"/>
          </a:xfrm>
          <a:prstGeom prst="triangle">
            <a:avLst/>
          </a:prstGeom>
          <a:solidFill>
            <a:srgbClr val="073369"/>
          </a:solidFill>
          <a:ln w="12700" cap="sq" cmpd="sng" algn="ctr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467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09" name="모서리가 둥근 직사각형 111">
            <a:extLst>
              <a:ext uri="{FF2B5EF4-FFF2-40B4-BE49-F238E27FC236}">
                <a16:creationId xmlns:a16="http://schemas.microsoft.com/office/drawing/2014/main" id="{81B55A5B-745C-4806-8BD1-4D93C89A0668}"/>
              </a:ext>
            </a:extLst>
          </p:cNvPr>
          <p:cNvSpPr/>
          <p:nvPr/>
        </p:nvSpPr>
        <p:spPr>
          <a:xfrm>
            <a:off x="671998" y="1302050"/>
            <a:ext cx="2233841" cy="4122688"/>
          </a:xfrm>
          <a:prstGeom prst="rect">
            <a:avLst/>
          </a:prstGeom>
          <a:solidFill>
            <a:sysClr val="window" lastClr="FFFFFF"/>
          </a:solidFill>
          <a:ln w="9525" cap="sq" cmpd="sng" algn="ctr">
            <a:solidFill>
              <a:srgbClr val="536C8B"/>
            </a:solidFill>
            <a:prstDash val="solid"/>
            <a:miter/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67" kern="0">
                <a:solidFill>
                  <a:prstClr val="black"/>
                </a:solidFill>
                <a:latin typeface="+mn-ea"/>
              </a:rPr>
              <a:t> </a:t>
            </a:r>
            <a:endParaRPr lang="ko-KR" altLang="en-US" sz="1467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10" name="대각선 방향의 모서리가 둥근 사각형 110">
            <a:extLst>
              <a:ext uri="{FF2B5EF4-FFF2-40B4-BE49-F238E27FC236}">
                <a16:creationId xmlns:a16="http://schemas.microsoft.com/office/drawing/2014/main" id="{07D7CFEC-6D3A-488F-AA83-F0205B3166D9}"/>
              </a:ext>
            </a:extLst>
          </p:cNvPr>
          <p:cNvSpPr/>
          <p:nvPr/>
        </p:nvSpPr>
        <p:spPr>
          <a:xfrm>
            <a:off x="769726" y="1212350"/>
            <a:ext cx="1527383" cy="301411"/>
          </a:xfrm>
          <a:prstGeom prst="round2DiagRect">
            <a:avLst>
              <a:gd name="adj1" fmla="val 37766"/>
              <a:gd name="adj2" fmla="val 0"/>
            </a:avLst>
          </a:prstGeom>
          <a:solidFill>
            <a:srgbClr val="536C8B"/>
          </a:solidFill>
          <a:ln w="12700" cap="sq" cmpd="sng" algn="ctr">
            <a:noFill/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1" kern="0" dirty="0" err="1">
                <a:solidFill>
                  <a:prstClr val="white">
                    <a:lumMod val="95000"/>
                  </a:prstClr>
                </a:solidFill>
                <a:latin typeface="+mn-ea"/>
              </a:rPr>
              <a:t>대민망</a:t>
            </a:r>
            <a:r>
              <a:rPr lang="ko-KR" altLang="en-US" sz="11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 운영 환경</a:t>
            </a:r>
          </a:p>
        </p:txBody>
      </p:sp>
      <p:sp>
        <p:nvSpPr>
          <p:cNvPr id="711" name="이등변 삼각형 710">
            <a:extLst>
              <a:ext uri="{FF2B5EF4-FFF2-40B4-BE49-F238E27FC236}">
                <a16:creationId xmlns:a16="http://schemas.microsoft.com/office/drawing/2014/main" id="{6F03D9AE-9F12-4065-BA08-D2DC0AE1E590}"/>
              </a:ext>
            </a:extLst>
          </p:cNvPr>
          <p:cNvSpPr/>
          <p:nvPr/>
        </p:nvSpPr>
        <p:spPr>
          <a:xfrm>
            <a:off x="6362542" y="1216643"/>
            <a:ext cx="460455" cy="268497"/>
          </a:xfrm>
          <a:prstGeom prst="triangle">
            <a:avLst/>
          </a:prstGeom>
          <a:solidFill>
            <a:srgbClr val="073369"/>
          </a:solidFill>
          <a:ln w="12700" cap="sq" cmpd="sng" algn="ctr">
            <a:noFill/>
            <a:prstDash val="solid"/>
            <a:miter/>
          </a:ln>
          <a:effectLst>
            <a:outerShdw blurRad="139700" dist="38100" dir="2700000" algn="tl" rotWithShape="0">
              <a:prstClr val="black">
                <a:alpha val="7000"/>
              </a:prstClr>
            </a:outerShdw>
          </a:effectLst>
        </p:spPr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467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12" name="모서리가 둥근 직사각형 111">
            <a:extLst>
              <a:ext uri="{FF2B5EF4-FFF2-40B4-BE49-F238E27FC236}">
                <a16:creationId xmlns:a16="http://schemas.microsoft.com/office/drawing/2014/main" id="{2A8B887A-329A-4E25-B704-543379A26B29}"/>
              </a:ext>
            </a:extLst>
          </p:cNvPr>
          <p:cNvSpPr/>
          <p:nvPr/>
        </p:nvSpPr>
        <p:spPr>
          <a:xfrm>
            <a:off x="3257071" y="1302051"/>
            <a:ext cx="5406821" cy="4122689"/>
          </a:xfrm>
          <a:prstGeom prst="rect">
            <a:avLst/>
          </a:prstGeom>
          <a:solidFill>
            <a:sysClr val="window" lastClr="FFFFFF"/>
          </a:solidFill>
          <a:ln w="9525" cap="sq" cmpd="sng" algn="ctr">
            <a:solidFill>
              <a:srgbClr val="536C8B"/>
            </a:solidFill>
            <a:prstDash val="solid"/>
            <a:miter/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67" kern="0" dirty="0">
                <a:solidFill>
                  <a:prstClr val="black"/>
                </a:solidFill>
                <a:latin typeface="+mn-ea"/>
              </a:rPr>
              <a:t> </a:t>
            </a:r>
            <a:endParaRPr lang="ko-KR" altLang="en-US" sz="1467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13" name="대각선 방향의 모서리가 둥근 사각형 110">
            <a:extLst>
              <a:ext uri="{FF2B5EF4-FFF2-40B4-BE49-F238E27FC236}">
                <a16:creationId xmlns:a16="http://schemas.microsoft.com/office/drawing/2014/main" id="{EC8AC4B9-7744-4A5B-95B3-9A14D88EC1BF}"/>
              </a:ext>
            </a:extLst>
          </p:cNvPr>
          <p:cNvSpPr/>
          <p:nvPr/>
        </p:nvSpPr>
        <p:spPr>
          <a:xfrm>
            <a:off x="3354800" y="1212350"/>
            <a:ext cx="3245284" cy="301411"/>
          </a:xfrm>
          <a:prstGeom prst="round2DiagRect">
            <a:avLst>
              <a:gd name="adj1" fmla="val 37766"/>
              <a:gd name="adj2" fmla="val 0"/>
            </a:avLst>
          </a:prstGeom>
          <a:solidFill>
            <a:srgbClr val="536C8B"/>
          </a:solidFill>
          <a:ln w="12700" cap="sq" cmpd="sng" algn="ctr">
            <a:noFill/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1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행정망 운영 환경</a:t>
            </a:r>
          </a:p>
        </p:txBody>
      </p:sp>
      <p:sp>
        <p:nvSpPr>
          <p:cNvPr id="714" name="직사각형 713">
            <a:extLst>
              <a:ext uri="{FF2B5EF4-FFF2-40B4-BE49-F238E27FC236}">
                <a16:creationId xmlns:a16="http://schemas.microsoft.com/office/drawing/2014/main" id="{09C5881D-025D-4316-8314-70F391121239}"/>
              </a:ext>
            </a:extLst>
          </p:cNvPr>
          <p:cNvSpPr/>
          <p:nvPr/>
        </p:nvSpPr>
        <p:spPr>
          <a:xfrm>
            <a:off x="769725" y="1744795"/>
            <a:ext cx="2041171" cy="291455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>
            <a:solidFill>
              <a:sysClr val="window" lastClr="FFFFFF">
                <a:lumMod val="65000"/>
              </a:sysClr>
            </a:solidFill>
          </a:ln>
        </p:spPr>
        <p:txBody>
          <a:bodyPr vert="horz" wrap="square" lIns="72000" tIns="60960" rIns="121920" bIns="60960" numCol="1" rtlCol="0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90</a:t>
            </a:r>
            <a:r>
              <a:rPr lang="en-US" altLang="ko-KR" sz="1000" b="1" dirty="0" err="1">
                <a:solidFill>
                  <a:srgbClr val="0070C0"/>
                </a:solidFill>
                <a:latin typeface="+mn-ea"/>
              </a:rPr>
              <a:t>vC</a:t>
            </a:r>
            <a:endParaRPr lang="en-US" altLang="ko-KR" sz="1000" b="1" dirty="0">
              <a:solidFill>
                <a:srgbClr val="0070C0"/>
              </a:solidFill>
              <a:latin typeface="+mn-ea"/>
            </a:endParaRPr>
          </a:p>
          <a:p>
            <a:pPr defTabSz="9143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800" spc="-93" dirty="0">
                <a:solidFill>
                  <a:prstClr val="black"/>
                </a:solidFill>
                <a:latin typeface="+mn-ea"/>
              </a:rPr>
              <a:t>대민</a:t>
            </a:r>
            <a:r>
              <a:rPr lang="en-US" altLang="ko-KR" sz="800" spc="-93" dirty="0">
                <a:solidFill>
                  <a:prstClr val="black"/>
                </a:solidFill>
                <a:latin typeface="+mn-ea"/>
              </a:rPr>
              <a:t>WEB</a:t>
            </a:r>
            <a:r>
              <a:rPr lang="ko-KR" altLang="en-US" sz="800" spc="-93" dirty="0">
                <a:solidFill>
                  <a:prstClr val="black"/>
                </a:solidFill>
                <a:latin typeface="+mn-ea"/>
              </a:rPr>
              <a:t>용 노드 </a:t>
            </a:r>
            <a:r>
              <a:rPr lang="en-US" altLang="ko-KR" sz="800" spc="-93" dirty="0">
                <a:solidFill>
                  <a:prstClr val="black"/>
                </a:solidFill>
                <a:latin typeface="+mn-ea"/>
              </a:rPr>
              <a:t>(3</a:t>
            </a:r>
            <a:r>
              <a:rPr lang="ko-KR" altLang="en-US" sz="800" spc="-93" dirty="0">
                <a:solidFill>
                  <a:prstClr val="black"/>
                </a:solidFill>
                <a:latin typeface="+mn-ea"/>
              </a:rPr>
              <a:t>대</a:t>
            </a:r>
            <a:r>
              <a:rPr lang="en-US" altLang="ko-KR" sz="800" spc="-93" dirty="0">
                <a:solidFill>
                  <a:prstClr val="black"/>
                </a:solidFill>
                <a:latin typeface="+mn-ea"/>
              </a:rPr>
              <a:t>/240vC)</a:t>
            </a:r>
            <a:endParaRPr lang="ko-KR" altLang="en-US" sz="1000" spc="-93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15" name="직사각형 714">
            <a:extLst>
              <a:ext uri="{FF2B5EF4-FFF2-40B4-BE49-F238E27FC236}">
                <a16:creationId xmlns:a16="http://schemas.microsoft.com/office/drawing/2014/main" id="{CBB19AC9-EAA1-4552-B350-8C7DE34D70E1}"/>
              </a:ext>
            </a:extLst>
          </p:cNvPr>
          <p:cNvSpPr/>
          <p:nvPr/>
        </p:nvSpPr>
        <p:spPr>
          <a:xfrm>
            <a:off x="769724" y="1560811"/>
            <a:ext cx="2041171" cy="208556"/>
          </a:xfrm>
          <a:prstGeom prst="rect">
            <a:avLst/>
          </a:prstGeom>
          <a:solidFill>
            <a:srgbClr val="3BBB47"/>
          </a:solidFill>
          <a:ln w="6350" cap="sq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latinLnBrk="0">
              <a:defRPr/>
            </a:pPr>
            <a:r>
              <a:rPr lang="ko-KR" altLang="en-US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대민시스템 </a:t>
            </a:r>
            <a:r>
              <a:rPr lang="en-US" altLang="ko-KR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WEB</a:t>
            </a:r>
            <a:endParaRPr lang="ko-KR" altLang="en-US" sz="1000" b="1" kern="0" dirty="0">
              <a:solidFill>
                <a:prstClr val="white">
                  <a:lumMod val="95000"/>
                </a:prstClr>
              </a:solidFill>
              <a:latin typeface="+mn-ea"/>
            </a:endParaRPr>
          </a:p>
        </p:txBody>
      </p:sp>
      <p:sp>
        <p:nvSpPr>
          <p:cNvPr id="716" name="AutoShape 37">
            <a:extLst>
              <a:ext uri="{FF2B5EF4-FFF2-40B4-BE49-F238E27FC236}">
                <a16:creationId xmlns:a16="http://schemas.microsoft.com/office/drawing/2014/main" id="{7982F227-5D26-4CF7-840F-BCFCFA9E7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69" y="1864303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지방재정</a:t>
            </a: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365</a:t>
            </a: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(16vC/4P)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17" name="AutoShape 37">
            <a:extLst>
              <a:ext uri="{FF2B5EF4-FFF2-40B4-BE49-F238E27FC236}">
                <a16:creationId xmlns:a16="http://schemas.microsoft.com/office/drawing/2014/main" id="{46A24153-1645-4F7F-A5B7-AEA0785EA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69" y="2162908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주민참여예산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(8vC/4P)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18" name="AutoShape 37">
            <a:extLst>
              <a:ext uri="{FF2B5EF4-FFF2-40B4-BE49-F238E27FC236}">
                <a16:creationId xmlns:a16="http://schemas.microsoft.com/office/drawing/2014/main" id="{876F504B-437C-4A9E-A43B-5107B0FA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69" y="2461514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온라인대금청구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(16vC/4P)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19" name="AutoShape 37">
            <a:extLst>
              <a:ext uri="{FF2B5EF4-FFF2-40B4-BE49-F238E27FC236}">
                <a16:creationId xmlns:a16="http://schemas.microsoft.com/office/drawing/2014/main" id="{DEDB1F1D-6170-4853-A6DF-C44B36774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69" y="2760119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지방보조금포탈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(32vC/4P)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20" name="AutoShape 37">
            <a:extLst>
              <a:ext uri="{FF2B5EF4-FFF2-40B4-BE49-F238E27FC236}">
                <a16:creationId xmlns:a16="http://schemas.microsoft.com/office/drawing/2014/main" id="{B2BDA64E-135B-4EAE-BBC9-C30525424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69" y="3357330"/>
            <a:ext cx="1806437" cy="268497"/>
          </a:xfrm>
          <a:prstGeom prst="roundRect">
            <a:avLst>
              <a:gd name="adj" fmla="val 4750"/>
            </a:avLst>
          </a:prstGeom>
          <a:solidFill>
            <a:schemeClr val="bg1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대민시뮬레이션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(4vC/4P)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21" name="AutoShape 37">
            <a:extLst>
              <a:ext uri="{FF2B5EF4-FFF2-40B4-BE49-F238E27FC236}">
                <a16:creationId xmlns:a16="http://schemas.microsoft.com/office/drawing/2014/main" id="{5F82FF9B-A2F9-4DEB-B4A9-9D9152902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169" y="3655934"/>
            <a:ext cx="1806437" cy="268497"/>
          </a:xfrm>
          <a:prstGeom prst="roundRect">
            <a:avLst>
              <a:gd name="adj" fmla="val 4750"/>
            </a:avLst>
          </a:prstGeom>
          <a:solidFill>
            <a:schemeClr val="bg1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통계취합포탈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(2vC/2P)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22" name="직사각형 721">
            <a:extLst>
              <a:ext uri="{FF2B5EF4-FFF2-40B4-BE49-F238E27FC236}">
                <a16:creationId xmlns:a16="http://schemas.microsoft.com/office/drawing/2014/main" id="{AD85FFC0-1FD2-4013-9EBF-EF419C3269E3}"/>
              </a:ext>
            </a:extLst>
          </p:cNvPr>
          <p:cNvSpPr/>
          <p:nvPr/>
        </p:nvSpPr>
        <p:spPr>
          <a:xfrm>
            <a:off x="768333" y="5022283"/>
            <a:ext cx="2041171" cy="32586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>
            <a:solidFill>
              <a:sysClr val="window" lastClr="FFFFFF">
                <a:lumMod val="65000"/>
              </a:sysClr>
            </a:solidFill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5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Worker Node (3EA)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sp>
        <p:nvSpPr>
          <p:cNvPr id="723" name="직사각형 722">
            <a:extLst>
              <a:ext uri="{FF2B5EF4-FFF2-40B4-BE49-F238E27FC236}">
                <a16:creationId xmlns:a16="http://schemas.microsoft.com/office/drawing/2014/main" id="{25DF30D6-BC52-44A0-99CE-C2946722C075}"/>
              </a:ext>
            </a:extLst>
          </p:cNvPr>
          <p:cNvSpPr/>
          <p:nvPr/>
        </p:nvSpPr>
        <p:spPr>
          <a:xfrm>
            <a:off x="768333" y="4815669"/>
            <a:ext cx="2041171" cy="208556"/>
          </a:xfrm>
          <a:prstGeom prst="rect">
            <a:avLst/>
          </a:prstGeom>
          <a:solidFill>
            <a:srgbClr val="B17ED8"/>
          </a:solidFill>
          <a:ln w="6350" cap="sq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latinLnBrk="0">
              <a:defRPr/>
            </a:pPr>
            <a:r>
              <a:rPr lang="en-US" altLang="ko-KR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OpenShift</a:t>
            </a:r>
            <a:endParaRPr lang="ko-KR" altLang="en-US" sz="1000" b="1" kern="0" dirty="0">
              <a:solidFill>
                <a:prstClr val="white">
                  <a:lumMod val="95000"/>
                </a:prstClr>
              </a:solidFill>
              <a:latin typeface="+mn-ea"/>
            </a:endParaRPr>
          </a:p>
        </p:txBody>
      </p:sp>
      <p:grpSp>
        <p:nvGrpSpPr>
          <p:cNvPr id="724" name="그룹 723">
            <a:extLst>
              <a:ext uri="{FF2B5EF4-FFF2-40B4-BE49-F238E27FC236}">
                <a16:creationId xmlns:a16="http://schemas.microsoft.com/office/drawing/2014/main" id="{05C1B506-D992-4E59-9492-723EEE7812A0}"/>
              </a:ext>
            </a:extLst>
          </p:cNvPr>
          <p:cNvGrpSpPr/>
          <p:nvPr/>
        </p:nvGrpSpPr>
        <p:grpSpPr>
          <a:xfrm>
            <a:off x="898169" y="5071441"/>
            <a:ext cx="561565" cy="243895"/>
            <a:chOff x="864216" y="5159327"/>
            <a:chExt cx="629633" cy="252000"/>
          </a:xfrm>
        </p:grpSpPr>
        <p:grpSp>
          <p:nvGrpSpPr>
            <p:cNvPr id="725" name="그룹 724">
              <a:extLst>
                <a:ext uri="{FF2B5EF4-FFF2-40B4-BE49-F238E27FC236}">
                  <a16:creationId xmlns:a16="http://schemas.microsoft.com/office/drawing/2014/main" id="{C8EE4AC0-568F-4D40-B24B-9465F65F32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4216" y="5159327"/>
              <a:ext cx="189365" cy="252000"/>
              <a:chOff x="3128963" y="3981450"/>
              <a:chExt cx="412750" cy="5492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38" name="Freeform 58">
                <a:extLst>
                  <a:ext uri="{FF2B5EF4-FFF2-40B4-BE49-F238E27FC236}">
                    <a16:creationId xmlns:a16="http://schemas.microsoft.com/office/drawing/2014/main" id="{D27759B2-C63D-4C09-BB52-E3BAAF347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28963" y="3981450"/>
                <a:ext cx="412750" cy="549275"/>
              </a:xfrm>
              <a:custGeom>
                <a:avLst/>
                <a:gdLst>
                  <a:gd name="T0" fmla="*/ 68 w 477"/>
                  <a:gd name="T1" fmla="*/ 636 h 636"/>
                  <a:gd name="T2" fmla="*/ 0 w 477"/>
                  <a:gd name="T3" fmla="*/ 568 h 636"/>
                  <a:gd name="T4" fmla="*/ 0 w 477"/>
                  <a:gd name="T5" fmla="*/ 568 h 636"/>
                  <a:gd name="T6" fmla="*/ 0 w 477"/>
                  <a:gd name="T7" fmla="*/ 68 h 636"/>
                  <a:gd name="T8" fmla="*/ 68 w 477"/>
                  <a:gd name="T9" fmla="*/ 0 h 636"/>
                  <a:gd name="T10" fmla="*/ 68 w 477"/>
                  <a:gd name="T11" fmla="*/ 0 h 636"/>
                  <a:gd name="T12" fmla="*/ 409 w 477"/>
                  <a:gd name="T13" fmla="*/ 0 h 636"/>
                  <a:gd name="T14" fmla="*/ 477 w 477"/>
                  <a:gd name="T15" fmla="*/ 68 h 636"/>
                  <a:gd name="T16" fmla="*/ 477 w 477"/>
                  <a:gd name="T17" fmla="*/ 68 h 636"/>
                  <a:gd name="T18" fmla="*/ 477 w 477"/>
                  <a:gd name="T19" fmla="*/ 568 h 636"/>
                  <a:gd name="T20" fmla="*/ 477 w 477"/>
                  <a:gd name="T21" fmla="*/ 568 h 636"/>
                  <a:gd name="T22" fmla="*/ 409 w 477"/>
                  <a:gd name="T23" fmla="*/ 636 h 636"/>
                  <a:gd name="T24" fmla="*/ 409 w 477"/>
                  <a:gd name="T25" fmla="*/ 636 h 636"/>
                  <a:gd name="T26" fmla="*/ 68 w 477"/>
                  <a:gd name="T27" fmla="*/ 636 h 636"/>
                  <a:gd name="T28" fmla="*/ 32 w 477"/>
                  <a:gd name="T29" fmla="*/ 68 h 636"/>
                  <a:gd name="T30" fmla="*/ 32 w 477"/>
                  <a:gd name="T31" fmla="*/ 568 h 636"/>
                  <a:gd name="T32" fmla="*/ 68 w 477"/>
                  <a:gd name="T33" fmla="*/ 604 h 636"/>
                  <a:gd name="T34" fmla="*/ 68 w 477"/>
                  <a:gd name="T35" fmla="*/ 604 h 636"/>
                  <a:gd name="T36" fmla="*/ 409 w 477"/>
                  <a:gd name="T37" fmla="*/ 604 h 636"/>
                  <a:gd name="T38" fmla="*/ 445 w 477"/>
                  <a:gd name="T39" fmla="*/ 568 h 636"/>
                  <a:gd name="T40" fmla="*/ 445 w 477"/>
                  <a:gd name="T41" fmla="*/ 568 h 636"/>
                  <a:gd name="T42" fmla="*/ 445 w 477"/>
                  <a:gd name="T43" fmla="*/ 68 h 636"/>
                  <a:gd name="T44" fmla="*/ 409 w 477"/>
                  <a:gd name="T45" fmla="*/ 32 h 636"/>
                  <a:gd name="T46" fmla="*/ 409 w 477"/>
                  <a:gd name="T47" fmla="*/ 32 h 636"/>
                  <a:gd name="T48" fmla="*/ 68 w 477"/>
                  <a:gd name="T49" fmla="*/ 32 h 636"/>
                  <a:gd name="T50" fmla="*/ 32 w 477"/>
                  <a:gd name="T51" fmla="*/ 68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7" h="636">
                    <a:moveTo>
                      <a:pt x="68" y="636"/>
                    </a:moveTo>
                    <a:cubicBezTo>
                      <a:pt x="30" y="636"/>
                      <a:pt x="0" y="606"/>
                      <a:pt x="0" y="568"/>
                    </a:cubicBezTo>
                    <a:cubicBezTo>
                      <a:pt x="0" y="568"/>
                      <a:pt x="0" y="568"/>
                      <a:pt x="0" y="5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31"/>
                      <a:pt x="30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447" y="0"/>
                      <a:pt x="477" y="31"/>
                      <a:pt x="477" y="68"/>
                    </a:cubicBezTo>
                    <a:cubicBezTo>
                      <a:pt x="477" y="68"/>
                      <a:pt x="477" y="68"/>
                      <a:pt x="477" y="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606"/>
                      <a:pt x="447" y="636"/>
                      <a:pt x="409" y="636"/>
                    </a:cubicBezTo>
                    <a:cubicBezTo>
                      <a:pt x="409" y="636"/>
                      <a:pt x="409" y="636"/>
                      <a:pt x="409" y="636"/>
                    </a:cubicBezTo>
                    <a:cubicBezTo>
                      <a:pt x="68" y="636"/>
                      <a:pt x="68" y="636"/>
                      <a:pt x="68" y="636"/>
                    </a:cubicBezTo>
                    <a:close/>
                    <a:moveTo>
                      <a:pt x="32" y="68"/>
                    </a:moveTo>
                    <a:cubicBezTo>
                      <a:pt x="32" y="568"/>
                      <a:pt x="32" y="568"/>
                      <a:pt x="32" y="568"/>
                    </a:cubicBezTo>
                    <a:cubicBezTo>
                      <a:pt x="32" y="588"/>
                      <a:pt x="48" y="604"/>
                      <a:pt x="68" y="604"/>
                    </a:cubicBezTo>
                    <a:cubicBezTo>
                      <a:pt x="68" y="604"/>
                      <a:pt x="68" y="604"/>
                      <a:pt x="68" y="604"/>
                    </a:cubicBezTo>
                    <a:cubicBezTo>
                      <a:pt x="409" y="604"/>
                      <a:pt x="409" y="604"/>
                      <a:pt x="409" y="604"/>
                    </a:cubicBezTo>
                    <a:cubicBezTo>
                      <a:pt x="429" y="604"/>
                      <a:pt x="445" y="588"/>
                      <a:pt x="445" y="568"/>
                    </a:cubicBezTo>
                    <a:cubicBezTo>
                      <a:pt x="445" y="568"/>
                      <a:pt x="445" y="568"/>
                      <a:pt x="445" y="568"/>
                    </a:cubicBezTo>
                    <a:cubicBezTo>
                      <a:pt x="445" y="68"/>
                      <a:pt x="445" y="68"/>
                      <a:pt x="445" y="68"/>
                    </a:cubicBezTo>
                    <a:cubicBezTo>
                      <a:pt x="445" y="49"/>
                      <a:pt x="429" y="32"/>
                      <a:pt x="409" y="32"/>
                    </a:cubicBezTo>
                    <a:cubicBezTo>
                      <a:pt x="409" y="32"/>
                      <a:pt x="409" y="32"/>
                      <a:pt x="409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8" y="32"/>
                      <a:pt x="32" y="49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9" name="Freeform 59">
                <a:extLst>
                  <a:ext uri="{FF2B5EF4-FFF2-40B4-BE49-F238E27FC236}">
                    <a16:creationId xmlns:a16="http://schemas.microsoft.com/office/drawing/2014/main" id="{801EC2EF-1031-493A-954B-204C18E91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5650" y="4360863"/>
                <a:ext cx="80963" cy="80963"/>
              </a:xfrm>
              <a:custGeom>
                <a:avLst/>
                <a:gdLst>
                  <a:gd name="T0" fmla="*/ 0 w 94"/>
                  <a:gd name="T1" fmla="*/ 47 h 94"/>
                  <a:gd name="T2" fmla="*/ 47 w 94"/>
                  <a:gd name="T3" fmla="*/ 0 h 94"/>
                  <a:gd name="T4" fmla="*/ 47 w 94"/>
                  <a:gd name="T5" fmla="*/ 0 h 94"/>
                  <a:gd name="T6" fmla="*/ 94 w 94"/>
                  <a:gd name="T7" fmla="*/ 47 h 94"/>
                  <a:gd name="T8" fmla="*/ 94 w 94"/>
                  <a:gd name="T9" fmla="*/ 47 h 94"/>
                  <a:gd name="T10" fmla="*/ 47 w 94"/>
                  <a:gd name="T11" fmla="*/ 94 h 94"/>
                  <a:gd name="T12" fmla="*/ 47 w 94"/>
                  <a:gd name="T13" fmla="*/ 94 h 94"/>
                  <a:gd name="T14" fmla="*/ 0 w 94"/>
                  <a:gd name="T15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94">
                    <a:moveTo>
                      <a:pt x="0" y="47"/>
                    </a:move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4" y="21"/>
                      <a:pt x="94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4" y="73"/>
                      <a:pt x="73" y="94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21" y="94"/>
                      <a:pt x="0" y="73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40" name="Freeform 60">
                <a:extLst>
                  <a:ext uri="{FF2B5EF4-FFF2-40B4-BE49-F238E27FC236}">
                    <a16:creationId xmlns:a16="http://schemas.microsoft.com/office/drawing/2014/main" id="{9DE8DFC1-08E0-444B-91AF-71C4CDA0E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052888"/>
                <a:ext cx="293688" cy="55563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41" name="Freeform 61">
                <a:extLst>
                  <a:ext uri="{FF2B5EF4-FFF2-40B4-BE49-F238E27FC236}">
                    <a16:creationId xmlns:a16="http://schemas.microsoft.com/office/drawing/2014/main" id="{C090BF6D-1A9C-495D-9184-2E5D3197C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129088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42" name="Freeform 62">
                <a:extLst>
                  <a:ext uri="{FF2B5EF4-FFF2-40B4-BE49-F238E27FC236}">
                    <a16:creationId xmlns:a16="http://schemas.microsoft.com/office/drawing/2014/main" id="{4159433E-500B-41E2-B0D3-77866B83E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206875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726" name="그룹 725">
              <a:extLst>
                <a:ext uri="{FF2B5EF4-FFF2-40B4-BE49-F238E27FC236}">
                  <a16:creationId xmlns:a16="http://schemas.microsoft.com/office/drawing/2014/main" id="{F0E93C16-A269-4C8E-A86C-D6EFB58236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84350" y="5159327"/>
              <a:ext cx="189365" cy="252000"/>
              <a:chOff x="3128963" y="3981450"/>
              <a:chExt cx="412750" cy="5492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33" name="Freeform 58">
                <a:extLst>
                  <a:ext uri="{FF2B5EF4-FFF2-40B4-BE49-F238E27FC236}">
                    <a16:creationId xmlns:a16="http://schemas.microsoft.com/office/drawing/2014/main" id="{99212F74-CA6A-463D-BA3E-E4FF35A7A8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28963" y="3981450"/>
                <a:ext cx="412750" cy="549275"/>
              </a:xfrm>
              <a:custGeom>
                <a:avLst/>
                <a:gdLst>
                  <a:gd name="T0" fmla="*/ 68 w 477"/>
                  <a:gd name="T1" fmla="*/ 636 h 636"/>
                  <a:gd name="T2" fmla="*/ 0 w 477"/>
                  <a:gd name="T3" fmla="*/ 568 h 636"/>
                  <a:gd name="T4" fmla="*/ 0 w 477"/>
                  <a:gd name="T5" fmla="*/ 568 h 636"/>
                  <a:gd name="T6" fmla="*/ 0 w 477"/>
                  <a:gd name="T7" fmla="*/ 68 h 636"/>
                  <a:gd name="T8" fmla="*/ 68 w 477"/>
                  <a:gd name="T9" fmla="*/ 0 h 636"/>
                  <a:gd name="T10" fmla="*/ 68 w 477"/>
                  <a:gd name="T11" fmla="*/ 0 h 636"/>
                  <a:gd name="T12" fmla="*/ 409 w 477"/>
                  <a:gd name="T13" fmla="*/ 0 h 636"/>
                  <a:gd name="T14" fmla="*/ 477 w 477"/>
                  <a:gd name="T15" fmla="*/ 68 h 636"/>
                  <a:gd name="T16" fmla="*/ 477 w 477"/>
                  <a:gd name="T17" fmla="*/ 68 h 636"/>
                  <a:gd name="T18" fmla="*/ 477 w 477"/>
                  <a:gd name="T19" fmla="*/ 568 h 636"/>
                  <a:gd name="T20" fmla="*/ 477 w 477"/>
                  <a:gd name="T21" fmla="*/ 568 h 636"/>
                  <a:gd name="T22" fmla="*/ 409 w 477"/>
                  <a:gd name="T23" fmla="*/ 636 h 636"/>
                  <a:gd name="T24" fmla="*/ 409 w 477"/>
                  <a:gd name="T25" fmla="*/ 636 h 636"/>
                  <a:gd name="T26" fmla="*/ 68 w 477"/>
                  <a:gd name="T27" fmla="*/ 636 h 636"/>
                  <a:gd name="T28" fmla="*/ 32 w 477"/>
                  <a:gd name="T29" fmla="*/ 68 h 636"/>
                  <a:gd name="T30" fmla="*/ 32 w 477"/>
                  <a:gd name="T31" fmla="*/ 568 h 636"/>
                  <a:gd name="T32" fmla="*/ 68 w 477"/>
                  <a:gd name="T33" fmla="*/ 604 h 636"/>
                  <a:gd name="T34" fmla="*/ 68 w 477"/>
                  <a:gd name="T35" fmla="*/ 604 h 636"/>
                  <a:gd name="T36" fmla="*/ 409 w 477"/>
                  <a:gd name="T37" fmla="*/ 604 h 636"/>
                  <a:gd name="T38" fmla="*/ 445 w 477"/>
                  <a:gd name="T39" fmla="*/ 568 h 636"/>
                  <a:gd name="T40" fmla="*/ 445 w 477"/>
                  <a:gd name="T41" fmla="*/ 568 h 636"/>
                  <a:gd name="T42" fmla="*/ 445 w 477"/>
                  <a:gd name="T43" fmla="*/ 68 h 636"/>
                  <a:gd name="T44" fmla="*/ 409 w 477"/>
                  <a:gd name="T45" fmla="*/ 32 h 636"/>
                  <a:gd name="T46" fmla="*/ 409 w 477"/>
                  <a:gd name="T47" fmla="*/ 32 h 636"/>
                  <a:gd name="T48" fmla="*/ 68 w 477"/>
                  <a:gd name="T49" fmla="*/ 32 h 636"/>
                  <a:gd name="T50" fmla="*/ 32 w 477"/>
                  <a:gd name="T51" fmla="*/ 68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7" h="636">
                    <a:moveTo>
                      <a:pt x="68" y="636"/>
                    </a:moveTo>
                    <a:cubicBezTo>
                      <a:pt x="30" y="636"/>
                      <a:pt x="0" y="606"/>
                      <a:pt x="0" y="568"/>
                    </a:cubicBezTo>
                    <a:cubicBezTo>
                      <a:pt x="0" y="568"/>
                      <a:pt x="0" y="568"/>
                      <a:pt x="0" y="5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31"/>
                      <a:pt x="30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447" y="0"/>
                      <a:pt x="477" y="31"/>
                      <a:pt x="477" y="68"/>
                    </a:cubicBezTo>
                    <a:cubicBezTo>
                      <a:pt x="477" y="68"/>
                      <a:pt x="477" y="68"/>
                      <a:pt x="477" y="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606"/>
                      <a:pt x="447" y="636"/>
                      <a:pt x="409" y="636"/>
                    </a:cubicBezTo>
                    <a:cubicBezTo>
                      <a:pt x="409" y="636"/>
                      <a:pt x="409" y="636"/>
                      <a:pt x="409" y="636"/>
                    </a:cubicBezTo>
                    <a:cubicBezTo>
                      <a:pt x="68" y="636"/>
                      <a:pt x="68" y="636"/>
                      <a:pt x="68" y="636"/>
                    </a:cubicBezTo>
                    <a:close/>
                    <a:moveTo>
                      <a:pt x="32" y="68"/>
                    </a:moveTo>
                    <a:cubicBezTo>
                      <a:pt x="32" y="568"/>
                      <a:pt x="32" y="568"/>
                      <a:pt x="32" y="568"/>
                    </a:cubicBezTo>
                    <a:cubicBezTo>
                      <a:pt x="32" y="588"/>
                      <a:pt x="48" y="604"/>
                      <a:pt x="68" y="604"/>
                    </a:cubicBezTo>
                    <a:cubicBezTo>
                      <a:pt x="68" y="604"/>
                      <a:pt x="68" y="604"/>
                      <a:pt x="68" y="604"/>
                    </a:cubicBezTo>
                    <a:cubicBezTo>
                      <a:pt x="409" y="604"/>
                      <a:pt x="409" y="604"/>
                      <a:pt x="409" y="604"/>
                    </a:cubicBezTo>
                    <a:cubicBezTo>
                      <a:pt x="429" y="604"/>
                      <a:pt x="445" y="588"/>
                      <a:pt x="445" y="568"/>
                    </a:cubicBezTo>
                    <a:cubicBezTo>
                      <a:pt x="445" y="568"/>
                      <a:pt x="445" y="568"/>
                      <a:pt x="445" y="568"/>
                    </a:cubicBezTo>
                    <a:cubicBezTo>
                      <a:pt x="445" y="68"/>
                      <a:pt x="445" y="68"/>
                      <a:pt x="445" y="68"/>
                    </a:cubicBezTo>
                    <a:cubicBezTo>
                      <a:pt x="445" y="49"/>
                      <a:pt x="429" y="32"/>
                      <a:pt x="409" y="32"/>
                    </a:cubicBezTo>
                    <a:cubicBezTo>
                      <a:pt x="409" y="32"/>
                      <a:pt x="409" y="32"/>
                      <a:pt x="409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8" y="32"/>
                      <a:pt x="32" y="49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4" name="Freeform 59">
                <a:extLst>
                  <a:ext uri="{FF2B5EF4-FFF2-40B4-BE49-F238E27FC236}">
                    <a16:creationId xmlns:a16="http://schemas.microsoft.com/office/drawing/2014/main" id="{1FE5744C-B6BC-4BF5-B61F-CCF5CE11A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5650" y="4360863"/>
                <a:ext cx="80963" cy="80963"/>
              </a:xfrm>
              <a:custGeom>
                <a:avLst/>
                <a:gdLst>
                  <a:gd name="T0" fmla="*/ 0 w 94"/>
                  <a:gd name="T1" fmla="*/ 47 h 94"/>
                  <a:gd name="T2" fmla="*/ 47 w 94"/>
                  <a:gd name="T3" fmla="*/ 0 h 94"/>
                  <a:gd name="T4" fmla="*/ 47 w 94"/>
                  <a:gd name="T5" fmla="*/ 0 h 94"/>
                  <a:gd name="T6" fmla="*/ 94 w 94"/>
                  <a:gd name="T7" fmla="*/ 47 h 94"/>
                  <a:gd name="T8" fmla="*/ 94 w 94"/>
                  <a:gd name="T9" fmla="*/ 47 h 94"/>
                  <a:gd name="T10" fmla="*/ 47 w 94"/>
                  <a:gd name="T11" fmla="*/ 94 h 94"/>
                  <a:gd name="T12" fmla="*/ 47 w 94"/>
                  <a:gd name="T13" fmla="*/ 94 h 94"/>
                  <a:gd name="T14" fmla="*/ 0 w 94"/>
                  <a:gd name="T15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94">
                    <a:moveTo>
                      <a:pt x="0" y="47"/>
                    </a:move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4" y="21"/>
                      <a:pt x="94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4" y="73"/>
                      <a:pt x="73" y="94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21" y="94"/>
                      <a:pt x="0" y="73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5" name="Freeform 60">
                <a:extLst>
                  <a:ext uri="{FF2B5EF4-FFF2-40B4-BE49-F238E27FC236}">
                    <a16:creationId xmlns:a16="http://schemas.microsoft.com/office/drawing/2014/main" id="{D4103F01-7B15-41EF-9EF0-F1EB60E3A7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052888"/>
                <a:ext cx="293688" cy="55563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6" name="Freeform 61">
                <a:extLst>
                  <a:ext uri="{FF2B5EF4-FFF2-40B4-BE49-F238E27FC236}">
                    <a16:creationId xmlns:a16="http://schemas.microsoft.com/office/drawing/2014/main" id="{2AE856D3-B938-49CF-AC64-C8138146C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129088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7" name="Freeform 62">
                <a:extLst>
                  <a:ext uri="{FF2B5EF4-FFF2-40B4-BE49-F238E27FC236}">
                    <a16:creationId xmlns:a16="http://schemas.microsoft.com/office/drawing/2014/main" id="{3AEFA1F2-2F2C-403A-AA9B-AA4E553D8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206875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727" name="그룹 726">
              <a:extLst>
                <a:ext uri="{FF2B5EF4-FFF2-40B4-BE49-F238E27FC236}">
                  <a16:creationId xmlns:a16="http://schemas.microsoft.com/office/drawing/2014/main" id="{F92BE7E8-A79F-444A-9CDB-21FCF5B149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04484" y="5159327"/>
              <a:ext cx="189365" cy="252000"/>
              <a:chOff x="3128963" y="3981450"/>
              <a:chExt cx="412750" cy="5492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28" name="Freeform 58">
                <a:extLst>
                  <a:ext uri="{FF2B5EF4-FFF2-40B4-BE49-F238E27FC236}">
                    <a16:creationId xmlns:a16="http://schemas.microsoft.com/office/drawing/2014/main" id="{6AC3CC69-1DA4-4219-9F58-EBCC845CC3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28963" y="3981450"/>
                <a:ext cx="412750" cy="549275"/>
              </a:xfrm>
              <a:custGeom>
                <a:avLst/>
                <a:gdLst>
                  <a:gd name="T0" fmla="*/ 68 w 477"/>
                  <a:gd name="T1" fmla="*/ 636 h 636"/>
                  <a:gd name="T2" fmla="*/ 0 w 477"/>
                  <a:gd name="T3" fmla="*/ 568 h 636"/>
                  <a:gd name="T4" fmla="*/ 0 w 477"/>
                  <a:gd name="T5" fmla="*/ 568 h 636"/>
                  <a:gd name="T6" fmla="*/ 0 w 477"/>
                  <a:gd name="T7" fmla="*/ 68 h 636"/>
                  <a:gd name="T8" fmla="*/ 68 w 477"/>
                  <a:gd name="T9" fmla="*/ 0 h 636"/>
                  <a:gd name="T10" fmla="*/ 68 w 477"/>
                  <a:gd name="T11" fmla="*/ 0 h 636"/>
                  <a:gd name="T12" fmla="*/ 409 w 477"/>
                  <a:gd name="T13" fmla="*/ 0 h 636"/>
                  <a:gd name="T14" fmla="*/ 477 w 477"/>
                  <a:gd name="T15" fmla="*/ 68 h 636"/>
                  <a:gd name="T16" fmla="*/ 477 w 477"/>
                  <a:gd name="T17" fmla="*/ 68 h 636"/>
                  <a:gd name="T18" fmla="*/ 477 w 477"/>
                  <a:gd name="T19" fmla="*/ 568 h 636"/>
                  <a:gd name="T20" fmla="*/ 477 w 477"/>
                  <a:gd name="T21" fmla="*/ 568 h 636"/>
                  <a:gd name="T22" fmla="*/ 409 w 477"/>
                  <a:gd name="T23" fmla="*/ 636 h 636"/>
                  <a:gd name="T24" fmla="*/ 409 w 477"/>
                  <a:gd name="T25" fmla="*/ 636 h 636"/>
                  <a:gd name="T26" fmla="*/ 68 w 477"/>
                  <a:gd name="T27" fmla="*/ 636 h 636"/>
                  <a:gd name="T28" fmla="*/ 32 w 477"/>
                  <a:gd name="T29" fmla="*/ 68 h 636"/>
                  <a:gd name="T30" fmla="*/ 32 w 477"/>
                  <a:gd name="T31" fmla="*/ 568 h 636"/>
                  <a:gd name="T32" fmla="*/ 68 w 477"/>
                  <a:gd name="T33" fmla="*/ 604 h 636"/>
                  <a:gd name="T34" fmla="*/ 68 w 477"/>
                  <a:gd name="T35" fmla="*/ 604 h 636"/>
                  <a:gd name="T36" fmla="*/ 409 w 477"/>
                  <a:gd name="T37" fmla="*/ 604 h 636"/>
                  <a:gd name="T38" fmla="*/ 445 w 477"/>
                  <a:gd name="T39" fmla="*/ 568 h 636"/>
                  <a:gd name="T40" fmla="*/ 445 w 477"/>
                  <a:gd name="T41" fmla="*/ 568 h 636"/>
                  <a:gd name="T42" fmla="*/ 445 w 477"/>
                  <a:gd name="T43" fmla="*/ 68 h 636"/>
                  <a:gd name="T44" fmla="*/ 409 w 477"/>
                  <a:gd name="T45" fmla="*/ 32 h 636"/>
                  <a:gd name="T46" fmla="*/ 409 w 477"/>
                  <a:gd name="T47" fmla="*/ 32 h 636"/>
                  <a:gd name="T48" fmla="*/ 68 w 477"/>
                  <a:gd name="T49" fmla="*/ 32 h 636"/>
                  <a:gd name="T50" fmla="*/ 32 w 477"/>
                  <a:gd name="T51" fmla="*/ 68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7" h="636">
                    <a:moveTo>
                      <a:pt x="68" y="636"/>
                    </a:moveTo>
                    <a:cubicBezTo>
                      <a:pt x="30" y="636"/>
                      <a:pt x="0" y="606"/>
                      <a:pt x="0" y="568"/>
                    </a:cubicBezTo>
                    <a:cubicBezTo>
                      <a:pt x="0" y="568"/>
                      <a:pt x="0" y="568"/>
                      <a:pt x="0" y="5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31"/>
                      <a:pt x="30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447" y="0"/>
                      <a:pt x="477" y="31"/>
                      <a:pt x="477" y="68"/>
                    </a:cubicBezTo>
                    <a:cubicBezTo>
                      <a:pt x="477" y="68"/>
                      <a:pt x="477" y="68"/>
                      <a:pt x="477" y="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606"/>
                      <a:pt x="447" y="636"/>
                      <a:pt x="409" y="636"/>
                    </a:cubicBezTo>
                    <a:cubicBezTo>
                      <a:pt x="409" y="636"/>
                      <a:pt x="409" y="636"/>
                      <a:pt x="409" y="636"/>
                    </a:cubicBezTo>
                    <a:cubicBezTo>
                      <a:pt x="68" y="636"/>
                      <a:pt x="68" y="636"/>
                      <a:pt x="68" y="636"/>
                    </a:cubicBezTo>
                    <a:close/>
                    <a:moveTo>
                      <a:pt x="32" y="68"/>
                    </a:moveTo>
                    <a:cubicBezTo>
                      <a:pt x="32" y="568"/>
                      <a:pt x="32" y="568"/>
                      <a:pt x="32" y="568"/>
                    </a:cubicBezTo>
                    <a:cubicBezTo>
                      <a:pt x="32" y="588"/>
                      <a:pt x="48" y="604"/>
                      <a:pt x="68" y="604"/>
                    </a:cubicBezTo>
                    <a:cubicBezTo>
                      <a:pt x="68" y="604"/>
                      <a:pt x="68" y="604"/>
                      <a:pt x="68" y="604"/>
                    </a:cubicBezTo>
                    <a:cubicBezTo>
                      <a:pt x="409" y="604"/>
                      <a:pt x="409" y="604"/>
                      <a:pt x="409" y="604"/>
                    </a:cubicBezTo>
                    <a:cubicBezTo>
                      <a:pt x="429" y="604"/>
                      <a:pt x="445" y="588"/>
                      <a:pt x="445" y="568"/>
                    </a:cubicBezTo>
                    <a:cubicBezTo>
                      <a:pt x="445" y="568"/>
                      <a:pt x="445" y="568"/>
                      <a:pt x="445" y="568"/>
                    </a:cubicBezTo>
                    <a:cubicBezTo>
                      <a:pt x="445" y="68"/>
                      <a:pt x="445" y="68"/>
                      <a:pt x="445" y="68"/>
                    </a:cubicBezTo>
                    <a:cubicBezTo>
                      <a:pt x="445" y="49"/>
                      <a:pt x="429" y="32"/>
                      <a:pt x="409" y="32"/>
                    </a:cubicBezTo>
                    <a:cubicBezTo>
                      <a:pt x="409" y="32"/>
                      <a:pt x="409" y="32"/>
                      <a:pt x="409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8" y="32"/>
                      <a:pt x="32" y="49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29" name="Freeform 59">
                <a:extLst>
                  <a:ext uri="{FF2B5EF4-FFF2-40B4-BE49-F238E27FC236}">
                    <a16:creationId xmlns:a16="http://schemas.microsoft.com/office/drawing/2014/main" id="{F879D6D9-21A8-4915-A21C-3CC9EBAA9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5650" y="4360863"/>
                <a:ext cx="80963" cy="80963"/>
              </a:xfrm>
              <a:custGeom>
                <a:avLst/>
                <a:gdLst>
                  <a:gd name="T0" fmla="*/ 0 w 94"/>
                  <a:gd name="T1" fmla="*/ 47 h 94"/>
                  <a:gd name="T2" fmla="*/ 47 w 94"/>
                  <a:gd name="T3" fmla="*/ 0 h 94"/>
                  <a:gd name="T4" fmla="*/ 47 w 94"/>
                  <a:gd name="T5" fmla="*/ 0 h 94"/>
                  <a:gd name="T6" fmla="*/ 94 w 94"/>
                  <a:gd name="T7" fmla="*/ 47 h 94"/>
                  <a:gd name="T8" fmla="*/ 94 w 94"/>
                  <a:gd name="T9" fmla="*/ 47 h 94"/>
                  <a:gd name="T10" fmla="*/ 47 w 94"/>
                  <a:gd name="T11" fmla="*/ 94 h 94"/>
                  <a:gd name="T12" fmla="*/ 47 w 94"/>
                  <a:gd name="T13" fmla="*/ 94 h 94"/>
                  <a:gd name="T14" fmla="*/ 0 w 94"/>
                  <a:gd name="T15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94">
                    <a:moveTo>
                      <a:pt x="0" y="47"/>
                    </a:move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4" y="21"/>
                      <a:pt x="94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4" y="73"/>
                      <a:pt x="73" y="94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21" y="94"/>
                      <a:pt x="0" y="73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0" name="Freeform 60">
                <a:extLst>
                  <a:ext uri="{FF2B5EF4-FFF2-40B4-BE49-F238E27FC236}">
                    <a16:creationId xmlns:a16="http://schemas.microsoft.com/office/drawing/2014/main" id="{03229330-621D-4CC1-B4DB-4B46BC5F9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052888"/>
                <a:ext cx="293688" cy="55563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1" name="Freeform 61">
                <a:extLst>
                  <a:ext uri="{FF2B5EF4-FFF2-40B4-BE49-F238E27FC236}">
                    <a16:creationId xmlns:a16="http://schemas.microsoft.com/office/drawing/2014/main" id="{CE2ADB3C-D902-4001-9962-31738103A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129088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32" name="Freeform 62">
                <a:extLst>
                  <a:ext uri="{FF2B5EF4-FFF2-40B4-BE49-F238E27FC236}">
                    <a16:creationId xmlns:a16="http://schemas.microsoft.com/office/drawing/2014/main" id="{D5D0745C-D05F-413F-A580-209841657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206875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</p:grpSp>
      <p:sp>
        <p:nvSpPr>
          <p:cNvPr id="743" name="직사각형 742">
            <a:extLst>
              <a:ext uri="{FF2B5EF4-FFF2-40B4-BE49-F238E27FC236}">
                <a16:creationId xmlns:a16="http://schemas.microsoft.com/office/drawing/2014/main" id="{A9E63B24-9B80-405D-A7B0-6F643CE08F3E}"/>
              </a:ext>
            </a:extLst>
          </p:cNvPr>
          <p:cNvSpPr/>
          <p:nvPr/>
        </p:nvSpPr>
        <p:spPr>
          <a:xfrm>
            <a:off x="3354802" y="1744795"/>
            <a:ext cx="2041171" cy="291455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>
            <a:solidFill>
              <a:sysClr val="window" lastClr="FFFFFF">
                <a:lumMod val="65000"/>
              </a:sysClr>
            </a:solidFill>
          </a:ln>
        </p:spPr>
        <p:txBody>
          <a:bodyPr vert="horz" wrap="square" lIns="72000" tIns="60960" rIns="121920" bIns="60960" numCol="1" rtlCol="0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0">
              <a:defRPr/>
            </a:pPr>
            <a:r>
              <a:rPr lang="en-US" altLang="ko-KR" sz="1100" b="1" dirty="0">
                <a:solidFill>
                  <a:srgbClr val="0070C0"/>
                </a:solidFill>
                <a:latin typeface="+mn-ea"/>
              </a:rPr>
              <a:t>246vC</a:t>
            </a:r>
          </a:p>
          <a:p>
            <a:pPr defTabSz="914350">
              <a:defRPr/>
            </a:pPr>
            <a:r>
              <a:rPr lang="ko-KR" altLang="en-US" sz="800" spc="-93" dirty="0">
                <a:solidFill>
                  <a:prstClr val="black"/>
                </a:solidFill>
                <a:latin typeface="+mn-ea"/>
              </a:rPr>
              <a:t>대민</a:t>
            </a:r>
            <a:r>
              <a:rPr lang="en-US" altLang="ko-KR" sz="800" spc="-93" dirty="0">
                <a:solidFill>
                  <a:prstClr val="black"/>
                </a:solidFill>
                <a:latin typeface="+mn-ea"/>
              </a:rPr>
              <a:t>WAS</a:t>
            </a:r>
            <a:r>
              <a:rPr lang="ko-KR" altLang="en-US" sz="800" spc="-93" dirty="0">
                <a:solidFill>
                  <a:prstClr val="black"/>
                </a:solidFill>
                <a:latin typeface="+mn-ea"/>
              </a:rPr>
              <a:t>용 노드 </a:t>
            </a:r>
            <a:r>
              <a:rPr lang="en-US" altLang="ko-KR" sz="800" spc="-93" dirty="0">
                <a:solidFill>
                  <a:prstClr val="black"/>
                </a:solidFill>
                <a:latin typeface="+mn-ea"/>
              </a:rPr>
              <a:t>(4</a:t>
            </a:r>
            <a:r>
              <a:rPr lang="ko-KR" altLang="en-US" sz="800" spc="-93" dirty="0">
                <a:solidFill>
                  <a:prstClr val="black"/>
                </a:solidFill>
                <a:latin typeface="+mn-ea"/>
              </a:rPr>
              <a:t>대</a:t>
            </a:r>
            <a:r>
              <a:rPr lang="en-US" altLang="ko-KR" sz="800" spc="-93" dirty="0">
                <a:solidFill>
                  <a:prstClr val="black"/>
                </a:solidFill>
                <a:latin typeface="+mn-ea"/>
              </a:rPr>
              <a:t>/320vC)</a:t>
            </a:r>
            <a:endParaRPr lang="ko-KR" altLang="en-US" sz="800" spc="-93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44" name="직사각형 743">
            <a:extLst>
              <a:ext uri="{FF2B5EF4-FFF2-40B4-BE49-F238E27FC236}">
                <a16:creationId xmlns:a16="http://schemas.microsoft.com/office/drawing/2014/main" id="{D9D7DA63-27C0-4DA3-B470-8DF3C468383F}"/>
              </a:ext>
            </a:extLst>
          </p:cNvPr>
          <p:cNvSpPr/>
          <p:nvPr/>
        </p:nvSpPr>
        <p:spPr>
          <a:xfrm>
            <a:off x="3354800" y="1560811"/>
            <a:ext cx="2041171" cy="208556"/>
          </a:xfrm>
          <a:prstGeom prst="rect">
            <a:avLst/>
          </a:prstGeom>
          <a:solidFill>
            <a:srgbClr val="3BBB47"/>
          </a:solidFill>
          <a:ln w="6350" cap="sq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latinLnBrk="0">
              <a:defRPr/>
            </a:pPr>
            <a:r>
              <a:rPr lang="ko-KR" altLang="en-US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대민시스템 </a:t>
            </a:r>
            <a:r>
              <a:rPr lang="en-US" altLang="ko-KR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WAS</a:t>
            </a:r>
            <a:endParaRPr lang="ko-KR" altLang="en-US" sz="1000" b="1" kern="0" dirty="0">
              <a:solidFill>
                <a:prstClr val="white">
                  <a:lumMod val="95000"/>
                </a:prstClr>
              </a:solidFill>
              <a:latin typeface="+mn-ea"/>
            </a:endParaRPr>
          </a:p>
        </p:txBody>
      </p:sp>
      <p:sp>
        <p:nvSpPr>
          <p:cNvPr id="745" name="AutoShape 37">
            <a:extLst>
              <a:ext uri="{FF2B5EF4-FFF2-40B4-BE49-F238E27FC236}">
                <a16:creationId xmlns:a16="http://schemas.microsoft.com/office/drawing/2014/main" id="{5267EBF8-0ED0-4E31-816D-93325D352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1864303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지방재정</a:t>
            </a: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365</a:t>
            </a: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(32vC/4P)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46" name="AutoShape 37">
            <a:extLst>
              <a:ext uri="{FF2B5EF4-FFF2-40B4-BE49-F238E27FC236}">
                <a16:creationId xmlns:a16="http://schemas.microsoft.com/office/drawing/2014/main" id="{63532FD8-B2ED-4B66-A8CF-427C3CDD5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2162908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주민참여예산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(16vC/4P)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47" name="AutoShape 37">
            <a:extLst>
              <a:ext uri="{FF2B5EF4-FFF2-40B4-BE49-F238E27FC236}">
                <a16:creationId xmlns:a16="http://schemas.microsoft.com/office/drawing/2014/main" id="{411E26EC-CD75-404E-84D2-3FE1EDF3F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2461514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온라인대금청구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(48vC/6P)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48" name="AutoShape 37">
            <a:extLst>
              <a:ext uri="{FF2B5EF4-FFF2-40B4-BE49-F238E27FC236}">
                <a16:creationId xmlns:a16="http://schemas.microsoft.com/office/drawing/2014/main" id="{563CE20F-2BA5-4632-AABF-46F59271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2760119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지방보조금포탈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(96vC/6P)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49" name="AutoShape 37">
            <a:extLst>
              <a:ext uri="{FF2B5EF4-FFF2-40B4-BE49-F238E27FC236}">
                <a16:creationId xmlns:a16="http://schemas.microsoft.com/office/drawing/2014/main" id="{289201F4-2F78-4F3D-BA8D-D91DB0DBB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3058724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대민배치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(16vC/1P)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50" name="AutoShape 37">
            <a:extLst>
              <a:ext uri="{FF2B5EF4-FFF2-40B4-BE49-F238E27FC236}">
                <a16:creationId xmlns:a16="http://schemas.microsoft.com/office/drawing/2014/main" id="{1CC8EB19-7F44-4CE1-ABDF-324868683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3357330"/>
            <a:ext cx="1806437" cy="268497"/>
          </a:xfrm>
          <a:prstGeom prst="roundRect">
            <a:avLst>
              <a:gd name="adj" fmla="val 4750"/>
            </a:avLst>
          </a:prstGeom>
          <a:solidFill>
            <a:schemeClr val="bg1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대민시뮬레이션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(16vC/4P)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51" name="AutoShape 37">
            <a:extLst>
              <a:ext uri="{FF2B5EF4-FFF2-40B4-BE49-F238E27FC236}">
                <a16:creationId xmlns:a16="http://schemas.microsoft.com/office/drawing/2014/main" id="{D6C1AA89-86DB-4764-A18A-335E5DE0F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3655934"/>
            <a:ext cx="1806437" cy="268497"/>
          </a:xfrm>
          <a:prstGeom prst="roundRect">
            <a:avLst>
              <a:gd name="adj" fmla="val 4750"/>
            </a:avLst>
          </a:prstGeom>
          <a:solidFill>
            <a:schemeClr val="bg1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통계취합포탈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(2vC/2P)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52" name="AutoShape 37">
            <a:extLst>
              <a:ext uri="{FF2B5EF4-FFF2-40B4-BE49-F238E27FC236}">
                <a16:creationId xmlns:a16="http://schemas.microsoft.com/office/drawing/2014/main" id="{1EF2D254-85AC-4647-85A8-83C100ED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216" y="3954539"/>
            <a:ext cx="1806437" cy="268497"/>
          </a:xfrm>
          <a:prstGeom prst="roundRect">
            <a:avLst>
              <a:gd name="adj" fmla="val 4750"/>
            </a:avLst>
          </a:prstGeom>
          <a:solidFill>
            <a:schemeClr val="bg1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대민리포팅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(8vC/2P)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grpSp>
        <p:nvGrpSpPr>
          <p:cNvPr id="753" name="그룹 752">
            <a:extLst>
              <a:ext uri="{FF2B5EF4-FFF2-40B4-BE49-F238E27FC236}">
                <a16:creationId xmlns:a16="http://schemas.microsoft.com/office/drawing/2014/main" id="{A42A8CA2-68A4-4FC1-A46B-F740FA70ACD9}"/>
              </a:ext>
            </a:extLst>
          </p:cNvPr>
          <p:cNvGrpSpPr/>
          <p:nvPr/>
        </p:nvGrpSpPr>
        <p:grpSpPr>
          <a:xfrm>
            <a:off x="1975991" y="4264618"/>
            <a:ext cx="833513" cy="389075"/>
            <a:chOff x="2072680" y="4389300"/>
            <a:chExt cx="934543" cy="402005"/>
          </a:xfrm>
        </p:grpSpPr>
        <p:sp>
          <p:nvSpPr>
            <p:cNvPr id="754" name="직사각형 753">
              <a:extLst>
                <a:ext uri="{FF2B5EF4-FFF2-40B4-BE49-F238E27FC236}">
                  <a16:creationId xmlns:a16="http://schemas.microsoft.com/office/drawing/2014/main" id="{D00CCAE3-1E21-4419-8ABA-38F186CC677D}"/>
                </a:ext>
              </a:extLst>
            </p:cNvPr>
            <p:cNvSpPr/>
            <p:nvPr/>
          </p:nvSpPr>
          <p:spPr>
            <a:xfrm>
              <a:off x="2072680" y="4389300"/>
              <a:ext cx="934543" cy="40200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0" tIns="60960" rIns="36000" bIns="60960" numCol="1" rtlCol="0" anchor="b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3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4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33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2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0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94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91435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라우터</a:t>
              </a:r>
              <a:endPara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  <a:p>
              <a:pPr algn="r" defTabSz="91435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12vC/3P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grpSp>
          <p:nvGrpSpPr>
            <p:cNvPr id="755" name="그룹 754">
              <a:extLst>
                <a:ext uri="{FF2B5EF4-FFF2-40B4-BE49-F238E27FC236}">
                  <a16:creationId xmlns:a16="http://schemas.microsoft.com/office/drawing/2014/main" id="{A4C75DF1-3A7F-4FBE-8360-AE37D0BAEC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2639" y="4502770"/>
              <a:ext cx="324000" cy="211919"/>
              <a:chOff x="4592638" y="2459038"/>
              <a:chExt cx="546100" cy="3571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56" name="Freeform 94">
                <a:extLst>
                  <a:ext uri="{FF2B5EF4-FFF2-40B4-BE49-F238E27FC236}">
                    <a16:creationId xmlns:a16="http://schemas.microsoft.com/office/drawing/2014/main" id="{A4C966C5-2DAC-4EDA-8B61-44835FC9FD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2638" y="2459038"/>
                <a:ext cx="546100" cy="357188"/>
              </a:xfrm>
              <a:custGeom>
                <a:avLst/>
                <a:gdLst>
                  <a:gd name="T0" fmla="*/ 68 w 633"/>
                  <a:gd name="T1" fmla="*/ 413 h 413"/>
                  <a:gd name="T2" fmla="*/ 0 w 633"/>
                  <a:gd name="T3" fmla="*/ 345 h 413"/>
                  <a:gd name="T4" fmla="*/ 0 w 633"/>
                  <a:gd name="T5" fmla="*/ 345 h 413"/>
                  <a:gd name="T6" fmla="*/ 0 w 633"/>
                  <a:gd name="T7" fmla="*/ 68 h 413"/>
                  <a:gd name="T8" fmla="*/ 68 w 633"/>
                  <a:gd name="T9" fmla="*/ 0 h 413"/>
                  <a:gd name="T10" fmla="*/ 68 w 633"/>
                  <a:gd name="T11" fmla="*/ 0 h 413"/>
                  <a:gd name="T12" fmla="*/ 565 w 633"/>
                  <a:gd name="T13" fmla="*/ 0 h 413"/>
                  <a:gd name="T14" fmla="*/ 633 w 633"/>
                  <a:gd name="T15" fmla="*/ 68 h 413"/>
                  <a:gd name="T16" fmla="*/ 633 w 633"/>
                  <a:gd name="T17" fmla="*/ 68 h 413"/>
                  <a:gd name="T18" fmla="*/ 633 w 633"/>
                  <a:gd name="T19" fmla="*/ 345 h 413"/>
                  <a:gd name="T20" fmla="*/ 633 w 633"/>
                  <a:gd name="T21" fmla="*/ 345 h 413"/>
                  <a:gd name="T22" fmla="*/ 565 w 633"/>
                  <a:gd name="T23" fmla="*/ 413 h 413"/>
                  <a:gd name="T24" fmla="*/ 565 w 633"/>
                  <a:gd name="T25" fmla="*/ 413 h 413"/>
                  <a:gd name="T26" fmla="*/ 68 w 633"/>
                  <a:gd name="T27" fmla="*/ 413 h 413"/>
                  <a:gd name="T28" fmla="*/ 32 w 633"/>
                  <a:gd name="T29" fmla="*/ 68 h 413"/>
                  <a:gd name="T30" fmla="*/ 32 w 633"/>
                  <a:gd name="T31" fmla="*/ 345 h 413"/>
                  <a:gd name="T32" fmla="*/ 68 w 633"/>
                  <a:gd name="T33" fmla="*/ 381 h 413"/>
                  <a:gd name="T34" fmla="*/ 68 w 633"/>
                  <a:gd name="T35" fmla="*/ 381 h 413"/>
                  <a:gd name="T36" fmla="*/ 565 w 633"/>
                  <a:gd name="T37" fmla="*/ 381 h 413"/>
                  <a:gd name="T38" fmla="*/ 601 w 633"/>
                  <a:gd name="T39" fmla="*/ 345 h 413"/>
                  <a:gd name="T40" fmla="*/ 601 w 633"/>
                  <a:gd name="T41" fmla="*/ 345 h 413"/>
                  <a:gd name="T42" fmla="*/ 601 w 633"/>
                  <a:gd name="T43" fmla="*/ 68 h 413"/>
                  <a:gd name="T44" fmla="*/ 565 w 633"/>
                  <a:gd name="T45" fmla="*/ 32 h 413"/>
                  <a:gd name="T46" fmla="*/ 565 w 633"/>
                  <a:gd name="T47" fmla="*/ 32 h 413"/>
                  <a:gd name="T48" fmla="*/ 68 w 633"/>
                  <a:gd name="T49" fmla="*/ 32 h 413"/>
                  <a:gd name="T50" fmla="*/ 32 w 633"/>
                  <a:gd name="T51" fmla="*/ 68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13">
                    <a:moveTo>
                      <a:pt x="68" y="413"/>
                    </a:moveTo>
                    <a:cubicBezTo>
                      <a:pt x="31" y="413"/>
                      <a:pt x="1" y="382"/>
                      <a:pt x="0" y="345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1" y="30"/>
                      <a:pt x="31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3" y="0"/>
                      <a:pt x="633" y="30"/>
                      <a:pt x="633" y="68"/>
                    </a:cubicBezTo>
                    <a:cubicBezTo>
                      <a:pt x="633" y="68"/>
                      <a:pt x="633" y="68"/>
                      <a:pt x="633" y="68"/>
                    </a:cubicBezTo>
                    <a:cubicBezTo>
                      <a:pt x="633" y="345"/>
                      <a:pt x="633" y="345"/>
                      <a:pt x="633" y="345"/>
                    </a:cubicBezTo>
                    <a:cubicBezTo>
                      <a:pt x="633" y="345"/>
                      <a:pt x="633" y="345"/>
                      <a:pt x="633" y="345"/>
                    </a:cubicBezTo>
                    <a:cubicBezTo>
                      <a:pt x="633" y="382"/>
                      <a:pt x="603" y="413"/>
                      <a:pt x="565" y="413"/>
                    </a:cubicBezTo>
                    <a:cubicBezTo>
                      <a:pt x="565" y="413"/>
                      <a:pt x="565" y="413"/>
                      <a:pt x="565" y="413"/>
                    </a:cubicBezTo>
                    <a:cubicBezTo>
                      <a:pt x="68" y="413"/>
                      <a:pt x="68" y="413"/>
                      <a:pt x="68" y="413"/>
                    </a:cubicBezTo>
                    <a:close/>
                    <a:moveTo>
                      <a:pt x="32" y="68"/>
                    </a:moveTo>
                    <a:cubicBezTo>
                      <a:pt x="32" y="345"/>
                      <a:pt x="32" y="345"/>
                      <a:pt x="32" y="345"/>
                    </a:cubicBezTo>
                    <a:cubicBezTo>
                      <a:pt x="33" y="365"/>
                      <a:pt x="49" y="381"/>
                      <a:pt x="68" y="381"/>
                    </a:cubicBezTo>
                    <a:cubicBezTo>
                      <a:pt x="68" y="381"/>
                      <a:pt x="68" y="381"/>
                      <a:pt x="68" y="381"/>
                    </a:cubicBezTo>
                    <a:cubicBezTo>
                      <a:pt x="565" y="381"/>
                      <a:pt x="565" y="381"/>
                      <a:pt x="565" y="381"/>
                    </a:cubicBezTo>
                    <a:cubicBezTo>
                      <a:pt x="585" y="381"/>
                      <a:pt x="601" y="365"/>
                      <a:pt x="601" y="345"/>
                    </a:cubicBezTo>
                    <a:cubicBezTo>
                      <a:pt x="601" y="345"/>
                      <a:pt x="601" y="345"/>
                      <a:pt x="601" y="345"/>
                    </a:cubicBezTo>
                    <a:cubicBezTo>
                      <a:pt x="601" y="68"/>
                      <a:pt x="601" y="68"/>
                      <a:pt x="601" y="68"/>
                    </a:cubicBezTo>
                    <a:cubicBezTo>
                      <a:pt x="601" y="48"/>
                      <a:pt x="585" y="32"/>
                      <a:pt x="565" y="32"/>
                    </a:cubicBezTo>
                    <a:cubicBezTo>
                      <a:pt x="565" y="32"/>
                      <a:pt x="565" y="32"/>
                      <a:pt x="565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9" y="32"/>
                      <a:pt x="33" y="48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57" name="Freeform 95">
                <a:extLst>
                  <a:ext uri="{FF2B5EF4-FFF2-40B4-BE49-F238E27FC236}">
                    <a16:creationId xmlns:a16="http://schemas.microsoft.com/office/drawing/2014/main" id="{F5643681-F6C8-4DFD-A7EE-7F7246229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0" y="2519363"/>
                <a:ext cx="409575" cy="234950"/>
              </a:xfrm>
              <a:custGeom>
                <a:avLst/>
                <a:gdLst>
                  <a:gd name="T0" fmla="*/ 397 w 474"/>
                  <a:gd name="T1" fmla="*/ 210 h 273"/>
                  <a:gd name="T2" fmla="*/ 363 w 474"/>
                  <a:gd name="T3" fmla="*/ 210 h 273"/>
                  <a:gd name="T4" fmla="*/ 267 w 474"/>
                  <a:gd name="T5" fmla="*/ 136 h 273"/>
                  <a:gd name="T6" fmla="*/ 363 w 474"/>
                  <a:gd name="T7" fmla="*/ 63 h 273"/>
                  <a:gd name="T8" fmla="*/ 397 w 474"/>
                  <a:gd name="T9" fmla="*/ 63 h 273"/>
                  <a:gd name="T10" fmla="*/ 397 w 474"/>
                  <a:gd name="T11" fmla="*/ 90 h 273"/>
                  <a:gd name="T12" fmla="*/ 474 w 474"/>
                  <a:gd name="T13" fmla="*/ 45 h 273"/>
                  <a:gd name="T14" fmla="*/ 397 w 474"/>
                  <a:gd name="T15" fmla="*/ 0 h 273"/>
                  <a:gd name="T16" fmla="*/ 397 w 474"/>
                  <a:gd name="T17" fmla="*/ 27 h 273"/>
                  <a:gd name="T18" fmla="*/ 356 w 474"/>
                  <a:gd name="T19" fmla="*/ 27 h 273"/>
                  <a:gd name="T20" fmla="*/ 345 w 474"/>
                  <a:gd name="T21" fmla="*/ 30 h 273"/>
                  <a:gd name="T22" fmla="*/ 237 w 474"/>
                  <a:gd name="T23" fmla="*/ 114 h 273"/>
                  <a:gd name="T24" fmla="*/ 129 w 474"/>
                  <a:gd name="T25" fmla="*/ 30 h 273"/>
                  <a:gd name="T26" fmla="*/ 118 w 474"/>
                  <a:gd name="T27" fmla="*/ 27 h 273"/>
                  <a:gd name="T28" fmla="*/ 77 w 474"/>
                  <a:gd name="T29" fmla="*/ 27 h 273"/>
                  <a:gd name="T30" fmla="*/ 77 w 474"/>
                  <a:gd name="T31" fmla="*/ 0 h 273"/>
                  <a:gd name="T32" fmla="*/ 0 w 474"/>
                  <a:gd name="T33" fmla="*/ 44 h 273"/>
                  <a:gd name="T34" fmla="*/ 77 w 474"/>
                  <a:gd name="T35" fmla="*/ 89 h 273"/>
                  <a:gd name="T36" fmla="*/ 77 w 474"/>
                  <a:gd name="T37" fmla="*/ 63 h 273"/>
                  <a:gd name="T38" fmla="*/ 111 w 474"/>
                  <a:gd name="T39" fmla="*/ 63 h 273"/>
                  <a:gd name="T40" fmla="*/ 207 w 474"/>
                  <a:gd name="T41" fmla="*/ 136 h 273"/>
                  <a:gd name="T42" fmla="*/ 111 w 474"/>
                  <a:gd name="T43" fmla="*/ 210 h 273"/>
                  <a:gd name="T44" fmla="*/ 77 w 474"/>
                  <a:gd name="T45" fmla="*/ 210 h 273"/>
                  <a:gd name="T46" fmla="*/ 77 w 474"/>
                  <a:gd name="T47" fmla="*/ 183 h 273"/>
                  <a:gd name="T48" fmla="*/ 0 w 474"/>
                  <a:gd name="T49" fmla="*/ 228 h 273"/>
                  <a:gd name="T50" fmla="*/ 77 w 474"/>
                  <a:gd name="T51" fmla="*/ 273 h 273"/>
                  <a:gd name="T52" fmla="*/ 77 w 474"/>
                  <a:gd name="T53" fmla="*/ 246 h 273"/>
                  <a:gd name="T54" fmla="*/ 118 w 474"/>
                  <a:gd name="T55" fmla="*/ 246 h 273"/>
                  <a:gd name="T56" fmla="*/ 129 w 474"/>
                  <a:gd name="T57" fmla="*/ 242 h 273"/>
                  <a:gd name="T58" fmla="*/ 237 w 474"/>
                  <a:gd name="T59" fmla="*/ 159 h 273"/>
                  <a:gd name="T60" fmla="*/ 345 w 474"/>
                  <a:gd name="T61" fmla="*/ 242 h 273"/>
                  <a:gd name="T62" fmla="*/ 356 w 474"/>
                  <a:gd name="T63" fmla="*/ 246 h 273"/>
                  <a:gd name="T64" fmla="*/ 397 w 474"/>
                  <a:gd name="T65" fmla="*/ 246 h 273"/>
                  <a:gd name="T66" fmla="*/ 397 w 474"/>
                  <a:gd name="T67" fmla="*/ 273 h 273"/>
                  <a:gd name="T68" fmla="*/ 474 w 474"/>
                  <a:gd name="T69" fmla="*/ 228 h 273"/>
                  <a:gd name="T70" fmla="*/ 397 w 474"/>
                  <a:gd name="T71" fmla="*/ 183 h 273"/>
                  <a:gd name="T72" fmla="*/ 397 w 474"/>
                  <a:gd name="T73" fmla="*/ 21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74" h="273">
                    <a:moveTo>
                      <a:pt x="397" y="210"/>
                    </a:moveTo>
                    <a:cubicBezTo>
                      <a:pt x="363" y="210"/>
                      <a:pt x="363" y="210"/>
                      <a:pt x="363" y="210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363" y="63"/>
                      <a:pt x="363" y="63"/>
                      <a:pt x="363" y="63"/>
                    </a:cubicBezTo>
                    <a:cubicBezTo>
                      <a:pt x="397" y="63"/>
                      <a:pt x="397" y="63"/>
                      <a:pt x="397" y="63"/>
                    </a:cubicBezTo>
                    <a:cubicBezTo>
                      <a:pt x="397" y="90"/>
                      <a:pt x="397" y="90"/>
                      <a:pt x="397" y="90"/>
                    </a:cubicBezTo>
                    <a:cubicBezTo>
                      <a:pt x="474" y="45"/>
                      <a:pt x="474" y="45"/>
                      <a:pt x="474" y="45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397" y="27"/>
                      <a:pt x="397" y="27"/>
                      <a:pt x="397" y="27"/>
                    </a:cubicBezTo>
                    <a:cubicBezTo>
                      <a:pt x="356" y="27"/>
                      <a:pt x="356" y="27"/>
                      <a:pt x="356" y="27"/>
                    </a:cubicBezTo>
                    <a:cubicBezTo>
                      <a:pt x="352" y="27"/>
                      <a:pt x="349" y="28"/>
                      <a:pt x="345" y="30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129" y="30"/>
                      <a:pt x="129" y="30"/>
                      <a:pt x="129" y="30"/>
                    </a:cubicBezTo>
                    <a:cubicBezTo>
                      <a:pt x="125" y="28"/>
                      <a:pt x="122" y="27"/>
                      <a:pt x="118" y="27"/>
                    </a:cubicBezTo>
                    <a:cubicBezTo>
                      <a:pt x="77" y="27"/>
                      <a:pt x="77" y="27"/>
                      <a:pt x="77" y="27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63"/>
                      <a:pt x="77" y="63"/>
                      <a:pt x="77" y="63"/>
                    </a:cubicBezTo>
                    <a:cubicBezTo>
                      <a:pt x="111" y="63"/>
                      <a:pt x="111" y="63"/>
                      <a:pt x="111" y="63"/>
                    </a:cubicBezTo>
                    <a:cubicBezTo>
                      <a:pt x="207" y="136"/>
                      <a:pt x="207" y="136"/>
                      <a:pt x="207" y="136"/>
                    </a:cubicBezTo>
                    <a:cubicBezTo>
                      <a:pt x="111" y="210"/>
                      <a:pt x="111" y="210"/>
                      <a:pt x="111" y="210"/>
                    </a:cubicBezTo>
                    <a:cubicBezTo>
                      <a:pt x="77" y="210"/>
                      <a:pt x="77" y="210"/>
                      <a:pt x="77" y="210"/>
                    </a:cubicBezTo>
                    <a:cubicBezTo>
                      <a:pt x="77" y="183"/>
                      <a:pt x="77" y="183"/>
                      <a:pt x="77" y="183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7" y="273"/>
                      <a:pt x="77" y="273"/>
                      <a:pt x="77" y="273"/>
                    </a:cubicBezTo>
                    <a:cubicBezTo>
                      <a:pt x="77" y="246"/>
                      <a:pt x="77" y="246"/>
                      <a:pt x="77" y="246"/>
                    </a:cubicBezTo>
                    <a:cubicBezTo>
                      <a:pt x="118" y="246"/>
                      <a:pt x="118" y="246"/>
                      <a:pt x="118" y="246"/>
                    </a:cubicBezTo>
                    <a:cubicBezTo>
                      <a:pt x="122" y="246"/>
                      <a:pt x="125" y="245"/>
                      <a:pt x="129" y="242"/>
                    </a:cubicBezTo>
                    <a:cubicBezTo>
                      <a:pt x="237" y="159"/>
                      <a:pt x="237" y="159"/>
                      <a:pt x="237" y="159"/>
                    </a:cubicBezTo>
                    <a:cubicBezTo>
                      <a:pt x="345" y="242"/>
                      <a:pt x="345" y="242"/>
                      <a:pt x="345" y="242"/>
                    </a:cubicBezTo>
                    <a:cubicBezTo>
                      <a:pt x="349" y="245"/>
                      <a:pt x="352" y="246"/>
                      <a:pt x="356" y="246"/>
                    </a:cubicBezTo>
                    <a:cubicBezTo>
                      <a:pt x="397" y="246"/>
                      <a:pt x="397" y="246"/>
                      <a:pt x="397" y="246"/>
                    </a:cubicBezTo>
                    <a:cubicBezTo>
                      <a:pt x="397" y="273"/>
                      <a:pt x="397" y="273"/>
                      <a:pt x="397" y="273"/>
                    </a:cubicBezTo>
                    <a:cubicBezTo>
                      <a:pt x="474" y="228"/>
                      <a:pt x="474" y="228"/>
                      <a:pt x="474" y="228"/>
                    </a:cubicBezTo>
                    <a:cubicBezTo>
                      <a:pt x="397" y="183"/>
                      <a:pt x="397" y="183"/>
                      <a:pt x="397" y="183"/>
                    </a:cubicBezTo>
                    <a:lnTo>
                      <a:pt x="397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</p:grpSp>
      <p:grpSp>
        <p:nvGrpSpPr>
          <p:cNvPr id="758" name="그룹 757">
            <a:extLst>
              <a:ext uri="{FF2B5EF4-FFF2-40B4-BE49-F238E27FC236}">
                <a16:creationId xmlns:a16="http://schemas.microsoft.com/office/drawing/2014/main" id="{AAA4CCDD-5941-4269-B3CF-1EECAB22883C}"/>
              </a:ext>
            </a:extLst>
          </p:cNvPr>
          <p:cNvGrpSpPr/>
          <p:nvPr/>
        </p:nvGrpSpPr>
        <p:grpSpPr>
          <a:xfrm>
            <a:off x="4562461" y="4270278"/>
            <a:ext cx="833513" cy="389075"/>
            <a:chOff x="2072680" y="4389300"/>
            <a:chExt cx="934543" cy="402005"/>
          </a:xfrm>
        </p:grpSpPr>
        <p:sp>
          <p:nvSpPr>
            <p:cNvPr id="759" name="직사각형 758">
              <a:extLst>
                <a:ext uri="{FF2B5EF4-FFF2-40B4-BE49-F238E27FC236}">
                  <a16:creationId xmlns:a16="http://schemas.microsoft.com/office/drawing/2014/main" id="{3FA14EF5-7C54-4D67-9E6F-9945E23FF756}"/>
                </a:ext>
              </a:extLst>
            </p:cNvPr>
            <p:cNvSpPr/>
            <p:nvPr/>
          </p:nvSpPr>
          <p:spPr>
            <a:xfrm>
              <a:off x="2072680" y="4389300"/>
              <a:ext cx="934543" cy="40200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0" tIns="60960" rIns="36000" bIns="60960" numCol="1" rtlCol="0" anchor="b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3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4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33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2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0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94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91435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라우터</a:t>
              </a:r>
              <a:endPara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  <a:p>
              <a:pPr algn="r" defTabSz="91435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12vC/3P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grpSp>
          <p:nvGrpSpPr>
            <p:cNvPr id="760" name="그룹 759">
              <a:extLst>
                <a:ext uri="{FF2B5EF4-FFF2-40B4-BE49-F238E27FC236}">
                  <a16:creationId xmlns:a16="http://schemas.microsoft.com/office/drawing/2014/main" id="{47F741BF-1836-42A7-AE44-8E47CA6DFE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2639" y="4502770"/>
              <a:ext cx="324000" cy="211919"/>
              <a:chOff x="4592638" y="2459038"/>
              <a:chExt cx="546100" cy="3571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61" name="Freeform 94">
                <a:extLst>
                  <a:ext uri="{FF2B5EF4-FFF2-40B4-BE49-F238E27FC236}">
                    <a16:creationId xmlns:a16="http://schemas.microsoft.com/office/drawing/2014/main" id="{24B7DDED-4C30-42B7-A8DA-5A0D1B65E2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2638" y="2459038"/>
                <a:ext cx="546100" cy="357188"/>
              </a:xfrm>
              <a:custGeom>
                <a:avLst/>
                <a:gdLst>
                  <a:gd name="T0" fmla="*/ 68 w 633"/>
                  <a:gd name="T1" fmla="*/ 413 h 413"/>
                  <a:gd name="T2" fmla="*/ 0 w 633"/>
                  <a:gd name="T3" fmla="*/ 345 h 413"/>
                  <a:gd name="T4" fmla="*/ 0 w 633"/>
                  <a:gd name="T5" fmla="*/ 345 h 413"/>
                  <a:gd name="T6" fmla="*/ 0 w 633"/>
                  <a:gd name="T7" fmla="*/ 68 h 413"/>
                  <a:gd name="T8" fmla="*/ 68 w 633"/>
                  <a:gd name="T9" fmla="*/ 0 h 413"/>
                  <a:gd name="T10" fmla="*/ 68 w 633"/>
                  <a:gd name="T11" fmla="*/ 0 h 413"/>
                  <a:gd name="T12" fmla="*/ 565 w 633"/>
                  <a:gd name="T13" fmla="*/ 0 h 413"/>
                  <a:gd name="T14" fmla="*/ 633 w 633"/>
                  <a:gd name="T15" fmla="*/ 68 h 413"/>
                  <a:gd name="T16" fmla="*/ 633 w 633"/>
                  <a:gd name="T17" fmla="*/ 68 h 413"/>
                  <a:gd name="T18" fmla="*/ 633 w 633"/>
                  <a:gd name="T19" fmla="*/ 345 h 413"/>
                  <a:gd name="T20" fmla="*/ 633 w 633"/>
                  <a:gd name="T21" fmla="*/ 345 h 413"/>
                  <a:gd name="T22" fmla="*/ 565 w 633"/>
                  <a:gd name="T23" fmla="*/ 413 h 413"/>
                  <a:gd name="T24" fmla="*/ 565 w 633"/>
                  <a:gd name="T25" fmla="*/ 413 h 413"/>
                  <a:gd name="T26" fmla="*/ 68 w 633"/>
                  <a:gd name="T27" fmla="*/ 413 h 413"/>
                  <a:gd name="T28" fmla="*/ 32 w 633"/>
                  <a:gd name="T29" fmla="*/ 68 h 413"/>
                  <a:gd name="T30" fmla="*/ 32 w 633"/>
                  <a:gd name="T31" fmla="*/ 345 h 413"/>
                  <a:gd name="T32" fmla="*/ 68 w 633"/>
                  <a:gd name="T33" fmla="*/ 381 h 413"/>
                  <a:gd name="T34" fmla="*/ 68 w 633"/>
                  <a:gd name="T35" fmla="*/ 381 h 413"/>
                  <a:gd name="T36" fmla="*/ 565 w 633"/>
                  <a:gd name="T37" fmla="*/ 381 h 413"/>
                  <a:gd name="T38" fmla="*/ 601 w 633"/>
                  <a:gd name="T39" fmla="*/ 345 h 413"/>
                  <a:gd name="T40" fmla="*/ 601 w 633"/>
                  <a:gd name="T41" fmla="*/ 345 h 413"/>
                  <a:gd name="T42" fmla="*/ 601 w 633"/>
                  <a:gd name="T43" fmla="*/ 68 h 413"/>
                  <a:gd name="T44" fmla="*/ 565 w 633"/>
                  <a:gd name="T45" fmla="*/ 32 h 413"/>
                  <a:gd name="T46" fmla="*/ 565 w 633"/>
                  <a:gd name="T47" fmla="*/ 32 h 413"/>
                  <a:gd name="T48" fmla="*/ 68 w 633"/>
                  <a:gd name="T49" fmla="*/ 32 h 413"/>
                  <a:gd name="T50" fmla="*/ 32 w 633"/>
                  <a:gd name="T51" fmla="*/ 68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13">
                    <a:moveTo>
                      <a:pt x="68" y="413"/>
                    </a:moveTo>
                    <a:cubicBezTo>
                      <a:pt x="31" y="413"/>
                      <a:pt x="1" y="382"/>
                      <a:pt x="0" y="345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1" y="30"/>
                      <a:pt x="31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3" y="0"/>
                      <a:pt x="633" y="30"/>
                      <a:pt x="633" y="68"/>
                    </a:cubicBezTo>
                    <a:cubicBezTo>
                      <a:pt x="633" y="68"/>
                      <a:pt x="633" y="68"/>
                      <a:pt x="633" y="68"/>
                    </a:cubicBezTo>
                    <a:cubicBezTo>
                      <a:pt x="633" y="345"/>
                      <a:pt x="633" y="345"/>
                      <a:pt x="633" y="345"/>
                    </a:cubicBezTo>
                    <a:cubicBezTo>
                      <a:pt x="633" y="345"/>
                      <a:pt x="633" y="345"/>
                      <a:pt x="633" y="345"/>
                    </a:cubicBezTo>
                    <a:cubicBezTo>
                      <a:pt x="633" y="382"/>
                      <a:pt x="603" y="413"/>
                      <a:pt x="565" y="413"/>
                    </a:cubicBezTo>
                    <a:cubicBezTo>
                      <a:pt x="565" y="413"/>
                      <a:pt x="565" y="413"/>
                      <a:pt x="565" y="413"/>
                    </a:cubicBezTo>
                    <a:cubicBezTo>
                      <a:pt x="68" y="413"/>
                      <a:pt x="68" y="413"/>
                      <a:pt x="68" y="413"/>
                    </a:cubicBezTo>
                    <a:close/>
                    <a:moveTo>
                      <a:pt x="32" y="68"/>
                    </a:moveTo>
                    <a:cubicBezTo>
                      <a:pt x="32" y="345"/>
                      <a:pt x="32" y="345"/>
                      <a:pt x="32" y="345"/>
                    </a:cubicBezTo>
                    <a:cubicBezTo>
                      <a:pt x="33" y="365"/>
                      <a:pt x="49" y="381"/>
                      <a:pt x="68" y="381"/>
                    </a:cubicBezTo>
                    <a:cubicBezTo>
                      <a:pt x="68" y="381"/>
                      <a:pt x="68" y="381"/>
                      <a:pt x="68" y="381"/>
                    </a:cubicBezTo>
                    <a:cubicBezTo>
                      <a:pt x="565" y="381"/>
                      <a:pt x="565" y="381"/>
                      <a:pt x="565" y="381"/>
                    </a:cubicBezTo>
                    <a:cubicBezTo>
                      <a:pt x="585" y="381"/>
                      <a:pt x="601" y="365"/>
                      <a:pt x="601" y="345"/>
                    </a:cubicBezTo>
                    <a:cubicBezTo>
                      <a:pt x="601" y="345"/>
                      <a:pt x="601" y="345"/>
                      <a:pt x="601" y="345"/>
                    </a:cubicBezTo>
                    <a:cubicBezTo>
                      <a:pt x="601" y="68"/>
                      <a:pt x="601" y="68"/>
                      <a:pt x="601" y="68"/>
                    </a:cubicBezTo>
                    <a:cubicBezTo>
                      <a:pt x="601" y="48"/>
                      <a:pt x="585" y="32"/>
                      <a:pt x="565" y="32"/>
                    </a:cubicBezTo>
                    <a:cubicBezTo>
                      <a:pt x="565" y="32"/>
                      <a:pt x="565" y="32"/>
                      <a:pt x="565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9" y="32"/>
                      <a:pt x="33" y="48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62" name="Freeform 95">
                <a:extLst>
                  <a:ext uri="{FF2B5EF4-FFF2-40B4-BE49-F238E27FC236}">
                    <a16:creationId xmlns:a16="http://schemas.microsoft.com/office/drawing/2014/main" id="{4D9648A5-22EB-4F3A-B9E3-1BF6BEC5E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0" y="2519363"/>
                <a:ext cx="409575" cy="234950"/>
              </a:xfrm>
              <a:custGeom>
                <a:avLst/>
                <a:gdLst>
                  <a:gd name="T0" fmla="*/ 397 w 474"/>
                  <a:gd name="T1" fmla="*/ 210 h 273"/>
                  <a:gd name="T2" fmla="*/ 363 w 474"/>
                  <a:gd name="T3" fmla="*/ 210 h 273"/>
                  <a:gd name="T4" fmla="*/ 267 w 474"/>
                  <a:gd name="T5" fmla="*/ 136 h 273"/>
                  <a:gd name="T6" fmla="*/ 363 w 474"/>
                  <a:gd name="T7" fmla="*/ 63 h 273"/>
                  <a:gd name="T8" fmla="*/ 397 w 474"/>
                  <a:gd name="T9" fmla="*/ 63 h 273"/>
                  <a:gd name="T10" fmla="*/ 397 w 474"/>
                  <a:gd name="T11" fmla="*/ 90 h 273"/>
                  <a:gd name="T12" fmla="*/ 474 w 474"/>
                  <a:gd name="T13" fmla="*/ 45 h 273"/>
                  <a:gd name="T14" fmla="*/ 397 w 474"/>
                  <a:gd name="T15" fmla="*/ 0 h 273"/>
                  <a:gd name="T16" fmla="*/ 397 w 474"/>
                  <a:gd name="T17" fmla="*/ 27 h 273"/>
                  <a:gd name="T18" fmla="*/ 356 w 474"/>
                  <a:gd name="T19" fmla="*/ 27 h 273"/>
                  <a:gd name="T20" fmla="*/ 345 w 474"/>
                  <a:gd name="T21" fmla="*/ 30 h 273"/>
                  <a:gd name="T22" fmla="*/ 237 w 474"/>
                  <a:gd name="T23" fmla="*/ 114 h 273"/>
                  <a:gd name="T24" fmla="*/ 129 w 474"/>
                  <a:gd name="T25" fmla="*/ 30 h 273"/>
                  <a:gd name="T26" fmla="*/ 118 w 474"/>
                  <a:gd name="T27" fmla="*/ 27 h 273"/>
                  <a:gd name="T28" fmla="*/ 77 w 474"/>
                  <a:gd name="T29" fmla="*/ 27 h 273"/>
                  <a:gd name="T30" fmla="*/ 77 w 474"/>
                  <a:gd name="T31" fmla="*/ 0 h 273"/>
                  <a:gd name="T32" fmla="*/ 0 w 474"/>
                  <a:gd name="T33" fmla="*/ 44 h 273"/>
                  <a:gd name="T34" fmla="*/ 77 w 474"/>
                  <a:gd name="T35" fmla="*/ 89 h 273"/>
                  <a:gd name="T36" fmla="*/ 77 w 474"/>
                  <a:gd name="T37" fmla="*/ 63 h 273"/>
                  <a:gd name="T38" fmla="*/ 111 w 474"/>
                  <a:gd name="T39" fmla="*/ 63 h 273"/>
                  <a:gd name="T40" fmla="*/ 207 w 474"/>
                  <a:gd name="T41" fmla="*/ 136 h 273"/>
                  <a:gd name="T42" fmla="*/ 111 w 474"/>
                  <a:gd name="T43" fmla="*/ 210 h 273"/>
                  <a:gd name="T44" fmla="*/ 77 w 474"/>
                  <a:gd name="T45" fmla="*/ 210 h 273"/>
                  <a:gd name="T46" fmla="*/ 77 w 474"/>
                  <a:gd name="T47" fmla="*/ 183 h 273"/>
                  <a:gd name="T48" fmla="*/ 0 w 474"/>
                  <a:gd name="T49" fmla="*/ 228 h 273"/>
                  <a:gd name="T50" fmla="*/ 77 w 474"/>
                  <a:gd name="T51" fmla="*/ 273 h 273"/>
                  <a:gd name="T52" fmla="*/ 77 w 474"/>
                  <a:gd name="T53" fmla="*/ 246 h 273"/>
                  <a:gd name="T54" fmla="*/ 118 w 474"/>
                  <a:gd name="T55" fmla="*/ 246 h 273"/>
                  <a:gd name="T56" fmla="*/ 129 w 474"/>
                  <a:gd name="T57" fmla="*/ 242 h 273"/>
                  <a:gd name="T58" fmla="*/ 237 w 474"/>
                  <a:gd name="T59" fmla="*/ 159 h 273"/>
                  <a:gd name="T60" fmla="*/ 345 w 474"/>
                  <a:gd name="T61" fmla="*/ 242 h 273"/>
                  <a:gd name="T62" fmla="*/ 356 w 474"/>
                  <a:gd name="T63" fmla="*/ 246 h 273"/>
                  <a:gd name="T64" fmla="*/ 397 w 474"/>
                  <a:gd name="T65" fmla="*/ 246 h 273"/>
                  <a:gd name="T66" fmla="*/ 397 w 474"/>
                  <a:gd name="T67" fmla="*/ 273 h 273"/>
                  <a:gd name="T68" fmla="*/ 474 w 474"/>
                  <a:gd name="T69" fmla="*/ 228 h 273"/>
                  <a:gd name="T70" fmla="*/ 397 w 474"/>
                  <a:gd name="T71" fmla="*/ 183 h 273"/>
                  <a:gd name="T72" fmla="*/ 397 w 474"/>
                  <a:gd name="T73" fmla="*/ 21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74" h="273">
                    <a:moveTo>
                      <a:pt x="397" y="210"/>
                    </a:moveTo>
                    <a:cubicBezTo>
                      <a:pt x="363" y="210"/>
                      <a:pt x="363" y="210"/>
                      <a:pt x="363" y="210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363" y="63"/>
                      <a:pt x="363" y="63"/>
                      <a:pt x="363" y="63"/>
                    </a:cubicBezTo>
                    <a:cubicBezTo>
                      <a:pt x="397" y="63"/>
                      <a:pt x="397" y="63"/>
                      <a:pt x="397" y="63"/>
                    </a:cubicBezTo>
                    <a:cubicBezTo>
                      <a:pt x="397" y="90"/>
                      <a:pt x="397" y="90"/>
                      <a:pt x="397" y="90"/>
                    </a:cubicBezTo>
                    <a:cubicBezTo>
                      <a:pt x="474" y="45"/>
                      <a:pt x="474" y="45"/>
                      <a:pt x="474" y="45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397" y="27"/>
                      <a:pt x="397" y="27"/>
                      <a:pt x="397" y="27"/>
                    </a:cubicBezTo>
                    <a:cubicBezTo>
                      <a:pt x="356" y="27"/>
                      <a:pt x="356" y="27"/>
                      <a:pt x="356" y="27"/>
                    </a:cubicBezTo>
                    <a:cubicBezTo>
                      <a:pt x="352" y="27"/>
                      <a:pt x="349" y="28"/>
                      <a:pt x="345" y="30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129" y="30"/>
                      <a:pt x="129" y="30"/>
                      <a:pt x="129" y="30"/>
                    </a:cubicBezTo>
                    <a:cubicBezTo>
                      <a:pt x="125" y="28"/>
                      <a:pt x="122" y="27"/>
                      <a:pt x="118" y="27"/>
                    </a:cubicBezTo>
                    <a:cubicBezTo>
                      <a:pt x="77" y="27"/>
                      <a:pt x="77" y="27"/>
                      <a:pt x="77" y="27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63"/>
                      <a:pt x="77" y="63"/>
                      <a:pt x="77" y="63"/>
                    </a:cubicBezTo>
                    <a:cubicBezTo>
                      <a:pt x="111" y="63"/>
                      <a:pt x="111" y="63"/>
                      <a:pt x="111" y="63"/>
                    </a:cubicBezTo>
                    <a:cubicBezTo>
                      <a:pt x="207" y="136"/>
                      <a:pt x="207" y="136"/>
                      <a:pt x="207" y="136"/>
                    </a:cubicBezTo>
                    <a:cubicBezTo>
                      <a:pt x="111" y="210"/>
                      <a:pt x="111" y="210"/>
                      <a:pt x="111" y="210"/>
                    </a:cubicBezTo>
                    <a:cubicBezTo>
                      <a:pt x="77" y="210"/>
                      <a:pt x="77" y="210"/>
                      <a:pt x="77" y="210"/>
                    </a:cubicBezTo>
                    <a:cubicBezTo>
                      <a:pt x="77" y="183"/>
                      <a:pt x="77" y="183"/>
                      <a:pt x="77" y="183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7" y="273"/>
                      <a:pt x="77" y="273"/>
                      <a:pt x="77" y="273"/>
                    </a:cubicBezTo>
                    <a:cubicBezTo>
                      <a:pt x="77" y="246"/>
                      <a:pt x="77" y="246"/>
                      <a:pt x="77" y="246"/>
                    </a:cubicBezTo>
                    <a:cubicBezTo>
                      <a:pt x="118" y="246"/>
                      <a:pt x="118" y="246"/>
                      <a:pt x="118" y="246"/>
                    </a:cubicBezTo>
                    <a:cubicBezTo>
                      <a:pt x="122" y="246"/>
                      <a:pt x="125" y="245"/>
                      <a:pt x="129" y="242"/>
                    </a:cubicBezTo>
                    <a:cubicBezTo>
                      <a:pt x="237" y="159"/>
                      <a:pt x="237" y="159"/>
                      <a:pt x="237" y="159"/>
                    </a:cubicBezTo>
                    <a:cubicBezTo>
                      <a:pt x="345" y="242"/>
                      <a:pt x="345" y="242"/>
                      <a:pt x="345" y="242"/>
                    </a:cubicBezTo>
                    <a:cubicBezTo>
                      <a:pt x="349" y="245"/>
                      <a:pt x="352" y="246"/>
                      <a:pt x="356" y="246"/>
                    </a:cubicBezTo>
                    <a:cubicBezTo>
                      <a:pt x="397" y="246"/>
                      <a:pt x="397" y="246"/>
                      <a:pt x="397" y="246"/>
                    </a:cubicBezTo>
                    <a:cubicBezTo>
                      <a:pt x="397" y="273"/>
                      <a:pt x="397" y="273"/>
                      <a:pt x="397" y="273"/>
                    </a:cubicBezTo>
                    <a:cubicBezTo>
                      <a:pt x="474" y="228"/>
                      <a:pt x="474" y="228"/>
                      <a:pt x="474" y="228"/>
                    </a:cubicBezTo>
                    <a:cubicBezTo>
                      <a:pt x="397" y="183"/>
                      <a:pt x="397" y="183"/>
                      <a:pt x="397" y="183"/>
                    </a:cubicBezTo>
                    <a:lnTo>
                      <a:pt x="397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</p:grpSp>
      <p:sp>
        <p:nvSpPr>
          <p:cNvPr id="763" name="직사각형 762">
            <a:extLst>
              <a:ext uri="{FF2B5EF4-FFF2-40B4-BE49-F238E27FC236}">
                <a16:creationId xmlns:a16="http://schemas.microsoft.com/office/drawing/2014/main" id="{065C92F9-B4B1-4A24-B1C7-2EB5BECF5C02}"/>
              </a:ext>
            </a:extLst>
          </p:cNvPr>
          <p:cNvSpPr/>
          <p:nvPr/>
        </p:nvSpPr>
        <p:spPr>
          <a:xfrm>
            <a:off x="3354800" y="5016508"/>
            <a:ext cx="5171988" cy="32586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>
            <a:solidFill>
              <a:sysClr val="window" lastClr="FFFFFF">
                <a:lumMod val="65000"/>
              </a:sysClr>
            </a:solidFill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Worker Node (16EA)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sp>
        <p:nvSpPr>
          <p:cNvPr id="764" name="직사각형 763">
            <a:extLst>
              <a:ext uri="{FF2B5EF4-FFF2-40B4-BE49-F238E27FC236}">
                <a16:creationId xmlns:a16="http://schemas.microsoft.com/office/drawing/2014/main" id="{54C0E568-6CDF-40B2-9511-FF8641D93799}"/>
              </a:ext>
            </a:extLst>
          </p:cNvPr>
          <p:cNvSpPr/>
          <p:nvPr/>
        </p:nvSpPr>
        <p:spPr>
          <a:xfrm>
            <a:off x="3354800" y="4809895"/>
            <a:ext cx="5171988" cy="208556"/>
          </a:xfrm>
          <a:prstGeom prst="rect">
            <a:avLst/>
          </a:prstGeom>
          <a:solidFill>
            <a:srgbClr val="B17ED8"/>
          </a:solidFill>
          <a:ln w="6350" cap="sq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latinLnBrk="0">
              <a:defRPr/>
            </a:pPr>
            <a:r>
              <a:rPr lang="en-US" altLang="ko-KR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OpenShift</a:t>
            </a:r>
            <a:endParaRPr lang="ko-KR" altLang="en-US" sz="1000" b="1" kern="0" dirty="0">
              <a:solidFill>
                <a:prstClr val="white">
                  <a:lumMod val="95000"/>
                </a:prstClr>
              </a:solidFill>
              <a:latin typeface="+mn-ea"/>
            </a:endParaRPr>
          </a:p>
        </p:txBody>
      </p:sp>
      <p:grpSp>
        <p:nvGrpSpPr>
          <p:cNvPr id="765" name="그룹 764">
            <a:extLst>
              <a:ext uri="{FF2B5EF4-FFF2-40B4-BE49-F238E27FC236}">
                <a16:creationId xmlns:a16="http://schemas.microsoft.com/office/drawing/2014/main" id="{A58607AE-D7E0-4AD3-ACF5-AF0CCE8747FE}"/>
              </a:ext>
            </a:extLst>
          </p:cNvPr>
          <p:cNvGrpSpPr/>
          <p:nvPr/>
        </p:nvGrpSpPr>
        <p:grpSpPr>
          <a:xfrm>
            <a:off x="3484637" y="5006491"/>
            <a:ext cx="867624" cy="369332"/>
            <a:chOff x="3764188" y="5092213"/>
            <a:chExt cx="972788" cy="381606"/>
          </a:xfrm>
        </p:grpSpPr>
        <p:grpSp>
          <p:nvGrpSpPr>
            <p:cNvPr id="766" name="그룹 765">
              <a:extLst>
                <a:ext uri="{FF2B5EF4-FFF2-40B4-BE49-F238E27FC236}">
                  <a16:creationId xmlns:a16="http://schemas.microsoft.com/office/drawing/2014/main" id="{D0DB3A7C-4F7A-46B0-8FEE-7C5E443DD64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64188" y="5153360"/>
              <a:ext cx="189365" cy="252000"/>
              <a:chOff x="3128963" y="3981450"/>
              <a:chExt cx="412750" cy="5492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80" name="Freeform 58">
                <a:extLst>
                  <a:ext uri="{FF2B5EF4-FFF2-40B4-BE49-F238E27FC236}">
                    <a16:creationId xmlns:a16="http://schemas.microsoft.com/office/drawing/2014/main" id="{3BC89310-DD42-4F9D-B4D1-A46946CCE8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28963" y="3981450"/>
                <a:ext cx="412750" cy="549275"/>
              </a:xfrm>
              <a:custGeom>
                <a:avLst/>
                <a:gdLst>
                  <a:gd name="T0" fmla="*/ 68 w 477"/>
                  <a:gd name="T1" fmla="*/ 636 h 636"/>
                  <a:gd name="T2" fmla="*/ 0 w 477"/>
                  <a:gd name="T3" fmla="*/ 568 h 636"/>
                  <a:gd name="T4" fmla="*/ 0 w 477"/>
                  <a:gd name="T5" fmla="*/ 568 h 636"/>
                  <a:gd name="T6" fmla="*/ 0 w 477"/>
                  <a:gd name="T7" fmla="*/ 68 h 636"/>
                  <a:gd name="T8" fmla="*/ 68 w 477"/>
                  <a:gd name="T9" fmla="*/ 0 h 636"/>
                  <a:gd name="T10" fmla="*/ 68 w 477"/>
                  <a:gd name="T11" fmla="*/ 0 h 636"/>
                  <a:gd name="T12" fmla="*/ 409 w 477"/>
                  <a:gd name="T13" fmla="*/ 0 h 636"/>
                  <a:gd name="T14" fmla="*/ 477 w 477"/>
                  <a:gd name="T15" fmla="*/ 68 h 636"/>
                  <a:gd name="T16" fmla="*/ 477 w 477"/>
                  <a:gd name="T17" fmla="*/ 68 h 636"/>
                  <a:gd name="T18" fmla="*/ 477 w 477"/>
                  <a:gd name="T19" fmla="*/ 568 h 636"/>
                  <a:gd name="T20" fmla="*/ 477 w 477"/>
                  <a:gd name="T21" fmla="*/ 568 h 636"/>
                  <a:gd name="T22" fmla="*/ 409 w 477"/>
                  <a:gd name="T23" fmla="*/ 636 h 636"/>
                  <a:gd name="T24" fmla="*/ 409 w 477"/>
                  <a:gd name="T25" fmla="*/ 636 h 636"/>
                  <a:gd name="T26" fmla="*/ 68 w 477"/>
                  <a:gd name="T27" fmla="*/ 636 h 636"/>
                  <a:gd name="T28" fmla="*/ 32 w 477"/>
                  <a:gd name="T29" fmla="*/ 68 h 636"/>
                  <a:gd name="T30" fmla="*/ 32 w 477"/>
                  <a:gd name="T31" fmla="*/ 568 h 636"/>
                  <a:gd name="T32" fmla="*/ 68 w 477"/>
                  <a:gd name="T33" fmla="*/ 604 h 636"/>
                  <a:gd name="T34" fmla="*/ 68 w 477"/>
                  <a:gd name="T35" fmla="*/ 604 h 636"/>
                  <a:gd name="T36" fmla="*/ 409 w 477"/>
                  <a:gd name="T37" fmla="*/ 604 h 636"/>
                  <a:gd name="T38" fmla="*/ 445 w 477"/>
                  <a:gd name="T39" fmla="*/ 568 h 636"/>
                  <a:gd name="T40" fmla="*/ 445 w 477"/>
                  <a:gd name="T41" fmla="*/ 568 h 636"/>
                  <a:gd name="T42" fmla="*/ 445 w 477"/>
                  <a:gd name="T43" fmla="*/ 68 h 636"/>
                  <a:gd name="T44" fmla="*/ 409 w 477"/>
                  <a:gd name="T45" fmla="*/ 32 h 636"/>
                  <a:gd name="T46" fmla="*/ 409 w 477"/>
                  <a:gd name="T47" fmla="*/ 32 h 636"/>
                  <a:gd name="T48" fmla="*/ 68 w 477"/>
                  <a:gd name="T49" fmla="*/ 32 h 636"/>
                  <a:gd name="T50" fmla="*/ 32 w 477"/>
                  <a:gd name="T51" fmla="*/ 68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7" h="636">
                    <a:moveTo>
                      <a:pt x="68" y="636"/>
                    </a:moveTo>
                    <a:cubicBezTo>
                      <a:pt x="30" y="636"/>
                      <a:pt x="0" y="606"/>
                      <a:pt x="0" y="568"/>
                    </a:cubicBezTo>
                    <a:cubicBezTo>
                      <a:pt x="0" y="568"/>
                      <a:pt x="0" y="568"/>
                      <a:pt x="0" y="5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31"/>
                      <a:pt x="30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447" y="0"/>
                      <a:pt x="477" y="31"/>
                      <a:pt x="477" y="68"/>
                    </a:cubicBezTo>
                    <a:cubicBezTo>
                      <a:pt x="477" y="68"/>
                      <a:pt x="477" y="68"/>
                      <a:pt x="477" y="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606"/>
                      <a:pt x="447" y="636"/>
                      <a:pt x="409" y="636"/>
                    </a:cubicBezTo>
                    <a:cubicBezTo>
                      <a:pt x="409" y="636"/>
                      <a:pt x="409" y="636"/>
                      <a:pt x="409" y="636"/>
                    </a:cubicBezTo>
                    <a:cubicBezTo>
                      <a:pt x="68" y="636"/>
                      <a:pt x="68" y="636"/>
                      <a:pt x="68" y="636"/>
                    </a:cubicBezTo>
                    <a:close/>
                    <a:moveTo>
                      <a:pt x="32" y="68"/>
                    </a:moveTo>
                    <a:cubicBezTo>
                      <a:pt x="32" y="568"/>
                      <a:pt x="32" y="568"/>
                      <a:pt x="32" y="568"/>
                    </a:cubicBezTo>
                    <a:cubicBezTo>
                      <a:pt x="32" y="588"/>
                      <a:pt x="48" y="604"/>
                      <a:pt x="68" y="604"/>
                    </a:cubicBezTo>
                    <a:cubicBezTo>
                      <a:pt x="68" y="604"/>
                      <a:pt x="68" y="604"/>
                      <a:pt x="68" y="604"/>
                    </a:cubicBezTo>
                    <a:cubicBezTo>
                      <a:pt x="409" y="604"/>
                      <a:pt x="409" y="604"/>
                      <a:pt x="409" y="604"/>
                    </a:cubicBezTo>
                    <a:cubicBezTo>
                      <a:pt x="429" y="604"/>
                      <a:pt x="445" y="588"/>
                      <a:pt x="445" y="568"/>
                    </a:cubicBezTo>
                    <a:cubicBezTo>
                      <a:pt x="445" y="568"/>
                      <a:pt x="445" y="568"/>
                      <a:pt x="445" y="568"/>
                    </a:cubicBezTo>
                    <a:cubicBezTo>
                      <a:pt x="445" y="68"/>
                      <a:pt x="445" y="68"/>
                      <a:pt x="445" y="68"/>
                    </a:cubicBezTo>
                    <a:cubicBezTo>
                      <a:pt x="445" y="49"/>
                      <a:pt x="429" y="32"/>
                      <a:pt x="409" y="32"/>
                    </a:cubicBezTo>
                    <a:cubicBezTo>
                      <a:pt x="409" y="32"/>
                      <a:pt x="409" y="32"/>
                      <a:pt x="409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8" y="32"/>
                      <a:pt x="32" y="49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81" name="Freeform 59">
                <a:extLst>
                  <a:ext uri="{FF2B5EF4-FFF2-40B4-BE49-F238E27FC236}">
                    <a16:creationId xmlns:a16="http://schemas.microsoft.com/office/drawing/2014/main" id="{B9C557BA-E842-46F3-AFC1-EE4A4BD1B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5650" y="4360863"/>
                <a:ext cx="80963" cy="80963"/>
              </a:xfrm>
              <a:custGeom>
                <a:avLst/>
                <a:gdLst>
                  <a:gd name="T0" fmla="*/ 0 w 94"/>
                  <a:gd name="T1" fmla="*/ 47 h 94"/>
                  <a:gd name="T2" fmla="*/ 47 w 94"/>
                  <a:gd name="T3" fmla="*/ 0 h 94"/>
                  <a:gd name="T4" fmla="*/ 47 w 94"/>
                  <a:gd name="T5" fmla="*/ 0 h 94"/>
                  <a:gd name="T6" fmla="*/ 94 w 94"/>
                  <a:gd name="T7" fmla="*/ 47 h 94"/>
                  <a:gd name="T8" fmla="*/ 94 w 94"/>
                  <a:gd name="T9" fmla="*/ 47 h 94"/>
                  <a:gd name="T10" fmla="*/ 47 w 94"/>
                  <a:gd name="T11" fmla="*/ 94 h 94"/>
                  <a:gd name="T12" fmla="*/ 47 w 94"/>
                  <a:gd name="T13" fmla="*/ 94 h 94"/>
                  <a:gd name="T14" fmla="*/ 0 w 94"/>
                  <a:gd name="T15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94">
                    <a:moveTo>
                      <a:pt x="0" y="47"/>
                    </a:move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4" y="21"/>
                      <a:pt x="94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4" y="73"/>
                      <a:pt x="73" y="94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21" y="94"/>
                      <a:pt x="0" y="73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82" name="Freeform 60">
                <a:extLst>
                  <a:ext uri="{FF2B5EF4-FFF2-40B4-BE49-F238E27FC236}">
                    <a16:creationId xmlns:a16="http://schemas.microsoft.com/office/drawing/2014/main" id="{8B421D5F-FD1A-4D3A-A080-E275426D4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052888"/>
                <a:ext cx="293688" cy="55563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83" name="Freeform 61">
                <a:extLst>
                  <a:ext uri="{FF2B5EF4-FFF2-40B4-BE49-F238E27FC236}">
                    <a16:creationId xmlns:a16="http://schemas.microsoft.com/office/drawing/2014/main" id="{163296C3-6268-4F06-BD1B-1ED644C7B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129088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84" name="Freeform 62">
                <a:extLst>
                  <a:ext uri="{FF2B5EF4-FFF2-40B4-BE49-F238E27FC236}">
                    <a16:creationId xmlns:a16="http://schemas.microsoft.com/office/drawing/2014/main" id="{77B7D4D2-558E-4EAF-979C-B61D99924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206875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767" name="그룹 766">
              <a:extLst>
                <a:ext uri="{FF2B5EF4-FFF2-40B4-BE49-F238E27FC236}">
                  <a16:creationId xmlns:a16="http://schemas.microsoft.com/office/drawing/2014/main" id="{B212E62C-1D11-4778-A2FD-208548D942F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84322" y="5153360"/>
              <a:ext cx="189365" cy="252000"/>
              <a:chOff x="3128963" y="3981450"/>
              <a:chExt cx="412750" cy="5492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75" name="Freeform 58">
                <a:extLst>
                  <a:ext uri="{FF2B5EF4-FFF2-40B4-BE49-F238E27FC236}">
                    <a16:creationId xmlns:a16="http://schemas.microsoft.com/office/drawing/2014/main" id="{88F0B6A1-94F6-4BBB-B4B3-9AD1394839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28963" y="3981450"/>
                <a:ext cx="412750" cy="549275"/>
              </a:xfrm>
              <a:custGeom>
                <a:avLst/>
                <a:gdLst>
                  <a:gd name="T0" fmla="*/ 68 w 477"/>
                  <a:gd name="T1" fmla="*/ 636 h 636"/>
                  <a:gd name="T2" fmla="*/ 0 w 477"/>
                  <a:gd name="T3" fmla="*/ 568 h 636"/>
                  <a:gd name="T4" fmla="*/ 0 w 477"/>
                  <a:gd name="T5" fmla="*/ 568 h 636"/>
                  <a:gd name="T6" fmla="*/ 0 w 477"/>
                  <a:gd name="T7" fmla="*/ 68 h 636"/>
                  <a:gd name="T8" fmla="*/ 68 w 477"/>
                  <a:gd name="T9" fmla="*/ 0 h 636"/>
                  <a:gd name="T10" fmla="*/ 68 w 477"/>
                  <a:gd name="T11" fmla="*/ 0 h 636"/>
                  <a:gd name="T12" fmla="*/ 409 w 477"/>
                  <a:gd name="T13" fmla="*/ 0 h 636"/>
                  <a:gd name="T14" fmla="*/ 477 w 477"/>
                  <a:gd name="T15" fmla="*/ 68 h 636"/>
                  <a:gd name="T16" fmla="*/ 477 w 477"/>
                  <a:gd name="T17" fmla="*/ 68 h 636"/>
                  <a:gd name="T18" fmla="*/ 477 w 477"/>
                  <a:gd name="T19" fmla="*/ 568 h 636"/>
                  <a:gd name="T20" fmla="*/ 477 w 477"/>
                  <a:gd name="T21" fmla="*/ 568 h 636"/>
                  <a:gd name="T22" fmla="*/ 409 w 477"/>
                  <a:gd name="T23" fmla="*/ 636 h 636"/>
                  <a:gd name="T24" fmla="*/ 409 w 477"/>
                  <a:gd name="T25" fmla="*/ 636 h 636"/>
                  <a:gd name="T26" fmla="*/ 68 w 477"/>
                  <a:gd name="T27" fmla="*/ 636 h 636"/>
                  <a:gd name="T28" fmla="*/ 32 w 477"/>
                  <a:gd name="T29" fmla="*/ 68 h 636"/>
                  <a:gd name="T30" fmla="*/ 32 w 477"/>
                  <a:gd name="T31" fmla="*/ 568 h 636"/>
                  <a:gd name="T32" fmla="*/ 68 w 477"/>
                  <a:gd name="T33" fmla="*/ 604 h 636"/>
                  <a:gd name="T34" fmla="*/ 68 w 477"/>
                  <a:gd name="T35" fmla="*/ 604 h 636"/>
                  <a:gd name="T36" fmla="*/ 409 w 477"/>
                  <a:gd name="T37" fmla="*/ 604 h 636"/>
                  <a:gd name="T38" fmla="*/ 445 w 477"/>
                  <a:gd name="T39" fmla="*/ 568 h 636"/>
                  <a:gd name="T40" fmla="*/ 445 w 477"/>
                  <a:gd name="T41" fmla="*/ 568 h 636"/>
                  <a:gd name="T42" fmla="*/ 445 w 477"/>
                  <a:gd name="T43" fmla="*/ 68 h 636"/>
                  <a:gd name="T44" fmla="*/ 409 w 477"/>
                  <a:gd name="T45" fmla="*/ 32 h 636"/>
                  <a:gd name="T46" fmla="*/ 409 w 477"/>
                  <a:gd name="T47" fmla="*/ 32 h 636"/>
                  <a:gd name="T48" fmla="*/ 68 w 477"/>
                  <a:gd name="T49" fmla="*/ 32 h 636"/>
                  <a:gd name="T50" fmla="*/ 32 w 477"/>
                  <a:gd name="T51" fmla="*/ 68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7" h="636">
                    <a:moveTo>
                      <a:pt x="68" y="636"/>
                    </a:moveTo>
                    <a:cubicBezTo>
                      <a:pt x="30" y="636"/>
                      <a:pt x="0" y="606"/>
                      <a:pt x="0" y="568"/>
                    </a:cubicBezTo>
                    <a:cubicBezTo>
                      <a:pt x="0" y="568"/>
                      <a:pt x="0" y="568"/>
                      <a:pt x="0" y="5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31"/>
                      <a:pt x="30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447" y="0"/>
                      <a:pt x="477" y="31"/>
                      <a:pt x="477" y="68"/>
                    </a:cubicBezTo>
                    <a:cubicBezTo>
                      <a:pt x="477" y="68"/>
                      <a:pt x="477" y="68"/>
                      <a:pt x="477" y="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606"/>
                      <a:pt x="447" y="636"/>
                      <a:pt x="409" y="636"/>
                    </a:cubicBezTo>
                    <a:cubicBezTo>
                      <a:pt x="409" y="636"/>
                      <a:pt x="409" y="636"/>
                      <a:pt x="409" y="636"/>
                    </a:cubicBezTo>
                    <a:cubicBezTo>
                      <a:pt x="68" y="636"/>
                      <a:pt x="68" y="636"/>
                      <a:pt x="68" y="636"/>
                    </a:cubicBezTo>
                    <a:close/>
                    <a:moveTo>
                      <a:pt x="32" y="68"/>
                    </a:moveTo>
                    <a:cubicBezTo>
                      <a:pt x="32" y="568"/>
                      <a:pt x="32" y="568"/>
                      <a:pt x="32" y="568"/>
                    </a:cubicBezTo>
                    <a:cubicBezTo>
                      <a:pt x="32" y="588"/>
                      <a:pt x="48" y="604"/>
                      <a:pt x="68" y="604"/>
                    </a:cubicBezTo>
                    <a:cubicBezTo>
                      <a:pt x="68" y="604"/>
                      <a:pt x="68" y="604"/>
                      <a:pt x="68" y="604"/>
                    </a:cubicBezTo>
                    <a:cubicBezTo>
                      <a:pt x="409" y="604"/>
                      <a:pt x="409" y="604"/>
                      <a:pt x="409" y="604"/>
                    </a:cubicBezTo>
                    <a:cubicBezTo>
                      <a:pt x="429" y="604"/>
                      <a:pt x="445" y="588"/>
                      <a:pt x="445" y="568"/>
                    </a:cubicBezTo>
                    <a:cubicBezTo>
                      <a:pt x="445" y="568"/>
                      <a:pt x="445" y="568"/>
                      <a:pt x="445" y="568"/>
                    </a:cubicBezTo>
                    <a:cubicBezTo>
                      <a:pt x="445" y="68"/>
                      <a:pt x="445" y="68"/>
                      <a:pt x="445" y="68"/>
                    </a:cubicBezTo>
                    <a:cubicBezTo>
                      <a:pt x="445" y="49"/>
                      <a:pt x="429" y="32"/>
                      <a:pt x="409" y="32"/>
                    </a:cubicBezTo>
                    <a:cubicBezTo>
                      <a:pt x="409" y="32"/>
                      <a:pt x="409" y="32"/>
                      <a:pt x="409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8" y="32"/>
                      <a:pt x="32" y="49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6" name="Freeform 59">
                <a:extLst>
                  <a:ext uri="{FF2B5EF4-FFF2-40B4-BE49-F238E27FC236}">
                    <a16:creationId xmlns:a16="http://schemas.microsoft.com/office/drawing/2014/main" id="{1E4E4B87-928C-42CE-B857-4C3369D16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5650" y="4360863"/>
                <a:ext cx="80963" cy="80963"/>
              </a:xfrm>
              <a:custGeom>
                <a:avLst/>
                <a:gdLst>
                  <a:gd name="T0" fmla="*/ 0 w 94"/>
                  <a:gd name="T1" fmla="*/ 47 h 94"/>
                  <a:gd name="T2" fmla="*/ 47 w 94"/>
                  <a:gd name="T3" fmla="*/ 0 h 94"/>
                  <a:gd name="T4" fmla="*/ 47 w 94"/>
                  <a:gd name="T5" fmla="*/ 0 h 94"/>
                  <a:gd name="T6" fmla="*/ 94 w 94"/>
                  <a:gd name="T7" fmla="*/ 47 h 94"/>
                  <a:gd name="T8" fmla="*/ 94 w 94"/>
                  <a:gd name="T9" fmla="*/ 47 h 94"/>
                  <a:gd name="T10" fmla="*/ 47 w 94"/>
                  <a:gd name="T11" fmla="*/ 94 h 94"/>
                  <a:gd name="T12" fmla="*/ 47 w 94"/>
                  <a:gd name="T13" fmla="*/ 94 h 94"/>
                  <a:gd name="T14" fmla="*/ 0 w 94"/>
                  <a:gd name="T15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94">
                    <a:moveTo>
                      <a:pt x="0" y="47"/>
                    </a:move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4" y="21"/>
                      <a:pt x="94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4" y="73"/>
                      <a:pt x="73" y="94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21" y="94"/>
                      <a:pt x="0" y="73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7" name="Freeform 60">
                <a:extLst>
                  <a:ext uri="{FF2B5EF4-FFF2-40B4-BE49-F238E27FC236}">
                    <a16:creationId xmlns:a16="http://schemas.microsoft.com/office/drawing/2014/main" id="{9F7BFB98-25F2-4B0B-A34D-964C2FA85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052888"/>
                <a:ext cx="293688" cy="55563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8" name="Freeform 61">
                <a:extLst>
                  <a:ext uri="{FF2B5EF4-FFF2-40B4-BE49-F238E27FC236}">
                    <a16:creationId xmlns:a16="http://schemas.microsoft.com/office/drawing/2014/main" id="{29F296D3-05FB-49B7-9E0D-D7F2F0DBB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129088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9" name="Freeform 62">
                <a:extLst>
                  <a:ext uri="{FF2B5EF4-FFF2-40B4-BE49-F238E27FC236}">
                    <a16:creationId xmlns:a16="http://schemas.microsoft.com/office/drawing/2014/main" id="{973B8EA4-D99B-4A09-9975-3CD3C0C98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206875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768" name="그룹 767">
              <a:extLst>
                <a:ext uri="{FF2B5EF4-FFF2-40B4-BE49-F238E27FC236}">
                  <a16:creationId xmlns:a16="http://schemas.microsoft.com/office/drawing/2014/main" id="{8DA7AA05-468F-485F-BAA6-5B8DD995541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47611" y="5153360"/>
              <a:ext cx="189365" cy="252000"/>
              <a:chOff x="3128963" y="3981450"/>
              <a:chExt cx="412750" cy="5492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70" name="Freeform 58">
                <a:extLst>
                  <a:ext uri="{FF2B5EF4-FFF2-40B4-BE49-F238E27FC236}">
                    <a16:creationId xmlns:a16="http://schemas.microsoft.com/office/drawing/2014/main" id="{B13D828E-0484-4BC3-93B0-D7F23887F6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28963" y="3981450"/>
                <a:ext cx="412750" cy="549275"/>
              </a:xfrm>
              <a:custGeom>
                <a:avLst/>
                <a:gdLst>
                  <a:gd name="T0" fmla="*/ 68 w 477"/>
                  <a:gd name="T1" fmla="*/ 636 h 636"/>
                  <a:gd name="T2" fmla="*/ 0 w 477"/>
                  <a:gd name="T3" fmla="*/ 568 h 636"/>
                  <a:gd name="T4" fmla="*/ 0 w 477"/>
                  <a:gd name="T5" fmla="*/ 568 h 636"/>
                  <a:gd name="T6" fmla="*/ 0 w 477"/>
                  <a:gd name="T7" fmla="*/ 68 h 636"/>
                  <a:gd name="T8" fmla="*/ 68 w 477"/>
                  <a:gd name="T9" fmla="*/ 0 h 636"/>
                  <a:gd name="T10" fmla="*/ 68 w 477"/>
                  <a:gd name="T11" fmla="*/ 0 h 636"/>
                  <a:gd name="T12" fmla="*/ 409 w 477"/>
                  <a:gd name="T13" fmla="*/ 0 h 636"/>
                  <a:gd name="T14" fmla="*/ 477 w 477"/>
                  <a:gd name="T15" fmla="*/ 68 h 636"/>
                  <a:gd name="T16" fmla="*/ 477 w 477"/>
                  <a:gd name="T17" fmla="*/ 68 h 636"/>
                  <a:gd name="T18" fmla="*/ 477 w 477"/>
                  <a:gd name="T19" fmla="*/ 568 h 636"/>
                  <a:gd name="T20" fmla="*/ 477 w 477"/>
                  <a:gd name="T21" fmla="*/ 568 h 636"/>
                  <a:gd name="T22" fmla="*/ 409 w 477"/>
                  <a:gd name="T23" fmla="*/ 636 h 636"/>
                  <a:gd name="T24" fmla="*/ 409 w 477"/>
                  <a:gd name="T25" fmla="*/ 636 h 636"/>
                  <a:gd name="T26" fmla="*/ 68 w 477"/>
                  <a:gd name="T27" fmla="*/ 636 h 636"/>
                  <a:gd name="T28" fmla="*/ 32 w 477"/>
                  <a:gd name="T29" fmla="*/ 68 h 636"/>
                  <a:gd name="T30" fmla="*/ 32 w 477"/>
                  <a:gd name="T31" fmla="*/ 568 h 636"/>
                  <a:gd name="T32" fmla="*/ 68 w 477"/>
                  <a:gd name="T33" fmla="*/ 604 h 636"/>
                  <a:gd name="T34" fmla="*/ 68 w 477"/>
                  <a:gd name="T35" fmla="*/ 604 h 636"/>
                  <a:gd name="T36" fmla="*/ 409 w 477"/>
                  <a:gd name="T37" fmla="*/ 604 h 636"/>
                  <a:gd name="T38" fmla="*/ 445 w 477"/>
                  <a:gd name="T39" fmla="*/ 568 h 636"/>
                  <a:gd name="T40" fmla="*/ 445 w 477"/>
                  <a:gd name="T41" fmla="*/ 568 h 636"/>
                  <a:gd name="T42" fmla="*/ 445 w 477"/>
                  <a:gd name="T43" fmla="*/ 68 h 636"/>
                  <a:gd name="T44" fmla="*/ 409 w 477"/>
                  <a:gd name="T45" fmla="*/ 32 h 636"/>
                  <a:gd name="T46" fmla="*/ 409 w 477"/>
                  <a:gd name="T47" fmla="*/ 32 h 636"/>
                  <a:gd name="T48" fmla="*/ 68 w 477"/>
                  <a:gd name="T49" fmla="*/ 32 h 636"/>
                  <a:gd name="T50" fmla="*/ 32 w 477"/>
                  <a:gd name="T51" fmla="*/ 68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7" h="636">
                    <a:moveTo>
                      <a:pt x="68" y="636"/>
                    </a:moveTo>
                    <a:cubicBezTo>
                      <a:pt x="30" y="636"/>
                      <a:pt x="0" y="606"/>
                      <a:pt x="0" y="568"/>
                    </a:cubicBezTo>
                    <a:cubicBezTo>
                      <a:pt x="0" y="568"/>
                      <a:pt x="0" y="568"/>
                      <a:pt x="0" y="568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31"/>
                      <a:pt x="30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09" y="0"/>
                      <a:pt x="409" y="0"/>
                      <a:pt x="409" y="0"/>
                    </a:cubicBezTo>
                    <a:cubicBezTo>
                      <a:pt x="447" y="0"/>
                      <a:pt x="477" y="31"/>
                      <a:pt x="477" y="68"/>
                    </a:cubicBezTo>
                    <a:cubicBezTo>
                      <a:pt x="477" y="68"/>
                      <a:pt x="477" y="68"/>
                      <a:pt x="477" y="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568"/>
                      <a:pt x="477" y="568"/>
                      <a:pt x="477" y="568"/>
                    </a:cubicBezTo>
                    <a:cubicBezTo>
                      <a:pt x="477" y="606"/>
                      <a:pt x="447" y="636"/>
                      <a:pt x="409" y="636"/>
                    </a:cubicBezTo>
                    <a:cubicBezTo>
                      <a:pt x="409" y="636"/>
                      <a:pt x="409" y="636"/>
                      <a:pt x="409" y="636"/>
                    </a:cubicBezTo>
                    <a:cubicBezTo>
                      <a:pt x="68" y="636"/>
                      <a:pt x="68" y="636"/>
                      <a:pt x="68" y="636"/>
                    </a:cubicBezTo>
                    <a:close/>
                    <a:moveTo>
                      <a:pt x="32" y="68"/>
                    </a:moveTo>
                    <a:cubicBezTo>
                      <a:pt x="32" y="568"/>
                      <a:pt x="32" y="568"/>
                      <a:pt x="32" y="568"/>
                    </a:cubicBezTo>
                    <a:cubicBezTo>
                      <a:pt x="32" y="588"/>
                      <a:pt x="48" y="604"/>
                      <a:pt x="68" y="604"/>
                    </a:cubicBezTo>
                    <a:cubicBezTo>
                      <a:pt x="68" y="604"/>
                      <a:pt x="68" y="604"/>
                      <a:pt x="68" y="604"/>
                    </a:cubicBezTo>
                    <a:cubicBezTo>
                      <a:pt x="409" y="604"/>
                      <a:pt x="409" y="604"/>
                      <a:pt x="409" y="604"/>
                    </a:cubicBezTo>
                    <a:cubicBezTo>
                      <a:pt x="429" y="604"/>
                      <a:pt x="445" y="588"/>
                      <a:pt x="445" y="568"/>
                    </a:cubicBezTo>
                    <a:cubicBezTo>
                      <a:pt x="445" y="568"/>
                      <a:pt x="445" y="568"/>
                      <a:pt x="445" y="568"/>
                    </a:cubicBezTo>
                    <a:cubicBezTo>
                      <a:pt x="445" y="68"/>
                      <a:pt x="445" y="68"/>
                      <a:pt x="445" y="68"/>
                    </a:cubicBezTo>
                    <a:cubicBezTo>
                      <a:pt x="445" y="49"/>
                      <a:pt x="429" y="32"/>
                      <a:pt x="409" y="32"/>
                    </a:cubicBezTo>
                    <a:cubicBezTo>
                      <a:pt x="409" y="32"/>
                      <a:pt x="409" y="32"/>
                      <a:pt x="409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8" y="32"/>
                      <a:pt x="32" y="49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1" name="Freeform 59">
                <a:extLst>
                  <a:ext uri="{FF2B5EF4-FFF2-40B4-BE49-F238E27FC236}">
                    <a16:creationId xmlns:a16="http://schemas.microsoft.com/office/drawing/2014/main" id="{DC387D84-C670-4F9B-A6B7-89747EE18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5650" y="4360863"/>
                <a:ext cx="80963" cy="80963"/>
              </a:xfrm>
              <a:custGeom>
                <a:avLst/>
                <a:gdLst>
                  <a:gd name="T0" fmla="*/ 0 w 94"/>
                  <a:gd name="T1" fmla="*/ 47 h 94"/>
                  <a:gd name="T2" fmla="*/ 47 w 94"/>
                  <a:gd name="T3" fmla="*/ 0 h 94"/>
                  <a:gd name="T4" fmla="*/ 47 w 94"/>
                  <a:gd name="T5" fmla="*/ 0 h 94"/>
                  <a:gd name="T6" fmla="*/ 94 w 94"/>
                  <a:gd name="T7" fmla="*/ 47 h 94"/>
                  <a:gd name="T8" fmla="*/ 94 w 94"/>
                  <a:gd name="T9" fmla="*/ 47 h 94"/>
                  <a:gd name="T10" fmla="*/ 47 w 94"/>
                  <a:gd name="T11" fmla="*/ 94 h 94"/>
                  <a:gd name="T12" fmla="*/ 47 w 94"/>
                  <a:gd name="T13" fmla="*/ 94 h 94"/>
                  <a:gd name="T14" fmla="*/ 0 w 94"/>
                  <a:gd name="T15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94">
                    <a:moveTo>
                      <a:pt x="0" y="47"/>
                    </a:moveTo>
                    <a:cubicBezTo>
                      <a:pt x="0" y="21"/>
                      <a:pt x="21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73" y="0"/>
                      <a:pt x="94" y="21"/>
                      <a:pt x="94" y="47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4" y="73"/>
                      <a:pt x="73" y="94"/>
                      <a:pt x="47" y="94"/>
                    </a:cubicBezTo>
                    <a:cubicBezTo>
                      <a:pt x="47" y="94"/>
                      <a:pt x="47" y="94"/>
                      <a:pt x="47" y="94"/>
                    </a:cubicBezTo>
                    <a:cubicBezTo>
                      <a:pt x="21" y="94"/>
                      <a:pt x="0" y="73"/>
                      <a:pt x="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2" name="Freeform 60">
                <a:extLst>
                  <a:ext uri="{FF2B5EF4-FFF2-40B4-BE49-F238E27FC236}">
                    <a16:creationId xmlns:a16="http://schemas.microsoft.com/office/drawing/2014/main" id="{2225A97E-895E-47A9-AA82-AB1C4C807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052888"/>
                <a:ext cx="293688" cy="55563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3" name="Freeform 61">
                <a:extLst>
                  <a:ext uri="{FF2B5EF4-FFF2-40B4-BE49-F238E27FC236}">
                    <a16:creationId xmlns:a16="http://schemas.microsoft.com/office/drawing/2014/main" id="{2B7725CA-A4CD-43C9-8858-C96C6750D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129088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74" name="Freeform 62">
                <a:extLst>
                  <a:ext uri="{FF2B5EF4-FFF2-40B4-BE49-F238E27FC236}">
                    <a16:creationId xmlns:a16="http://schemas.microsoft.com/office/drawing/2014/main" id="{F98670F4-6080-453F-96AD-65773AA13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288" y="4206875"/>
                <a:ext cx="293688" cy="57150"/>
              </a:xfrm>
              <a:custGeom>
                <a:avLst/>
                <a:gdLst>
                  <a:gd name="T0" fmla="*/ 340 w 340"/>
                  <a:gd name="T1" fmla="*/ 46 h 66"/>
                  <a:gd name="T2" fmla="*/ 320 w 340"/>
                  <a:gd name="T3" fmla="*/ 66 h 66"/>
                  <a:gd name="T4" fmla="*/ 20 w 340"/>
                  <a:gd name="T5" fmla="*/ 66 h 66"/>
                  <a:gd name="T6" fmla="*/ 0 w 340"/>
                  <a:gd name="T7" fmla="*/ 46 h 66"/>
                  <a:gd name="T8" fmla="*/ 0 w 340"/>
                  <a:gd name="T9" fmla="*/ 20 h 66"/>
                  <a:gd name="T10" fmla="*/ 20 w 340"/>
                  <a:gd name="T11" fmla="*/ 0 h 66"/>
                  <a:gd name="T12" fmla="*/ 320 w 340"/>
                  <a:gd name="T13" fmla="*/ 0 h 66"/>
                  <a:gd name="T14" fmla="*/ 340 w 340"/>
                  <a:gd name="T15" fmla="*/ 20 h 66"/>
                  <a:gd name="T16" fmla="*/ 340 w 340"/>
                  <a:gd name="T17" fmla="*/ 4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66">
                    <a:moveTo>
                      <a:pt x="340" y="46"/>
                    </a:moveTo>
                    <a:cubicBezTo>
                      <a:pt x="340" y="57"/>
                      <a:pt x="331" y="66"/>
                      <a:pt x="320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9" y="66"/>
                      <a:pt x="0" y="57"/>
                      <a:pt x="0" y="46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8"/>
                      <a:pt x="9" y="0"/>
                      <a:pt x="20" y="0"/>
                    </a:cubicBezTo>
                    <a:cubicBezTo>
                      <a:pt x="320" y="0"/>
                      <a:pt x="320" y="0"/>
                      <a:pt x="320" y="0"/>
                    </a:cubicBezTo>
                    <a:cubicBezTo>
                      <a:pt x="331" y="0"/>
                      <a:pt x="340" y="8"/>
                      <a:pt x="340" y="20"/>
                    </a:cubicBezTo>
                    <a:lnTo>
                      <a:pt x="340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769" name="TextBox 768">
              <a:extLst>
                <a:ext uri="{FF2B5EF4-FFF2-40B4-BE49-F238E27FC236}">
                  <a16:creationId xmlns:a16="http://schemas.microsoft.com/office/drawing/2014/main" id="{FFBB5BCC-78AD-4460-9B0A-E3FFACB85CC2}"/>
                </a:ext>
              </a:extLst>
            </p:cNvPr>
            <p:cNvSpPr txBox="1"/>
            <p:nvPr/>
          </p:nvSpPr>
          <p:spPr>
            <a:xfrm>
              <a:off x="4142959" y="5092213"/>
              <a:ext cx="399361" cy="381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>
                <a:defRPr/>
              </a:pPr>
              <a:r>
                <a:rPr lang="en-US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…</a:t>
              </a:r>
              <a:endPara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</p:grpSp>
      <p:sp>
        <p:nvSpPr>
          <p:cNvPr id="785" name="직사각형 784">
            <a:extLst>
              <a:ext uri="{FF2B5EF4-FFF2-40B4-BE49-F238E27FC236}">
                <a16:creationId xmlns:a16="http://schemas.microsoft.com/office/drawing/2014/main" id="{883B0F66-C2C6-4C60-8809-DDAA7B434A37}"/>
              </a:ext>
            </a:extLst>
          </p:cNvPr>
          <p:cNvSpPr/>
          <p:nvPr/>
        </p:nvSpPr>
        <p:spPr>
          <a:xfrm>
            <a:off x="5531899" y="1744794"/>
            <a:ext cx="2994889" cy="128382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>
            <a:solidFill>
              <a:sysClr val="window" lastClr="FFFFFF">
                <a:lumMod val="65000"/>
              </a:sysClr>
            </a:solidFill>
          </a:ln>
        </p:spPr>
        <p:txBody>
          <a:bodyPr vert="horz" wrap="square" lIns="72000" tIns="60960" rIns="121920" bIns="60960" numCol="1" rtlCol="0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0">
              <a:defRPr/>
            </a:pP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176vC</a:t>
            </a:r>
          </a:p>
          <a:p>
            <a:pPr defTabSz="914350">
              <a:defRPr/>
            </a:pPr>
            <a:r>
              <a:rPr lang="ko-KR" altLang="en-US" sz="800" spc="-40" dirty="0">
                <a:solidFill>
                  <a:prstClr val="black"/>
                </a:solidFill>
                <a:latin typeface="+mn-ea"/>
              </a:rPr>
              <a:t>행정 </a:t>
            </a:r>
            <a:r>
              <a:rPr lang="en-US" altLang="ko-KR" sz="800" spc="-40" dirty="0">
                <a:solidFill>
                  <a:prstClr val="black"/>
                </a:solidFill>
                <a:latin typeface="+mn-ea"/>
              </a:rPr>
              <a:t>WEB</a:t>
            </a:r>
            <a:r>
              <a:rPr lang="ko-KR" altLang="en-US" sz="800" spc="-40" dirty="0">
                <a:solidFill>
                  <a:prstClr val="black"/>
                </a:solidFill>
                <a:latin typeface="+mn-ea"/>
              </a:rPr>
              <a:t>용 노드 </a:t>
            </a:r>
            <a:r>
              <a:rPr lang="en-US" altLang="ko-KR" sz="800" spc="-40" dirty="0">
                <a:solidFill>
                  <a:prstClr val="black"/>
                </a:solidFill>
                <a:latin typeface="+mn-ea"/>
              </a:rPr>
              <a:t>(4</a:t>
            </a:r>
            <a:r>
              <a:rPr lang="ko-KR" altLang="en-US" sz="800" spc="-40" dirty="0">
                <a:solidFill>
                  <a:prstClr val="black"/>
                </a:solidFill>
                <a:latin typeface="+mn-ea"/>
              </a:rPr>
              <a:t>대</a:t>
            </a:r>
            <a:r>
              <a:rPr lang="en-US" altLang="ko-KR" sz="800" spc="-40" dirty="0">
                <a:solidFill>
                  <a:prstClr val="black"/>
                </a:solidFill>
                <a:latin typeface="+mn-ea"/>
              </a:rPr>
              <a:t>/320vC)</a:t>
            </a:r>
            <a:endParaRPr lang="ko-KR" altLang="en-US" sz="800" spc="-4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86" name="직사각형 785">
            <a:extLst>
              <a:ext uri="{FF2B5EF4-FFF2-40B4-BE49-F238E27FC236}">
                <a16:creationId xmlns:a16="http://schemas.microsoft.com/office/drawing/2014/main" id="{5A2EB70C-72C9-4D13-A037-7F2601A1B42A}"/>
              </a:ext>
            </a:extLst>
          </p:cNvPr>
          <p:cNvSpPr/>
          <p:nvPr/>
        </p:nvSpPr>
        <p:spPr>
          <a:xfrm>
            <a:off x="5531898" y="1560811"/>
            <a:ext cx="2994889" cy="208556"/>
          </a:xfrm>
          <a:prstGeom prst="rect">
            <a:avLst/>
          </a:prstGeom>
          <a:solidFill>
            <a:srgbClr val="89A5FF"/>
          </a:solidFill>
          <a:ln w="6350" cap="sq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latinLnBrk="0">
              <a:defRPr/>
            </a:pPr>
            <a:r>
              <a:rPr lang="ko-KR" altLang="en-US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행정시스템 </a:t>
            </a:r>
            <a:r>
              <a:rPr lang="en-US" altLang="ko-KR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WEB</a:t>
            </a:r>
            <a:endParaRPr lang="ko-KR" altLang="en-US" sz="1000" b="1" kern="0" dirty="0">
              <a:solidFill>
                <a:prstClr val="white">
                  <a:lumMod val="95000"/>
                </a:prstClr>
              </a:solidFill>
              <a:latin typeface="+mn-ea"/>
            </a:endParaRPr>
          </a:p>
        </p:txBody>
      </p:sp>
      <p:sp>
        <p:nvSpPr>
          <p:cNvPr id="787" name="직사각형 786">
            <a:extLst>
              <a:ext uri="{FF2B5EF4-FFF2-40B4-BE49-F238E27FC236}">
                <a16:creationId xmlns:a16="http://schemas.microsoft.com/office/drawing/2014/main" id="{4062C765-6D32-4BD8-8666-BB143AADDCC2}"/>
              </a:ext>
            </a:extLst>
          </p:cNvPr>
          <p:cNvSpPr/>
          <p:nvPr/>
        </p:nvSpPr>
        <p:spPr>
          <a:xfrm>
            <a:off x="5531902" y="3288040"/>
            <a:ext cx="2994889" cy="136565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>
            <a:solidFill>
              <a:sysClr val="window" lastClr="FFFFFF">
                <a:lumMod val="65000"/>
              </a:sysClr>
            </a:solidFill>
          </a:ln>
        </p:spPr>
        <p:txBody>
          <a:bodyPr vert="horz" wrap="square" lIns="72000" tIns="60960" rIns="121920" bIns="60960" numCol="1" rtlCol="0" anchor="b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0">
              <a:defRPr/>
            </a:pP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568vC</a:t>
            </a:r>
          </a:p>
          <a:p>
            <a:pPr defTabSz="914350">
              <a:defRPr/>
            </a:pPr>
            <a:r>
              <a:rPr lang="ko-KR" altLang="en-US" sz="800" spc="-40" dirty="0">
                <a:solidFill>
                  <a:prstClr val="black"/>
                </a:solidFill>
                <a:latin typeface="+mn-ea"/>
              </a:rPr>
              <a:t>행정</a:t>
            </a:r>
            <a:r>
              <a:rPr lang="en-US" altLang="ko-KR" sz="800" spc="-40" dirty="0">
                <a:solidFill>
                  <a:prstClr val="black"/>
                </a:solidFill>
                <a:latin typeface="+mn-ea"/>
              </a:rPr>
              <a:t>WAS</a:t>
            </a:r>
            <a:r>
              <a:rPr lang="ko-KR" altLang="en-US" sz="800" spc="-40" dirty="0">
                <a:solidFill>
                  <a:prstClr val="black"/>
                </a:solidFill>
                <a:latin typeface="+mn-ea"/>
              </a:rPr>
              <a:t>용 노드 </a:t>
            </a:r>
            <a:r>
              <a:rPr lang="en-US" altLang="ko-KR" sz="800" spc="-40" dirty="0">
                <a:solidFill>
                  <a:prstClr val="black"/>
                </a:solidFill>
                <a:latin typeface="+mn-ea"/>
              </a:rPr>
              <a:t>(8</a:t>
            </a:r>
            <a:r>
              <a:rPr lang="ko-KR" altLang="en-US" sz="800" spc="-40" dirty="0">
                <a:solidFill>
                  <a:prstClr val="black"/>
                </a:solidFill>
                <a:latin typeface="+mn-ea"/>
              </a:rPr>
              <a:t>대</a:t>
            </a:r>
            <a:r>
              <a:rPr lang="en-US" altLang="ko-KR" sz="800" spc="-40" dirty="0">
                <a:solidFill>
                  <a:prstClr val="black"/>
                </a:solidFill>
                <a:latin typeface="+mn-ea"/>
              </a:rPr>
              <a:t>/640vC)</a:t>
            </a:r>
            <a:endParaRPr lang="ko-KR" altLang="en-US" sz="800" spc="-4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88" name="직사각형 787">
            <a:extLst>
              <a:ext uri="{FF2B5EF4-FFF2-40B4-BE49-F238E27FC236}">
                <a16:creationId xmlns:a16="http://schemas.microsoft.com/office/drawing/2014/main" id="{D1E459D6-0C11-42C3-9040-0F2A68C4D041}"/>
              </a:ext>
            </a:extLst>
          </p:cNvPr>
          <p:cNvSpPr/>
          <p:nvPr/>
        </p:nvSpPr>
        <p:spPr>
          <a:xfrm>
            <a:off x="5531899" y="3104055"/>
            <a:ext cx="2994889" cy="208556"/>
          </a:xfrm>
          <a:prstGeom prst="rect">
            <a:avLst/>
          </a:prstGeom>
          <a:solidFill>
            <a:srgbClr val="89A5FF"/>
          </a:solidFill>
          <a:ln w="6350" cap="sq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/>
          </a:ln>
          <a:effectLst>
            <a:outerShdw blurRad="76200" dist="12700" dir="2700000" sx="99000" sy="99000" algn="tl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20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3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0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07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4" algn="l" defTabSz="91437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latinLnBrk="0">
              <a:defRPr/>
            </a:pPr>
            <a:r>
              <a:rPr lang="ko-KR" altLang="en-US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행정시스템 </a:t>
            </a:r>
            <a:r>
              <a:rPr lang="en-US" altLang="ko-KR" sz="1000" b="1" kern="0" dirty="0">
                <a:solidFill>
                  <a:prstClr val="white">
                    <a:lumMod val="95000"/>
                  </a:prstClr>
                </a:solidFill>
                <a:latin typeface="+mn-ea"/>
              </a:rPr>
              <a:t>WAS</a:t>
            </a:r>
            <a:endParaRPr lang="ko-KR" altLang="en-US" sz="1000" b="1" kern="0" dirty="0">
              <a:solidFill>
                <a:prstClr val="white">
                  <a:lumMod val="95000"/>
                </a:prstClr>
              </a:solidFill>
              <a:latin typeface="+mn-ea"/>
            </a:endParaRPr>
          </a:p>
        </p:txBody>
      </p:sp>
      <p:sp>
        <p:nvSpPr>
          <p:cNvPr id="789" name="AutoShape 37">
            <a:extLst>
              <a:ext uri="{FF2B5EF4-FFF2-40B4-BE49-F238E27FC236}">
                <a16:creationId xmlns:a16="http://schemas.microsoft.com/office/drawing/2014/main" id="{E2E2AA44-0FCD-4530-8F2D-EF0CC81C9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272" y="1863516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지방재정관리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(160vC/10P)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90" name="AutoShape 37">
            <a:extLst>
              <a:ext uri="{FF2B5EF4-FFF2-40B4-BE49-F238E27FC236}">
                <a16:creationId xmlns:a16="http://schemas.microsoft.com/office/drawing/2014/main" id="{6B597952-D33E-40D9-AB1E-F6067A27C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272" y="2162122"/>
            <a:ext cx="1806437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지방보조금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(4vC/2P)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grpSp>
        <p:nvGrpSpPr>
          <p:cNvPr id="791" name="그룹 790">
            <a:extLst>
              <a:ext uri="{FF2B5EF4-FFF2-40B4-BE49-F238E27FC236}">
                <a16:creationId xmlns:a16="http://schemas.microsoft.com/office/drawing/2014/main" id="{55257626-B47D-4CC3-A769-9DCA3ED20E75}"/>
              </a:ext>
            </a:extLst>
          </p:cNvPr>
          <p:cNvGrpSpPr/>
          <p:nvPr/>
        </p:nvGrpSpPr>
        <p:grpSpPr>
          <a:xfrm>
            <a:off x="7693278" y="2639541"/>
            <a:ext cx="833513" cy="389075"/>
            <a:chOff x="2072680" y="4389300"/>
            <a:chExt cx="934543" cy="402005"/>
          </a:xfrm>
        </p:grpSpPr>
        <p:sp>
          <p:nvSpPr>
            <p:cNvPr id="792" name="직사각형 791">
              <a:extLst>
                <a:ext uri="{FF2B5EF4-FFF2-40B4-BE49-F238E27FC236}">
                  <a16:creationId xmlns:a16="http://schemas.microsoft.com/office/drawing/2014/main" id="{99463DBB-01D9-4AFC-9369-016EE0E78B18}"/>
                </a:ext>
              </a:extLst>
            </p:cNvPr>
            <p:cNvSpPr/>
            <p:nvPr/>
          </p:nvSpPr>
          <p:spPr>
            <a:xfrm>
              <a:off x="2072680" y="4389300"/>
              <a:ext cx="934543" cy="40200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0" tIns="60960" rIns="36000" bIns="60960" numCol="1" rtlCol="0" anchor="b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3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4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33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20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07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94" algn="l" defTabSz="91437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defTabSz="91435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라우터</a:t>
              </a:r>
              <a:endPara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  <a:p>
              <a:pPr algn="r" defTabSz="91435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12vC/3P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grpSp>
          <p:nvGrpSpPr>
            <p:cNvPr id="793" name="그룹 792">
              <a:extLst>
                <a:ext uri="{FF2B5EF4-FFF2-40B4-BE49-F238E27FC236}">
                  <a16:creationId xmlns:a16="http://schemas.microsoft.com/office/drawing/2014/main" id="{96391212-54CC-4C2F-A420-812806EBB1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2639" y="4502770"/>
              <a:ext cx="324000" cy="211919"/>
              <a:chOff x="4592638" y="2459038"/>
              <a:chExt cx="546100" cy="3571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794" name="Freeform 94">
                <a:extLst>
                  <a:ext uri="{FF2B5EF4-FFF2-40B4-BE49-F238E27FC236}">
                    <a16:creationId xmlns:a16="http://schemas.microsoft.com/office/drawing/2014/main" id="{B54711DE-4CCA-4050-845B-8478F2ED05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2638" y="2459038"/>
                <a:ext cx="546100" cy="357188"/>
              </a:xfrm>
              <a:custGeom>
                <a:avLst/>
                <a:gdLst>
                  <a:gd name="T0" fmla="*/ 68 w 633"/>
                  <a:gd name="T1" fmla="*/ 413 h 413"/>
                  <a:gd name="T2" fmla="*/ 0 w 633"/>
                  <a:gd name="T3" fmla="*/ 345 h 413"/>
                  <a:gd name="T4" fmla="*/ 0 w 633"/>
                  <a:gd name="T5" fmla="*/ 345 h 413"/>
                  <a:gd name="T6" fmla="*/ 0 w 633"/>
                  <a:gd name="T7" fmla="*/ 68 h 413"/>
                  <a:gd name="T8" fmla="*/ 68 w 633"/>
                  <a:gd name="T9" fmla="*/ 0 h 413"/>
                  <a:gd name="T10" fmla="*/ 68 w 633"/>
                  <a:gd name="T11" fmla="*/ 0 h 413"/>
                  <a:gd name="T12" fmla="*/ 565 w 633"/>
                  <a:gd name="T13" fmla="*/ 0 h 413"/>
                  <a:gd name="T14" fmla="*/ 633 w 633"/>
                  <a:gd name="T15" fmla="*/ 68 h 413"/>
                  <a:gd name="T16" fmla="*/ 633 w 633"/>
                  <a:gd name="T17" fmla="*/ 68 h 413"/>
                  <a:gd name="T18" fmla="*/ 633 w 633"/>
                  <a:gd name="T19" fmla="*/ 345 h 413"/>
                  <a:gd name="T20" fmla="*/ 633 w 633"/>
                  <a:gd name="T21" fmla="*/ 345 h 413"/>
                  <a:gd name="T22" fmla="*/ 565 w 633"/>
                  <a:gd name="T23" fmla="*/ 413 h 413"/>
                  <a:gd name="T24" fmla="*/ 565 w 633"/>
                  <a:gd name="T25" fmla="*/ 413 h 413"/>
                  <a:gd name="T26" fmla="*/ 68 w 633"/>
                  <a:gd name="T27" fmla="*/ 413 h 413"/>
                  <a:gd name="T28" fmla="*/ 32 w 633"/>
                  <a:gd name="T29" fmla="*/ 68 h 413"/>
                  <a:gd name="T30" fmla="*/ 32 w 633"/>
                  <a:gd name="T31" fmla="*/ 345 h 413"/>
                  <a:gd name="T32" fmla="*/ 68 w 633"/>
                  <a:gd name="T33" fmla="*/ 381 h 413"/>
                  <a:gd name="T34" fmla="*/ 68 w 633"/>
                  <a:gd name="T35" fmla="*/ 381 h 413"/>
                  <a:gd name="T36" fmla="*/ 565 w 633"/>
                  <a:gd name="T37" fmla="*/ 381 h 413"/>
                  <a:gd name="T38" fmla="*/ 601 w 633"/>
                  <a:gd name="T39" fmla="*/ 345 h 413"/>
                  <a:gd name="T40" fmla="*/ 601 w 633"/>
                  <a:gd name="T41" fmla="*/ 345 h 413"/>
                  <a:gd name="T42" fmla="*/ 601 w 633"/>
                  <a:gd name="T43" fmla="*/ 68 h 413"/>
                  <a:gd name="T44" fmla="*/ 565 w 633"/>
                  <a:gd name="T45" fmla="*/ 32 h 413"/>
                  <a:gd name="T46" fmla="*/ 565 w 633"/>
                  <a:gd name="T47" fmla="*/ 32 h 413"/>
                  <a:gd name="T48" fmla="*/ 68 w 633"/>
                  <a:gd name="T49" fmla="*/ 32 h 413"/>
                  <a:gd name="T50" fmla="*/ 32 w 633"/>
                  <a:gd name="T51" fmla="*/ 68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33" h="413">
                    <a:moveTo>
                      <a:pt x="68" y="413"/>
                    </a:moveTo>
                    <a:cubicBezTo>
                      <a:pt x="31" y="413"/>
                      <a:pt x="1" y="382"/>
                      <a:pt x="0" y="345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1" y="30"/>
                      <a:pt x="31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65" y="0"/>
                      <a:pt x="565" y="0"/>
                      <a:pt x="565" y="0"/>
                    </a:cubicBezTo>
                    <a:cubicBezTo>
                      <a:pt x="603" y="0"/>
                      <a:pt x="633" y="30"/>
                      <a:pt x="633" y="68"/>
                    </a:cubicBezTo>
                    <a:cubicBezTo>
                      <a:pt x="633" y="68"/>
                      <a:pt x="633" y="68"/>
                      <a:pt x="633" y="68"/>
                    </a:cubicBezTo>
                    <a:cubicBezTo>
                      <a:pt x="633" y="345"/>
                      <a:pt x="633" y="345"/>
                      <a:pt x="633" y="345"/>
                    </a:cubicBezTo>
                    <a:cubicBezTo>
                      <a:pt x="633" y="345"/>
                      <a:pt x="633" y="345"/>
                      <a:pt x="633" y="345"/>
                    </a:cubicBezTo>
                    <a:cubicBezTo>
                      <a:pt x="633" y="382"/>
                      <a:pt x="603" y="413"/>
                      <a:pt x="565" y="413"/>
                    </a:cubicBezTo>
                    <a:cubicBezTo>
                      <a:pt x="565" y="413"/>
                      <a:pt x="565" y="413"/>
                      <a:pt x="565" y="413"/>
                    </a:cubicBezTo>
                    <a:cubicBezTo>
                      <a:pt x="68" y="413"/>
                      <a:pt x="68" y="413"/>
                      <a:pt x="68" y="413"/>
                    </a:cubicBezTo>
                    <a:close/>
                    <a:moveTo>
                      <a:pt x="32" y="68"/>
                    </a:moveTo>
                    <a:cubicBezTo>
                      <a:pt x="32" y="345"/>
                      <a:pt x="32" y="345"/>
                      <a:pt x="32" y="345"/>
                    </a:cubicBezTo>
                    <a:cubicBezTo>
                      <a:pt x="33" y="365"/>
                      <a:pt x="49" y="381"/>
                      <a:pt x="68" y="381"/>
                    </a:cubicBezTo>
                    <a:cubicBezTo>
                      <a:pt x="68" y="381"/>
                      <a:pt x="68" y="381"/>
                      <a:pt x="68" y="381"/>
                    </a:cubicBezTo>
                    <a:cubicBezTo>
                      <a:pt x="565" y="381"/>
                      <a:pt x="565" y="381"/>
                      <a:pt x="565" y="381"/>
                    </a:cubicBezTo>
                    <a:cubicBezTo>
                      <a:pt x="585" y="381"/>
                      <a:pt x="601" y="365"/>
                      <a:pt x="601" y="345"/>
                    </a:cubicBezTo>
                    <a:cubicBezTo>
                      <a:pt x="601" y="345"/>
                      <a:pt x="601" y="345"/>
                      <a:pt x="601" y="345"/>
                    </a:cubicBezTo>
                    <a:cubicBezTo>
                      <a:pt x="601" y="68"/>
                      <a:pt x="601" y="68"/>
                      <a:pt x="601" y="68"/>
                    </a:cubicBezTo>
                    <a:cubicBezTo>
                      <a:pt x="601" y="48"/>
                      <a:pt x="585" y="32"/>
                      <a:pt x="565" y="32"/>
                    </a:cubicBezTo>
                    <a:cubicBezTo>
                      <a:pt x="565" y="32"/>
                      <a:pt x="565" y="32"/>
                      <a:pt x="565" y="32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49" y="32"/>
                      <a:pt x="33" y="48"/>
                      <a:pt x="3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95" name="Freeform 95">
                <a:extLst>
                  <a:ext uri="{FF2B5EF4-FFF2-40B4-BE49-F238E27FC236}">
                    <a16:creationId xmlns:a16="http://schemas.microsoft.com/office/drawing/2014/main" id="{50A5A0B4-965C-41FC-B4BF-2B8125034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0" y="2519363"/>
                <a:ext cx="409575" cy="234950"/>
              </a:xfrm>
              <a:custGeom>
                <a:avLst/>
                <a:gdLst>
                  <a:gd name="T0" fmla="*/ 397 w 474"/>
                  <a:gd name="T1" fmla="*/ 210 h 273"/>
                  <a:gd name="T2" fmla="*/ 363 w 474"/>
                  <a:gd name="T3" fmla="*/ 210 h 273"/>
                  <a:gd name="T4" fmla="*/ 267 w 474"/>
                  <a:gd name="T5" fmla="*/ 136 h 273"/>
                  <a:gd name="T6" fmla="*/ 363 w 474"/>
                  <a:gd name="T7" fmla="*/ 63 h 273"/>
                  <a:gd name="T8" fmla="*/ 397 w 474"/>
                  <a:gd name="T9" fmla="*/ 63 h 273"/>
                  <a:gd name="T10" fmla="*/ 397 w 474"/>
                  <a:gd name="T11" fmla="*/ 90 h 273"/>
                  <a:gd name="T12" fmla="*/ 474 w 474"/>
                  <a:gd name="T13" fmla="*/ 45 h 273"/>
                  <a:gd name="T14" fmla="*/ 397 w 474"/>
                  <a:gd name="T15" fmla="*/ 0 h 273"/>
                  <a:gd name="T16" fmla="*/ 397 w 474"/>
                  <a:gd name="T17" fmla="*/ 27 h 273"/>
                  <a:gd name="T18" fmla="*/ 356 w 474"/>
                  <a:gd name="T19" fmla="*/ 27 h 273"/>
                  <a:gd name="T20" fmla="*/ 345 w 474"/>
                  <a:gd name="T21" fmla="*/ 30 h 273"/>
                  <a:gd name="T22" fmla="*/ 237 w 474"/>
                  <a:gd name="T23" fmla="*/ 114 h 273"/>
                  <a:gd name="T24" fmla="*/ 129 w 474"/>
                  <a:gd name="T25" fmla="*/ 30 h 273"/>
                  <a:gd name="T26" fmla="*/ 118 w 474"/>
                  <a:gd name="T27" fmla="*/ 27 h 273"/>
                  <a:gd name="T28" fmla="*/ 77 w 474"/>
                  <a:gd name="T29" fmla="*/ 27 h 273"/>
                  <a:gd name="T30" fmla="*/ 77 w 474"/>
                  <a:gd name="T31" fmla="*/ 0 h 273"/>
                  <a:gd name="T32" fmla="*/ 0 w 474"/>
                  <a:gd name="T33" fmla="*/ 44 h 273"/>
                  <a:gd name="T34" fmla="*/ 77 w 474"/>
                  <a:gd name="T35" fmla="*/ 89 h 273"/>
                  <a:gd name="T36" fmla="*/ 77 w 474"/>
                  <a:gd name="T37" fmla="*/ 63 h 273"/>
                  <a:gd name="T38" fmla="*/ 111 w 474"/>
                  <a:gd name="T39" fmla="*/ 63 h 273"/>
                  <a:gd name="T40" fmla="*/ 207 w 474"/>
                  <a:gd name="T41" fmla="*/ 136 h 273"/>
                  <a:gd name="T42" fmla="*/ 111 w 474"/>
                  <a:gd name="T43" fmla="*/ 210 h 273"/>
                  <a:gd name="T44" fmla="*/ 77 w 474"/>
                  <a:gd name="T45" fmla="*/ 210 h 273"/>
                  <a:gd name="T46" fmla="*/ 77 w 474"/>
                  <a:gd name="T47" fmla="*/ 183 h 273"/>
                  <a:gd name="T48" fmla="*/ 0 w 474"/>
                  <a:gd name="T49" fmla="*/ 228 h 273"/>
                  <a:gd name="T50" fmla="*/ 77 w 474"/>
                  <a:gd name="T51" fmla="*/ 273 h 273"/>
                  <a:gd name="T52" fmla="*/ 77 w 474"/>
                  <a:gd name="T53" fmla="*/ 246 h 273"/>
                  <a:gd name="T54" fmla="*/ 118 w 474"/>
                  <a:gd name="T55" fmla="*/ 246 h 273"/>
                  <a:gd name="T56" fmla="*/ 129 w 474"/>
                  <a:gd name="T57" fmla="*/ 242 h 273"/>
                  <a:gd name="T58" fmla="*/ 237 w 474"/>
                  <a:gd name="T59" fmla="*/ 159 h 273"/>
                  <a:gd name="T60" fmla="*/ 345 w 474"/>
                  <a:gd name="T61" fmla="*/ 242 h 273"/>
                  <a:gd name="T62" fmla="*/ 356 w 474"/>
                  <a:gd name="T63" fmla="*/ 246 h 273"/>
                  <a:gd name="T64" fmla="*/ 397 w 474"/>
                  <a:gd name="T65" fmla="*/ 246 h 273"/>
                  <a:gd name="T66" fmla="*/ 397 w 474"/>
                  <a:gd name="T67" fmla="*/ 273 h 273"/>
                  <a:gd name="T68" fmla="*/ 474 w 474"/>
                  <a:gd name="T69" fmla="*/ 228 h 273"/>
                  <a:gd name="T70" fmla="*/ 397 w 474"/>
                  <a:gd name="T71" fmla="*/ 183 h 273"/>
                  <a:gd name="T72" fmla="*/ 397 w 474"/>
                  <a:gd name="T73" fmla="*/ 21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74" h="273">
                    <a:moveTo>
                      <a:pt x="397" y="210"/>
                    </a:moveTo>
                    <a:cubicBezTo>
                      <a:pt x="363" y="210"/>
                      <a:pt x="363" y="210"/>
                      <a:pt x="363" y="210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363" y="63"/>
                      <a:pt x="363" y="63"/>
                      <a:pt x="363" y="63"/>
                    </a:cubicBezTo>
                    <a:cubicBezTo>
                      <a:pt x="397" y="63"/>
                      <a:pt x="397" y="63"/>
                      <a:pt x="397" y="63"/>
                    </a:cubicBezTo>
                    <a:cubicBezTo>
                      <a:pt x="397" y="90"/>
                      <a:pt x="397" y="90"/>
                      <a:pt x="397" y="90"/>
                    </a:cubicBezTo>
                    <a:cubicBezTo>
                      <a:pt x="474" y="45"/>
                      <a:pt x="474" y="45"/>
                      <a:pt x="474" y="45"/>
                    </a:cubicBezTo>
                    <a:cubicBezTo>
                      <a:pt x="397" y="0"/>
                      <a:pt x="397" y="0"/>
                      <a:pt x="397" y="0"/>
                    </a:cubicBezTo>
                    <a:cubicBezTo>
                      <a:pt x="397" y="27"/>
                      <a:pt x="397" y="27"/>
                      <a:pt x="397" y="27"/>
                    </a:cubicBezTo>
                    <a:cubicBezTo>
                      <a:pt x="356" y="27"/>
                      <a:pt x="356" y="27"/>
                      <a:pt x="356" y="27"/>
                    </a:cubicBezTo>
                    <a:cubicBezTo>
                      <a:pt x="352" y="27"/>
                      <a:pt x="349" y="28"/>
                      <a:pt x="345" y="30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129" y="30"/>
                      <a:pt x="129" y="30"/>
                      <a:pt x="129" y="30"/>
                    </a:cubicBezTo>
                    <a:cubicBezTo>
                      <a:pt x="125" y="28"/>
                      <a:pt x="122" y="27"/>
                      <a:pt x="118" y="27"/>
                    </a:cubicBezTo>
                    <a:cubicBezTo>
                      <a:pt x="77" y="27"/>
                      <a:pt x="77" y="27"/>
                      <a:pt x="77" y="27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77" y="89"/>
                      <a:pt x="77" y="89"/>
                      <a:pt x="77" y="89"/>
                    </a:cubicBezTo>
                    <a:cubicBezTo>
                      <a:pt x="77" y="63"/>
                      <a:pt x="77" y="63"/>
                      <a:pt x="77" y="63"/>
                    </a:cubicBezTo>
                    <a:cubicBezTo>
                      <a:pt x="111" y="63"/>
                      <a:pt x="111" y="63"/>
                      <a:pt x="111" y="63"/>
                    </a:cubicBezTo>
                    <a:cubicBezTo>
                      <a:pt x="207" y="136"/>
                      <a:pt x="207" y="136"/>
                      <a:pt x="207" y="136"/>
                    </a:cubicBezTo>
                    <a:cubicBezTo>
                      <a:pt x="111" y="210"/>
                      <a:pt x="111" y="210"/>
                      <a:pt x="111" y="210"/>
                    </a:cubicBezTo>
                    <a:cubicBezTo>
                      <a:pt x="77" y="210"/>
                      <a:pt x="77" y="210"/>
                      <a:pt x="77" y="210"/>
                    </a:cubicBezTo>
                    <a:cubicBezTo>
                      <a:pt x="77" y="183"/>
                      <a:pt x="77" y="183"/>
                      <a:pt x="77" y="183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7" y="273"/>
                      <a:pt x="77" y="273"/>
                      <a:pt x="77" y="273"/>
                    </a:cubicBezTo>
                    <a:cubicBezTo>
                      <a:pt x="77" y="246"/>
                      <a:pt x="77" y="246"/>
                      <a:pt x="77" y="246"/>
                    </a:cubicBezTo>
                    <a:cubicBezTo>
                      <a:pt x="118" y="246"/>
                      <a:pt x="118" y="246"/>
                      <a:pt x="118" y="246"/>
                    </a:cubicBezTo>
                    <a:cubicBezTo>
                      <a:pt x="122" y="246"/>
                      <a:pt x="125" y="245"/>
                      <a:pt x="129" y="242"/>
                    </a:cubicBezTo>
                    <a:cubicBezTo>
                      <a:pt x="237" y="159"/>
                      <a:pt x="237" y="159"/>
                      <a:pt x="237" y="159"/>
                    </a:cubicBezTo>
                    <a:cubicBezTo>
                      <a:pt x="345" y="242"/>
                      <a:pt x="345" y="242"/>
                      <a:pt x="345" y="242"/>
                    </a:cubicBezTo>
                    <a:cubicBezTo>
                      <a:pt x="349" y="245"/>
                      <a:pt x="352" y="246"/>
                      <a:pt x="356" y="246"/>
                    </a:cubicBezTo>
                    <a:cubicBezTo>
                      <a:pt x="397" y="246"/>
                      <a:pt x="397" y="246"/>
                      <a:pt x="397" y="246"/>
                    </a:cubicBezTo>
                    <a:cubicBezTo>
                      <a:pt x="397" y="273"/>
                      <a:pt x="397" y="273"/>
                      <a:pt x="397" y="273"/>
                    </a:cubicBezTo>
                    <a:cubicBezTo>
                      <a:pt x="474" y="228"/>
                      <a:pt x="474" y="228"/>
                      <a:pt x="474" y="228"/>
                    </a:cubicBezTo>
                    <a:cubicBezTo>
                      <a:pt x="397" y="183"/>
                      <a:pt x="397" y="183"/>
                      <a:pt x="397" y="183"/>
                    </a:cubicBezTo>
                    <a:lnTo>
                      <a:pt x="397" y="2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377">
                  <a:defRPr/>
                </a:pPr>
                <a:endParaRPr lang="ko-KR" altLang="en-US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</p:grpSp>
      <p:sp>
        <p:nvSpPr>
          <p:cNvPr id="796" name="AutoShape 37">
            <a:extLst>
              <a:ext uri="{FF2B5EF4-FFF2-40B4-BE49-F238E27FC236}">
                <a16:creationId xmlns:a16="http://schemas.microsoft.com/office/drawing/2014/main" id="{EFF8F7A3-7BF4-4FF7-8F63-1AAC7797C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38" y="3352803"/>
            <a:ext cx="1355388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지방재정관리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(480vC/30P)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97" name="AutoShape 37">
            <a:extLst>
              <a:ext uri="{FF2B5EF4-FFF2-40B4-BE49-F238E27FC236}">
                <a16:creationId xmlns:a16="http://schemas.microsoft.com/office/drawing/2014/main" id="{45608395-4EFB-4108-95E9-3BA586066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38" y="3651408"/>
            <a:ext cx="1355388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지방보조금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WAS (8vC/2P)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98" name="AutoShape 37">
            <a:extLst>
              <a:ext uri="{FF2B5EF4-FFF2-40B4-BE49-F238E27FC236}">
                <a16:creationId xmlns:a16="http://schemas.microsoft.com/office/drawing/2014/main" id="{A8DCFDC6-6262-4A76-8033-AFFF05AFB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955" y="3352803"/>
            <a:ext cx="1355388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지방재정 배치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(32vC/1P)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99" name="AutoShape 37">
            <a:extLst>
              <a:ext uri="{FF2B5EF4-FFF2-40B4-BE49-F238E27FC236}">
                <a16:creationId xmlns:a16="http://schemas.microsoft.com/office/drawing/2014/main" id="{8343ADF4-671A-4CC3-A7DC-8F86F9157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955" y="3651408"/>
            <a:ext cx="1355388" cy="268497"/>
          </a:xfrm>
          <a:prstGeom prst="roundRect">
            <a:avLst>
              <a:gd name="adj" fmla="val 4750"/>
            </a:avLst>
          </a:prstGeom>
          <a:solidFill>
            <a:sysClr val="window" lastClr="FFFFFF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보조금 배치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(4vC/2P)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00" name="AutoShape 37">
            <a:extLst>
              <a:ext uri="{FF2B5EF4-FFF2-40B4-BE49-F238E27FC236}">
                <a16:creationId xmlns:a16="http://schemas.microsoft.com/office/drawing/2014/main" id="{F17B1F1C-319E-4FD2-BF42-F1257713C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6886" y="3954539"/>
            <a:ext cx="1355388" cy="268497"/>
          </a:xfrm>
          <a:prstGeom prst="roundRect">
            <a:avLst>
              <a:gd name="adj" fmla="val 4750"/>
            </a:avLst>
          </a:prstGeom>
          <a:solidFill>
            <a:schemeClr val="bg1"/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b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ko-KR" altLang="en-US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행정리포팅</a:t>
            </a:r>
            <a:endParaRPr lang="en-US" altLang="ko-KR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WEB (16vC/2P)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01" name="Freeform 25">
            <a:extLst>
              <a:ext uri="{FF2B5EF4-FFF2-40B4-BE49-F238E27FC236}">
                <a16:creationId xmlns:a16="http://schemas.microsoft.com/office/drawing/2014/main" id="{137F29A5-FD4B-462C-A6A4-4CD6C77EE21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203147" y="4837089"/>
            <a:ext cx="224757" cy="154167"/>
          </a:xfrm>
          <a:custGeom>
            <a:avLst/>
            <a:gdLst>
              <a:gd name="T0" fmla="*/ 463 w 549"/>
              <a:gd name="T1" fmla="*/ 347 h 347"/>
              <a:gd name="T2" fmla="*/ 119 w 549"/>
              <a:gd name="T3" fmla="*/ 347 h 347"/>
              <a:gd name="T4" fmla="*/ 0 w 549"/>
              <a:gd name="T5" fmla="*/ 228 h 347"/>
              <a:gd name="T6" fmla="*/ 101 w 549"/>
              <a:gd name="T7" fmla="*/ 110 h 347"/>
              <a:gd name="T8" fmla="*/ 234 w 549"/>
              <a:gd name="T9" fmla="*/ 0 h 347"/>
              <a:gd name="T10" fmla="*/ 367 w 549"/>
              <a:gd name="T11" fmla="*/ 109 h 347"/>
              <a:gd name="T12" fmla="*/ 461 w 549"/>
              <a:gd name="T13" fmla="*/ 173 h 347"/>
              <a:gd name="T14" fmla="*/ 549 w 549"/>
              <a:gd name="T15" fmla="*/ 260 h 347"/>
              <a:gd name="T16" fmla="*/ 463 w 549"/>
              <a:gd name="T17" fmla="*/ 347 h 347"/>
              <a:gd name="T18" fmla="*/ 234 w 549"/>
              <a:gd name="T19" fmla="*/ 28 h 347"/>
              <a:gd name="T20" fmla="*/ 127 w 549"/>
              <a:gd name="T21" fmla="*/ 124 h 347"/>
              <a:gd name="T22" fmla="*/ 114 w 549"/>
              <a:gd name="T23" fmla="*/ 137 h 347"/>
              <a:gd name="T24" fmla="*/ 28 w 549"/>
              <a:gd name="T25" fmla="*/ 228 h 347"/>
              <a:gd name="T26" fmla="*/ 119 w 549"/>
              <a:gd name="T27" fmla="*/ 319 h 347"/>
              <a:gd name="T28" fmla="*/ 463 w 549"/>
              <a:gd name="T29" fmla="*/ 319 h 347"/>
              <a:gd name="T30" fmla="*/ 521 w 549"/>
              <a:gd name="T31" fmla="*/ 260 h 347"/>
              <a:gd name="T32" fmla="*/ 463 w 549"/>
              <a:gd name="T33" fmla="*/ 201 h 347"/>
              <a:gd name="T34" fmla="*/ 455 w 549"/>
              <a:gd name="T35" fmla="*/ 202 h 347"/>
              <a:gd name="T36" fmla="*/ 440 w 549"/>
              <a:gd name="T37" fmla="*/ 193 h 347"/>
              <a:gd name="T38" fmla="*/ 356 w 549"/>
              <a:gd name="T39" fmla="*/ 137 h 347"/>
              <a:gd name="T40" fmla="*/ 355 w 549"/>
              <a:gd name="T41" fmla="*/ 137 h 347"/>
              <a:gd name="T42" fmla="*/ 341 w 549"/>
              <a:gd name="T43" fmla="*/ 124 h 347"/>
              <a:gd name="T44" fmla="*/ 234 w 549"/>
              <a:gd name="T45" fmla="*/ 28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49" h="347">
                <a:moveTo>
                  <a:pt x="463" y="347"/>
                </a:moveTo>
                <a:cubicBezTo>
                  <a:pt x="119" y="347"/>
                  <a:pt x="119" y="347"/>
                  <a:pt x="119" y="347"/>
                </a:cubicBezTo>
                <a:cubicBezTo>
                  <a:pt x="54" y="347"/>
                  <a:pt x="0" y="293"/>
                  <a:pt x="0" y="228"/>
                </a:cubicBezTo>
                <a:cubicBezTo>
                  <a:pt x="0" y="168"/>
                  <a:pt x="44" y="119"/>
                  <a:pt x="101" y="110"/>
                </a:cubicBezTo>
                <a:cubicBezTo>
                  <a:pt x="113" y="46"/>
                  <a:pt x="168" y="0"/>
                  <a:pt x="234" y="0"/>
                </a:cubicBezTo>
                <a:cubicBezTo>
                  <a:pt x="299" y="0"/>
                  <a:pt x="355" y="46"/>
                  <a:pt x="367" y="109"/>
                </a:cubicBezTo>
                <a:cubicBezTo>
                  <a:pt x="407" y="113"/>
                  <a:pt x="443" y="137"/>
                  <a:pt x="461" y="173"/>
                </a:cubicBezTo>
                <a:cubicBezTo>
                  <a:pt x="510" y="172"/>
                  <a:pt x="549" y="212"/>
                  <a:pt x="549" y="260"/>
                </a:cubicBezTo>
                <a:cubicBezTo>
                  <a:pt x="549" y="308"/>
                  <a:pt x="510" y="347"/>
                  <a:pt x="463" y="347"/>
                </a:cubicBezTo>
                <a:close/>
                <a:moveTo>
                  <a:pt x="234" y="28"/>
                </a:moveTo>
                <a:cubicBezTo>
                  <a:pt x="179" y="28"/>
                  <a:pt x="133" y="69"/>
                  <a:pt x="127" y="124"/>
                </a:cubicBezTo>
                <a:cubicBezTo>
                  <a:pt x="126" y="131"/>
                  <a:pt x="121" y="136"/>
                  <a:pt x="114" y="137"/>
                </a:cubicBezTo>
                <a:cubicBezTo>
                  <a:pt x="66" y="140"/>
                  <a:pt x="28" y="179"/>
                  <a:pt x="28" y="228"/>
                </a:cubicBezTo>
                <a:cubicBezTo>
                  <a:pt x="28" y="278"/>
                  <a:pt x="69" y="319"/>
                  <a:pt x="119" y="319"/>
                </a:cubicBezTo>
                <a:cubicBezTo>
                  <a:pt x="463" y="319"/>
                  <a:pt x="463" y="319"/>
                  <a:pt x="463" y="319"/>
                </a:cubicBezTo>
                <a:cubicBezTo>
                  <a:pt x="495" y="319"/>
                  <a:pt x="521" y="292"/>
                  <a:pt x="521" y="260"/>
                </a:cubicBezTo>
                <a:cubicBezTo>
                  <a:pt x="521" y="227"/>
                  <a:pt x="495" y="201"/>
                  <a:pt x="463" y="201"/>
                </a:cubicBezTo>
                <a:cubicBezTo>
                  <a:pt x="460" y="201"/>
                  <a:pt x="457" y="201"/>
                  <a:pt x="455" y="202"/>
                </a:cubicBezTo>
                <a:cubicBezTo>
                  <a:pt x="448" y="203"/>
                  <a:pt x="442" y="199"/>
                  <a:pt x="440" y="193"/>
                </a:cubicBezTo>
                <a:cubicBezTo>
                  <a:pt x="426" y="159"/>
                  <a:pt x="393" y="137"/>
                  <a:pt x="356" y="137"/>
                </a:cubicBezTo>
                <a:cubicBezTo>
                  <a:pt x="355" y="137"/>
                  <a:pt x="355" y="137"/>
                  <a:pt x="355" y="137"/>
                </a:cubicBezTo>
                <a:cubicBezTo>
                  <a:pt x="348" y="137"/>
                  <a:pt x="341" y="131"/>
                  <a:pt x="341" y="124"/>
                </a:cubicBezTo>
                <a:cubicBezTo>
                  <a:pt x="335" y="69"/>
                  <a:pt x="289" y="28"/>
                  <a:pt x="234" y="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ko-KR" altLang="en-US">
              <a:solidFill>
                <a:prstClr val="black"/>
              </a:solidFill>
              <a:latin typeface="+mn-ea"/>
            </a:endParaRPr>
          </a:p>
        </p:txBody>
      </p:sp>
      <p:sp>
        <p:nvSpPr>
          <p:cNvPr id="802" name="Freeform 25">
            <a:extLst>
              <a:ext uri="{FF2B5EF4-FFF2-40B4-BE49-F238E27FC236}">
                <a16:creationId xmlns:a16="http://schemas.microsoft.com/office/drawing/2014/main" id="{2EFB41AA-3863-405B-B7B5-54FB0EA99EB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307144" y="4837089"/>
            <a:ext cx="224757" cy="154167"/>
          </a:xfrm>
          <a:custGeom>
            <a:avLst/>
            <a:gdLst>
              <a:gd name="T0" fmla="*/ 463 w 549"/>
              <a:gd name="T1" fmla="*/ 347 h 347"/>
              <a:gd name="T2" fmla="*/ 119 w 549"/>
              <a:gd name="T3" fmla="*/ 347 h 347"/>
              <a:gd name="T4" fmla="*/ 0 w 549"/>
              <a:gd name="T5" fmla="*/ 228 h 347"/>
              <a:gd name="T6" fmla="*/ 101 w 549"/>
              <a:gd name="T7" fmla="*/ 110 h 347"/>
              <a:gd name="T8" fmla="*/ 234 w 549"/>
              <a:gd name="T9" fmla="*/ 0 h 347"/>
              <a:gd name="T10" fmla="*/ 367 w 549"/>
              <a:gd name="T11" fmla="*/ 109 h 347"/>
              <a:gd name="T12" fmla="*/ 461 w 549"/>
              <a:gd name="T13" fmla="*/ 173 h 347"/>
              <a:gd name="T14" fmla="*/ 549 w 549"/>
              <a:gd name="T15" fmla="*/ 260 h 347"/>
              <a:gd name="T16" fmla="*/ 463 w 549"/>
              <a:gd name="T17" fmla="*/ 347 h 347"/>
              <a:gd name="T18" fmla="*/ 234 w 549"/>
              <a:gd name="T19" fmla="*/ 28 h 347"/>
              <a:gd name="T20" fmla="*/ 127 w 549"/>
              <a:gd name="T21" fmla="*/ 124 h 347"/>
              <a:gd name="T22" fmla="*/ 114 w 549"/>
              <a:gd name="T23" fmla="*/ 137 h 347"/>
              <a:gd name="T24" fmla="*/ 28 w 549"/>
              <a:gd name="T25" fmla="*/ 228 h 347"/>
              <a:gd name="T26" fmla="*/ 119 w 549"/>
              <a:gd name="T27" fmla="*/ 319 h 347"/>
              <a:gd name="T28" fmla="*/ 463 w 549"/>
              <a:gd name="T29" fmla="*/ 319 h 347"/>
              <a:gd name="T30" fmla="*/ 521 w 549"/>
              <a:gd name="T31" fmla="*/ 260 h 347"/>
              <a:gd name="T32" fmla="*/ 463 w 549"/>
              <a:gd name="T33" fmla="*/ 201 h 347"/>
              <a:gd name="T34" fmla="*/ 455 w 549"/>
              <a:gd name="T35" fmla="*/ 202 h 347"/>
              <a:gd name="T36" fmla="*/ 440 w 549"/>
              <a:gd name="T37" fmla="*/ 193 h 347"/>
              <a:gd name="T38" fmla="*/ 356 w 549"/>
              <a:gd name="T39" fmla="*/ 137 h 347"/>
              <a:gd name="T40" fmla="*/ 355 w 549"/>
              <a:gd name="T41" fmla="*/ 137 h 347"/>
              <a:gd name="T42" fmla="*/ 341 w 549"/>
              <a:gd name="T43" fmla="*/ 124 h 347"/>
              <a:gd name="T44" fmla="*/ 234 w 549"/>
              <a:gd name="T45" fmla="*/ 28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49" h="347">
                <a:moveTo>
                  <a:pt x="463" y="347"/>
                </a:moveTo>
                <a:cubicBezTo>
                  <a:pt x="119" y="347"/>
                  <a:pt x="119" y="347"/>
                  <a:pt x="119" y="347"/>
                </a:cubicBezTo>
                <a:cubicBezTo>
                  <a:pt x="54" y="347"/>
                  <a:pt x="0" y="293"/>
                  <a:pt x="0" y="228"/>
                </a:cubicBezTo>
                <a:cubicBezTo>
                  <a:pt x="0" y="168"/>
                  <a:pt x="44" y="119"/>
                  <a:pt x="101" y="110"/>
                </a:cubicBezTo>
                <a:cubicBezTo>
                  <a:pt x="113" y="46"/>
                  <a:pt x="168" y="0"/>
                  <a:pt x="234" y="0"/>
                </a:cubicBezTo>
                <a:cubicBezTo>
                  <a:pt x="299" y="0"/>
                  <a:pt x="355" y="46"/>
                  <a:pt x="367" y="109"/>
                </a:cubicBezTo>
                <a:cubicBezTo>
                  <a:pt x="407" y="113"/>
                  <a:pt x="443" y="137"/>
                  <a:pt x="461" y="173"/>
                </a:cubicBezTo>
                <a:cubicBezTo>
                  <a:pt x="510" y="172"/>
                  <a:pt x="549" y="212"/>
                  <a:pt x="549" y="260"/>
                </a:cubicBezTo>
                <a:cubicBezTo>
                  <a:pt x="549" y="308"/>
                  <a:pt x="510" y="347"/>
                  <a:pt x="463" y="347"/>
                </a:cubicBezTo>
                <a:close/>
                <a:moveTo>
                  <a:pt x="234" y="28"/>
                </a:moveTo>
                <a:cubicBezTo>
                  <a:pt x="179" y="28"/>
                  <a:pt x="133" y="69"/>
                  <a:pt x="127" y="124"/>
                </a:cubicBezTo>
                <a:cubicBezTo>
                  <a:pt x="126" y="131"/>
                  <a:pt x="121" y="136"/>
                  <a:pt x="114" y="137"/>
                </a:cubicBezTo>
                <a:cubicBezTo>
                  <a:pt x="66" y="140"/>
                  <a:pt x="28" y="179"/>
                  <a:pt x="28" y="228"/>
                </a:cubicBezTo>
                <a:cubicBezTo>
                  <a:pt x="28" y="278"/>
                  <a:pt x="69" y="319"/>
                  <a:pt x="119" y="319"/>
                </a:cubicBezTo>
                <a:cubicBezTo>
                  <a:pt x="463" y="319"/>
                  <a:pt x="463" y="319"/>
                  <a:pt x="463" y="319"/>
                </a:cubicBezTo>
                <a:cubicBezTo>
                  <a:pt x="495" y="319"/>
                  <a:pt x="521" y="292"/>
                  <a:pt x="521" y="260"/>
                </a:cubicBezTo>
                <a:cubicBezTo>
                  <a:pt x="521" y="227"/>
                  <a:pt x="495" y="201"/>
                  <a:pt x="463" y="201"/>
                </a:cubicBezTo>
                <a:cubicBezTo>
                  <a:pt x="460" y="201"/>
                  <a:pt x="457" y="201"/>
                  <a:pt x="455" y="202"/>
                </a:cubicBezTo>
                <a:cubicBezTo>
                  <a:pt x="448" y="203"/>
                  <a:pt x="442" y="199"/>
                  <a:pt x="440" y="193"/>
                </a:cubicBezTo>
                <a:cubicBezTo>
                  <a:pt x="426" y="159"/>
                  <a:pt x="393" y="137"/>
                  <a:pt x="356" y="137"/>
                </a:cubicBezTo>
                <a:cubicBezTo>
                  <a:pt x="355" y="137"/>
                  <a:pt x="355" y="137"/>
                  <a:pt x="355" y="137"/>
                </a:cubicBezTo>
                <a:cubicBezTo>
                  <a:pt x="348" y="137"/>
                  <a:pt x="341" y="131"/>
                  <a:pt x="341" y="124"/>
                </a:cubicBezTo>
                <a:cubicBezTo>
                  <a:pt x="335" y="69"/>
                  <a:pt x="289" y="28"/>
                  <a:pt x="234" y="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ko-KR" altLang="en-US">
              <a:solidFill>
                <a:prstClr val="black"/>
              </a:solidFill>
              <a:latin typeface="+mn-ea"/>
            </a:endParaRPr>
          </a:p>
        </p:txBody>
      </p:sp>
      <p:sp>
        <p:nvSpPr>
          <p:cNvPr id="803" name="타원 802">
            <a:extLst>
              <a:ext uri="{FF2B5EF4-FFF2-40B4-BE49-F238E27FC236}">
                <a16:creationId xmlns:a16="http://schemas.microsoft.com/office/drawing/2014/main" id="{3349AADA-3E44-4B96-905B-5C57A94F18C9}"/>
              </a:ext>
            </a:extLst>
          </p:cNvPr>
          <p:cNvSpPr/>
          <p:nvPr/>
        </p:nvSpPr>
        <p:spPr>
          <a:xfrm>
            <a:off x="2826095" y="1880808"/>
            <a:ext cx="516017" cy="522631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ctr"/>
          <a:lstStyle/>
          <a:p>
            <a:pPr algn="ctr" defTabSz="914377" latinLnBrk="0">
              <a:defRPr/>
            </a:pPr>
            <a:r>
              <a:rPr lang="ko-KR" altLang="en-US" sz="9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망연계</a:t>
            </a:r>
            <a:endParaRPr lang="ko-KR" altLang="en-US" sz="9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sp>
        <p:nvSpPr>
          <p:cNvPr id="804" name="Freeform 95">
            <a:extLst>
              <a:ext uri="{FF2B5EF4-FFF2-40B4-BE49-F238E27FC236}">
                <a16:creationId xmlns:a16="http://schemas.microsoft.com/office/drawing/2014/main" id="{8906B158-F187-4565-A349-0062823156C3}"/>
              </a:ext>
            </a:extLst>
          </p:cNvPr>
          <p:cNvSpPr>
            <a:spLocks/>
          </p:cNvSpPr>
          <p:nvPr/>
        </p:nvSpPr>
        <p:spPr bwMode="auto">
          <a:xfrm>
            <a:off x="2987648" y="1986735"/>
            <a:ext cx="216731" cy="176172"/>
          </a:xfrm>
          <a:custGeom>
            <a:avLst/>
            <a:gdLst>
              <a:gd name="T0" fmla="*/ 397 w 474"/>
              <a:gd name="T1" fmla="*/ 210 h 273"/>
              <a:gd name="T2" fmla="*/ 363 w 474"/>
              <a:gd name="T3" fmla="*/ 210 h 273"/>
              <a:gd name="T4" fmla="*/ 267 w 474"/>
              <a:gd name="T5" fmla="*/ 136 h 273"/>
              <a:gd name="T6" fmla="*/ 363 w 474"/>
              <a:gd name="T7" fmla="*/ 63 h 273"/>
              <a:gd name="T8" fmla="*/ 397 w 474"/>
              <a:gd name="T9" fmla="*/ 63 h 273"/>
              <a:gd name="T10" fmla="*/ 397 w 474"/>
              <a:gd name="T11" fmla="*/ 90 h 273"/>
              <a:gd name="T12" fmla="*/ 474 w 474"/>
              <a:gd name="T13" fmla="*/ 45 h 273"/>
              <a:gd name="T14" fmla="*/ 397 w 474"/>
              <a:gd name="T15" fmla="*/ 0 h 273"/>
              <a:gd name="T16" fmla="*/ 397 w 474"/>
              <a:gd name="T17" fmla="*/ 27 h 273"/>
              <a:gd name="T18" fmla="*/ 356 w 474"/>
              <a:gd name="T19" fmla="*/ 27 h 273"/>
              <a:gd name="T20" fmla="*/ 345 w 474"/>
              <a:gd name="T21" fmla="*/ 30 h 273"/>
              <a:gd name="T22" fmla="*/ 237 w 474"/>
              <a:gd name="T23" fmla="*/ 114 h 273"/>
              <a:gd name="T24" fmla="*/ 129 w 474"/>
              <a:gd name="T25" fmla="*/ 30 h 273"/>
              <a:gd name="T26" fmla="*/ 118 w 474"/>
              <a:gd name="T27" fmla="*/ 27 h 273"/>
              <a:gd name="T28" fmla="*/ 77 w 474"/>
              <a:gd name="T29" fmla="*/ 27 h 273"/>
              <a:gd name="T30" fmla="*/ 77 w 474"/>
              <a:gd name="T31" fmla="*/ 0 h 273"/>
              <a:gd name="T32" fmla="*/ 0 w 474"/>
              <a:gd name="T33" fmla="*/ 44 h 273"/>
              <a:gd name="T34" fmla="*/ 77 w 474"/>
              <a:gd name="T35" fmla="*/ 89 h 273"/>
              <a:gd name="T36" fmla="*/ 77 w 474"/>
              <a:gd name="T37" fmla="*/ 63 h 273"/>
              <a:gd name="T38" fmla="*/ 111 w 474"/>
              <a:gd name="T39" fmla="*/ 63 h 273"/>
              <a:gd name="T40" fmla="*/ 207 w 474"/>
              <a:gd name="T41" fmla="*/ 136 h 273"/>
              <a:gd name="T42" fmla="*/ 111 w 474"/>
              <a:gd name="T43" fmla="*/ 210 h 273"/>
              <a:gd name="T44" fmla="*/ 77 w 474"/>
              <a:gd name="T45" fmla="*/ 210 h 273"/>
              <a:gd name="T46" fmla="*/ 77 w 474"/>
              <a:gd name="T47" fmla="*/ 183 h 273"/>
              <a:gd name="T48" fmla="*/ 0 w 474"/>
              <a:gd name="T49" fmla="*/ 228 h 273"/>
              <a:gd name="T50" fmla="*/ 77 w 474"/>
              <a:gd name="T51" fmla="*/ 273 h 273"/>
              <a:gd name="T52" fmla="*/ 77 w 474"/>
              <a:gd name="T53" fmla="*/ 246 h 273"/>
              <a:gd name="T54" fmla="*/ 118 w 474"/>
              <a:gd name="T55" fmla="*/ 246 h 273"/>
              <a:gd name="T56" fmla="*/ 129 w 474"/>
              <a:gd name="T57" fmla="*/ 242 h 273"/>
              <a:gd name="T58" fmla="*/ 237 w 474"/>
              <a:gd name="T59" fmla="*/ 159 h 273"/>
              <a:gd name="T60" fmla="*/ 345 w 474"/>
              <a:gd name="T61" fmla="*/ 242 h 273"/>
              <a:gd name="T62" fmla="*/ 356 w 474"/>
              <a:gd name="T63" fmla="*/ 246 h 273"/>
              <a:gd name="T64" fmla="*/ 397 w 474"/>
              <a:gd name="T65" fmla="*/ 246 h 273"/>
              <a:gd name="T66" fmla="*/ 397 w 474"/>
              <a:gd name="T67" fmla="*/ 273 h 273"/>
              <a:gd name="T68" fmla="*/ 474 w 474"/>
              <a:gd name="T69" fmla="*/ 228 h 273"/>
              <a:gd name="T70" fmla="*/ 397 w 474"/>
              <a:gd name="T71" fmla="*/ 183 h 273"/>
              <a:gd name="T72" fmla="*/ 397 w 474"/>
              <a:gd name="T73" fmla="*/ 210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74" h="273">
                <a:moveTo>
                  <a:pt x="397" y="210"/>
                </a:moveTo>
                <a:cubicBezTo>
                  <a:pt x="363" y="210"/>
                  <a:pt x="363" y="210"/>
                  <a:pt x="363" y="210"/>
                </a:cubicBezTo>
                <a:cubicBezTo>
                  <a:pt x="267" y="136"/>
                  <a:pt x="267" y="136"/>
                  <a:pt x="267" y="136"/>
                </a:cubicBezTo>
                <a:cubicBezTo>
                  <a:pt x="363" y="63"/>
                  <a:pt x="363" y="63"/>
                  <a:pt x="363" y="63"/>
                </a:cubicBezTo>
                <a:cubicBezTo>
                  <a:pt x="397" y="63"/>
                  <a:pt x="397" y="63"/>
                  <a:pt x="397" y="63"/>
                </a:cubicBezTo>
                <a:cubicBezTo>
                  <a:pt x="397" y="90"/>
                  <a:pt x="397" y="90"/>
                  <a:pt x="397" y="90"/>
                </a:cubicBezTo>
                <a:cubicBezTo>
                  <a:pt x="474" y="45"/>
                  <a:pt x="474" y="45"/>
                  <a:pt x="474" y="45"/>
                </a:cubicBezTo>
                <a:cubicBezTo>
                  <a:pt x="397" y="0"/>
                  <a:pt x="397" y="0"/>
                  <a:pt x="397" y="0"/>
                </a:cubicBezTo>
                <a:cubicBezTo>
                  <a:pt x="397" y="27"/>
                  <a:pt x="397" y="27"/>
                  <a:pt x="397" y="27"/>
                </a:cubicBezTo>
                <a:cubicBezTo>
                  <a:pt x="356" y="27"/>
                  <a:pt x="356" y="27"/>
                  <a:pt x="356" y="27"/>
                </a:cubicBezTo>
                <a:cubicBezTo>
                  <a:pt x="352" y="27"/>
                  <a:pt x="349" y="28"/>
                  <a:pt x="345" y="30"/>
                </a:cubicBezTo>
                <a:cubicBezTo>
                  <a:pt x="237" y="114"/>
                  <a:pt x="237" y="114"/>
                  <a:pt x="237" y="114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5" y="28"/>
                  <a:pt x="122" y="27"/>
                  <a:pt x="118" y="27"/>
                </a:cubicBezTo>
                <a:cubicBezTo>
                  <a:pt x="77" y="27"/>
                  <a:pt x="77" y="27"/>
                  <a:pt x="77" y="27"/>
                </a:cubicBezTo>
                <a:cubicBezTo>
                  <a:pt x="77" y="0"/>
                  <a:pt x="77" y="0"/>
                  <a:pt x="77" y="0"/>
                </a:cubicBezTo>
                <a:cubicBezTo>
                  <a:pt x="0" y="44"/>
                  <a:pt x="0" y="44"/>
                  <a:pt x="0" y="44"/>
                </a:cubicBezTo>
                <a:cubicBezTo>
                  <a:pt x="77" y="89"/>
                  <a:pt x="77" y="89"/>
                  <a:pt x="77" y="89"/>
                </a:cubicBezTo>
                <a:cubicBezTo>
                  <a:pt x="77" y="63"/>
                  <a:pt x="77" y="63"/>
                  <a:pt x="77" y="63"/>
                </a:cubicBezTo>
                <a:cubicBezTo>
                  <a:pt x="111" y="63"/>
                  <a:pt x="111" y="63"/>
                  <a:pt x="111" y="63"/>
                </a:cubicBezTo>
                <a:cubicBezTo>
                  <a:pt x="207" y="136"/>
                  <a:pt x="207" y="136"/>
                  <a:pt x="207" y="136"/>
                </a:cubicBezTo>
                <a:cubicBezTo>
                  <a:pt x="111" y="210"/>
                  <a:pt x="111" y="210"/>
                  <a:pt x="111" y="210"/>
                </a:cubicBezTo>
                <a:cubicBezTo>
                  <a:pt x="77" y="210"/>
                  <a:pt x="77" y="210"/>
                  <a:pt x="77" y="210"/>
                </a:cubicBezTo>
                <a:cubicBezTo>
                  <a:pt x="77" y="183"/>
                  <a:pt x="77" y="183"/>
                  <a:pt x="77" y="183"/>
                </a:cubicBezTo>
                <a:cubicBezTo>
                  <a:pt x="0" y="228"/>
                  <a:pt x="0" y="228"/>
                  <a:pt x="0" y="228"/>
                </a:cubicBezTo>
                <a:cubicBezTo>
                  <a:pt x="77" y="273"/>
                  <a:pt x="77" y="273"/>
                  <a:pt x="77" y="273"/>
                </a:cubicBezTo>
                <a:cubicBezTo>
                  <a:pt x="77" y="246"/>
                  <a:pt x="77" y="246"/>
                  <a:pt x="77" y="246"/>
                </a:cubicBezTo>
                <a:cubicBezTo>
                  <a:pt x="118" y="246"/>
                  <a:pt x="118" y="246"/>
                  <a:pt x="118" y="246"/>
                </a:cubicBezTo>
                <a:cubicBezTo>
                  <a:pt x="122" y="246"/>
                  <a:pt x="125" y="245"/>
                  <a:pt x="129" y="242"/>
                </a:cubicBezTo>
                <a:cubicBezTo>
                  <a:pt x="237" y="159"/>
                  <a:pt x="237" y="159"/>
                  <a:pt x="237" y="159"/>
                </a:cubicBezTo>
                <a:cubicBezTo>
                  <a:pt x="345" y="242"/>
                  <a:pt x="345" y="242"/>
                  <a:pt x="345" y="242"/>
                </a:cubicBezTo>
                <a:cubicBezTo>
                  <a:pt x="349" y="245"/>
                  <a:pt x="352" y="246"/>
                  <a:pt x="356" y="246"/>
                </a:cubicBezTo>
                <a:cubicBezTo>
                  <a:pt x="397" y="246"/>
                  <a:pt x="397" y="246"/>
                  <a:pt x="397" y="246"/>
                </a:cubicBezTo>
                <a:cubicBezTo>
                  <a:pt x="397" y="273"/>
                  <a:pt x="397" y="273"/>
                  <a:pt x="397" y="273"/>
                </a:cubicBezTo>
                <a:cubicBezTo>
                  <a:pt x="474" y="228"/>
                  <a:pt x="474" y="228"/>
                  <a:pt x="474" y="228"/>
                </a:cubicBezTo>
                <a:cubicBezTo>
                  <a:pt x="397" y="183"/>
                  <a:pt x="397" y="183"/>
                  <a:pt x="397" y="183"/>
                </a:cubicBezTo>
                <a:lnTo>
                  <a:pt x="397" y="21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ko-KR" altLang="en-US" b="1">
              <a:solidFill>
                <a:prstClr val="black"/>
              </a:solidFill>
              <a:latin typeface="+mn-ea"/>
            </a:endParaRPr>
          </a:p>
        </p:txBody>
      </p:sp>
      <p:sp>
        <p:nvSpPr>
          <p:cNvPr id="805" name="Rectangle 598">
            <a:extLst>
              <a:ext uri="{FF2B5EF4-FFF2-40B4-BE49-F238E27FC236}">
                <a16:creationId xmlns:a16="http://schemas.microsoft.com/office/drawing/2014/main" id="{9CC40E75-F866-4D49-BD06-C1E4D77C0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04" y="1560811"/>
            <a:ext cx="304143" cy="3098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3030">
              <a:defRPr/>
            </a:pPr>
            <a:r>
              <a:rPr lang="ko-KR" altLang="en-US" sz="1000" dirty="0">
                <a:solidFill>
                  <a:prstClr val="white"/>
                </a:solidFill>
                <a:latin typeface="+mn-ea"/>
              </a:rPr>
              <a:t>컨테이너</a:t>
            </a:r>
          </a:p>
        </p:txBody>
      </p:sp>
      <p:sp>
        <p:nvSpPr>
          <p:cNvPr id="806" name="Rectangle 598">
            <a:extLst>
              <a:ext uri="{FF2B5EF4-FFF2-40B4-BE49-F238E27FC236}">
                <a16:creationId xmlns:a16="http://schemas.microsoft.com/office/drawing/2014/main" id="{55A627AE-3C53-486E-833A-C98116DE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04" y="4815669"/>
            <a:ext cx="304143" cy="5324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043030">
              <a:defRPr/>
            </a:pPr>
            <a:r>
              <a:rPr lang="ko-KR" altLang="en-US" sz="1000" dirty="0" err="1">
                <a:solidFill>
                  <a:prstClr val="white"/>
                </a:solidFill>
                <a:latin typeface="+mn-ea"/>
              </a:rPr>
              <a:t>워커노드</a:t>
            </a:r>
            <a:endParaRPr lang="ko-KR" altLang="en-US" sz="10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07" name="모서리가 둥근 직사각형 111">
            <a:extLst>
              <a:ext uri="{FF2B5EF4-FFF2-40B4-BE49-F238E27FC236}">
                <a16:creationId xmlns:a16="http://schemas.microsoft.com/office/drawing/2014/main" id="{83DD85E5-FB72-40F8-A7C9-E9625422EF46}"/>
              </a:ext>
            </a:extLst>
          </p:cNvPr>
          <p:cNvSpPr/>
          <p:nvPr/>
        </p:nvSpPr>
        <p:spPr>
          <a:xfrm>
            <a:off x="671998" y="5540623"/>
            <a:ext cx="2233841" cy="819175"/>
          </a:xfrm>
          <a:prstGeom prst="rect">
            <a:avLst/>
          </a:prstGeom>
          <a:solidFill>
            <a:sysClr val="window" lastClr="FFFFFF"/>
          </a:solidFill>
          <a:ln w="9525" cap="sq" cmpd="sng" algn="ctr">
            <a:solidFill>
              <a:srgbClr val="536C8B"/>
            </a:solidFill>
            <a:prstDash val="solid"/>
            <a:miter/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67" kern="0">
                <a:solidFill>
                  <a:prstClr val="black"/>
                </a:solidFill>
                <a:latin typeface="+mn-ea"/>
              </a:rPr>
              <a:t> </a:t>
            </a:r>
            <a:endParaRPr lang="ko-KR" altLang="en-US" sz="1467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808" name="모서리가 둥근 직사각형 111">
            <a:extLst>
              <a:ext uri="{FF2B5EF4-FFF2-40B4-BE49-F238E27FC236}">
                <a16:creationId xmlns:a16="http://schemas.microsoft.com/office/drawing/2014/main" id="{C612BF4F-0C14-47D6-9B18-2EB6292AC7EB}"/>
              </a:ext>
            </a:extLst>
          </p:cNvPr>
          <p:cNvSpPr/>
          <p:nvPr/>
        </p:nvSpPr>
        <p:spPr>
          <a:xfrm>
            <a:off x="3257071" y="5540623"/>
            <a:ext cx="5406821" cy="819175"/>
          </a:xfrm>
          <a:prstGeom prst="rect">
            <a:avLst/>
          </a:prstGeom>
          <a:solidFill>
            <a:sysClr val="window" lastClr="FFFFFF"/>
          </a:solidFill>
          <a:ln w="9525" cap="sq" cmpd="sng" algn="ctr">
            <a:solidFill>
              <a:srgbClr val="536C8B"/>
            </a:solidFill>
            <a:prstDash val="solid"/>
            <a:miter/>
          </a:ln>
          <a:effectLst>
            <a:outerShdw blurRad="101600" dist="25400" dir="2700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92000" tIns="192000" rIns="192000" bIns="19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67" kern="0">
                <a:solidFill>
                  <a:prstClr val="black"/>
                </a:solidFill>
                <a:latin typeface="+mn-ea"/>
              </a:rPr>
              <a:t> </a:t>
            </a:r>
            <a:endParaRPr lang="ko-KR" altLang="en-US" sz="1467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809" name="AutoShape 37">
            <a:extLst>
              <a:ext uri="{FF2B5EF4-FFF2-40B4-BE49-F238E27FC236}">
                <a16:creationId xmlns:a16="http://schemas.microsoft.com/office/drawing/2014/main" id="{FFE39893-38C2-481F-8550-5C5A2C7F6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25" y="5581055"/>
            <a:ext cx="995353" cy="313579"/>
          </a:xfrm>
          <a:prstGeom prst="roundRect">
            <a:avLst>
              <a:gd name="adj" fmla="val 475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OpenShi</a:t>
            </a: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ft</a:t>
            </a:r>
          </a:p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(14EA)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10" name="AutoShape 37">
            <a:extLst>
              <a:ext uri="{FF2B5EF4-FFF2-40B4-BE49-F238E27FC236}">
                <a16:creationId xmlns:a16="http://schemas.microsoft.com/office/drawing/2014/main" id="{3204D9AF-CEF9-47CD-8BA0-BD6A6CE82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8365" y="5581055"/>
            <a:ext cx="995353" cy="313579"/>
          </a:xfrm>
          <a:prstGeom prst="roundRect">
            <a:avLst>
              <a:gd name="adj" fmla="val 475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OpenStack</a:t>
            </a:r>
          </a:p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(11EA)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11" name="AutoShape 37">
            <a:extLst>
              <a:ext uri="{FF2B5EF4-FFF2-40B4-BE49-F238E27FC236}">
                <a16:creationId xmlns:a16="http://schemas.microsoft.com/office/drawing/2014/main" id="{37BB78EB-CBD0-4581-AE5E-4C20FFEAF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25" y="5927250"/>
            <a:ext cx="2034669" cy="174211"/>
          </a:xfrm>
          <a:prstGeom prst="roundRect">
            <a:avLst>
              <a:gd name="adj" fmla="val 4750"/>
            </a:avLst>
          </a:prstGeom>
          <a:solidFill>
            <a:schemeClr val="bg1">
              <a:lumMod val="85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RHEV Hypervisor</a:t>
            </a:r>
            <a:endParaRPr lang="ko-KR" altLang="en-US" sz="900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12" name="AutoShape 37">
            <a:extLst>
              <a:ext uri="{FF2B5EF4-FFF2-40B4-BE49-F238E27FC236}">
                <a16:creationId xmlns:a16="http://schemas.microsoft.com/office/drawing/2014/main" id="{ED5128FD-AD60-4AFB-852A-80ED62D09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25" y="6143715"/>
            <a:ext cx="2034669" cy="174211"/>
          </a:xfrm>
          <a:prstGeom prst="roundRect">
            <a:avLst>
              <a:gd name="adj" fmla="val 4750"/>
            </a:avLst>
          </a:prstGeom>
          <a:solidFill>
            <a:schemeClr val="bg1">
              <a:lumMod val="50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kern="0" spc="31" dirty="0">
                <a:solidFill>
                  <a:prstClr val="white">
                    <a:lumMod val="95000"/>
                  </a:prstClr>
                </a:solidFill>
                <a:latin typeface="+mn-ea"/>
                <a:ea typeface="+mn-ea"/>
              </a:rPr>
              <a:t>RHEV (4EA)</a:t>
            </a:r>
            <a:endParaRPr lang="ko-KR" altLang="en-US" sz="900" kern="0" spc="31" dirty="0">
              <a:solidFill>
                <a:prstClr val="white">
                  <a:lumMod val="95000"/>
                </a:prstClr>
              </a:solidFill>
              <a:latin typeface="+mn-ea"/>
              <a:ea typeface="+mn-ea"/>
            </a:endParaRPr>
          </a:p>
        </p:txBody>
      </p:sp>
      <p:grpSp>
        <p:nvGrpSpPr>
          <p:cNvPr id="813" name="그룹 812">
            <a:extLst>
              <a:ext uri="{FF2B5EF4-FFF2-40B4-BE49-F238E27FC236}">
                <a16:creationId xmlns:a16="http://schemas.microsoft.com/office/drawing/2014/main" id="{DF79464B-FE57-4FD2-9F82-F30039E7EEE6}"/>
              </a:ext>
            </a:extLst>
          </p:cNvPr>
          <p:cNvGrpSpPr>
            <a:grpSpLocks noChangeAspect="1"/>
          </p:cNvGrpSpPr>
          <p:nvPr/>
        </p:nvGrpSpPr>
        <p:grpSpPr>
          <a:xfrm>
            <a:off x="852639" y="5620512"/>
            <a:ext cx="168893" cy="243895"/>
            <a:chOff x="3128963" y="3981450"/>
            <a:chExt cx="412750" cy="5492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14" name="Freeform 58">
              <a:extLst>
                <a:ext uri="{FF2B5EF4-FFF2-40B4-BE49-F238E27FC236}">
                  <a16:creationId xmlns:a16="http://schemas.microsoft.com/office/drawing/2014/main" id="{A9813F27-81D6-4458-8ED5-EEE5A7A0B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963" y="3981450"/>
              <a:ext cx="412750" cy="549275"/>
            </a:xfrm>
            <a:custGeom>
              <a:avLst/>
              <a:gdLst>
                <a:gd name="T0" fmla="*/ 68 w 477"/>
                <a:gd name="T1" fmla="*/ 636 h 636"/>
                <a:gd name="T2" fmla="*/ 0 w 477"/>
                <a:gd name="T3" fmla="*/ 568 h 636"/>
                <a:gd name="T4" fmla="*/ 0 w 477"/>
                <a:gd name="T5" fmla="*/ 568 h 636"/>
                <a:gd name="T6" fmla="*/ 0 w 477"/>
                <a:gd name="T7" fmla="*/ 68 h 636"/>
                <a:gd name="T8" fmla="*/ 68 w 477"/>
                <a:gd name="T9" fmla="*/ 0 h 636"/>
                <a:gd name="T10" fmla="*/ 68 w 477"/>
                <a:gd name="T11" fmla="*/ 0 h 636"/>
                <a:gd name="T12" fmla="*/ 409 w 477"/>
                <a:gd name="T13" fmla="*/ 0 h 636"/>
                <a:gd name="T14" fmla="*/ 477 w 477"/>
                <a:gd name="T15" fmla="*/ 68 h 636"/>
                <a:gd name="T16" fmla="*/ 477 w 477"/>
                <a:gd name="T17" fmla="*/ 68 h 636"/>
                <a:gd name="T18" fmla="*/ 477 w 477"/>
                <a:gd name="T19" fmla="*/ 568 h 636"/>
                <a:gd name="T20" fmla="*/ 477 w 477"/>
                <a:gd name="T21" fmla="*/ 568 h 636"/>
                <a:gd name="T22" fmla="*/ 409 w 477"/>
                <a:gd name="T23" fmla="*/ 636 h 636"/>
                <a:gd name="T24" fmla="*/ 409 w 477"/>
                <a:gd name="T25" fmla="*/ 636 h 636"/>
                <a:gd name="T26" fmla="*/ 68 w 477"/>
                <a:gd name="T27" fmla="*/ 636 h 636"/>
                <a:gd name="T28" fmla="*/ 32 w 477"/>
                <a:gd name="T29" fmla="*/ 68 h 636"/>
                <a:gd name="T30" fmla="*/ 32 w 477"/>
                <a:gd name="T31" fmla="*/ 568 h 636"/>
                <a:gd name="T32" fmla="*/ 68 w 477"/>
                <a:gd name="T33" fmla="*/ 604 h 636"/>
                <a:gd name="T34" fmla="*/ 68 w 477"/>
                <a:gd name="T35" fmla="*/ 604 h 636"/>
                <a:gd name="T36" fmla="*/ 409 w 477"/>
                <a:gd name="T37" fmla="*/ 604 h 636"/>
                <a:gd name="T38" fmla="*/ 445 w 477"/>
                <a:gd name="T39" fmla="*/ 568 h 636"/>
                <a:gd name="T40" fmla="*/ 445 w 477"/>
                <a:gd name="T41" fmla="*/ 568 h 636"/>
                <a:gd name="T42" fmla="*/ 445 w 477"/>
                <a:gd name="T43" fmla="*/ 68 h 636"/>
                <a:gd name="T44" fmla="*/ 409 w 477"/>
                <a:gd name="T45" fmla="*/ 32 h 636"/>
                <a:gd name="T46" fmla="*/ 409 w 477"/>
                <a:gd name="T47" fmla="*/ 32 h 636"/>
                <a:gd name="T48" fmla="*/ 68 w 477"/>
                <a:gd name="T49" fmla="*/ 32 h 636"/>
                <a:gd name="T50" fmla="*/ 32 w 477"/>
                <a:gd name="T51" fmla="*/ 6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7" h="636">
                  <a:moveTo>
                    <a:pt x="68" y="636"/>
                  </a:moveTo>
                  <a:cubicBezTo>
                    <a:pt x="30" y="636"/>
                    <a:pt x="0" y="606"/>
                    <a:pt x="0" y="568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31"/>
                    <a:pt x="30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447" y="0"/>
                    <a:pt x="477" y="31"/>
                    <a:pt x="477" y="68"/>
                  </a:cubicBezTo>
                  <a:cubicBezTo>
                    <a:pt x="477" y="68"/>
                    <a:pt x="477" y="68"/>
                    <a:pt x="477" y="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606"/>
                    <a:pt x="447" y="636"/>
                    <a:pt x="409" y="636"/>
                  </a:cubicBezTo>
                  <a:cubicBezTo>
                    <a:pt x="409" y="636"/>
                    <a:pt x="409" y="636"/>
                    <a:pt x="409" y="636"/>
                  </a:cubicBezTo>
                  <a:cubicBezTo>
                    <a:pt x="68" y="636"/>
                    <a:pt x="68" y="636"/>
                    <a:pt x="68" y="636"/>
                  </a:cubicBezTo>
                  <a:close/>
                  <a:moveTo>
                    <a:pt x="32" y="68"/>
                  </a:moveTo>
                  <a:cubicBezTo>
                    <a:pt x="32" y="568"/>
                    <a:pt x="32" y="568"/>
                    <a:pt x="32" y="568"/>
                  </a:cubicBezTo>
                  <a:cubicBezTo>
                    <a:pt x="32" y="588"/>
                    <a:pt x="48" y="604"/>
                    <a:pt x="68" y="604"/>
                  </a:cubicBezTo>
                  <a:cubicBezTo>
                    <a:pt x="68" y="604"/>
                    <a:pt x="68" y="604"/>
                    <a:pt x="68" y="604"/>
                  </a:cubicBezTo>
                  <a:cubicBezTo>
                    <a:pt x="409" y="604"/>
                    <a:pt x="409" y="604"/>
                    <a:pt x="409" y="604"/>
                  </a:cubicBezTo>
                  <a:cubicBezTo>
                    <a:pt x="429" y="604"/>
                    <a:pt x="445" y="588"/>
                    <a:pt x="445" y="568"/>
                  </a:cubicBezTo>
                  <a:cubicBezTo>
                    <a:pt x="445" y="568"/>
                    <a:pt x="445" y="568"/>
                    <a:pt x="445" y="568"/>
                  </a:cubicBezTo>
                  <a:cubicBezTo>
                    <a:pt x="445" y="68"/>
                    <a:pt x="445" y="68"/>
                    <a:pt x="445" y="68"/>
                  </a:cubicBezTo>
                  <a:cubicBezTo>
                    <a:pt x="445" y="49"/>
                    <a:pt x="429" y="32"/>
                    <a:pt x="409" y="32"/>
                  </a:cubicBezTo>
                  <a:cubicBezTo>
                    <a:pt x="409" y="32"/>
                    <a:pt x="409" y="32"/>
                    <a:pt x="40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48" y="32"/>
                    <a:pt x="32" y="49"/>
                    <a:pt x="32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45720" rIns="0" bIns="36000" numCol="1" anchor="b" anchorCtr="0" compatLnSpc="1">
              <a:prstTxWarp prst="textNoShape">
                <a:avLst/>
              </a:prstTxWarp>
            </a:bodyPr>
            <a:lstStyle/>
            <a:p>
              <a:pPr algn="ctr" defTabSz="914377">
                <a:defRPr/>
              </a:pPr>
              <a:r>
                <a:rPr lang="en-US" altLang="ko-KR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VM</a:t>
              </a:r>
              <a:endParaRPr lang="ko-KR" altLang="en-US" sz="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sp>
          <p:nvSpPr>
            <p:cNvPr id="815" name="Freeform 60">
              <a:extLst>
                <a:ext uri="{FF2B5EF4-FFF2-40B4-BE49-F238E27FC236}">
                  <a16:creationId xmlns:a16="http://schemas.microsoft.com/office/drawing/2014/main" id="{FA259C4E-B564-4B2E-A21F-43FFAFC91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052888"/>
              <a:ext cx="293688" cy="55563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16" name="Freeform 61">
              <a:extLst>
                <a:ext uri="{FF2B5EF4-FFF2-40B4-BE49-F238E27FC236}">
                  <a16:creationId xmlns:a16="http://schemas.microsoft.com/office/drawing/2014/main" id="{1C1733A0-CCEB-48D4-BB9C-D3F8A343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129088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17" name="Freeform 62">
              <a:extLst>
                <a:ext uri="{FF2B5EF4-FFF2-40B4-BE49-F238E27FC236}">
                  <a16:creationId xmlns:a16="http://schemas.microsoft.com/office/drawing/2014/main" id="{A5B7238A-43D1-4214-A301-AC75FF142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206875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818" name="그룹 817">
            <a:extLst>
              <a:ext uri="{FF2B5EF4-FFF2-40B4-BE49-F238E27FC236}">
                <a16:creationId xmlns:a16="http://schemas.microsoft.com/office/drawing/2014/main" id="{CBAB39C5-B99E-43A1-BBA4-215EB05246FD}"/>
              </a:ext>
            </a:extLst>
          </p:cNvPr>
          <p:cNvGrpSpPr>
            <a:grpSpLocks noChangeAspect="1"/>
          </p:cNvGrpSpPr>
          <p:nvPr/>
        </p:nvGrpSpPr>
        <p:grpSpPr>
          <a:xfrm>
            <a:off x="1890653" y="5620512"/>
            <a:ext cx="168893" cy="243895"/>
            <a:chOff x="3128963" y="3981450"/>
            <a:chExt cx="412750" cy="5492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19" name="Freeform 58">
              <a:extLst>
                <a:ext uri="{FF2B5EF4-FFF2-40B4-BE49-F238E27FC236}">
                  <a16:creationId xmlns:a16="http://schemas.microsoft.com/office/drawing/2014/main" id="{BC056C5D-0E9D-4E4B-BF0F-BC6D93F6F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963" y="3981450"/>
              <a:ext cx="412750" cy="549275"/>
            </a:xfrm>
            <a:custGeom>
              <a:avLst/>
              <a:gdLst>
                <a:gd name="T0" fmla="*/ 68 w 477"/>
                <a:gd name="T1" fmla="*/ 636 h 636"/>
                <a:gd name="T2" fmla="*/ 0 w 477"/>
                <a:gd name="T3" fmla="*/ 568 h 636"/>
                <a:gd name="T4" fmla="*/ 0 w 477"/>
                <a:gd name="T5" fmla="*/ 568 h 636"/>
                <a:gd name="T6" fmla="*/ 0 w 477"/>
                <a:gd name="T7" fmla="*/ 68 h 636"/>
                <a:gd name="T8" fmla="*/ 68 w 477"/>
                <a:gd name="T9" fmla="*/ 0 h 636"/>
                <a:gd name="T10" fmla="*/ 68 w 477"/>
                <a:gd name="T11" fmla="*/ 0 h 636"/>
                <a:gd name="T12" fmla="*/ 409 w 477"/>
                <a:gd name="T13" fmla="*/ 0 h 636"/>
                <a:gd name="T14" fmla="*/ 477 w 477"/>
                <a:gd name="T15" fmla="*/ 68 h 636"/>
                <a:gd name="T16" fmla="*/ 477 w 477"/>
                <a:gd name="T17" fmla="*/ 68 h 636"/>
                <a:gd name="T18" fmla="*/ 477 w 477"/>
                <a:gd name="T19" fmla="*/ 568 h 636"/>
                <a:gd name="T20" fmla="*/ 477 w 477"/>
                <a:gd name="T21" fmla="*/ 568 h 636"/>
                <a:gd name="T22" fmla="*/ 409 w 477"/>
                <a:gd name="T23" fmla="*/ 636 h 636"/>
                <a:gd name="T24" fmla="*/ 409 w 477"/>
                <a:gd name="T25" fmla="*/ 636 h 636"/>
                <a:gd name="T26" fmla="*/ 68 w 477"/>
                <a:gd name="T27" fmla="*/ 636 h 636"/>
                <a:gd name="T28" fmla="*/ 32 w 477"/>
                <a:gd name="T29" fmla="*/ 68 h 636"/>
                <a:gd name="T30" fmla="*/ 32 w 477"/>
                <a:gd name="T31" fmla="*/ 568 h 636"/>
                <a:gd name="T32" fmla="*/ 68 w 477"/>
                <a:gd name="T33" fmla="*/ 604 h 636"/>
                <a:gd name="T34" fmla="*/ 68 w 477"/>
                <a:gd name="T35" fmla="*/ 604 h 636"/>
                <a:gd name="T36" fmla="*/ 409 w 477"/>
                <a:gd name="T37" fmla="*/ 604 h 636"/>
                <a:gd name="T38" fmla="*/ 445 w 477"/>
                <a:gd name="T39" fmla="*/ 568 h 636"/>
                <a:gd name="T40" fmla="*/ 445 w 477"/>
                <a:gd name="T41" fmla="*/ 568 h 636"/>
                <a:gd name="T42" fmla="*/ 445 w 477"/>
                <a:gd name="T43" fmla="*/ 68 h 636"/>
                <a:gd name="T44" fmla="*/ 409 w 477"/>
                <a:gd name="T45" fmla="*/ 32 h 636"/>
                <a:gd name="T46" fmla="*/ 409 w 477"/>
                <a:gd name="T47" fmla="*/ 32 h 636"/>
                <a:gd name="T48" fmla="*/ 68 w 477"/>
                <a:gd name="T49" fmla="*/ 32 h 636"/>
                <a:gd name="T50" fmla="*/ 32 w 477"/>
                <a:gd name="T51" fmla="*/ 6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7" h="636">
                  <a:moveTo>
                    <a:pt x="68" y="636"/>
                  </a:moveTo>
                  <a:cubicBezTo>
                    <a:pt x="30" y="636"/>
                    <a:pt x="0" y="606"/>
                    <a:pt x="0" y="568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31"/>
                    <a:pt x="30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447" y="0"/>
                    <a:pt x="477" y="31"/>
                    <a:pt x="477" y="68"/>
                  </a:cubicBezTo>
                  <a:cubicBezTo>
                    <a:pt x="477" y="68"/>
                    <a:pt x="477" y="68"/>
                    <a:pt x="477" y="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606"/>
                    <a:pt x="447" y="636"/>
                    <a:pt x="409" y="636"/>
                  </a:cubicBezTo>
                  <a:cubicBezTo>
                    <a:pt x="409" y="636"/>
                    <a:pt x="409" y="636"/>
                    <a:pt x="409" y="636"/>
                  </a:cubicBezTo>
                  <a:cubicBezTo>
                    <a:pt x="68" y="636"/>
                    <a:pt x="68" y="636"/>
                    <a:pt x="68" y="636"/>
                  </a:cubicBezTo>
                  <a:close/>
                  <a:moveTo>
                    <a:pt x="32" y="68"/>
                  </a:moveTo>
                  <a:cubicBezTo>
                    <a:pt x="32" y="568"/>
                    <a:pt x="32" y="568"/>
                    <a:pt x="32" y="568"/>
                  </a:cubicBezTo>
                  <a:cubicBezTo>
                    <a:pt x="32" y="588"/>
                    <a:pt x="48" y="604"/>
                    <a:pt x="68" y="604"/>
                  </a:cubicBezTo>
                  <a:cubicBezTo>
                    <a:pt x="68" y="604"/>
                    <a:pt x="68" y="604"/>
                    <a:pt x="68" y="604"/>
                  </a:cubicBezTo>
                  <a:cubicBezTo>
                    <a:pt x="409" y="604"/>
                    <a:pt x="409" y="604"/>
                    <a:pt x="409" y="604"/>
                  </a:cubicBezTo>
                  <a:cubicBezTo>
                    <a:pt x="429" y="604"/>
                    <a:pt x="445" y="588"/>
                    <a:pt x="445" y="568"/>
                  </a:cubicBezTo>
                  <a:cubicBezTo>
                    <a:pt x="445" y="568"/>
                    <a:pt x="445" y="568"/>
                    <a:pt x="445" y="568"/>
                  </a:cubicBezTo>
                  <a:cubicBezTo>
                    <a:pt x="445" y="68"/>
                    <a:pt x="445" y="68"/>
                    <a:pt x="445" y="68"/>
                  </a:cubicBezTo>
                  <a:cubicBezTo>
                    <a:pt x="445" y="49"/>
                    <a:pt x="429" y="32"/>
                    <a:pt x="409" y="32"/>
                  </a:cubicBezTo>
                  <a:cubicBezTo>
                    <a:pt x="409" y="32"/>
                    <a:pt x="409" y="32"/>
                    <a:pt x="40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48" y="32"/>
                    <a:pt x="32" y="49"/>
                    <a:pt x="32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45720" rIns="0" bIns="36000" numCol="1" anchor="b" anchorCtr="0" compatLnSpc="1">
              <a:prstTxWarp prst="textNoShape">
                <a:avLst/>
              </a:prstTxWarp>
            </a:bodyPr>
            <a:lstStyle/>
            <a:p>
              <a:pPr algn="ctr" defTabSz="914377">
                <a:defRPr/>
              </a:pPr>
              <a:r>
                <a:rPr lang="en-US" altLang="ko-KR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VM</a:t>
              </a:r>
              <a:endParaRPr lang="ko-KR" altLang="en-US" sz="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sp>
          <p:nvSpPr>
            <p:cNvPr id="820" name="Freeform 60">
              <a:extLst>
                <a:ext uri="{FF2B5EF4-FFF2-40B4-BE49-F238E27FC236}">
                  <a16:creationId xmlns:a16="http://schemas.microsoft.com/office/drawing/2014/main" id="{F4B24A1D-CF74-4F8A-A373-D26C0962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052888"/>
              <a:ext cx="293688" cy="55563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21" name="Freeform 61">
              <a:extLst>
                <a:ext uri="{FF2B5EF4-FFF2-40B4-BE49-F238E27FC236}">
                  <a16:creationId xmlns:a16="http://schemas.microsoft.com/office/drawing/2014/main" id="{CFE82E16-892B-4A71-A3A7-AE4B635BB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129088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22" name="Freeform 62">
              <a:extLst>
                <a:ext uri="{FF2B5EF4-FFF2-40B4-BE49-F238E27FC236}">
                  <a16:creationId xmlns:a16="http://schemas.microsoft.com/office/drawing/2014/main" id="{6854F821-0DD9-4218-912F-E3801BDE8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206875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823" name="AutoShape 37">
            <a:extLst>
              <a:ext uri="{FF2B5EF4-FFF2-40B4-BE49-F238E27FC236}">
                <a16:creationId xmlns:a16="http://schemas.microsoft.com/office/drawing/2014/main" id="{576884BF-54B2-442F-A74C-0500F58E1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976" y="5581055"/>
            <a:ext cx="2568655" cy="313579"/>
          </a:xfrm>
          <a:prstGeom prst="roundRect">
            <a:avLst>
              <a:gd name="adj" fmla="val 475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OpenShi</a:t>
            </a: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ft</a:t>
            </a:r>
          </a:p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(14EA)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24" name="AutoShape 37">
            <a:extLst>
              <a:ext uri="{FF2B5EF4-FFF2-40B4-BE49-F238E27FC236}">
                <a16:creationId xmlns:a16="http://schemas.microsoft.com/office/drawing/2014/main" id="{C5EE2118-4A96-4124-B7BA-797AA733D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8136" y="5581055"/>
            <a:ext cx="2568655" cy="313579"/>
          </a:xfrm>
          <a:prstGeom prst="roundRect">
            <a:avLst>
              <a:gd name="adj" fmla="val 4750"/>
            </a:avLst>
          </a:prstGeom>
          <a:solidFill>
            <a:schemeClr val="bg1">
              <a:lumMod val="95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OpenStack</a:t>
            </a:r>
          </a:p>
          <a:p>
            <a:pPr algn="r" defTabSz="893718" latinLnBrk="0">
              <a:lnSpc>
                <a:spcPts val="900"/>
              </a:lnSpc>
              <a:defRPr/>
            </a:pPr>
            <a:r>
              <a:rPr lang="en-US" altLang="ko-KR" sz="900" b="1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(11EA)</a:t>
            </a:r>
            <a:endParaRPr lang="ko-KR" altLang="en-US" sz="900" b="1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25" name="AutoShape 37">
            <a:extLst>
              <a:ext uri="{FF2B5EF4-FFF2-40B4-BE49-F238E27FC236}">
                <a16:creationId xmlns:a16="http://schemas.microsoft.com/office/drawing/2014/main" id="{43D1D292-AA49-4FF2-9128-949600232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978" y="5927250"/>
            <a:ext cx="5164808" cy="174211"/>
          </a:xfrm>
          <a:prstGeom prst="roundRect">
            <a:avLst>
              <a:gd name="adj" fmla="val 4750"/>
            </a:avLst>
          </a:prstGeom>
          <a:solidFill>
            <a:schemeClr val="bg1">
              <a:lumMod val="85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kern="0" spc="3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RHEV Hypervisor</a:t>
            </a:r>
            <a:endParaRPr lang="ko-KR" altLang="en-US" sz="900" kern="0" spc="3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26" name="AutoShape 37">
            <a:extLst>
              <a:ext uri="{FF2B5EF4-FFF2-40B4-BE49-F238E27FC236}">
                <a16:creationId xmlns:a16="http://schemas.microsoft.com/office/drawing/2014/main" id="{16FE5932-A94F-46F9-8E05-338C6C14A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1979" y="6143715"/>
            <a:ext cx="5164812" cy="174211"/>
          </a:xfrm>
          <a:prstGeom prst="roundRect">
            <a:avLst>
              <a:gd name="adj" fmla="val 4750"/>
            </a:avLst>
          </a:prstGeom>
          <a:solidFill>
            <a:schemeClr val="bg1">
              <a:lumMod val="50000"/>
            </a:schemeClr>
          </a:solidFill>
          <a:ln w="31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blurRad="63500" sx="90000" sy="90000" algn="ctr" rotWithShape="0">
              <a:prstClr val="black">
                <a:alpha val="40000"/>
              </a:prstClr>
            </a:outerShdw>
          </a:effectLst>
        </p:spPr>
        <p:txBody>
          <a:bodyPr wrap="none" lIns="89316" tIns="0" rIns="89316" bIns="0" anchor="ctr"/>
          <a:lstStyle>
            <a:lvl1pPr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1pPr>
            <a:lvl2pPr marL="725488" indent="-27940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2pPr>
            <a:lvl3pPr marL="1116013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3pPr>
            <a:lvl4pPr marL="1562100" indent="-222250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4pPr>
            <a:lvl5pPr marL="2009775" indent="-223838" defTabSz="893763"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5pPr>
            <a:lvl6pPr marL="24669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6pPr>
            <a:lvl7pPr marL="29241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7pPr>
            <a:lvl8pPr marL="33813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8pPr>
            <a:lvl9pPr marL="3838575" indent="-223838" defTabSz="893763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Rix모던고딕 M" pitchFamily="18" charset="-127"/>
                <a:ea typeface="Rix모던고딕 M" pitchFamily="18" charset="-127"/>
              </a:defRPr>
            </a:lvl9pPr>
          </a:lstStyle>
          <a:p>
            <a:pPr algn="ctr" defTabSz="893718" latinLnBrk="0">
              <a:lnSpc>
                <a:spcPts val="900"/>
              </a:lnSpc>
              <a:defRPr/>
            </a:pPr>
            <a:r>
              <a:rPr lang="en-US" altLang="ko-KR" sz="900" kern="0" spc="31" dirty="0">
                <a:solidFill>
                  <a:prstClr val="white">
                    <a:lumMod val="95000"/>
                  </a:prstClr>
                </a:solidFill>
                <a:latin typeface="+mn-ea"/>
                <a:ea typeface="+mn-ea"/>
              </a:rPr>
              <a:t>RHEV (4EA)</a:t>
            </a:r>
            <a:endParaRPr lang="ko-KR" altLang="en-US" sz="900" kern="0" spc="31" dirty="0">
              <a:solidFill>
                <a:prstClr val="white">
                  <a:lumMod val="95000"/>
                </a:prstClr>
              </a:solidFill>
              <a:latin typeface="+mn-ea"/>
              <a:ea typeface="+mn-ea"/>
            </a:endParaRPr>
          </a:p>
        </p:txBody>
      </p:sp>
      <p:grpSp>
        <p:nvGrpSpPr>
          <p:cNvPr id="827" name="그룹 826">
            <a:extLst>
              <a:ext uri="{FF2B5EF4-FFF2-40B4-BE49-F238E27FC236}">
                <a16:creationId xmlns:a16="http://schemas.microsoft.com/office/drawing/2014/main" id="{2580A72D-B957-458E-8CEC-B4D2460B791F}"/>
              </a:ext>
            </a:extLst>
          </p:cNvPr>
          <p:cNvGrpSpPr>
            <a:grpSpLocks noChangeAspect="1"/>
          </p:cNvGrpSpPr>
          <p:nvPr/>
        </p:nvGrpSpPr>
        <p:grpSpPr>
          <a:xfrm>
            <a:off x="3491072" y="5620512"/>
            <a:ext cx="168893" cy="243895"/>
            <a:chOff x="3128963" y="3981450"/>
            <a:chExt cx="412750" cy="5492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28" name="Freeform 58">
              <a:extLst>
                <a:ext uri="{FF2B5EF4-FFF2-40B4-BE49-F238E27FC236}">
                  <a16:creationId xmlns:a16="http://schemas.microsoft.com/office/drawing/2014/main" id="{9F3F3F9D-2A16-456C-8C2D-E1731064C4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963" y="3981450"/>
              <a:ext cx="412750" cy="549275"/>
            </a:xfrm>
            <a:custGeom>
              <a:avLst/>
              <a:gdLst>
                <a:gd name="T0" fmla="*/ 68 w 477"/>
                <a:gd name="T1" fmla="*/ 636 h 636"/>
                <a:gd name="T2" fmla="*/ 0 w 477"/>
                <a:gd name="T3" fmla="*/ 568 h 636"/>
                <a:gd name="T4" fmla="*/ 0 w 477"/>
                <a:gd name="T5" fmla="*/ 568 h 636"/>
                <a:gd name="T6" fmla="*/ 0 w 477"/>
                <a:gd name="T7" fmla="*/ 68 h 636"/>
                <a:gd name="T8" fmla="*/ 68 w 477"/>
                <a:gd name="T9" fmla="*/ 0 h 636"/>
                <a:gd name="T10" fmla="*/ 68 w 477"/>
                <a:gd name="T11" fmla="*/ 0 h 636"/>
                <a:gd name="T12" fmla="*/ 409 w 477"/>
                <a:gd name="T13" fmla="*/ 0 h 636"/>
                <a:gd name="T14" fmla="*/ 477 w 477"/>
                <a:gd name="T15" fmla="*/ 68 h 636"/>
                <a:gd name="T16" fmla="*/ 477 w 477"/>
                <a:gd name="T17" fmla="*/ 68 h 636"/>
                <a:gd name="T18" fmla="*/ 477 w 477"/>
                <a:gd name="T19" fmla="*/ 568 h 636"/>
                <a:gd name="T20" fmla="*/ 477 w 477"/>
                <a:gd name="T21" fmla="*/ 568 h 636"/>
                <a:gd name="T22" fmla="*/ 409 w 477"/>
                <a:gd name="T23" fmla="*/ 636 h 636"/>
                <a:gd name="T24" fmla="*/ 409 w 477"/>
                <a:gd name="T25" fmla="*/ 636 h 636"/>
                <a:gd name="T26" fmla="*/ 68 w 477"/>
                <a:gd name="T27" fmla="*/ 636 h 636"/>
                <a:gd name="T28" fmla="*/ 32 w 477"/>
                <a:gd name="T29" fmla="*/ 68 h 636"/>
                <a:gd name="T30" fmla="*/ 32 w 477"/>
                <a:gd name="T31" fmla="*/ 568 h 636"/>
                <a:gd name="T32" fmla="*/ 68 w 477"/>
                <a:gd name="T33" fmla="*/ 604 h 636"/>
                <a:gd name="T34" fmla="*/ 68 w 477"/>
                <a:gd name="T35" fmla="*/ 604 h 636"/>
                <a:gd name="T36" fmla="*/ 409 w 477"/>
                <a:gd name="T37" fmla="*/ 604 h 636"/>
                <a:gd name="T38" fmla="*/ 445 w 477"/>
                <a:gd name="T39" fmla="*/ 568 h 636"/>
                <a:gd name="T40" fmla="*/ 445 w 477"/>
                <a:gd name="T41" fmla="*/ 568 h 636"/>
                <a:gd name="T42" fmla="*/ 445 w 477"/>
                <a:gd name="T43" fmla="*/ 68 h 636"/>
                <a:gd name="T44" fmla="*/ 409 w 477"/>
                <a:gd name="T45" fmla="*/ 32 h 636"/>
                <a:gd name="T46" fmla="*/ 409 w 477"/>
                <a:gd name="T47" fmla="*/ 32 h 636"/>
                <a:gd name="T48" fmla="*/ 68 w 477"/>
                <a:gd name="T49" fmla="*/ 32 h 636"/>
                <a:gd name="T50" fmla="*/ 32 w 477"/>
                <a:gd name="T51" fmla="*/ 6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7" h="636">
                  <a:moveTo>
                    <a:pt x="68" y="636"/>
                  </a:moveTo>
                  <a:cubicBezTo>
                    <a:pt x="30" y="636"/>
                    <a:pt x="0" y="606"/>
                    <a:pt x="0" y="568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31"/>
                    <a:pt x="30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447" y="0"/>
                    <a:pt x="477" y="31"/>
                    <a:pt x="477" y="68"/>
                  </a:cubicBezTo>
                  <a:cubicBezTo>
                    <a:pt x="477" y="68"/>
                    <a:pt x="477" y="68"/>
                    <a:pt x="477" y="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606"/>
                    <a:pt x="447" y="636"/>
                    <a:pt x="409" y="636"/>
                  </a:cubicBezTo>
                  <a:cubicBezTo>
                    <a:pt x="409" y="636"/>
                    <a:pt x="409" y="636"/>
                    <a:pt x="409" y="636"/>
                  </a:cubicBezTo>
                  <a:cubicBezTo>
                    <a:pt x="68" y="636"/>
                    <a:pt x="68" y="636"/>
                    <a:pt x="68" y="636"/>
                  </a:cubicBezTo>
                  <a:close/>
                  <a:moveTo>
                    <a:pt x="32" y="68"/>
                  </a:moveTo>
                  <a:cubicBezTo>
                    <a:pt x="32" y="568"/>
                    <a:pt x="32" y="568"/>
                    <a:pt x="32" y="568"/>
                  </a:cubicBezTo>
                  <a:cubicBezTo>
                    <a:pt x="32" y="588"/>
                    <a:pt x="48" y="604"/>
                    <a:pt x="68" y="604"/>
                  </a:cubicBezTo>
                  <a:cubicBezTo>
                    <a:pt x="68" y="604"/>
                    <a:pt x="68" y="604"/>
                    <a:pt x="68" y="604"/>
                  </a:cubicBezTo>
                  <a:cubicBezTo>
                    <a:pt x="409" y="604"/>
                    <a:pt x="409" y="604"/>
                    <a:pt x="409" y="604"/>
                  </a:cubicBezTo>
                  <a:cubicBezTo>
                    <a:pt x="429" y="604"/>
                    <a:pt x="445" y="588"/>
                    <a:pt x="445" y="568"/>
                  </a:cubicBezTo>
                  <a:cubicBezTo>
                    <a:pt x="445" y="568"/>
                    <a:pt x="445" y="568"/>
                    <a:pt x="445" y="568"/>
                  </a:cubicBezTo>
                  <a:cubicBezTo>
                    <a:pt x="445" y="68"/>
                    <a:pt x="445" y="68"/>
                    <a:pt x="445" y="68"/>
                  </a:cubicBezTo>
                  <a:cubicBezTo>
                    <a:pt x="445" y="49"/>
                    <a:pt x="429" y="32"/>
                    <a:pt x="409" y="32"/>
                  </a:cubicBezTo>
                  <a:cubicBezTo>
                    <a:pt x="409" y="32"/>
                    <a:pt x="409" y="32"/>
                    <a:pt x="40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48" y="32"/>
                    <a:pt x="32" y="49"/>
                    <a:pt x="32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45720" rIns="0" bIns="36000" numCol="1" anchor="b" anchorCtr="0" compatLnSpc="1">
              <a:prstTxWarp prst="textNoShape">
                <a:avLst/>
              </a:prstTxWarp>
            </a:bodyPr>
            <a:lstStyle/>
            <a:p>
              <a:pPr algn="ctr" defTabSz="914377">
                <a:defRPr/>
              </a:pPr>
              <a:r>
                <a:rPr lang="en-US" altLang="ko-KR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VM</a:t>
              </a:r>
              <a:endParaRPr lang="ko-KR" altLang="en-US" sz="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sp>
          <p:nvSpPr>
            <p:cNvPr id="829" name="Freeform 60">
              <a:extLst>
                <a:ext uri="{FF2B5EF4-FFF2-40B4-BE49-F238E27FC236}">
                  <a16:creationId xmlns:a16="http://schemas.microsoft.com/office/drawing/2014/main" id="{2FA967FD-C573-43A6-9C71-F202E135B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052888"/>
              <a:ext cx="293688" cy="55563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30" name="Freeform 61">
              <a:extLst>
                <a:ext uri="{FF2B5EF4-FFF2-40B4-BE49-F238E27FC236}">
                  <a16:creationId xmlns:a16="http://schemas.microsoft.com/office/drawing/2014/main" id="{141CB986-96E1-474F-8616-0BB40E322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129088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31" name="Freeform 62">
              <a:extLst>
                <a:ext uri="{FF2B5EF4-FFF2-40B4-BE49-F238E27FC236}">
                  <a16:creationId xmlns:a16="http://schemas.microsoft.com/office/drawing/2014/main" id="{27C91A91-B165-47B1-AAFF-B7D0E90EF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206875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832" name="그룹 831">
            <a:extLst>
              <a:ext uri="{FF2B5EF4-FFF2-40B4-BE49-F238E27FC236}">
                <a16:creationId xmlns:a16="http://schemas.microsoft.com/office/drawing/2014/main" id="{07BA3E71-EDCA-492F-9D9B-11CF948AC2C8}"/>
              </a:ext>
            </a:extLst>
          </p:cNvPr>
          <p:cNvGrpSpPr>
            <a:grpSpLocks noChangeAspect="1"/>
          </p:cNvGrpSpPr>
          <p:nvPr/>
        </p:nvGrpSpPr>
        <p:grpSpPr>
          <a:xfrm>
            <a:off x="6114313" y="5620512"/>
            <a:ext cx="168893" cy="243895"/>
            <a:chOff x="3128963" y="3981450"/>
            <a:chExt cx="412750" cy="54927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33" name="Freeform 58">
              <a:extLst>
                <a:ext uri="{FF2B5EF4-FFF2-40B4-BE49-F238E27FC236}">
                  <a16:creationId xmlns:a16="http://schemas.microsoft.com/office/drawing/2014/main" id="{9C7ADDC6-3D2A-4F64-910A-495493978A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28963" y="3981450"/>
              <a:ext cx="412750" cy="549275"/>
            </a:xfrm>
            <a:custGeom>
              <a:avLst/>
              <a:gdLst>
                <a:gd name="T0" fmla="*/ 68 w 477"/>
                <a:gd name="T1" fmla="*/ 636 h 636"/>
                <a:gd name="T2" fmla="*/ 0 w 477"/>
                <a:gd name="T3" fmla="*/ 568 h 636"/>
                <a:gd name="T4" fmla="*/ 0 w 477"/>
                <a:gd name="T5" fmla="*/ 568 h 636"/>
                <a:gd name="T6" fmla="*/ 0 w 477"/>
                <a:gd name="T7" fmla="*/ 68 h 636"/>
                <a:gd name="T8" fmla="*/ 68 w 477"/>
                <a:gd name="T9" fmla="*/ 0 h 636"/>
                <a:gd name="T10" fmla="*/ 68 w 477"/>
                <a:gd name="T11" fmla="*/ 0 h 636"/>
                <a:gd name="T12" fmla="*/ 409 w 477"/>
                <a:gd name="T13" fmla="*/ 0 h 636"/>
                <a:gd name="T14" fmla="*/ 477 w 477"/>
                <a:gd name="T15" fmla="*/ 68 h 636"/>
                <a:gd name="T16" fmla="*/ 477 w 477"/>
                <a:gd name="T17" fmla="*/ 68 h 636"/>
                <a:gd name="T18" fmla="*/ 477 w 477"/>
                <a:gd name="T19" fmla="*/ 568 h 636"/>
                <a:gd name="T20" fmla="*/ 477 w 477"/>
                <a:gd name="T21" fmla="*/ 568 h 636"/>
                <a:gd name="T22" fmla="*/ 409 w 477"/>
                <a:gd name="T23" fmla="*/ 636 h 636"/>
                <a:gd name="T24" fmla="*/ 409 w 477"/>
                <a:gd name="T25" fmla="*/ 636 h 636"/>
                <a:gd name="T26" fmla="*/ 68 w 477"/>
                <a:gd name="T27" fmla="*/ 636 h 636"/>
                <a:gd name="T28" fmla="*/ 32 w 477"/>
                <a:gd name="T29" fmla="*/ 68 h 636"/>
                <a:gd name="T30" fmla="*/ 32 w 477"/>
                <a:gd name="T31" fmla="*/ 568 h 636"/>
                <a:gd name="T32" fmla="*/ 68 w 477"/>
                <a:gd name="T33" fmla="*/ 604 h 636"/>
                <a:gd name="T34" fmla="*/ 68 w 477"/>
                <a:gd name="T35" fmla="*/ 604 h 636"/>
                <a:gd name="T36" fmla="*/ 409 w 477"/>
                <a:gd name="T37" fmla="*/ 604 h 636"/>
                <a:gd name="T38" fmla="*/ 445 w 477"/>
                <a:gd name="T39" fmla="*/ 568 h 636"/>
                <a:gd name="T40" fmla="*/ 445 w 477"/>
                <a:gd name="T41" fmla="*/ 568 h 636"/>
                <a:gd name="T42" fmla="*/ 445 w 477"/>
                <a:gd name="T43" fmla="*/ 68 h 636"/>
                <a:gd name="T44" fmla="*/ 409 w 477"/>
                <a:gd name="T45" fmla="*/ 32 h 636"/>
                <a:gd name="T46" fmla="*/ 409 w 477"/>
                <a:gd name="T47" fmla="*/ 32 h 636"/>
                <a:gd name="T48" fmla="*/ 68 w 477"/>
                <a:gd name="T49" fmla="*/ 32 h 636"/>
                <a:gd name="T50" fmla="*/ 32 w 477"/>
                <a:gd name="T51" fmla="*/ 6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7" h="636">
                  <a:moveTo>
                    <a:pt x="68" y="636"/>
                  </a:moveTo>
                  <a:cubicBezTo>
                    <a:pt x="30" y="636"/>
                    <a:pt x="0" y="606"/>
                    <a:pt x="0" y="568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31"/>
                    <a:pt x="30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447" y="0"/>
                    <a:pt x="477" y="31"/>
                    <a:pt x="477" y="68"/>
                  </a:cubicBezTo>
                  <a:cubicBezTo>
                    <a:pt x="477" y="68"/>
                    <a:pt x="477" y="68"/>
                    <a:pt x="477" y="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568"/>
                    <a:pt x="477" y="568"/>
                    <a:pt x="477" y="568"/>
                  </a:cubicBezTo>
                  <a:cubicBezTo>
                    <a:pt x="477" y="606"/>
                    <a:pt x="447" y="636"/>
                    <a:pt x="409" y="636"/>
                  </a:cubicBezTo>
                  <a:cubicBezTo>
                    <a:pt x="409" y="636"/>
                    <a:pt x="409" y="636"/>
                    <a:pt x="409" y="636"/>
                  </a:cubicBezTo>
                  <a:cubicBezTo>
                    <a:pt x="68" y="636"/>
                    <a:pt x="68" y="636"/>
                    <a:pt x="68" y="636"/>
                  </a:cubicBezTo>
                  <a:close/>
                  <a:moveTo>
                    <a:pt x="32" y="68"/>
                  </a:moveTo>
                  <a:cubicBezTo>
                    <a:pt x="32" y="568"/>
                    <a:pt x="32" y="568"/>
                    <a:pt x="32" y="568"/>
                  </a:cubicBezTo>
                  <a:cubicBezTo>
                    <a:pt x="32" y="588"/>
                    <a:pt x="48" y="604"/>
                    <a:pt x="68" y="604"/>
                  </a:cubicBezTo>
                  <a:cubicBezTo>
                    <a:pt x="68" y="604"/>
                    <a:pt x="68" y="604"/>
                    <a:pt x="68" y="604"/>
                  </a:cubicBezTo>
                  <a:cubicBezTo>
                    <a:pt x="409" y="604"/>
                    <a:pt x="409" y="604"/>
                    <a:pt x="409" y="604"/>
                  </a:cubicBezTo>
                  <a:cubicBezTo>
                    <a:pt x="429" y="604"/>
                    <a:pt x="445" y="588"/>
                    <a:pt x="445" y="568"/>
                  </a:cubicBezTo>
                  <a:cubicBezTo>
                    <a:pt x="445" y="568"/>
                    <a:pt x="445" y="568"/>
                    <a:pt x="445" y="568"/>
                  </a:cubicBezTo>
                  <a:cubicBezTo>
                    <a:pt x="445" y="68"/>
                    <a:pt x="445" y="68"/>
                    <a:pt x="445" y="68"/>
                  </a:cubicBezTo>
                  <a:cubicBezTo>
                    <a:pt x="445" y="49"/>
                    <a:pt x="429" y="32"/>
                    <a:pt x="409" y="32"/>
                  </a:cubicBezTo>
                  <a:cubicBezTo>
                    <a:pt x="409" y="32"/>
                    <a:pt x="409" y="32"/>
                    <a:pt x="40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48" y="32"/>
                    <a:pt x="32" y="49"/>
                    <a:pt x="32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0" tIns="45720" rIns="0" bIns="36000" numCol="1" anchor="b" anchorCtr="0" compatLnSpc="1">
              <a:prstTxWarp prst="textNoShape">
                <a:avLst/>
              </a:prstTxWarp>
            </a:bodyPr>
            <a:lstStyle/>
            <a:p>
              <a:pPr algn="ctr" defTabSz="914377">
                <a:defRPr/>
              </a:pPr>
              <a:r>
                <a:rPr lang="en-US" altLang="ko-KR" sz="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VM</a:t>
              </a:r>
              <a:endParaRPr lang="ko-KR" altLang="en-US" sz="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endParaRPr>
            </a:p>
          </p:txBody>
        </p:sp>
        <p:sp>
          <p:nvSpPr>
            <p:cNvPr id="834" name="Freeform 60">
              <a:extLst>
                <a:ext uri="{FF2B5EF4-FFF2-40B4-BE49-F238E27FC236}">
                  <a16:creationId xmlns:a16="http://schemas.microsoft.com/office/drawing/2014/main" id="{0EB0B88D-16E2-43A6-979A-50A185253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052888"/>
              <a:ext cx="293688" cy="55563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35" name="Freeform 61">
              <a:extLst>
                <a:ext uri="{FF2B5EF4-FFF2-40B4-BE49-F238E27FC236}">
                  <a16:creationId xmlns:a16="http://schemas.microsoft.com/office/drawing/2014/main" id="{8342FC3C-5523-4789-88B7-A7B7AFF65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129088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36" name="Freeform 62">
              <a:extLst>
                <a:ext uri="{FF2B5EF4-FFF2-40B4-BE49-F238E27FC236}">
                  <a16:creationId xmlns:a16="http://schemas.microsoft.com/office/drawing/2014/main" id="{29EAE832-5341-416C-A3F5-7C9397994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206875"/>
              <a:ext cx="293688" cy="57150"/>
            </a:xfrm>
            <a:custGeom>
              <a:avLst/>
              <a:gdLst>
                <a:gd name="T0" fmla="*/ 340 w 340"/>
                <a:gd name="T1" fmla="*/ 46 h 66"/>
                <a:gd name="T2" fmla="*/ 320 w 340"/>
                <a:gd name="T3" fmla="*/ 66 h 66"/>
                <a:gd name="T4" fmla="*/ 20 w 340"/>
                <a:gd name="T5" fmla="*/ 66 h 66"/>
                <a:gd name="T6" fmla="*/ 0 w 340"/>
                <a:gd name="T7" fmla="*/ 46 h 66"/>
                <a:gd name="T8" fmla="*/ 0 w 340"/>
                <a:gd name="T9" fmla="*/ 20 h 66"/>
                <a:gd name="T10" fmla="*/ 20 w 340"/>
                <a:gd name="T11" fmla="*/ 0 h 66"/>
                <a:gd name="T12" fmla="*/ 320 w 340"/>
                <a:gd name="T13" fmla="*/ 0 h 66"/>
                <a:gd name="T14" fmla="*/ 340 w 340"/>
                <a:gd name="T15" fmla="*/ 20 h 66"/>
                <a:gd name="T16" fmla="*/ 340 w 340"/>
                <a:gd name="T17" fmla="*/ 4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66">
                  <a:moveTo>
                    <a:pt x="340" y="46"/>
                  </a:moveTo>
                  <a:cubicBezTo>
                    <a:pt x="340" y="57"/>
                    <a:pt x="331" y="66"/>
                    <a:pt x="3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0" y="57"/>
                    <a:pt x="0" y="4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31" y="0"/>
                    <a:pt x="340" y="8"/>
                    <a:pt x="340" y="20"/>
                  </a:cubicBezTo>
                  <a:lnTo>
                    <a:pt x="34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>
                <a:defRPr/>
              </a:pPr>
              <a:endParaRPr lang="ko-KR" altLang="en-US">
                <a:solidFill>
                  <a:prstClr val="black"/>
                </a:solidFill>
                <a:latin typeface="+mn-ea"/>
              </a:endParaRPr>
            </a:p>
          </p:txBody>
        </p:sp>
      </p:grpSp>
      <p:sp>
        <p:nvSpPr>
          <p:cNvPr id="837" name="Rectangle 598">
            <a:extLst>
              <a:ext uri="{FF2B5EF4-FFF2-40B4-BE49-F238E27FC236}">
                <a16:creationId xmlns:a16="http://schemas.microsoft.com/office/drawing/2014/main" id="{4508E68F-580F-4D74-932B-5978C4DF8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04" y="5540623"/>
            <a:ext cx="304143" cy="8191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043030">
              <a:defRPr/>
            </a:pPr>
            <a:r>
              <a:rPr lang="ko-KR" altLang="en-US" sz="1000" dirty="0" err="1">
                <a:solidFill>
                  <a:prstClr val="white"/>
                </a:solidFill>
                <a:latin typeface="+mn-ea"/>
              </a:rPr>
              <a:t>관리노드</a:t>
            </a:r>
            <a:endParaRPr lang="ko-KR" altLang="en-US" sz="100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38" name="직선 연결선 837">
            <a:extLst>
              <a:ext uri="{FF2B5EF4-FFF2-40B4-BE49-F238E27FC236}">
                <a16:creationId xmlns:a16="http://schemas.microsoft.com/office/drawing/2014/main" id="{14E341F4-0E48-428B-B6B9-66A9AB9A1D4E}"/>
              </a:ext>
            </a:extLst>
          </p:cNvPr>
          <p:cNvCxnSpPr/>
          <p:nvPr/>
        </p:nvCxnSpPr>
        <p:spPr>
          <a:xfrm>
            <a:off x="298904" y="4744513"/>
            <a:ext cx="834812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직선 연결선 838">
            <a:extLst>
              <a:ext uri="{FF2B5EF4-FFF2-40B4-BE49-F238E27FC236}">
                <a16:creationId xmlns:a16="http://schemas.microsoft.com/office/drawing/2014/main" id="{C4B9688E-B9DA-42AF-A0E9-3BFEA58AD145}"/>
              </a:ext>
            </a:extLst>
          </p:cNvPr>
          <p:cNvCxnSpPr/>
          <p:nvPr/>
        </p:nvCxnSpPr>
        <p:spPr>
          <a:xfrm>
            <a:off x="298904" y="5486301"/>
            <a:ext cx="834812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0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964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PaaS(Platform as a Service)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사례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600" b="1" dirty="0"/>
              <a:t>삼성카드</a:t>
            </a:r>
            <a:r>
              <a:rPr lang="en-US" altLang="ko-KR" sz="1600" b="1" dirty="0"/>
              <a:t> – </a:t>
            </a:r>
            <a:r>
              <a:rPr lang="en-US" altLang="ko-KR" sz="1600" b="1" dirty="0" smtClean="0"/>
              <a:t>G-MES </a:t>
            </a:r>
            <a:r>
              <a:rPr lang="ko-KR" altLang="en-US" sz="1600" b="1" dirty="0" smtClean="0"/>
              <a:t>시스템 </a:t>
            </a:r>
            <a:r>
              <a:rPr lang="en-US" altLang="ko-KR" sz="1600" b="1" dirty="0" smtClean="0"/>
              <a:t>(SDS PaaS)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260614" y="1391734"/>
            <a:ext cx="7872875" cy="47370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2133" b="1" dirty="0">
              <a:solidFill>
                <a:srgbClr val="FFFFFF"/>
              </a:solidFill>
              <a:latin typeface="맑은 고딕"/>
              <a:ea typeface="맑은 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269781" y="846940"/>
            <a:ext cx="7872875" cy="441600"/>
          </a:xfrm>
          <a:prstGeom prst="rect">
            <a:avLst/>
          </a:prstGeom>
          <a:solidFill>
            <a:srgbClr val="0070C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335844" eaLnBrk="0" latinLnBrk="0" hangingPunct="0">
              <a:spcBef>
                <a:spcPts val="800"/>
              </a:spcBef>
              <a:buClr>
                <a:srgbClr val="45ADDB"/>
              </a:buClr>
              <a:buSzPct val="110000"/>
              <a:defRPr/>
            </a:pPr>
            <a:r>
              <a:rPr lang="ko-KR" altLang="en-US" sz="2400" b="1">
                <a:solidFill>
                  <a:prstClr val="white"/>
                </a:solidFill>
              </a:rPr>
              <a:t>디지털 채널 고도화</a:t>
            </a:r>
            <a:r>
              <a:rPr lang="ko-KR" altLang="en-US" sz="2400" b="1" kern="0" spc="-133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rgbClr val="FFFFFF"/>
                </a:solidFill>
                <a:latin typeface="맑은 고딕"/>
                <a:ea typeface="맑은 고딕"/>
              </a:rPr>
              <a:t> 시스템 구성도</a:t>
            </a:r>
            <a:endParaRPr lang="ko-KR" altLang="en-US" sz="2400" b="1" kern="0" spc="-133" dirty="0">
              <a:ln w="0">
                <a:solidFill>
                  <a:srgbClr val="0B4355">
                    <a:alpha val="5000"/>
                  </a:srgbClr>
                </a:solidFill>
              </a:ln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8325511" y="846940"/>
            <a:ext cx="3559893" cy="441600"/>
          </a:xfrm>
          <a:prstGeom prst="rect">
            <a:avLst/>
          </a:prstGeom>
          <a:solidFill>
            <a:srgbClr val="0070C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335844" eaLnBrk="0" latinLnBrk="0" hangingPunct="0">
              <a:spcBef>
                <a:spcPts val="800"/>
              </a:spcBef>
              <a:buClr>
                <a:srgbClr val="45ADDB"/>
              </a:buClr>
              <a:buSzPct val="110000"/>
              <a:defRPr/>
            </a:pPr>
            <a:r>
              <a:rPr lang="ko-KR" altLang="en-US" sz="2400" b="1">
                <a:solidFill>
                  <a:prstClr val="white"/>
                </a:solidFill>
              </a:rPr>
              <a:t>구성 정보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472116" y="1492547"/>
            <a:ext cx="7459765" cy="13230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어플리케이션 </a:t>
            </a:r>
            <a:r>
              <a:rPr kumimoji="1"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kumimoji="1"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</a:p>
        </p:txBody>
      </p:sp>
      <p:sp>
        <p:nvSpPr>
          <p:cNvPr id="62" name="직사각형 61"/>
          <p:cNvSpPr/>
          <p:nvPr/>
        </p:nvSpPr>
        <p:spPr bwMode="auto">
          <a:xfrm>
            <a:off x="472116" y="3392792"/>
            <a:ext cx="7459765" cy="720235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96000" tIns="48000" rIns="0" bIns="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Middlewere</a:t>
            </a:r>
            <a:endParaRPr kumimoji="1" lang="ko-KR" altLang="en-US" sz="1600" b="1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4302649" y="3722888"/>
            <a:ext cx="3427608" cy="289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JEUS </a:t>
            </a:r>
            <a:endParaRPr kumimoji="1"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472116" y="4289856"/>
            <a:ext cx="7459765" cy="72023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PaaS </a:t>
            </a: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인프라</a:t>
            </a:r>
          </a:p>
        </p:txBody>
      </p:sp>
      <p:sp>
        <p:nvSpPr>
          <p:cNvPr id="65" name="직사각형 64"/>
          <p:cNvSpPr/>
          <p:nvPr/>
        </p:nvSpPr>
        <p:spPr bwMode="auto">
          <a:xfrm>
            <a:off x="651905" y="4619952"/>
            <a:ext cx="7078353" cy="289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Kubernetes / Container</a:t>
            </a:r>
            <a:endParaRPr kumimoji="1"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472116" y="5178750"/>
            <a:ext cx="7459765" cy="72023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IaaS </a:t>
            </a: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인프라</a:t>
            </a:r>
          </a:p>
        </p:txBody>
      </p:sp>
      <p:sp>
        <p:nvSpPr>
          <p:cNvPr id="67" name="직사각형 66"/>
          <p:cNvSpPr/>
          <p:nvPr/>
        </p:nvSpPr>
        <p:spPr bwMode="auto">
          <a:xfrm>
            <a:off x="651905" y="5508847"/>
            <a:ext cx="7078353" cy="289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S-Cloud (VM</a:t>
            </a: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기반</a:t>
            </a: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651903" y="1807461"/>
            <a:ext cx="2307921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홈페이지</a:t>
            </a:r>
          </a:p>
        </p:txBody>
      </p:sp>
      <p:sp>
        <p:nvSpPr>
          <p:cNvPr id="69" name="직사각형 68"/>
          <p:cNvSpPr/>
          <p:nvPr/>
        </p:nvSpPr>
        <p:spPr bwMode="auto">
          <a:xfrm>
            <a:off x="651904" y="2298410"/>
            <a:ext cx="525573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운영</a:t>
            </a:r>
          </a:p>
        </p:txBody>
      </p:sp>
      <p:sp>
        <p:nvSpPr>
          <p:cNvPr id="70" name="직사각형 69"/>
          <p:cNvSpPr/>
          <p:nvPr/>
        </p:nvSpPr>
        <p:spPr bwMode="auto">
          <a:xfrm>
            <a:off x="472115" y="2815578"/>
            <a:ext cx="3729721" cy="4003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디지털 채널 개선 프로젝트</a:t>
            </a:r>
            <a:endParaRPr kumimoji="1" lang="en-US" altLang="ko-KR" sz="16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4202161" y="2815578"/>
            <a:ext cx="3729721" cy="40038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통합 플랫폼 구축 프로젝트</a:t>
            </a:r>
          </a:p>
        </p:txBody>
      </p:sp>
      <p:sp>
        <p:nvSpPr>
          <p:cNvPr id="72" name="직사각형 71"/>
          <p:cNvSpPr/>
          <p:nvPr/>
        </p:nvSpPr>
        <p:spPr bwMode="auto">
          <a:xfrm>
            <a:off x="1246020" y="2298410"/>
            <a:ext cx="525573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개발</a:t>
            </a:r>
          </a:p>
        </p:txBody>
      </p:sp>
      <p:sp>
        <p:nvSpPr>
          <p:cNvPr id="73" name="직사각형 72"/>
          <p:cNvSpPr/>
          <p:nvPr/>
        </p:nvSpPr>
        <p:spPr bwMode="auto">
          <a:xfrm>
            <a:off x="1840136" y="2298410"/>
            <a:ext cx="525573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검증</a:t>
            </a:r>
          </a:p>
        </p:txBody>
      </p:sp>
      <p:sp>
        <p:nvSpPr>
          <p:cNvPr id="74" name="직사각형 73"/>
          <p:cNvSpPr/>
          <p:nvPr/>
        </p:nvSpPr>
        <p:spPr bwMode="auto">
          <a:xfrm>
            <a:off x="2434252" y="2298410"/>
            <a:ext cx="525573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DR</a:t>
            </a:r>
            <a:endParaRPr kumimoji="1"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171326" y="1807461"/>
            <a:ext cx="929700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MSP</a:t>
            </a:r>
            <a:endParaRPr kumimoji="1"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/>
          <p:cNvSpPr/>
          <p:nvPr/>
        </p:nvSpPr>
        <p:spPr bwMode="auto">
          <a:xfrm>
            <a:off x="3171326" y="2308195"/>
            <a:ext cx="929700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채팅상담</a:t>
            </a:r>
          </a:p>
        </p:txBody>
      </p:sp>
      <p:sp>
        <p:nvSpPr>
          <p:cNvPr id="77" name="직사각형 76"/>
          <p:cNvSpPr/>
          <p:nvPr/>
        </p:nvSpPr>
        <p:spPr bwMode="auto">
          <a:xfrm>
            <a:off x="4302649" y="1807461"/>
            <a:ext cx="1030512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WCMS</a:t>
            </a:r>
          </a:p>
        </p:txBody>
      </p:sp>
      <p:sp>
        <p:nvSpPr>
          <p:cNvPr id="78" name="직사각형 77"/>
          <p:cNvSpPr/>
          <p:nvPr/>
        </p:nvSpPr>
        <p:spPr bwMode="auto">
          <a:xfrm>
            <a:off x="4302649" y="2308195"/>
            <a:ext cx="1030512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333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통합리포팅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5512393" y="1807461"/>
            <a:ext cx="1030512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웹상담</a:t>
            </a:r>
          </a:p>
        </p:txBody>
      </p:sp>
      <p:sp>
        <p:nvSpPr>
          <p:cNvPr id="80" name="직사각형 79"/>
          <p:cNvSpPr/>
          <p:nvPr/>
        </p:nvSpPr>
        <p:spPr bwMode="auto">
          <a:xfrm>
            <a:off x="5512393" y="2308195"/>
            <a:ext cx="1030512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온라인</a:t>
            </a:r>
            <a:endParaRPr kumimoji="1" lang="en-US" altLang="ko-KR" sz="12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청구서</a:t>
            </a:r>
          </a:p>
        </p:txBody>
      </p:sp>
      <p:sp>
        <p:nvSpPr>
          <p:cNvPr id="81" name="직사각형 80"/>
          <p:cNvSpPr/>
          <p:nvPr/>
        </p:nvSpPr>
        <p:spPr bwMode="auto">
          <a:xfrm>
            <a:off x="6722137" y="1807461"/>
            <a:ext cx="1030512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앱카드</a:t>
            </a:r>
          </a:p>
        </p:txBody>
      </p:sp>
      <p:sp>
        <p:nvSpPr>
          <p:cNvPr id="82" name="직사각형 81"/>
          <p:cNvSpPr/>
          <p:nvPr/>
        </p:nvSpPr>
        <p:spPr bwMode="auto">
          <a:xfrm>
            <a:off x="6722137" y="2308195"/>
            <a:ext cx="1030512" cy="390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법인</a:t>
            </a:r>
            <a:endParaRPr kumimoji="1" lang="en-US" altLang="ko-KR" sz="12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지원정보</a:t>
            </a:r>
          </a:p>
        </p:txBody>
      </p:sp>
      <p:graphicFrame>
        <p:nvGraphicFramePr>
          <p:cNvPr id="83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68561"/>
              </p:ext>
            </p:extLst>
          </p:nvPr>
        </p:nvGraphicFramePr>
        <p:xfrm>
          <a:off x="8325510" y="1372465"/>
          <a:ext cx="3547183" cy="4756800"/>
        </p:xfrm>
        <a:graphic>
          <a:graphicData uri="http://schemas.openxmlformats.org/drawingml/2006/table">
            <a:tbl>
              <a:tblPr/>
              <a:tblGrid>
                <a:gridCol w="798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067">
                  <a:extLst>
                    <a:ext uri="{9D8B030D-6E8A-4147-A177-3AD203B41FA5}">
                      <a16:colId xmlns:a16="http://schemas.microsoft.com/office/drawing/2014/main" val="691218945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구성 정보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907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Cloud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삼성</a:t>
                      </a:r>
                      <a:r>
                        <a:rPr kumimoji="1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SDS, S-Cloud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14283C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WAS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4283C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JEUS 8.5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66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WebtoB 5.0</a:t>
                      </a:r>
                      <a:endParaRPr kumimoji="1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155307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3366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 개요</a:t>
                      </a:r>
                    </a:p>
                  </a:txBody>
                  <a:tcPr marL="121920" marR="121920" marT="60960" marB="6096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4000">
                <a:tc gridSpan="2">
                  <a:txBody>
                    <a:bodyPr/>
                    <a:lstStyle/>
                    <a:p>
                      <a:pPr marL="114300" marR="0" lvl="0" indent="-1143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디지털채널고도화 사업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클라우드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환경 기반 운영 환경 표준화 수립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14300" marR="0" lvl="0" indent="-1143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디지털채널고도화 內 삼성카드 홈페이지     시스템을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MSA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아키텍처 기반 구축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14300" marR="0" lvl="0" indent="-1143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K8S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Docker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Auto-Scaling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환경의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Private Cloud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구축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21920" marR="121920" marT="60960" marB="6096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2228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3366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기대 효과</a:t>
                      </a:r>
                    </a:p>
                  </a:txBody>
                  <a:tcPr marL="121920" marR="121920" marT="60960" marB="6096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718368"/>
                  </a:ext>
                </a:extLst>
              </a:tr>
              <a:tr h="1344000">
                <a:tc gridSpan="2">
                  <a:txBody>
                    <a:bodyPr/>
                    <a:lstStyle/>
                    <a:p>
                      <a:pPr marL="114300" marR="0" lvl="0" indent="-1143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MSA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아키텍처로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Cloud Native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환경 구축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14300" marR="0" lvl="0" indent="-1143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경량화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JEUS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 통해 빌드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배포 속도 향상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14300" marR="0" lvl="0" indent="-1143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bg2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리소스 효율적으로 사용하여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클라우드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인프라 비용 절감</a:t>
                      </a:r>
                    </a:p>
                  </a:txBody>
                  <a:tcPr marL="121920" marR="121920" marT="60960" marB="6096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" name="직사각형 83"/>
          <p:cNvSpPr/>
          <p:nvPr/>
        </p:nvSpPr>
        <p:spPr bwMode="auto">
          <a:xfrm>
            <a:off x="654673" y="3722888"/>
            <a:ext cx="3427608" cy="289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txBody>
          <a:bodyPr vert="horz" wrap="none" lIns="48000" tIns="48000" rIns="48000" bIns="4800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WebtoB</a:t>
            </a:r>
            <a:endParaRPr kumimoji="1" lang="ko-KR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73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참고사항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11005879" cy="320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컨테이너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환경에서 사용 가능한 </a:t>
            </a:r>
            <a:r>
              <a:rPr lang="en-US" altLang="ko-KR" sz="1400" b="1" dirty="0" smtClean="0"/>
              <a:t>Image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제공 유무 및 </a:t>
            </a:r>
            <a:r>
              <a:rPr lang="en-US" altLang="ko-KR" sz="1400" b="1" dirty="0" smtClean="0"/>
              <a:t>Version </a:t>
            </a:r>
            <a:r>
              <a:rPr lang="ko-KR" altLang="en-US" sz="1400" b="1" dirty="0" smtClean="0"/>
              <a:t>관리</a:t>
            </a:r>
            <a:endParaRPr lang="en-US" altLang="ko-KR" sz="1400" b="1" dirty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HyperFrame</a:t>
            </a:r>
            <a:r>
              <a:rPr lang="en-US" altLang="ko-KR" sz="1200" dirty="0" smtClean="0"/>
              <a:t>(Apache, Tomcat, Nginx, </a:t>
            </a:r>
            <a:r>
              <a:rPr lang="en-US" altLang="ko-KR" sz="1200" dirty="0" err="1" smtClean="0"/>
              <a:t>Widfly</a:t>
            </a:r>
            <a:r>
              <a:rPr lang="en-US" altLang="ko-KR" sz="1200" dirty="0" smtClean="0"/>
              <a:t>), JEUS, </a:t>
            </a:r>
            <a:r>
              <a:rPr lang="en-US" altLang="ko-KR" sz="1200" dirty="0" err="1" smtClean="0"/>
              <a:t>WebtoB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공식 </a:t>
            </a:r>
            <a:r>
              <a:rPr lang="en-US" altLang="ko-KR" sz="1200" dirty="0" smtClean="0"/>
              <a:t>Image</a:t>
            </a:r>
            <a:r>
              <a:rPr lang="ko-KR" altLang="en-US" sz="1200" dirty="0" smtClean="0"/>
              <a:t> 관리</a:t>
            </a:r>
            <a:endParaRPr lang="en-US" altLang="ko-KR" sz="12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제공 되는 이미지 보안 패치 및 </a:t>
            </a:r>
            <a:r>
              <a:rPr lang="en-US" altLang="ko-KR" sz="1200" dirty="0" smtClean="0"/>
              <a:t>Version </a:t>
            </a:r>
            <a:r>
              <a:rPr lang="ko-KR" altLang="en-US" sz="1200" dirty="0" smtClean="0"/>
              <a:t>관리 지원</a:t>
            </a:r>
            <a:endParaRPr lang="en-US" altLang="ko-KR" sz="1200" dirty="0" smtClean="0"/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컨테이너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환경 제품 기술 지원</a:t>
            </a:r>
            <a:endParaRPr lang="en-US" altLang="ko-KR" sz="1400" b="1" dirty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Kubernetes </a:t>
            </a:r>
            <a:r>
              <a:rPr lang="ko-KR" altLang="en-US" sz="1200" dirty="0" smtClean="0"/>
              <a:t>환경 </a:t>
            </a:r>
            <a:r>
              <a:rPr lang="en-US" altLang="ko-KR" sz="1200" dirty="0" err="1" smtClean="0"/>
              <a:t>HyperFrame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및 </a:t>
            </a:r>
            <a:r>
              <a:rPr lang="en-US" altLang="ko-KR" sz="1200" dirty="0" smtClean="0"/>
              <a:t>JEUS, </a:t>
            </a:r>
            <a:r>
              <a:rPr lang="en-US" altLang="ko-KR" sz="1200" dirty="0" err="1" smtClean="0"/>
              <a:t>WebtoB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제품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기술 지원</a:t>
            </a:r>
            <a:endParaRPr lang="en-US" altLang="ko-KR" sz="1200" dirty="0" smtClean="0"/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CI/CD </a:t>
            </a:r>
            <a:r>
              <a:rPr lang="ko-KR" altLang="en-US" sz="1400" b="1" dirty="0" smtClean="0"/>
              <a:t>환경 구축 및 지원</a:t>
            </a:r>
            <a:endParaRPr lang="en-US" altLang="ko-KR" sz="1400" b="1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ProObject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제품을 통한</a:t>
            </a:r>
            <a:r>
              <a:rPr lang="en-US" altLang="ko-KR" sz="1200" dirty="0" smtClean="0"/>
              <a:t> CI/CD </a:t>
            </a:r>
            <a:r>
              <a:rPr lang="ko-KR" altLang="en-US" sz="1200" dirty="0" smtClean="0"/>
              <a:t>환경 구축 및 기술 지원</a:t>
            </a:r>
            <a:endParaRPr lang="en-US" altLang="ko-KR" sz="1400" dirty="0" smtClean="0"/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컨테이너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환경 모니터링</a:t>
            </a:r>
            <a:endParaRPr lang="en-US" altLang="ko-KR" sz="1400" b="1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SuperFrame</a:t>
            </a:r>
            <a:r>
              <a:rPr lang="en-US" altLang="ko-KR" sz="1200" dirty="0" smtClean="0"/>
              <a:t> Manager</a:t>
            </a:r>
            <a:r>
              <a:rPr lang="ko-KR" altLang="en-US" sz="1200" dirty="0" smtClean="0"/>
              <a:t>를 통한 통합 </a:t>
            </a:r>
            <a:r>
              <a:rPr lang="en-US" altLang="ko-KR" sz="1200" dirty="0" smtClean="0"/>
              <a:t>Monitoring </a:t>
            </a:r>
            <a:r>
              <a:rPr lang="ko-KR" altLang="en-US" sz="1200" dirty="0" smtClean="0"/>
              <a:t>제공</a:t>
            </a:r>
            <a:r>
              <a:rPr lang="en-US" altLang="ko-KR" sz="1400" dirty="0" smtClean="0"/>
              <a:t>  </a:t>
            </a:r>
            <a:endParaRPr lang="en-US" altLang="ko-KR" sz="1400" dirty="0"/>
          </a:p>
          <a:p>
            <a:pPr marL="180000" indent="-1800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마이크로 서비스 아키텍처 지원</a:t>
            </a:r>
            <a:endParaRPr lang="en-US" altLang="ko-KR" sz="1400" b="1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ProObject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제품에서 서비스 매니저 통합 아키텍처를 적용하여 서비스 간 의존성을 제거하고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표준화된 </a:t>
            </a:r>
            <a:r>
              <a:rPr lang="en-US" altLang="ko-KR" sz="1200" dirty="0" smtClean="0"/>
              <a:t>API</a:t>
            </a:r>
            <a:r>
              <a:rPr lang="ko-KR" altLang="en-US" sz="1200" dirty="0" smtClean="0"/>
              <a:t>를 제공함으로써 쉬운 연계와 개발 편의성 제공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94545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18718</TotalTime>
  <Words>2824</Words>
  <Application>Microsoft Office PowerPoint</Application>
  <PresentationFormat>와이드스크린</PresentationFormat>
  <Paragraphs>779</Paragraphs>
  <Slides>35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중고딕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414</cp:revision>
  <dcterms:created xsi:type="dcterms:W3CDTF">2022-09-15T01:21:24Z</dcterms:created>
  <dcterms:modified xsi:type="dcterms:W3CDTF">2025-03-11T00:09:43Z</dcterms:modified>
</cp:coreProperties>
</file>