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70" r:id="rId2"/>
    <p:sldId id="271" r:id="rId3"/>
    <p:sldId id="360" r:id="rId4"/>
    <p:sldId id="362" r:id="rId5"/>
    <p:sldId id="363" r:id="rId6"/>
    <p:sldId id="364" r:id="rId7"/>
    <p:sldId id="365" r:id="rId8"/>
    <p:sldId id="366" r:id="rId9"/>
    <p:sldId id="367" r:id="rId10"/>
    <p:sldId id="368" r:id="rId11"/>
    <p:sldId id="369" r:id="rId12"/>
    <p:sldId id="370" r:id="rId13"/>
    <p:sldId id="274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771AA387-4111-4890-AC9B-FCE55A5E05BE}">
          <p14:sldIdLst>
            <p14:sldId id="270"/>
            <p14:sldId id="271"/>
            <p14:sldId id="360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66EF"/>
    <a:srgbClr val="171C2C"/>
    <a:srgbClr val="0232AE"/>
    <a:srgbClr val="BACDFE"/>
    <a:srgbClr val="333333"/>
    <a:srgbClr val="95BCF0"/>
    <a:srgbClr val="09E6E1"/>
    <a:srgbClr val="12F6F6"/>
    <a:srgbClr val="10B7CE"/>
    <a:srgbClr val="01F5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0188" autoAdjust="0"/>
  </p:normalViewPr>
  <p:slideViewPr>
    <p:cSldViewPr snapToGrid="0">
      <p:cViewPr varScale="1">
        <p:scale>
          <a:sx n="91" d="100"/>
          <a:sy n="91" d="100"/>
        </p:scale>
        <p:origin x="129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7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E36D4-B224-4D49-A73E-0BF1A210728E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A661C5-6DF4-4E77-80CD-DCF64012DBF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4041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F7304B-F283-4E41-A8FA-EB923FFBA2A0}" type="datetimeFigureOut">
              <a:rPr lang="ko-KR" altLang="en-US" smtClean="0"/>
              <a:t>2025-03-05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B92502-E94D-4E8D-8986-81BE15697A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319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289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52118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53272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Root</a:t>
            </a:r>
            <a:r>
              <a:rPr lang="ko-KR" altLang="en-US" dirty="0" smtClean="0"/>
              <a:t>로 진행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25311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Master </a:t>
            </a:r>
            <a:r>
              <a:rPr lang="ko-KR" altLang="en-US" dirty="0" smtClean="0"/>
              <a:t>노드의 </a:t>
            </a:r>
            <a:r>
              <a:rPr lang="en-US" altLang="ko-KR" dirty="0" smtClean="0"/>
              <a:t>hosts </a:t>
            </a:r>
            <a:r>
              <a:rPr lang="ko-KR" altLang="en-US" dirty="0" smtClean="0"/>
              <a:t>파일에 </a:t>
            </a:r>
            <a:r>
              <a:rPr lang="en-US" altLang="ko-KR" dirty="0" smtClean="0"/>
              <a:t>worker node </a:t>
            </a:r>
            <a:r>
              <a:rPr lang="en-US" altLang="ko-KR" dirty="0" err="1" smtClean="0"/>
              <a:t>ip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맵핑</a:t>
            </a:r>
            <a:r>
              <a:rPr lang="ko-KR" altLang="en-US" dirty="0" smtClean="0"/>
              <a:t> 설정까지 </a:t>
            </a:r>
            <a:r>
              <a:rPr lang="ko-KR" altLang="en-US" dirty="0" err="1" smtClean="0"/>
              <a:t>해야됨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Ex)</a:t>
            </a:r>
          </a:p>
          <a:p>
            <a:r>
              <a:rPr lang="en-US" altLang="ko-KR" dirty="0" smtClean="0"/>
              <a:t>192.168.220.11 master </a:t>
            </a:r>
          </a:p>
          <a:p>
            <a:r>
              <a:rPr lang="en-US" altLang="ko-KR" dirty="0" smtClean="0"/>
              <a:t>192.168.220.12 worker01 </a:t>
            </a:r>
          </a:p>
          <a:p>
            <a:r>
              <a:rPr lang="en-US" altLang="ko-KR" dirty="0" smtClean="0"/>
              <a:t>192.168.220.13 worker02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39960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663624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smtClean="0"/>
              <a:t>CRI-O</a:t>
            </a:r>
          </a:p>
          <a:p>
            <a:r>
              <a:rPr lang="ko-KR" altLang="en-US" dirty="0" err="1" smtClean="0"/>
              <a:t>쿠버네티스</a:t>
            </a:r>
            <a:r>
              <a:rPr lang="ko-KR" altLang="en-US" dirty="0" smtClean="0"/>
              <a:t> 컨테이너 런타임 중 하나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redhat</a:t>
            </a:r>
            <a:r>
              <a:rPr lang="ko-KR" altLang="en-US" dirty="0" smtClean="0"/>
              <a:t>이 개발한 </a:t>
            </a:r>
            <a:r>
              <a:rPr lang="ko-KR" altLang="en-US" dirty="0" err="1" smtClean="0"/>
              <a:t>쿠버네티스용</a:t>
            </a:r>
            <a:r>
              <a:rPr lang="ko-KR" altLang="en-US" dirty="0" smtClean="0"/>
              <a:t> </a:t>
            </a:r>
            <a:r>
              <a:rPr lang="en-US" altLang="ko-KR" dirty="0" smtClean="0"/>
              <a:t>OCI </a:t>
            </a:r>
            <a:r>
              <a:rPr lang="ko-KR" altLang="en-US" dirty="0" smtClean="0"/>
              <a:t>컨테이너 런타임</a:t>
            </a:r>
          </a:p>
          <a:p>
            <a:r>
              <a:rPr lang="ko-KR" altLang="en-US" dirty="0" smtClean="0"/>
              <a:t>기존에는 </a:t>
            </a:r>
            <a:r>
              <a:rPr lang="ko-KR" altLang="en-US" dirty="0" err="1" smtClean="0"/>
              <a:t>쿠버네티스</a:t>
            </a:r>
            <a:r>
              <a:rPr lang="ko-KR" altLang="en-US" dirty="0" smtClean="0"/>
              <a:t> 런타임으로 </a:t>
            </a:r>
            <a:r>
              <a:rPr lang="en-US" altLang="ko-KR" dirty="0" smtClean="0"/>
              <a:t>Docker</a:t>
            </a:r>
            <a:r>
              <a:rPr lang="ko-KR" altLang="en-US" dirty="0" smtClean="0"/>
              <a:t>를 사용함</a:t>
            </a:r>
            <a:r>
              <a:rPr lang="en-US" altLang="ko-KR" dirty="0" smtClean="0"/>
              <a:t>. 2018</a:t>
            </a:r>
            <a:r>
              <a:rPr lang="ko-KR" altLang="en-US" dirty="0" smtClean="0"/>
              <a:t>년만 해도 </a:t>
            </a:r>
            <a:r>
              <a:rPr lang="ko-KR" altLang="en-US" dirty="0" err="1" smtClean="0"/>
              <a:t>쿠버네티스</a:t>
            </a:r>
            <a:r>
              <a:rPr lang="ko-KR" altLang="en-US" dirty="0" smtClean="0"/>
              <a:t> 엔진의 런타임에 </a:t>
            </a:r>
            <a:r>
              <a:rPr lang="ko-KR" altLang="en-US" dirty="0" err="1" smtClean="0"/>
              <a:t>도커를</a:t>
            </a:r>
            <a:r>
              <a:rPr lang="ko-KR" altLang="en-US" dirty="0" smtClean="0"/>
              <a:t> 사용 하였음</a:t>
            </a:r>
          </a:p>
          <a:p>
            <a:r>
              <a:rPr lang="ko-KR" altLang="en-US" dirty="0" smtClean="0"/>
              <a:t>이제는 </a:t>
            </a:r>
            <a:r>
              <a:rPr lang="en-US" altLang="ko-KR" dirty="0" smtClean="0"/>
              <a:t>CRI </a:t>
            </a:r>
            <a:r>
              <a:rPr lang="ko-KR" altLang="en-US" dirty="0" smtClean="0"/>
              <a:t>표준 등장과 함께 </a:t>
            </a:r>
            <a:r>
              <a:rPr lang="ko-KR" altLang="en-US" dirty="0" err="1" smtClean="0"/>
              <a:t>쿠버네티스에서</a:t>
            </a:r>
            <a:r>
              <a:rPr lang="ko-KR" altLang="en-US" dirty="0" smtClean="0"/>
              <a:t> 사용할 수 있는 런타임은 </a:t>
            </a:r>
            <a:r>
              <a:rPr lang="en-US" altLang="ko-KR" dirty="0" err="1" smtClean="0"/>
              <a:t>docker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cir</a:t>
            </a:r>
            <a:r>
              <a:rPr lang="en-US" altLang="ko-KR" dirty="0" smtClean="0"/>
              <a:t>-o, </a:t>
            </a:r>
            <a:r>
              <a:rPr lang="en-US" altLang="ko-KR" dirty="0" err="1" smtClean="0"/>
              <a:t>rkt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containerd</a:t>
            </a:r>
            <a:r>
              <a:rPr lang="ko-KR" altLang="en-US" dirty="0" smtClean="0"/>
              <a:t>가 있으며</a:t>
            </a:r>
            <a:r>
              <a:rPr lang="en-US" altLang="ko-KR" dirty="0" smtClean="0"/>
              <a:t>, </a:t>
            </a:r>
            <a:r>
              <a:rPr lang="ko-KR" altLang="en-US" dirty="0" smtClean="0"/>
              <a:t>향후에 늘어날 수도 있음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ko-KR" altLang="en-US" dirty="0" smtClean="0"/>
              <a:t>참고</a:t>
            </a:r>
            <a:r>
              <a:rPr lang="en-US" altLang="ko-KR" dirty="0" smtClean="0"/>
              <a:t>. </a:t>
            </a:r>
          </a:p>
          <a:p>
            <a:r>
              <a:rPr lang="en-US" altLang="ko-KR" dirty="0" smtClean="0"/>
              <a:t>Cri-O</a:t>
            </a:r>
            <a:r>
              <a:rPr lang="en-US" altLang="ko-KR" baseline="0" dirty="0" smtClean="0"/>
              <a:t> </a:t>
            </a:r>
            <a:r>
              <a:rPr lang="ko-KR" altLang="en-US" baseline="0" dirty="0" smtClean="0"/>
              <a:t>설치 과정 중 </a:t>
            </a:r>
            <a:r>
              <a:rPr lang="en-US" altLang="ko-KR" dirty="0" smtClean="0"/>
              <a:t>“level=fatal </a:t>
            </a:r>
            <a:r>
              <a:rPr lang="en-US" altLang="ko-KR" dirty="0" err="1" smtClean="0"/>
              <a:t>msg</a:t>
            </a:r>
            <a:r>
              <a:rPr lang="en-US" altLang="ko-KR" dirty="0" smtClean="0"/>
              <a:t>="validating runtime </a:t>
            </a:r>
            <a:r>
              <a:rPr lang="en-US" altLang="ko-KR" dirty="0" err="1" smtClean="0"/>
              <a:t>config</a:t>
            </a:r>
            <a:r>
              <a:rPr lang="en-US" altLang="ko-KR" dirty="0" smtClean="0"/>
              <a:t>: unable to load </a:t>
            </a:r>
            <a:r>
              <a:rPr lang="en-US" altLang="ko-KR" dirty="0" err="1" smtClean="0"/>
              <a:t>AppArmor</a:t>
            </a:r>
            <a:r>
              <a:rPr lang="en-US" altLang="ko-KR" dirty="0" smtClean="0"/>
              <a:t> profile: installing default </a:t>
            </a:r>
            <a:r>
              <a:rPr lang="en-US" altLang="ko-KR" dirty="0" err="1" smtClean="0"/>
              <a:t>AppArmor</a:t>
            </a:r>
            <a:r>
              <a:rPr lang="en-US" altLang="ko-KR" dirty="0" smtClean="0"/>
              <a:t> profile \"</a:t>
            </a:r>
            <a:r>
              <a:rPr lang="en-US" altLang="ko-KR" dirty="0" err="1" smtClean="0"/>
              <a:t>crio-def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이런 오류가 있는 경우</a:t>
            </a:r>
            <a:r>
              <a:rPr lang="en-US" altLang="ko-KR" dirty="0" smtClean="0"/>
              <a:t>,</a:t>
            </a:r>
          </a:p>
          <a:p>
            <a:r>
              <a:rPr lang="ko-KR" altLang="en-US" dirty="0" smtClean="0"/>
              <a:t>아래의 순서를 따른다</a:t>
            </a:r>
            <a:r>
              <a:rPr lang="en-US" altLang="ko-KR" dirty="0" smtClean="0"/>
              <a:t>.</a:t>
            </a:r>
          </a:p>
          <a:p>
            <a:endParaRPr lang="en-US" altLang="ko-KR" dirty="0" smtClean="0"/>
          </a:p>
          <a:p>
            <a:pPr marL="228600" indent="-228600">
              <a:buAutoNum type="arabicPeriod"/>
            </a:pPr>
            <a:r>
              <a:rPr lang="en-US" altLang="ko-KR" dirty="0" smtClean="0"/>
              <a:t>CRI-O</a:t>
            </a:r>
            <a:r>
              <a:rPr lang="ko-KR" altLang="en-US" dirty="0" smtClean="0"/>
              <a:t>를 위한 </a:t>
            </a:r>
            <a:r>
              <a:rPr lang="en-US" altLang="ko-KR" dirty="0" smtClean="0"/>
              <a:t>app-armor custom profile </a:t>
            </a:r>
            <a:r>
              <a:rPr lang="ko-KR" altLang="en-US" dirty="0" smtClean="0"/>
              <a:t>생성</a:t>
            </a:r>
            <a:r>
              <a:rPr lang="en-US" altLang="ko-KR" dirty="0" smtClean="0"/>
              <a:t> </a:t>
            </a:r>
          </a:p>
          <a:p>
            <a:pPr marL="0" indent="0">
              <a:buNone/>
            </a:pPr>
            <a:r>
              <a:rPr lang="en-US" altLang="ko-KR" dirty="0" smtClean="0"/>
              <a:t>$ vi /</a:t>
            </a:r>
            <a:r>
              <a:rPr lang="en-US" altLang="ko-KR" dirty="0" err="1" smtClean="0"/>
              <a:t>etc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apparmor.d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crio</a:t>
            </a:r>
            <a:r>
              <a:rPr lang="en-US" altLang="ko-KR" dirty="0" smtClean="0"/>
              <a:t>-custom 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#include &lt;</a:t>
            </a:r>
            <a:r>
              <a:rPr lang="en-US" altLang="ko-KR" dirty="0" err="1" smtClean="0"/>
              <a:t>tunables</a:t>
            </a:r>
            <a:r>
              <a:rPr lang="en-US" altLang="ko-KR" dirty="0" smtClean="0"/>
              <a:t>/global&gt; </a:t>
            </a:r>
          </a:p>
          <a:p>
            <a:pPr marL="0" indent="0">
              <a:buNone/>
            </a:pPr>
            <a:r>
              <a:rPr lang="en-US" altLang="ko-KR" dirty="0" smtClean="0"/>
              <a:t>Profile </a:t>
            </a:r>
            <a:r>
              <a:rPr lang="en-US" altLang="ko-KR" dirty="0" err="1" smtClean="0"/>
              <a:t>crio</a:t>
            </a:r>
            <a:r>
              <a:rPr lang="en-US" altLang="ko-KR" dirty="0" smtClean="0"/>
              <a:t>-custom flags=(</a:t>
            </a:r>
            <a:r>
              <a:rPr lang="en-US" altLang="ko-KR" dirty="0" err="1" smtClean="0"/>
              <a:t>attach_disconnected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mediate_deleted</a:t>
            </a:r>
            <a:r>
              <a:rPr lang="en-US" altLang="ko-KR" dirty="0" smtClean="0"/>
              <a:t>) { </a:t>
            </a:r>
          </a:p>
          <a:p>
            <a:pPr marL="0" indent="0">
              <a:buNone/>
            </a:pPr>
            <a:r>
              <a:rPr lang="en-US" altLang="ko-KR" dirty="0" smtClean="0"/>
              <a:t>#include &lt;abstractions/base&gt; </a:t>
            </a:r>
          </a:p>
          <a:p>
            <a:pPr marL="0" indent="0">
              <a:buNone/>
            </a:pPr>
            <a:r>
              <a:rPr lang="en-US" altLang="ko-KR" dirty="0" smtClean="0"/>
              <a:t>Capability, </a:t>
            </a:r>
          </a:p>
          <a:p>
            <a:pPr marL="0" indent="0">
              <a:buNone/>
            </a:pPr>
            <a:r>
              <a:rPr lang="en-US" altLang="ko-KR" dirty="0" smtClean="0"/>
              <a:t>Network, </a:t>
            </a:r>
          </a:p>
          <a:p>
            <a:pPr marL="0" indent="0">
              <a:buNone/>
            </a:pPr>
            <a:r>
              <a:rPr lang="en-US" altLang="ko-KR" dirty="0" smtClean="0"/>
              <a:t>File, </a:t>
            </a:r>
          </a:p>
          <a:p>
            <a:pPr marL="0" indent="0">
              <a:buNone/>
            </a:pPr>
            <a:r>
              <a:rPr lang="en-US" altLang="ko-KR" dirty="0" err="1" smtClean="0"/>
              <a:t>Umount</a:t>
            </a:r>
            <a:r>
              <a:rPr lang="en-US" altLang="ko-KR" dirty="0" smtClean="0"/>
              <a:t>, </a:t>
            </a:r>
          </a:p>
          <a:p>
            <a:pPr marL="0" indent="0">
              <a:buNone/>
            </a:pPr>
            <a:r>
              <a:rPr lang="en-US" altLang="ko-KR" dirty="0" smtClean="0"/>
              <a:t>} 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2. </a:t>
            </a:r>
            <a:r>
              <a:rPr lang="en-US" altLang="ko-KR" dirty="0" err="1" smtClean="0"/>
              <a:t>Apparmor</a:t>
            </a:r>
            <a:r>
              <a:rPr lang="ko-KR" altLang="en-US" dirty="0" smtClean="0"/>
              <a:t>에 위 파일 적용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$ </a:t>
            </a:r>
            <a:r>
              <a:rPr lang="en-US" altLang="ko-KR" dirty="0" err="1" smtClean="0"/>
              <a:t>apparmor_parser</a:t>
            </a:r>
            <a:r>
              <a:rPr lang="en-US" altLang="ko-KR" dirty="0" smtClean="0"/>
              <a:t> -r /</a:t>
            </a:r>
            <a:r>
              <a:rPr lang="en-US" altLang="ko-KR" dirty="0" err="1" smtClean="0"/>
              <a:t>etc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apparmor.d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crio</a:t>
            </a:r>
            <a:r>
              <a:rPr lang="en-US" altLang="ko-KR" dirty="0" smtClean="0"/>
              <a:t>-custom </a:t>
            </a:r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3. cri-o </a:t>
            </a:r>
            <a:r>
              <a:rPr lang="en-US" altLang="ko-KR" dirty="0" err="1" smtClean="0"/>
              <a:t>config</a:t>
            </a:r>
            <a:r>
              <a:rPr lang="ko-KR" altLang="en-US" dirty="0" smtClean="0"/>
              <a:t>에 적용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$ vi /</a:t>
            </a:r>
            <a:r>
              <a:rPr lang="en-US" altLang="ko-KR" dirty="0" err="1" smtClean="0"/>
              <a:t>etc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crio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crio.con</a:t>
            </a:r>
            <a:endParaRPr lang="en-US" altLang="ko-KR" dirty="0" smtClean="0"/>
          </a:p>
          <a:p>
            <a:pPr marL="0" indent="0">
              <a:buNone/>
            </a:pPr>
            <a:endParaRPr lang="en-US" altLang="ko-KR" dirty="0" smtClean="0"/>
          </a:p>
          <a:p>
            <a:pPr marL="0" indent="0">
              <a:buNone/>
            </a:pPr>
            <a:r>
              <a:rPr lang="en-US" altLang="ko-KR" dirty="0" smtClean="0"/>
              <a:t>…</a:t>
            </a:r>
          </a:p>
          <a:p>
            <a:pPr marL="0" indent="0">
              <a:buNone/>
            </a:pPr>
            <a:r>
              <a:rPr lang="en-US" altLang="ko-KR" dirty="0" err="1" smtClean="0"/>
              <a:t>apparmor_profile</a:t>
            </a:r>
            <a:r>
              <a:rPr lang="en-US" altLang="ko-KR" dirty="0" smtClean="0"/>
              <a:t> = "</a:t>
            </a:r>
            <a:r>
              <a:rPr lang="en-US" altLang="ko-KR" dirty="0" err="1" smtClean="0"/>
              <a:t>crio</a:t>
            </a:r>
            <a:r>
              <a:rPr lang="en-US" altLang="ko-KR" dirty="0" smtClean="0"/>
              <a:t>-custom"</a:t>
            </a:r>
            <a:br>
              <a:rPr lang="en-US" altLang="ko-KR" dirty="0" smtClean="0"/>
            </a:br>
            <a:r>
              <a:rPr lang="en-US" altLang="ko-KR" dirty="0" smtClean="0"/>
              <a:t/>
            </a:r>
            <a:br>
              <a:rPr lang="en-US" altLang="ko-KR" dirty="0" smtClean="0"/>
            </a:br>
            <a:endParaRPr lang="en-US" altLang="ko-KR" dirty="0" smtClean="0"/>
          </a:p>
          <a:p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72936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545496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1200" b="1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92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 err="1" smtClean="0"/>
              <a:t>Kubeadm</a:t>
            </a:r>
            <a:r>
              <a:rPr lang="en-US" altLang="ko-KR" dirty="0" smtClean="0"/>
              <a:t> </a:t>
            </a:r>
            <a:r>
              <a:rPr lang="en-US" altLang="ko-KR" dirty="0" err="1" smtClean="0"/>
              <a:t>init</a:t>
            </a:r>
            <a:r>
              <a:rPr lang="en-US" altLang="ko-KR" dirty="0" smtClean="0"/>
              <a:t> </a:t>
            </a:r>
            <a:r>
              <a:rPr lang="ko-KR" altLang="en-US" dirty="0" err="1" smtClean="0"/>
              <a:t>설정시</a:t>
            </a:r>
            <a:r>
              <a:rPr lang="ko-KR" altLang="en-US" dirty="0" smtClean="0"/>
              <a:t> </a:t>
            </a:r>
            <a:r>
              <a:rPr lang="en-US" altLang="ko-KR" dirty="0" smtClean="0"/>
              <a:t>Master </a:t>
            </a:r>
            <a:r>
              <a:rPr lang="ko-KR" altLang="en-US" dirty="0" smtClean="0"/>
              <a:t>주소는 </a:t>
            </a:r>
            <a:r>
              <a:rPr lang="en-US" altLang="ko-KR" dirty="0" smtClean="0"/>
              <a:t>Master</a:t>
            </a:r>
            <a:r>
              <a:rPr lang="ko-KR" altLang="en-US" dirty="0" smtClean="0"/>
              <a:t>를 사용할 </a:t>
            </a:r>
            <a:r>
              <a:rPr lang="en-US" altLang="ko-KR" dirty="0" smtClean="0"/>
              <a:t>VM</a:t>
            </a:r>
            <a:r>
              <a:rPr lang="ko-KR" altLang="en-US" dirty="0" smtClean="0"/>
              <a:t>의 </a:t>
            </a:r>
            <a:r>
              <a:rPr lang="en-US" altLang="ko-KR" dirty="0" smtClean="0"/>
              <a:t>IP </a:t>
            </a:r>
            <a:r>
              <a:rPr lang="ko-KR" altLang="en-US" dirty="0" smtClean="0"/>
              <a:t>주소를 입력하면 된다</a:t>
            </a:r>
            <a:r>
              <a:rPr lang="en-US" altLang="ko-KR" dirty="0" smtClean="0"/>
              <a:t>.</a:t>
            </a:r>
          </a:p>
          <a:p>
            <a:r>
              <a:rPr lang="en-US" altLang="ko-KR" dirty="0" smtClean="0"/>
              <a:t>--pod-network-</a:t>
            </a:r>
            <a:r>
              <a:rPr lang="en-US" altLang="ko-KR" dirty="0" err="1" smtClean="0"/>
              <a:t>cidr</a:t>
            </a:r>
            <a:r>
              <a:rPr lang="ko-KR" altLang="en-US" baseline="0" dirty="0" smtClean="0"/>
              <a:t>는 </a:t>
            </a:r>
            <a:r>
              <a:rPr lang="en-US" altLang="ko-KR" baseline="0" dirty="0" smtClean="0"/>
              <a:t>POD</a:t>
            </a:r>
            <a:r>
              <a:rPr lang="ko-KR" altLang="en-US" baseline="0" dirty="0" smtClean="0"/>
              <a:t>에 할당될 </a:t>
            </a:r>
            <a:r>
              <a:rPr lang="en-US" altLang="ko-KR" baseline="0" dirty="0" smtClean="0"/>
              <a:t>IP </a:t>
            </a:r>
            <a:r>
              <a:rPr lang="ko-KR" altLang="en-US" baseline="0" dirty="0" err="1" smtClean="0"/>
              <a:t>대역대</a:t>
            </a:r>
            <a:r>
              <a:rPr lang="ko-KR" altLang="en-US" baseline="0" dirty="0" smtClean="0"/>
              <a:t> 주소를 설정한다</a:t>
            </a:r>
            <a:r>
              <a:rPr lang="en-US" altLang="ko-KR" baseline="0" dirty="0" smtClean="0"/>
              <a:t>. </a:t>
            </a:r>
          </a:p>
          <a:p>
            <a:endParaRPr lang="en-US" altLang="ko-KR" baseline="0" dirty="0" smtClean="0"/>
          </a:p>
          <a:p>
            <a:r>
              <a:rPr lang="en-US" altLang="ko-KR" dirty="0" smtClean="0"/>
              <a:t>Ex) --pod-network-</a:t>
            </a:r>
            <a:r>
              <a:rPr lang="en-US" altLang="ko-KR" dirty="0" err="1" smtClean="0"/>
              <a:t>cidr</a:t>
            </a:r>
            <a:r>
              <a:rPr lang="en-US" altLang="ko-KR" dirty="0" smtClean="0"/>
              <a:t>=10.244.0.0/16 </a:t>
            </a:r>
            <a:r>
              <a:rPr lang="ko-KR" altLang="en-US" dirty="0" smtClean="0"/>
              <a:t>네트워크는 </a:t>
            </a:r>
            <a:r>
              <a:rPr lang="en-US" altLang="ko-KR" dirty="0" smtClean="0"/>
              <a:t>Flannel</a:t>
            </a:r>
            <a:r>
              <a:rPr lang="ko-KR" altLang="en-US" dirty="0" smtClean="0"/>
              <a:t>에서 기본적으로 권장하는 네트워크 대역</a:t>
            </a:r>
            <a:endParaRPr lang="en-US" altLang="ko-KR" baseline="0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21314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 smtClean="0"/>
          </a:p>
          <a:p>
            <a:endParaRPr lang="en-US" altLang="ko-KR" dirty="0" smtClean="0"/>
          </a:p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B92502-E94D-4E8D-8986-81BE15697A9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0966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5"/>
          <p:cNvSpPr txBox="1">
            <a:spLocks/>
          </p:cNvSpPr>
          <p:nvPr userDrawn="1"/>
        </p:nvSpPr>
        <p:spPr>
          <a:xfrm>
            <a:off x="11560552" y="6504396"/>
            <a:ext cx="490526" cy="23312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6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584189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96271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2218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9321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10775568" y="6262414"/>
            <a:ext cx="959232" cy="595586"/>
          </a:xfrm>
          <a:prstGeom prst="rect">
            <a:avLst/>
          </a:prstGeom>
        </p:spPr>
        <p:txBody>
          <a:bodyPr vert="horz" lIns="91447" tIns="45725" rIns="91447" bIns="45725" rtlCol="0" anchor="ctr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504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9DB96D0-201A-4320-B533-3C3F2CC7492C}" type="slidenum">
              <a:rPr kumimoji="0" lang="ko-KR" altLang="en-US" sz="7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8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Pretendard SemiBold" panose="02000703000000020004" pitchFamily="50" charset="-127"/>
              </a:rPr>
              <a:pPr marL="0" marR="0" lvl="0" indent="0" algn="r" defTabSz="914504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5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8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2" name="object 8"/>
          <p:cNvSpPr/>
          <p:nvPr userDrawn="1"/>
        </p:nvSpPr>
        <p:spPr>
          <a:xfrm>
            <a:off x="580644" y="6318503"/>
            <a:ext cx="11057890" cy="0"/>
          </a:xfrm>
          <a:custGeom>
            <a:avLst/>
            <a:gdLst/>
            <a:ahLst/>
            <a:cxnLst/>
            <a:rect l="l" t="t" r="r" b="b"/>
            <a:pathLst>
              <a:path w="11057890">
                <a:moveTo>
                  <a:pt x="0" y="0"/>
                </a:moveTo>
                <a:lnTo>
                  <a:pt x="11057509" y="0"/>
                </a:lnTo>
              </a:path>
            </a:pathLst>
          </a:custGeom>
          <a:ln w="6350">
            <a:solidFill>
              <a:srgbClr val="DBDBDB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직사각형 12"/>
          <p:cNvSpPr/>
          <p:nvPr userDrawn="1"/>
        </p:nvSpPr>
        <p:spPr>
          <a:xfrm>
            <a:off x="491124" y="6428173"/>
            <a:ext cx="2472152" cy="21544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Copyrightⓒ 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2025 </a:t>
            </a:r>
            <a:r>
              <a:rPr lang="en-US" altLang="ko-KR" sz="800" dirty="0" err="1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TmaxSoft</a:t>
            </a:r>
            <a:r>
              <a:rPr lang="en-US" altLang="ko-KR" sz="800" dirty="0">
                <a:solidFill>
                  <a:schemeClr val="bg1">
                    <a:lumMod val="85000"/>
                  </a:schemeClr>
                </a:solidFill>
                <a:latin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14" name="그림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317" y="338424"/>
            <a:ext cx="1157417" cy="119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568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A393CA-1A98-4091-B4F8-8CF82E62BE0C}" type="slidenum">
              <a:rPr lang="ko-KR" altLang="en-US" smtClean="0"/>
              <a:pPr/>
              <a:t>‹#›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F8EB2-BEDB-4375-BAD0-E61FA200F7A6}" type="datetimeFigureOut">
              <a:rPr lang="ko-KR" altLang="en-US" smtClean="0"/>
              <a:pPr/>
              <a:t>2025-03-05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646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kubernetes.io/releases/patch-releases/#non-active-branch-history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wnload.opensuse.org/repositories/devel:/kubic:/libcontainers:/stable:/cri-o:/1.24:/1.24.6/xUbuntu_22.04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848855" y="4346799"/>
            <a:ext cx="2670034" cy="587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lang="en-US" altLang="ko-KR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2025.01.24.</a:t>
            </a:r>
          </a:p>
          <a:p>
            <a:pPr>
              <a:spcBef>
                <a:spcPts val="500"/>
              </a:spcBef>
            </a:pPr>
            <a:r>
              <a:rPr lang="ko-KR" altLang="en-US" sz="1400" b="1" dirty="0" smtClean="0">
                <a:ln w="0" cap="flat" cmpd="sng" algn="ctr">
                  <a:noFill/>
                  <a:prstDash val="solid"/>
                  <a:miter lim="800000"/>
                  <a:headEnd type="none" w="med" len="med"/>
                  <a:tailEnd type="none" w="med" len="med"/>
                </a:ln>
                <a:solidFill>
                  <a:srgbClr val="95BCF0"/>
                </a:solidFill>
                <a:latin typeface="+mj-lt"/>
                <a:ea typeface="맑은 고딕" panose="020B0503020000020004" pitchFamily="50" charset="-127"/>
                <a:cs typeface="뉴티맥스고딕 CJK"/>
              </a:rPr>
              <a:t>조성환</a:t>
            </a:r>
            <a:endParaRPr lang="en-US" altLang="ko-KR" sz="1400" b="1" dirty="0">
              <a:ln w="0" cap="flat" cmpd="sng" algn="ctr">
                <a:noFill/>
                <a:prstDash val="solid"/>
                <a:miter lim="800000"/>
                <a:headEnd type="none" w="med" len="med"/>
                <a:tailEnd type="none" w="med" len="med"/>
              </a:ln>
              <a:solidFill>
                <a:srgbClr val="95BCF0"/>
              </a:solidFill>
              <a:latin typeface="+mj-lt"/>
              <a:ea typeface="맑은 고딕" panose="020B0503020000020004" pitchFamily="50" charset="-127"/>
              <a:cs typeface="뉴티맥스고딕 CJK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48855" y="6328660"/>
            <a:ext cx="319670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Copyrightⓒ </a:t>
            </a:r>
            <a:r>
              <a:rPr lang="en-US" altLang="ko-KR" sz="1000" b="1" dirty="0" smtClean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2025 </a:t>
            </a:r>
            <a:r>
              <a:rPr lang="en-US" altLang="ko-KR" sz="1000" b="1" dirty="0" err="1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TmaxSoft</a:t>
            </a:r>
            <a:r>
              <a:rPr lang="en-US" altLang="ko-KR" sz="1000" b="1" dirty="0">
                <a:solidFill>
                  <a:srgbClr val="95BCF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All Rights Reserved.</a:t>
            </a: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724571" y="6201983"/>
            <a:ext cx="2086430" cy="431891"/>
          </a:xfrm>
          <a:prstGeom prst="rect">
            <a:avLst/>
          </a:prstGeom>
        </p:spPr>
      </p:pic>
      <p:sp>
        <p:nvSpPr>
          <p:cNvPr id="8" name="object 27"/>
          <p:cNvSpPr txBox="1">
            <a:spLocks/>
          </p:cNvSpPr>
          <p:nvPr/>
        </p:nvSpPr>
        <p:spPr>
          <a:xfrm>
            <a:off x="848855" y="1934691"/>
            <a:ext cx="9171445" cy="848310"/>
          </a:xfrm>
          <a:prstGeom prst="rect">
            <a:avLst/>
          </a:prstGeom>
        </p:spPr>
        <p:txBody>
          <a:bodyPr vert="horz" wrap="square" lIns="0" tIns="17146" rIns="0" bIns="0" rtlCol="0" anchor="ctr">
            <a:sp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1">
              <a:lnSpc>
                <a:spcPct val="100000"/>
              </a:lnSpc>
              <a:spcBef>
                <a:spcPts val="135"/>
              </a:spcBef>
            </a:pPr>
            <a:r>
              <a:rPr lang="en-US" sz="54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Kubernetes </a:t>
            </a:r>
            <a:r>
              <a:rPr lang="ko-KR" altLang="en-US" sz="5400" b="1" dirty="0" smtClean="0">
                <a:solidFill>
                  <a:srgbClr val="95BCF0"/>
                </a:solidFill>
                <a:latin typeface="Univers LT Std 85 XBlk" panose="020B0904040702020204" pitchFamily="34" charset="0"/>
                <a:cs typeface="Arial Black"/>
              </a:rPr>
              <a:t>설치</a:t>
            </a:r>
            <a:endParaRPr lang="en-US" sz="6000" b="1" dirty="0">
              <a:solidFill>
                <a:srgbClr val="95BCF0"/>
              </a:solidFill>
              <a:latin typeface="Univers LT Std 85 XBlk" panose="020B0904040702020204" pitchFamily="34" charset="0"/>
              <a:cs typeface="Arial Black"/>
            </a:endParaRPr>
          </a:p>
        </p:txBody>
      </p:sp>
    </p:spTree>
    <p:extLst>
      <p:ext uri="{BB962C8B-B14F-4D97-AF65-F5344CB8AC3E}">
        <p14:creationId xmlns:p14="http://schemas.microsoft.com/office/powerpoint/2010/main" val="22446520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2"/>
          <p:cNvSpPr txBox="1"/>
          <p:nvPr/>
        </p:nvSpPr>
        <p:spPr>
          <a:xfrm>
            <a:off x="6162122" y="3254174"/>
            <a:ext cx="1801066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ko-KR" altLang="en-US" sz="1200" b="1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설치 조건 사항</a:t>
            </a:r>
            <a:endParaRPr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8" name="object 3"/>
          <p:cNvSpPr txBox="1"/>
          <p:nvPr/>
        </p:nvSpPr>
        <p:spPr>
          <a:xfrm>
            <a:off x="6162122" y="3863373"/>
            <a:ext cx="1801066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Runtime </a:t>
            </a:r>
            <a:r>
              <a:rPr lang="ko-KR" altLang="en-US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설치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9" name="object 4"/>
          <p:cNvSpPr txBox="1"/>
          <p:nvPr/>
        </p:nvSpPr>
        <p:spPr>
          <a:xfrm>
            <a:off x="6162122" y="4472572"/>
            <a:ext cx="1385652" cy="200698"/>
          </a:xfrm>
          <a:prstGeom prst="rect">
            <a:avLst/>
          </a:prstGeom>
        </p:spPr>
        <p:txBody>
          <a:bodyPr vert="horz" wrap="square" lIns="0" tIns="15877" rIns="0" bIns="0" rtlCol="0">
            <a:spAutoFit/>
          </a:bodyPr>
          <a:lstStyle/>
          <a:p>
            <a:pPr marL="12701">
              <a:spcBef>
                <a:spcPts val="125"/>
              </a:spcBef>
            </a:pPr>
            <a:r>
              <a:rPr lang="en-US" altLang="ko-KR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Kubernetes </a:t>
            </a:r>
            <a:r>
              <a:rPr lang="ko-KR" altLang="en-US" sz="1200" b="1" spc="-4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Arial Black"/>
              </a:rPr>
              <a:t>설치</a:t>
            </a:r>
            <a:endParaRPr lang="ko-KR" altLang="en-US" sz="1200" b="1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Arial Black"/>
            </a:endParaRPr>
          </a:p>
        </p:txBody>
      </p:sp>
      <p:sp>
        <p:nvSpPr>
          <p:cNvPr id="14" name="object 9"/>
          <p:cNvSpPr txBox="1"/>
          <p:nvPr/>
        </p:nvSpPr>
        <p:spPr>
          <a:xfrm>
            <a:off x="9217147" y="3276656"/>
            <a:ext cx="216220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sz="1100" dirty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03</a:t>
            </a:r>
          </a:p>
        </p:txBody>
      </p:sp>
      <p:sp>
        <p:nvSpPr>
          <p:cNvPr id="15" name="object 10"/>
          <p:cNvSpPr txBox="1"/>
          <p:nvPr/>
        </p:nvSpPr>
        <p:spPr>
          <a:xfrm>
            <a:off x="9217147" y="3902770"/>
            <a:ext cx="22369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07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16" name="object 11"/>
          <p:cNvSpPr txBox="1"/>
          <p:nvPr/>
        </p:nvSpPr>
        <p:spPr>
          <a:xfrm>
            <a:off x="9217147" y="4528884"/>
            <a:ext cx="223251" cy="1827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1">
              <a:spcBef>
                <a:spcPts val="106"/>
              </a:spcBef>
            </a:pPr>
            <a:r>
              <a:rPr lang="en-US" sz="1100" dirty="0" smtClean="0">
                <a:solidFill>
                  <a:srgbClr val="333333"/>
                </a:solidFill>
                <a:latin typeface="+mj-lt"/>
                <a:ea typeface="맑은 고딕" panose="020B0503020000020004" pitchFamily="50" charset="-127"/>
                <a:cs typeface="Lucida Sans Unicode"/>
              </a:rPr>
              <a:t>09</a:t>
            </a:r>
            <a:endParaRPr sz="1100" dirty="0">
              <a:solidFill>
                <a:srgbClr val="333333"/>
              </a:solidFill>
              <a:latin typeface="+mj-lt"/>
              <a:ea typeface="맑은 고딕" panose="020B0503020000020004" pitchFamily="50" charset="-127"/>
              <a:cs typeface="Lucida Sans Unicode"/>
            </a:endParaRPr>
          </a:p>
        </p:txBody>
      </p:sp>
      <p:sp>
        <p:nvSpPr>
          <p:cNvPr id="22" name="object 17"/>
          <p:cNvSpPr/>
          <p:nvPr/>
        </p:nvSpPr>
        <p:spPr>
          <a:xfrm>
            <a:off x="6173663" y="3636263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sp>
        <p:nvSpPr>
          <p:cNvPr id="23" name="object 18"/>
          <p:cNvSpPr/>
          <p:nvPr/>
        </p:nvSpPr>
        <p:spPr>
          <a:xfrm>
            <a:off x="6173663" y="4245462"/>
            <a:ext cx="2780564" cy="45719"/>
          </a:xfrm>
          <a:custGeom>
            <a:avLst/>
            <a:gdLst/>
            <a:ahLst/>
            <a:cxnLst/>
            <a:rect l="l" t="t" r="r" b="b"/>
            <a:pathLst>
              <a:path w="2585719">
                <a:moveTo>
                  <a:pt x="2585607" y="0"/>
                </a:moveTo>
                <a:lnTo>
                  <a:pt x="0" y="0"/>
                </a:lnTo>
              </a:path>
            </a:pathLst>
          </a:custGeom>
          <a:ln w="15706"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/>
          <a:lstStyle/>
          <a:p>
            <a:endParaRPr sz="1050" dirty="0">
              <a:solidFill>
                <a:srgbClr val="333333"/>
              </a:solidFill>
              <a:latin typeface="+mj-lt"/>
              <a:ea typeface="맑은 고딕" panose="020B0503020000020004" pitchFamily="50" charset="-127"/>
            </a:endParaRPr>
          </a:p>
        </p:txBody>
      </p:sp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5987950" y="1974133"/>
            <a:ext cx="83397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Contents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16852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20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설치 조건 사항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03422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설치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환경 구성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5179897"/>
              </p:ext>
            </p:extLst>
          </p:nvPr>
        </p:nvGraphicFramePr>
        <p:xfrm>
          <a:off x="741018" y="1919020"/>
          <a:ext cx="10864079" cy="222184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13421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4775329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  <a:gridCol w="4775329">
                  <a:extLst>
                    <a:ext uri="{9D8B030D-6E8A-4147-A177-3AD203B41FA5}">
                      <a16:colId xmlns:a16="http://schemas.microsoft.com/office/drawing/2014/main" val="3504889115"/>
                    </a:ext>
                  </a:extLst>
                </a:gridCol>
              </a:tblGrid>
              <a:tr h="3007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구분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6403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Ubuntu22.04 LTS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6403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Kubernetes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</a:t>
                      </a:r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32.1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/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/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  <a:tr h="6403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CRI-O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V1.24.6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Runtime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/>
                </a:tc>
                <a:extLst>
                  <a:ext uri="{0D108BD9-81ED-4DB2-BD59-A6C34878D82A}">
                    <a16:rowId xmlns:a16="http://schemas.microsoft.com/office/drawing/2014/main" val="199729963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1018" y="676978"/>
            <a:ext cx="10922000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설치 환경</a:t>
            </a:r>
            <a:endParaRPr lang="en-US" altLang="ko-KR" sz="1400" b="1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Ubuntu </a:t>
            </a:r>
            <a:r>
              <a:rPr lang="ko-KR" altLang="en-US" sz="1200" dirty="0" smtClean="0"/>
              <a:t>환경에서 </a:t>
            </a:r>
            <a:r>
              <a:rPr lang="en-US" altLang="ko-KR" sz="1200" dirty="0" smtClean="0"/>
              <a:t>Kubernetes </a:t>
            </a:r>
            <a:r>
              <a:rPr lang="ko-KR" altLang="en-US" sz="1200" dirty="0" smtClean="0"/>
              <a:t>설치 방법을 설명하였습니다</a:t>
            </a:r>
            <a:r>
              <a:rPr lang="en-US" altLang="ko-KR" sz="1200" dirty="0" smtClean="0"/>
              <a:t>. 2023</a:t>
            </a:r>
            <a:r>
              <a:rPr lang="ko-KR" altLang="en-US" sz="1200" dirty="0" smtClean="0"/>
              <a:t>년 </a:t>
            </a:r>
            <a:r>
              <a:rPr lang="en-US" altLang="ko-KR" sz="1200" dirty="0" smtClean="0"/>
              <a:t>11</a:t>
            </a:r>
            <a:r>
              <a:rPr lang="ko-KR" altLang="en-US" sz="1200" dirty="0" smtClean="0"/>
              <a:t>월 </a:t>
            </a:r>
            <a:r>
              <a:rPr lang="en-US" altLang="ko-KR" sz="1200" dirty="0" smtClean="0"/>
              <a:t>13</a:t>
            </a:r>
            <a:r>
              <a:rPr lang="ko-KR" altLang="en-US" sz="1200" dirty="0" smtClean="0"/>
              <a:t>일 부로 </a:t>
            </a:r>
            <a:r>
              <a:rPr lang="en-US" altLang="ko-KR" sz="1200" dirty="0" smtClean="0"/>
              <a:t>apt.kubernetes.io Repository</a:t>
            </a:r>
            <a:r>
              <a:rPr lang="ko-KR" altLang="en-US" sz="1200" dirty="0" smtClean="0"/>
              <a:t>는 </a:t>
            </a:r>
            <a:r>
              <a:rPr lang="en-US" altLang="ko-KR" sz="1200" dirty="0" smtClean="0"/>
              <a:t>Deprecated </a:t>
            </a:r>
            <a:r>
              <a:rPr lang="ko-KR" altLang="en-US" sz="1200" dirty="0" smtClean="0"/>
              <a:t>되었고</a:t>
            </a:r>
            <a:r>
              <a:rPr lang="en-US" altLang="ko-KR" sz="1200" dirty="0" smtClean="0"/>
              <a:t>, pkgs.k8s.io</a:t>
            </a:r>
            <a:r>
              <a:rPr lang="ko-KR" altLang="en-US" sz="1200" dirty="0" smtClean="0"/>
              <a:t>로 변경 되었습니다</a:t>
            </a:r>
            <a:r>
              <a:rPr lang="en-US" altLang="ko-KR" sz="1200" dirty="0" smtClean="0"/>
              <a:t>.</a:t>
            </a:r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/>
              <a:t>Kubernetes </a:t>
            </a:r>
            <a:r>
              <a:rPr lang="ko-KR" altLang="en-US" sz="1200" dirty="0" smtClean="0"/>
              <a:t>정책 상</a:t>
            </a:r>
            <a:r>
              <a:rPr lang="en-US" altLang="ko-KR" sz="1200" dirty="0" smtClean="0"/>
              <a:t>,</a:t>
            </a:r>
            <a:r>
              <a:rPr lang="ko-KR" altLang="en-US" sz="1200" dirty="0" smtClean="0"/>
              <a:t> </a:t>
            </a:r>
            <a:r>
              <a:rPr lang="en-US" altLang="ko-KR" sz="1200" dirty="0"/>
              <a:t>v1.28 </a:t>
            </a:r>
            <a:r>
              <a:rPr lang="ko-KR" altLang="en-US" sz="1200" dirty="0"/>
              <a:t>버전까지의 공식적인 릴리스 지원이 </a:t>
            </a:r>
            <a:r>
              <a:rPr lang="ko-KR" altLang="en-US" sz="1200" dirty="0" smtClean="0"/>
              <a:t>종료되었습니다</a:t>
            </a:r>
            <a:r>
              <a:rPr lang="en-US" altLang="ko-KR" sz="1200" dirty="0" smtClean="0"/>
              <a:t>.</a:t>
            </a:r>
            <a:br>
              <a:rPr lang="en-US" altLang="ko-KR" sz="1200" dirty="0" smtClean="0"/>
            </a:br>
            <a:r>
              <a:rPr lang="ko-KR" altLang="en-US" sz="1200" dirty="0" smtClean="0"/>
              <a:t>참고 </a:t>
            </a:r>
            <a:r>
              <a:rPr lang="en-US" altLang="ko-KR" sz="1200" dirty="0"/>
              <a:t>URL: </a:t>
            </a:r>
            <a:r>
              <a:rPr lang="en-US" altLang="ko-KR" sz="1200" dirty="0">
                <a:hlinkClick r:id="rId3"/>
              </a:rPr>
              <a:t>https://kubernetes.io/releases/patch-releases/#</a:t>
            </a:r>
            <a:r>
              <a:rPr lang="en-US" altLang="ko-KR" sz="1200" dirty="0" smtClean="0">
                <a:hlinkClick r:id="rId3"/>
              </a:rPr>
              <a:t>non-active-branch-history</a:t>
            </a:r>
            <a:endParaRPr lang="en-US" altLang="ko-KR" sz="1200" dirty="0" smtClean="0"/>
          </a:p>
          <a:p>
            <a:pPr marL="180000">
              <a:spcBef>
                <a:spcPts val="600"/>
              </a:spcBef>
            </a:pPr>
            <a:endParaRPr lang="en-US" altLang="ko-KR" sz="1200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en-US" altLang="ko-KR" sz="1200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741018" y="426541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OS </a:t>
            </a:r>
            <a:r>
              <a:rPr lang="ko-KR" altLang="en-US" sz="1400" b="1" dirty="0" smtClean="0"/>
              <a:t>환경</a:t>
            </a:r>
            <a:endParaRPr lang="en-US" altLang="ko-KR" sz="1400" b="1" dirty="0" smtClean="0"/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30841"/>
              </p:ext>
            </p:extLst>
          </p:nvPr>
        </p:nvGraphicFramePr>
        <p:xfrm>
          <a:off x="741017" y="4636155"/>
          <a:ext cx="10860933" cy="158149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13041">
                  <a:extLst>
                    <a:ext uri="{9D8B030D-6E8A-4147-A177-3AD203B41FA5}">
                      <a16:colId xmlns:a16="http://schemas.microsoft.com/office/drawing/2014/main" val="153318097"/>
                    </a:ext>
                  </a:extLst>
                </a:gridCol>
                <a:gridCol w="4773946">
                  <a:extLst>
                    <a:ext uri="{9D8B030D-6E8A-4147-A177-3AD203B41FA5}">
                      <a16:colId xmlns:a16="http://schemas.microsoft.com/office/drawing/2014/main" val="2398426215"/>
                    </a:ext>
                  </a:extLst>
                </a:gridCol>
                <a:gridCol w="4773946">
                  <a:extLst>
                    <a:ext uri="{9D8B030D-6E8A-4147-A177-3AD203B41FA5}">
                      <a16:colId xmlns:a16="http://schemas.microsoft.com/office/drawing/2014/main" val="3504889115"/>
                    </a:ext>
                  </a:extLst>
                </a:gridCol>
              </a:tblGrid>
              <a:tr h="3007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4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</a:rPr>
                        <a:t>구분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Master Node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4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Worker Node</a:t>
                      </a:r>
                      <a:endParaRPr lang="ko-KR" alt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12382401"/>
                  </a:ext>
                </a:extLst>
              </a:tr>
              <a:tr h="64035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CPU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2core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1core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13781775"/>
                  </a:ext>
                </a:extLst>
              </a:tr>
              <a:tr h="64035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Memory</a:t>
                      </a:r>
                      <a:endParaRPr 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2GB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2GB</a:t>
                      </a:r>
                      <a:endParaRPr 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6502" marR="6502" marT="6502" marB="0" anchor="ctr"/>
                </a:tc>
                <a:extLst>
                  <a:ext uri="{0D108BD9-81ED-4DB2-BD59-A6C34878D82A}">
                    <a16:rowId xmlns:a16="http://schemas.microsoft.com/office/drawing/2014/main" val="6224907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10927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설치 요구 사항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(1/2)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1018" y="676978"/>
            <a:ext cx="109220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방화벽 설정</a:t>
            </a:r>
            <a:endParaRPr lang="en-US" altLang="ko-KR" sz="1400" b="1" dirty="0" smtClean="0"/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Kubernetes</a:t>
            </a:r>
            <a:r>
              <a:rPr lang="ko-KR" altLang="en-US" sz="1200" dirty="0" smtClean="0"/>
              <a:t>에서 사용하는 </a:t>
            </a:r>
            <a:r>
              <a:rPr lang="en-US" altLang="ko-KR" sz="1200" dirty="0" smtClean="0"/>
              <a:t>Port Open</a:t>
            </a:r>
          </a:p>
        </p:txBody>
      </p:sp>
      <p:sp>
        <p:nvSpPr>
          <p:cNvPr id="9" name="TextBox 3"/>
          <p:cNvSpPr txBox="1"/>
          <p:nvPr/>
        </p:nvSpPr>
        <p:spPr>
          <a:xfrm>
            <a:off x="782847" y="1246365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ufw</a:t>
            </a:r>
            <a:r>
              <a:rPr lang="en-US" altLang="ko-KR" sz="1200" dirty="0" smtClean="0">
                <a:solidFill>
                  <a:schemeClr val="bg1"/>
                </a:solidFill>
              </a:rPr>
              <a:t> allow 6443:10250/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tcp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pPr algn="l"/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ufw</a:t>
            </a:r>
            <a:r>
              <a:rPr lang="en-US" altLang="ko-KR" sz="1200" dirty="0" smtClean="0">
                <a:solidFill>
                  <a:schemeClr val="bg1"/>
                </a:solidFill>
              </a:rPr>
              <a:t> disable</a:t>
            </a:r>
          </a:p>
          <a:p>
            <a:pPr algn="l"/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ufw</a:t>
            </a:r>
            <a:r>
              <a:rPr lang="en-US" altLang="ko-KR" sz="1200" dirty="0" smtClean="0">
                <a:solidFill>
                  <a:schemeClr val="bg1"/>
                </a:solidFill>
              </a:rPr>
              <a:t> enable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2847" y="1969065"/>
            <a:ext cx="10922000" cy="5693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err="1" smtClean="0"/>
              <a:t>Selinux</a:t>
            </a:r>
            <a:r>
              <a:rPr lang="en-US" altLang="ko-KR" sz="1400" b="1" dirty="0" smtClean="0"/>
              <a:t> off</a:t>
            </a:r>
          </a:p>
          <a:p>
            <a:pPr marL="360000" indent="-1800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ko-KR" sz="1200" dirty="0" err="1" smtClean="0"/>
              <a:t>Selinux</a:t>
            </a:r>
            <a:r>
              <a:rPr lang="ko-KR" altLang="en-US" sz="1200" dirty="0" smtClean="0"/>
              <a:t>가 활성화 되어 있는 경우 </a:t>
            </a:r>
            <a:r>
              <a:rPr lang="en-US" altLang="ko-KR" sz="1200" dirty="0" smtClean="0"/>
              <a:t>off </a:t>
            </a:r>
            <a:r>
              <a:rPr lang="ko-KR" altLang="en-US" sz="1200" dirty="0" smtClean="0"/>
              <a:t>설정</a:t>
            </a:r>
            <a:endParaRPr lang="en-US" altLang="ko-KR" sz="1200" dirty="0" smtClean="0"/>
          </a:p>
        </p:txBody>
      </p:sp>
      <p:sp>
        <p:nvSpPr>
          <p:cNvPr id="12" name="TextBox 3"/>
          <p:cNvSpPr txBox="1"/>
          <p:nvPr/>
        </p:nvSpPr>
        <p:spPr>
          <a:xfrm>
            <a:off x="782847" y="2538452"/>
            <a:ext cx="1083834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setenforce</a:t>
            </a:r>
            <a:r>
              <a:rPr lang="en-US" altLang="ko-KR" sz="1200" dirty="0" smtClean="0">
                <a:solidFill>
                  <a:schemeClr val="bg1"/>
                </a:solidFill>
              </a:rPr>
              <a:t> 0</a:t>
            </a:r>
          </a:p>
          <a:p>
            <a:pPr algn="l"/>
            <a:r>
              <a:rPr lang="en-US" altLang="ko-KR" sz="1200" dirty="0" smtClean="0">
                <a:solidFill>
                  <a:schemeClr val="bg1"/>
                </a:solidFill>
              </a:rPr>
              <a:t>$ vi 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etc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sysconfig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selinux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파일에서 아래 옵션 부분 설정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pPr algn="l"/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SELINUX=disabled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47" y="3476271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SWAP </a:t>
            </a:r>
            <a:r>
              <a:rPr lang="ko-KR" altLang="en-US" sz="1400" b="1" dirty="0" smtClean="0"/>
              <a:t>설정</a:t>
            </a:r>
            <a:endParaRPr lang="en-US" altLang="ko-KR" sz="1400" b="1" dirty="0" smtClean="0"/>
          </a:p>
        </p:txBody>
      </p:sp>
      <p:sp>
        <p:nvSpPr>
          <p:cNvPr id="14" name="TextBox 3"/>
          <p:cNvSpPr txBox="1"/>
          <p:nvPr/>
        </p:nvSpPr>
        <p:spPr>
          <a:xfrm>
            <a:off x="782847" y="3784048"/>
            <a:ext cx="10838341" cy="156966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 smtClean="0">
                <a:solidFill>
                  <a:schemeClr val="bg1"/>
                </a:solidFill>
              </a:rPr>
              <a:t># </a:t>
            </a:r>
            <a:r>
              <a:rPr lang="ko-KR" altLang="en-US" sz="1200" dirty="0" smtClean="0">
                <a:solidFill>
                  <a:schemeClr val="bg1"/>
                </a:solidFill>
              </a:rPr>
              <a:t>일시적 적용</a:t>
            </a:r>
            <a:r>
              <a:rPr lang="en-US" altLang="ko-KR" sz="1200" dirty="0" smtClean="0">
                <a:solidFill>
                  <a:schemeClr val="bg1"/>
                </a:solidFill>
              </a:rPr>
              <a:t>, </a:t>
            </a:r>
            <a:r>
              <a:rPr lang="ko-KR" altLang="en-US" sz="1200" dirty="0" smtClean="0">
                <a:solidFill>
                  <a:schemeClr val="bg1"/>
                </a:solidFill>
              </a:rPr>
              <a:t>서버 </a:t>
            </a:r>
            <a:r>
              <a:rPr lang="ko-KR" altLang="en-US" sz="1200" dirty="0" err="1" smtClean="0">
                <a:solidFill>
                  <a:schemeClr val="bg1"/>
                </a:solidFill>
              </a:rPr>
              <a:t>재기동</a:t>
            </a:r>
            <a:r>
              <a:rPr lang="ko-KR" altLang="en-US" sz="1200" dirty="0" smtClean="0">
                <a:solidFill>
                  <a:schemeClr val="bg1"/>
                </a:solidFill>
              </a:rPr>
              <a:t> 시 다시 </a:t>
            </a:r>
            <a:r>
              <a:rPr lang="en-US" altLang="ko-KR" sz="1200" dirty="0" smtClean="0">
                <a:solidFill>
                  <a:schemeClr val="bg1"/>
                </a:solidFill>
              </a:rPr>
              <a:t>swap </a:t>
            </a:r>
            <a:r>
              <a:rPr lang="ko-KR" altLang="en-US" sz="1200" dirty="0" smtClean="0">
                <a:solidFill>
                  <a:schemeClr val="bg1"/>
                </a:solidFill>
              </a:rPr>
              <a:t>사용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pPr algn="l"/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swapoff</a:t>
            </a:r>
            <a:r>
              <a:rPr lang="en-US" altLang="ko-KR" sz="1200" dirty="0" smtClean="0">
                <a:solidFill>
                  <a:schemeClr val="bg1"/>
                </a:solidFill>
              </a:rPr>
              <a:t> –a</a:t>
            </a:r>
          </a:p>
          <a:p>
            <a:pPr algn="l"/>
            <a:endParaRPr lang="en-US" altLang="ko-KR" sz="1200" dirty="0">
              <a:solidFill>
                <a:schemeClr val="bg1"/>
              </a:solidFill>
            </a:endParaRPr>
          </a:p>
          <a:p>
            <a:pPr algn="l"/>
            <a:r>
              <a:rPr lang="en-US" altLang="ko-KR" sz="1200" dirty="0" smtClean="0">
                <a:solidFill>
                  <a:schemeClr val="bg1"/>
                </a:solidFill>
              </a:rPr>
              <a:t># </a:t>
            </a:r>
            <a:r>
              <a:rPr lang="ko-KR" altLang="en-US" sz="1200" dirty="0" smtClean="0">
                <a:solidFill>
                  <a:schemeClr val="bg1"/>
                </a:solidFill>
              </a:rPr>
              <a:t>영구 적용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vi 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etc</a:t>
            </a:r>
            <a:r>
              <a:rPr lang="en-US" altLang="ko-KR" sz="1200" dirty="0" smtClean="0">
                <a:solidFill>
                  <a:schemeClr val="bg1"/>
                </a:solidFill>
              </a:rPr>
              <a:t>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fstab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#</a:t>
            </a:r>
            <a:r>
              <a:rPr lang="ko-KR" altLang="en-US" sz="1200" dirty="0">
                <a:solidFill>
                  <a:schemeClr val="bg1"/>
                </a:solidFill>
              </a:rPr>
              <a:t>파일에서 </a:t>
            </a:r>
            <a:r>
              <a:rPr lang="en-US" altLang="ko-KR" sz="1200" dirty="0">
                <a:solidFill>
                  <a:schemeClr val="bg1"/>
                </a:solidFill>
              </a:rPr>
              <a:t>swap </a:t>
            </a:r>
            <a:r>
              <a:rPr lang="ko-KR" altLang="en-US" sz="1200" dirty="0">
                <a:solidFill>
                  <a:schemeClr val="bg1"/>
                </a:solidFill>
              </a:rPr>
              <a:t>줄을 주석 처리</a:t>
            </a:r>
            <a:r>
              <a:rPr lang="en-US" altLang="ko-KR" sz="1200" dirty="0">
                <a:solidFill>
                  <a:schemeClr val="bg1"/>
                </a:solidFill>
              </a:rPr>
              <a:t/>
            </a:r>
            <a:br>
              <a:rPr lang="en-US" altLang="ko-KR" sz="1200" dirty="0">
                <a:solidFill>
                  <a:schemeClr val="bg1"/>
                </a:solidFill>
              </a:rPr>
            </a:br>
            <a:r>
              <a:rPr lang="en-US" altLang="ko-KR" sz="1200" dirty="0">
                <a:solidFill>
                  <a:schemeClr val="bg1"/>
                </a:solidFill>
              </a:rPr>
              <a:t>#/</a:t>
            </a:r>
            <a:r>
              <a:rPr lang="en-US" altLang="ko-KR" sz="1200" dirty="0" err="1">
                <a:solidFill>
                  <a:schemeClr val="bg1"/>
                </a:solidFill>
              </a:rPr>
              <a:t>swap.img</a:t>
            </a:r>
            <a:r>
              <a:rPr lang="en-US" altLang="ko-KR" sz="1200" dirty="0">
                <a:solidFill>
                  <a:schemeClr val="bg1"/>
                </a:solidFill>
              </a:rPr>
              <a:t>      none    swap    </a:t>
            </a:r>
            <a:r>
              <a:rPr lang="en-US" altLang="ko-KR" sz="1200" dirty="0" err="1">
                <a:solidFill>
                  <a:schemeClr val="bg1"/>
                </a:solidFill>
              </a:rPr>
              <a:t>sw</a:t>
            </a:r>
            <a:r>
              <a:rPr lang="en-US" altLang="ko-KR" sz="1200" dirty="0">
                <a:solidFill>
                  <a:schemeClr val="bg1"/>
                </a:solidFill>
              </a:rPr>
              <a:t>      0       0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88486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설치 요구 사항</a:t>
            </a:r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(2/2)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1018" y="67697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err="1" smtClean="0"/>
              <a:t>HostName</a:t>
            </a:r>
            <a:r>
              <a:rPr lang="ko-KR" altLang="en-US" sz="1400" b="1" dirty="0" smtClean="0"/>
              <a:t>과 </a:t>
            </a:r>
            <a:r>
              <a:rPr lang="en-US" altLang="ko-KR" sz="1400" b="1" dirty="0" smtClean="0"/>
              <a:t>IP Mapping </a:t>
            </a:r>
            <a:r>
              <a:rPr lang="ko-KR" altLang="en-US" sz="1400" b="1" dirty="0" smtClean="0"/>
              <a:t>설정</a:t>
            </a:r>
            <a:endParaRPr lang="en-US" altLang="ko-KR" sz="1400" b="1" dirty="0" smtClean="0"/>
          </a:p>
        </p:txBody>
      </p:sp>
      <p:sp>
        <p:nvSpPr>
          <p:cNvPr id="9" name="TextBox 3"/>
          <p:cNvSpPr txBox="1"/>
          <p:nvPr/>
        </p:nvSpPr>
        <p:spPr>
          <a:xfrm>
            <a:off x="782847" y="1017768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smtClean="0">
                <a:solidFill>
                  <a:schemeClr val="bg1"/>
                </a:solidFill>
              </a:rPr>
              <a:t>vi /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etc</a:t>
            </a:r>
            <a:r>
              <a:rPr lang="en-US" altLang="ko-KR" sz="1200" dirty="0" smtClean="0">
                <a:solidFill>
                  <a:schemeClr val="bg1"/>
                </a:solidFill>
              </a:rPr>
              <a:t>/hosts</a:t>
            </a:r>
            <a:br>
              <a:rPr lang="en-US" altLang="ko-KR" sz="1200" dirty="0" smtClean="0">
                <a:solidFill>
                  <a:schemeClr val="bg1"/>
                </a:solidFill>
              </a:rPr>
            </a:br>
            <a:r>
              <a:rPr lang="en-US" altLang="ko-KR" sz="1200" dirty="0" smtClean="0">
                <a:solidFill>
                  <a:schemeClr val="bg1"/>
                </a:solidFill>
              </a:rPr>
              <a:t>…</a:t>
            </a:r>
            <a:br>
              <a:rPr lang="en-US" altLang="ko-KR" sz="1200" dirty="0" smtClean="0">
                <a:solidFill>
                  <a:schemeClr val="bg1"/>
                </a:solidFill>
              </a:rPr>
            </a:br>
            <a:r>
              <a:rPr lang="en-US" altLang="ko-KR" sz="1200" dirty="0" smtClean="0">
                <a:solidFill>
                  <a:schemeClr val="bg1"/>
                </a:solidFill>
              </a:rPr>
              <a:t>127.0.0.1 ‘hostname’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2847" y="170071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Kernel Module and Parameters </a:t>
            </a:r>
            <a:r>
              <a:rPr lang="ko-KR" altLang="en-US" sz="1400" b="1" dirty="0" smtClean="0"/>
              <a:t>설정</a:t>
            </a:r>
            <a:endParaRPr lang="en-US" altLang="ko-KR" sz="1400" b="1" dirty="0" smtClean="0"/>
          </a:p>
        </p:txBody>
      </p:sp>
      <p:sp>
        <p:nvSpPr>
          <p:cNvPr id="12" name="TextBox 3"/>
          <p:cNvSpPr txBox="1"/>
          <p:nvPr/>
        </p:nvSpPr>
        <p:spPr>
          <a:xfrm>
            <a:off x="782847" y="2061374"/>
            <a:ext cx="10838341" cy="415498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ko-KR" sz="1200" dirty="0" smtClean="0">
                <a:solidFill>
                  <a:schemeClr val="bg1"/>
                </a:solidFill>
              </a:rPr>
              <a:t># OS </a:t>
            </a:r>
            <a:r>
              <a:rPr lang="ko-KR" altLang="en-US" sz="1200" dirty="0" smtClean="0">
                <a:solidFill>
                  <a:schemeClr val="bg1"/>
                </a:solidFill>
              </a:rPr>
              <a:t>모듈 설정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modprobe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br_netfilter</a:t>
            </a:r>
            <a:r>
              <a:rPr lang="en-US" altLang="ko-KR" sz="1200" dirty="0">
                <a:solidFill>
                  <a:schemeClr val="bg1"/>
                </a:solidFill>
              </a:rPr>
              <a:t> // </a:t>
            </a:r>
            <a:r>
              <a:rPr lang="ko-KR" altLang="en-US" sz="1200" dirty="0">
                <a:solidFill>
                  <a:schemeClr val="bg1"/>
                </a:solidFill>
              </a:rPr>
              <a:t>해당 모듈 기동 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lsmod</a:t>
            </a:r>
            <a:r>
              <a:rPr lang="en-US" altLang="ko-KR" sz="1200" dirty="0">
                <a:solidFill>
                  <a:schemeClr val="bg1"/>
                </a:solidFill>
              </a:rPr>
              <a:t> | </a:t>
            </a:r>
            <a:r>
              <a:rPr lang="en-US" altLang="ko-KR" sz="1200" dirty="0" err="1">
                <a:solidFill>
                  <a:schemeClr val="bg1"/>
                </a:solidFill>
              </a:rPr>
              <a:t>grep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br_netfilter</a:t>
            </a:r>
            <a:r>
              <a:rPr lang="en-US" altLang="ko-KR" sz="1200" dirty="0">
                <a:solidFill>
                  <a:schemeClr val="bg1"/>
                </a:solidFill>
              </a:rPr>
              <a:t> // </a:t>
            </a:r>
            <a:r>
              <a:rPr lang="ko-KR" altLang="en-US" sz="1200" dirty="0">
                <a:solidFill>
                  <a:schemeClr val="bg1"/>
                </a:solidFill>
              </a:rPr>
              <a:t>모듈 기동 확인</a:t>
            </a:r>
          </a:p>
          <a:p>
            <a:endParaRPr lang="ko-KR" altLang="en-US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# </a:t>
            </a:r>
            <a:r>
              <a:rPr lang="ko-KR" altLang="en-US" sz="1200" dirty="0">
                <a:solidFill>
                  <a:schemeClr val="bg1"/>
                </a:solidFill>
              </a:rPr>
              <a:t>영구적으로 모듈 기동 설정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vi /</a:t>
            </a:r>
            <a:r>
              <a:rPr lang="en-US" altLang="ko-KR" sz="1200" dirty="0" err="1">
                <a:solidFill>
                  <a:schemeClr val="bg1"/>
                </a:solidFill>
              </a:rPr>
              <a:t>etc</a:t>
            </a:r>
            <a:r>
              <a:rPr lang="en-US" altLang="ko-KR" sz="1200" dirty="0">
                <a:solidFill>
                  <a:schemeClr val="bg1"/>
                </a:solidFill>
              </a:rPr>
              <a:t>/modules-</a:t>
            </a:r>
            <a:r>
              <a:rPr lang="en-US" altLang="ko-KR" sz="1200" dirty="0" err="1">
                <a:solidFill>
                  <a:schemeClr val="bg1"/>
                </a:solidFill>
              </a:rPr>
              <a:t>load.d</a:t>
            </a:r>
            <a:r>
              <a:rPr lang="en-US" altLang="ko-KR" sz="1200" dirty="0">
                <a:solidFill>
                  <a:schemeClr val="bg1"/>
                </a:solidFill>
              </a:rPr>
              <a:t>/99-Kubernetes.conf </a:t>
            </a:r>
            <a:r>
              <a:rPr lang="ko-KR" altLang="en-US" sz="1200" dirty="0">
                <a:solidFill>
                  <a:schemeClr val="bg1"/>
                </a:solidFill>
              </a:rPr>
              <a:t>파일에서 아래 내용 작성 후 저장</a:t>
            </a:r>
          </a:p>
          <a:p>
            <a:r>
              <a:rPr lang="en-US" altLang="ko-KR" sz="1200" dirty="0" err="1">
                <a:solidFill>
                  <a:schemeClr val="bg1"/>
                </a:solidFill>
              </a:rPr>
              <a:t>br_netfilter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overlay </a:t>
            </a:r>
          </a:p>
          <a:p>
            <a:r>
              <a:rPr lang="en-US" altLang="ko-KR" sz="1200" dirty="0" err="1">
                <a:solidFill>
                  <a:schemeClr val="bg1"/>
                </a:solidFill>
              </a:rPr>
              <a:t>ip_vs_rr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</a:p>
          <a:p>
            <a:r>
              <a:rPr lang="en-US" altLang="ko-KR" sz="1200" dirty="0" err="1">
                <a:solidFill>
                  <a:schemeClr val="bg1"/>
                </a:solidFill>
              </a:rPr>
              <a:t>ip_vs_wrr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</a:p>
          <a:p>
            <a:r>
              <a:rPr lang="en-US" altLang="ko-KR" sz="1200" dirty="0" err="1">
                <a:solidFill>
                  <a:schemeClr val="bg1"/>
                </a:solidFill>
              </a:rPr>
              <a:t>ip_vs_sh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</a:p>
          <a:p>
            <a:r>
              <a:rPr lang="en-US" altLang="ko-KR" sz="1200" dirty="0" err="1">
                <a:solidFill>
                  <a:schemeClr val="bg1"/>
                </a:solidFill>
              </a:rPr>
              <a:t>ip_vs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nf_conntrack_ipv4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# </a:t>
            </a:r>
            <a:r>
              <a:rPr lang="ko-KR" altLang="en-US" sz="1200" dirty="0">
                <a:solidFill>
                  <a:schemeClr val="bg1"/>
                </a:solidFill>
              </a:rPr>
              <a:t>네트워크 </a:t>
            </a:r>
            <a:r>
              <a:rPr lang="ko-KR" altLang="en-US" sz="1200" dirty="0" err="1">
                <a:solidFill>
                  <a:schemeClr val="bg1"/>
                </a:solidFill>
              </a:rPr>
              <a:t>파라미터</a:t>
            </a:r>
            <a:r>
              <a:rPr lang="ko-KR" altLang="en-US" sz="1200" dirty="0">
                <a:solidFill>
                  <a:schemeClr val="bg1"/>
                </a:solidFill>
              </a:rPr>
              <a:t> 설정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vi /</a:t>
            </a:r>
            <a:r>
              <a:rPr lang="en-US" altLang="ko-KR" sz="1200" dirty="0" err="1">
                <a:solidFill>
                  <a:schemeClr val="bg1"/>
                </a:solidFill>
              </a:rPr>
              <a:t>etc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sysctl.d</a:t>
            </a:r>
            <a:r>
              <a:rPr lang="en-US" altLang="ko-KR" sz="1200" dirty="0">
                <a:solidFill>
                  <a:schemeClr val="bg1"/>
                </a:solidFill>
              </a:rPr>
              <a:t>/99-k8s.conf </a:t>
            </a:r>
            <a:r>
              <a:rPr lang="ko-KR" altLang="en-US" sz="1200" dirty="0">
                <a:solidFill>
                  <a:schemeClr val="bg1"/>
                </a:solidFill>
              </a:rPr>
              <a:t>파일에서 아래 내용 작성 후 저장</a:t>
            </a:r>
          </a:p>
          <a:p>
            <a:r>
              <a:rPr lang="en-US" altLang="ko-KR" sz="1200" dirty="0" err="1">
                <a:solidFill>
                  <a:schemeClr val="bg1"/>
                </a:solidFill>
              </a:rPr>
              <a:t>net.bridge.bridge</a:t>
            </a: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en-US" altLang="ko-KR" sz="1200" dirty="0" err="1">
                <a:solidFill>
                  <a:schemeClr val="bg1"/>
                </a:solidFill>
              </a:rPr>
              <a:t>nf</a:t>
            </a:r>
            <a:r>
              <a:rPr lang="en-US" altLang="ko-KR" sz="1200" dirty="0">
                <a:solidFill>
                  <a:schemeClr val="bg1"/>
                </a:solidFill>
              </a:rPr>
              <a:t>-call-</a:t>
            </a:r>
            <a:r>
              <a:rPr lang="en-US" altLang="ko-KR" sz="1200" dirty="0" err="1">
                <a:solidFill>
                  <a:schemeClr val="bg1"/>
                </a:solidFill>
              </a:rPr>
              <a:t>iptables</a:t>
            </a:r>
            <a:r>
              <a:rPr lang="en-US" altLang="ko-KR" sz="1200" dirty="0">
                <a:solidFill>
                  <a:schemeClr val="bg1"/>
                </a:solidFill>
              </a:rPr>
              <a:t>=1 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net.ipv4.ip_forward=1 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net.bridge.bridge-nf-call-ip6tables=1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# </a:t>
            </a:r>
            <a:r>
              <a:rPr lang="ko-KR" altLang="en-US" sz="1200" dirty="0">
                <a:solidFill>
                  <a:schemeClr val="bg1"/>
                </a:solidFill>
              </a:rPr>
              <a:t>설정 후 적용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sysctl</a:t>
            </a:r>
            <a:r>
              <a:rPr lang="en-US" altLang="ko-KR" sz="1200" dirty="0">
                <a:solidFill>
                  <a:schemeClr val="bg1"/>
                </a:solidFill>
              </a:rPr>
              <a:t> --system -p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81199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20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Runtime </a:t>
            </a:r>
            <a:r>
              <a:rPr lang="ko-KR" altLang="en-US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설치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3611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CRI-O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1018" y="67697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Kubernetes Engine Runtime</a:t>
            </a:r>
            <a:r>
              <a:rPr lang="ko-KR" altLang="en-US" sz="1400" b="1" dirty="0" smtClean="0"/>
              <a:t> </a:t>
            </a:r>
            <a:r>
              <a:rPr lang="en-US" altLang="ko-KR" sz="1400" b="1" dirty="0" smtClean="0"/>
              <a:t>CRI-O </a:t>
            </a:r>
            <a:r>
              <a:rPr lang="ko-KR" altLang="en-US" sz="1400" b="1" dirty="0" smtClean="0"/>
              <a:t>설치</a:t>
            </a:r>
            <a:endParaRPr lang="en-US" altLang="ko-KR" sz="1400" b="1" dirty="0" smtClean="0"/>
          </a:p>
        </p:txBody>
      </p:sp>
      <p:sp>
        <p:nvSpPr>
          <p:cNvPr id="9" name="TextBox 3"/>
          <p:cNvSpPr txBox="1"/>
          <p:nvPr/>
        </p:nvSpPr>
        <p:spPr>
          <a:xfrm>
            <a:off x="782847" y="1017768"/>
            <a:ext cx="10838341" cy="415498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# </a:t>
            </a:r>
            <a:r>
              <a:rPr lang="ko-KR" altLang="en-US" sz="1200" dirty="0">
                <a:solidFill>
                  <a:schemeClr val="bg1"/>
                </a:solidFill>
              </a:rPr>
              <a:t>환경 변수 설정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export OS=xUbuntu_22.04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export VERSION=1.24:/1.24.6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# Repository </a:t>
            </a:r>
            <a:r>
              <a:rPr lang="ko-KR" altLang="en-US" sz="1200" dirty="0">
                <a:solidFill>
                  <a:schemeClr val="bg1"/>
                </a:solidFill>
              </a:rPr>
              <a:t>다운로드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echo "deb https://download.opensuse.org/repositories/devel:/kubic:/libcontainers:/stable/$OS/ /" &gt; /</a:t>
            </a:r>
            <a:r>
              <a:rPr lang="en-US" altLang="ko-KR" sz="1200" dirty="0" err="1">
                <a:solidFill>
                  <a:schemeClr val="bg1"/>
                </a:solidFill>
              </a:rPr>
              <a:t>etc</a:t>
            </a:r>
            <a:r>
              <a:rPr lang="en-US" altLang="ko-KR" sz="1200" dirty="0">
                <a:solidFill>
                  <a:schemeClr val="bg1"/>
                </a:solidFill>
              </a:rPr>
              <a:t>/apt/</a:t>
            </a:r>
            <a:r>
              <a:rPr lang="en-US" altLang="ko-KR" sz="1200" dirty="0" err="1">
                <a:solidFill>
                  <a:schemeClr val="bg1"/>
                </a:solidFill>
              </a:rPr>
              <a:t>sources.list.d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devel:kubic:libcontainers:stable.list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echo "deb </a:t>
            </a:r>
            <a:r>
              <a:rPr lang="en-US" altLang="ko-KR" sz="1200" dirty="0" smtClean="0">
                <a:solidFill>
                  <a:schemeClr val="bg1"/>
                </a:solidFill>
                <a:hlinkClick r:id="rId3"/>
              </a:rPr>
              <a:t>https</a:t>
            </a:r>
            <a:r>
              <a:rPr lang="en-US" altLang="ko-KR" sz="1200" dirty="0">
                <a:solidFill>
                  <a:schemeClr val="bg1"/>
                </a:solidFill>
                <a:hlinkClick r:id="rId3"/>
              </a:rPr>
              <a:t>://download.opensuse.org/repositories/devel:/kubic:/libcontainers:/stable:/cri-o:/1.24:/1.24.6/xUbuntu_22.04</a:t>
            </a:r>
            <a:r>
              <a:rPr lang="en-US" altLang="ko-KR" sz="1200" dirty="0" smtClean="0">
                <a:solidFill>
                  <a:schemeClr val="bg1"/>
                </a:solidFill>
                <a:hlinkClick r:id="rId3"/>
              </a:rPr>
              <a:t>/</a:t>
            </a:r>
            <a:r>
              <a:rPr lang="en-US" altLang="ko-KR" sz="1200" dirty="0" smtClean="0">
                <a:solidFill>
                  <a:schemeClr val="bg1"/>
                </a:solidFill>
              </a:rPr>
              <a:t> /" </a:t>
            </a:r>
            <a:r>
              <a:rPr lang="en-US" altLang="ko-KR" sz="1200" dirty="0">
                <a:solidFill>
                  <a:schemeClr val="bg1"/>
                </a:solidFill>
              </a:rPr>
              <a:t>&gt; /</a:t>
            </a:r>
            <a:r>
              <a:rPr lang="en-US" altLang="ko-KR" sz="1200" dirty="0" err="1">
                <a:solidFill>
                  <a:schemeClr val="bg1"/>
                </a:solidFill>
              </a:rPr>
              <a:t>etc</a:t>
            </a:r>
            <a:r>
              <a:rPr lang="en-US" altLang="ko-KR" sz="1200" dirty="0">
                <a:solidFill>
                  <a:schemeClr val="bg1"/>
                </a:solidFill>
              </a:rPr>
              <a:t>/apt/</a:t>
            </a:r>
            <a:r>
              <a:rPr lang="en-US" altLang="ko-KR" sz="1200" dirty="0" err="1">
                <a:solidFill>
                  <a:schemeClr val="bg1"/>
                </a:solidFill>
              </a:rPr>
              <a:t>sources.list.d</a:t>
            </a:r>
            <a:r>
              <a:rPr lang="en-US" altLang="ko-KR" sz="1200" dirty="0">
                <a:solidFill>
                  <a:schemeClr val="bg1"/>
                </a:solidFill>
              </a:rPr>
              <a:t>/devel:kubic:libcontainers:stable:cri-o:1.24:1.24.6.list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curl -L https://download.opensuse.org/repositories/devel:/kubic:/libcontainers:/stable:/cri-o:/$VERSION/$OS/Release.key | apt-key add -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curl -L https://download.opensuse.org/repositories/devel:/kubic:/libcontainers:/stable/$OS/Release.key | apt-key add -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# CRI-O </a:t>
            </a:r>
            <a:r>
              <a:rPr lang="ko-KR" altLang="en-US" sz="1200" dirty="0">
                <a:solidFill>
                  <a:schemeClr val="bg1"/>
                </a:solidFill>
              </a:rPr>
              <a:t>설치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apt-get update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apt-get install -y cri-o-</a:t>
            </a:r>
            <a:r>
              <a:rPr lang="en-US" altLang="ko-KR" sz="1200" dirty="0" err="1">
                <a:solidFill>
                  <a:schemeClr val="bg1"/>
                </a:solidFill>
              </a:rPr>
              <a:t>runc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$ apt-get install -y cri-o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# CRI-O </a:t>
            </a:r>
            <a:r>
              <a:rPr lang="ko-KR" altLang="en-US" sz="1200" dirty="0">
                <a:solidFill>
                  <a:schemeClr val="bg1"/>
                </a:solidFill>
              </a:rPr>
              <a:t>기동 및 확인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systemctl</a:t>
            </a:r>
            <a:r>
              <a:rPr lang="en-US" altLang="ko-KR" sz="1200" dirty="0">
                <a:solidFill>
                  <a:schemeClr val="bg1"/>
                </a:solidFill>
              </a:rPr>
              <a:t> start </a:t>
            </a:r>
            <a:r>
              <a:rPr lang="en-US" altLang="ko-KR" sz="1200" dirty="0" err="1">
                <a:solidFill>
                  <a:schemeClr val="bg1"/>
                </a:solidFill>
              </a:rPr>
              <a:t>crio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systemctl</a:t>
            </a:r>
            <a:r>
              <a:rPr lang="en-US" altLang="ko-KR" sz="1200" dirty="0">
                <a:solidFill>
                  <a:schemeClr val="bg1"/>
                </a:solidFill>
              </a:rPr>
              <a:t> enable </a:t>
            </a:r>
            <a:r>
              <a:rPr lang="en-US" altLang="ko-KR" sz="1200" dirty="0" err="1">
                <a:solidFill>
                  <a:schemeClr val="bg1"/>
                </a:solidFill>
              </a:rPr>
              <a:t>crio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systemctl</a:t>
            </a:r>
            <a:r>
              <a:rPr lang="en-US" altLang="ko-KR" sz="1200" dirty="0">
                <a:solidFill>
                  <a:schemeClr val="bg1"/>
                </a:solidFill>
              </a:rPr>
              <a:t> status </a:t>
            </a:r>
            <a:r>
              <a:rPr lang="en-US" altLang="ko-KR" sz="1200" dirty="0" err="1">
                <a:solidFill>
                  <a:schemeClr val="bg1"/>
                </a:solidFill>
              </a:rPr>
              <a:t>crio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6728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object 3"/>
          <p:cNvPicPr/>
          <p:nvPr/>
        </p:nvPicPr>
        <p:blipFill rotWithShape="1">
          <a:blip r:embed="rId3" cstate="print"/>
          <a:srcRect r="62326"/>
          <a:stretch/>
        </p:blipFill>
        <p:spPr>
          <a:xfrm>
            <a:off x="0" y="2"/>
            <a:ext cx="4114800" cy="6857998"/>
          </a:xfrm>
          <a:prstGeom prst="rect">
            <a:avLst/>
          </a:prstGeom>
        </p:spPr>
      </p:pic>
      <p:pic>
        <p:nvPicPr>
          <p:cNvPr id="41" name="그림 40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68" y="6308370"/>
            <a:ext cx="1157417" cy="119213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934" y="742008"/>
            <a:ext cx="3079166" cy="80268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987950" y="3105835"/>
            <a:ext cx="6204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 </a:t>
            </a:r>
            <a:r>
              <a:rPr lang="ko-KR" altLang="en-US" sz="3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설치</a:t>
            </a:r>
            <a:endParaRPr lang="ko-KR" altLang="en-US" sz="3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54766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설치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1018" y="67697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Kubernetes apt Repository </a:t>
            </a:r>
            <a:r>
              <a:rPr lang="ko-KR" altLang="en-US" sz="1400" b="1" dirty="0" smtClean="0"/>
              <a:t>사용을 위한 필요한 </a:t>
            </a:r>
            <a:r>
              <a:rPr lang="en-US" altLang="ko-KR" sz="1400" b="1" dirty="0" smtClean="0"/>
              <a:t>Package </a:t>
            </a:r>
            <a:r>
              <a:rPr lang="ko-KR" altLang="en-US" sz="1400" b="1" dirty="0" smtClean="0"/>
              <a:t>설치</a:t>
            </a:r>
            <a:endParaRPr lang="en-US" altLang="ko-KR" sz="1400" b="1" dirty="0" smtClean="0"/>
          </a:p>
        </p:txBody>
      </p:sp>
      <p:sp>
        <p:nvSpPr>
          <p:cNvPr id="9" name="TextBox 3"/>
          <p:cNvSpPr txBox="1"/>
          <p:nvPr/>
        </p:nvSpPr>
        <p:spPr>
          <a:xfrm>
            <a:off x="782847" y="1047585"/>
            <a:ext cx="1083834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apt-get update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apt-get install -y apt-transport-https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apt-get install -y ca-certificates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apt-get install -y curl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2847" y="1899492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Kubernetes Package </a:t>
            </a:r>
            <a:r>
              <a:rPr lang="ko-KR" altLang="en-US" sz="1400" b="1" dirty="0" smtClean="0"/>
              <a:t>사용을 위한 </a:t>
            </a:r>
            <a:r>
              <a:rPr lang="en-US" altLang="ko-KR" sz="1400" b="1" dirty="0" smtClean="0"/>
              <a:t>Public Key </a:t>
            </a:r>
            <a:r>
              <a:rPr lang="ko-KR" altLang="en-US" sz="1400" b="1" dirty="0" smtClean="0"/>
              <a:t>다운로드</a:t>
            </a:r>
            <a:endParaRPr lang="en-US" altLang="ko-KR" sz="1400" b="1" dirty="0" smtClean="0"/>
          </a:p>
        </p:txBody>
      </p:sp>
      <p:sp>
        <p:nvSpPr>
          <p:cNvPr id="12" name="TextBox 3"/>
          <p:cNvSpPr txBox="1"/>
          <p:nvPr/>
        </p:nvSpPr>
        <p:spPr>
          <a:xfrm>
            <a:off x="782847" y="2280038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curl </a:t>
            </a:r>
            <a:r>
              <a:rPr lang="en-US" altLang="ko-KR" sz="1200" dirty="0">
                <a:solidFill>
                  <a:schemeClr val="bg1"/>
                </a:solidFill>
              </a:rPr>
              <a:t>-</a:t>
            </a:r>
            <a:r>
              <a:rPr lang="en-US" altLang="ko-KR" sz="1200" dirty="0" err="1">
                <a:solidFill>
                  <a:schemeClr val="bg1"/>
                </a:solidFill>
              </a:rPr>
              <a:t>fsSL</a:t>
            </a:r>
            <a:r>
              <a:rPr lang="en-US" altLang="ko-KR" sz="1200" dirty="0">
                <a:solidFill>
                  <a:schemeClr val="bg1"/>
                </a:solidFill>
              </a:rPr>
              <a:t> https://pkgs.k8s.io/core:/stable:/</a:t>
            </a:r>
            <a:r>
              <a:rPr lang="en-US" altLang="ko-KR" sz="1200" dirty="0" smtClean="0">
                <a:solidFill>
                  <a:schemeClr val="bg1"/>
                </a:solidFill>
              </a:rPr>
              <a:t>v1.32/deb/Release.key </a:t>
            </a:r>
            <a:r>
              <a:rPr lang="en-US" altLang="ko-KR" sz="1200" dirty="0">
                <a:solidFill>
                  <a:schemeClr val="bg1"/>
                </a:solidFill>
              </a:rPr>
              <a:t>| </a:t>
            </a:r>
            <a:r>
              <a:rPr lang="en-US" altLang="ko-KR" sz="1200" dirty="0" err="1">
                <a:solidFill>
                  <a:schemeClr val="bg1"/>
                </a:solidFill>
              </a:rPr>
              <a:t>sudo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gpg</a:t>
            </a:r>
            <a:r>
              <a:rPr lang="en-US" altLang="ko-KR" sz="1200" dirty="0">
                <a:solidFill>
                  <a:schemeClr val="bg1"/>
                </a:solidFill>
              </a:rPr>
              <a:t> --</a:t>
            </a:r>
            <a:r>
              <a:rPr lang="en-US" altLang="ko-KR" sz="1200" dirty="0" err="1">
                <a:solidFill>
                  <a:schemeClr val="bg1"/>
                </a:solidFill>
              </a:rPr>
              <a:t>dearmor</a:t>
            </a:r>
            <a:r>
              <a:rPr lang="en-US" altLang="ko-KR" sz="1200" dirty="0">
                <a:solidFill>
                  <a:schemeClr val="bg1"/>
                </a:solidFill>
              </a:rPr>
              <a:t> -o /</a:t>
            </a:r>
            <a:r>
              <a:rPr lang="en-US" altLang="ko-KR" sz="1200" dirty="0" err="1">
                <a:solidFill>
                  <a:schemeClr val="bg1"/>
                </a:solidFill>
              </a:rPr>
              <a:t>etc</a:t>
            </a:r>
            <a:r>
              <a:rPr lang="en-US" altLang="ko-KR" sz="1200" dirty="0">
                <a:solidFill>
                  <a:schemeClr val="bg1"/>
                </a:solidFill>
              </a:rPr>
              <a:t>/apt/keyrings/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-apt-</a:t>
            </a:r>
            <a:r>
              <a:rPr lang="en-US" altLang="ko-KR" sz="1200" dirty="0" err="1">
                <a:solidFill>
                  <a:schemeClr val="bg1"/>
                </a:solidFill>
              </a:rPr>
              <a:t>keyring.gpg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2847" y="259168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Kubernetes Repository </a:t>
            </a:r>
            <a:r>
              <a:rPr lang="ko-KR" altLang="en-US" sz="1400" b="1" dirty="0" smtClean="0"/>
              <a:t>추가</a:t>
            </a:r>
            <a:endParaRPr lang="en-US" altLang="ko-KR" sz="1400" b="1" dirty="0" smtClean="0"/>
          </a:p>
        </p:txBody>
      </p:sp>
      <p:sp>
        <p:nvSpPr>
          <p:cNvPr id="14" name="TextBox 3"/>
          <p:cNvSpPr txBox="1"/>
          <p:nvPr/>
        </p:nvSpPr>
        <p:spPr>
          <a:xfrm>
            <a:off x="782847" y="2959102"/>
            <a:ext cx="10838341" cy="46166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echo </a:t>
            </a:r>
            <a:r>
              <a:rPr lang="en-US" altLang="ko-KR" sz="1200" dirty="0">
                <a:solidFill>
                  <a:schemeClr val="bg1"/>
                </a:solidFill>
              </a:rPr>
              <a:t>'deb [signed-by=/</a:t>
            </a:r>
            <a:r>
              <a:rPr lang="en-US" altLang="ko-KR" sz="1200" dirty="0" err="1">
                <a:solidFill>
                  <a:schemeClr val="bg1"/>
                </a:solidFill>
              </a:rPr>
              <a:t>etc</a:t>
            </a:r>
            <a:r>
              <a:rPr lang="en-US" altLang="ko-KR" sz="1200" dirty="0">
                <a:solidFill>
                  <a:schemeClr val="bg1"/>
                </a:solidFill>
              </a:rPr>
              <a:t>/apt/keyrings/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-apt-</a:t>
            </a:r>
            <a:r>
              <a:rPr lang="en-US" altLang="ko-KR" sz="1200" dirty="0" err="1">
                <a:solidFill>
                  <a:schemeClr val="bg1"/>
                </a:solidFill>
              </a:rPr>
              <a:t>keyring.gpg</a:t>
            </a:r>
            <a:r>
              <a:rPr lang="en-US" altLang="ko-KR" sz="1200" dirty="0">
                <a:solidFill>
                  <a:schemeClr val="bg1"/>
                </a:solidFill>
              </a:rPr>
              <a:t>] https://pkgs.k8s.io/core:/stable:/</a:t>
            </a:r>
            <a:r>
              <a:rPr lang="en-US" altLang="ko-KR" sz="1200" dirty="0" smtClean="0">
                <a:solidFill>
                  <a:schemeClr val="bg1"/>
                </a:solidFill>
              </a:rPr>
              <a:t>v1.32/deb</a:t>
            </a:r>
            <a:r>
              <a:rPr lang="en-US" altLang="ko-KR" sz="1200" dirty="0">
                <a:solidFill>
                  <a:schemeClr val="bg1"/>
                </a:solidFill>
              </a:rPr>
              <a:t>/ /' | </a:t>
            </a:r>
            <a:r>
              <a:rPr lang="en-US" altLang="ko-KR" sz="1200" dirty="0" err="1">
                <a:solidFill>
                  <a:schemeClr val="bg1"/>
                </a:solidFill>
              </a:rPr>
              <a:t>sudo</a:t>
            </a:r>
            <a:r>
              <a:rPr lang="en-US" altLang="ko-KR" sz="1200" dirty="0">
                <a:solidFill>
                  <a:schemeClr val="bg1"/>
                </a:solidFill>
              </a:rPr>
              <a:t> tee /</a:t>
            </a:r>
            <a:r>
              <a:rPr lang="en-US" altLang="ko-KR" sz="1200" dirty="0" err="1">
                <a:solidFill>
                  <a:schemeClr val="bg1"/>
                </a:solidFill>
              </a:rPr>
              <a:t>etc</a:t>
            </a:r>
            <a:r>
              <a:rPr lang="en-US" altLang="ko-KR" sz="1200" dirty="0">
                <a:solidFill>
                  <a:schemeClr val="bg1"/>
                </a:solidFill>
              </a:rPr>
              <a:t>/apt/</a:t>
            </a:r>
            <a:r>
              <a:rPr lang="en-US" altLang="ko-KR" sz="1200" dirty="0" err="1">
                <a:solidFill>
                  <a:schemeClr val="bg1"/>
                </a:solidFill>
              </a:rPr>
              <a:t>sources.list.d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kubernetes.list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82847" y="348040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err="1" smtClean="0"/>
              <a:t>Kubeadm</a:t>
            </a:r>
            <a:r>
              <a:rPr lang="en-US" altLang="ko-KR" sz="1400" b="1" dirty="0" smtClean="0"/>
              <a:t>, </a:t>
            </a:r>
            <a:r>
              <a:rPr lang="en-US" altLang="ko-KR" sz="1400" b="1" dirty="0" err="1" smtClean="0"/>
              <a:t>kubectl</a:t>
            </a:r>
            <a:r>
              <a:rPr lang="en-US" altLang="ko-KR" sz="1400" b="1" dirty="0" smtClean="0"/>
              <a:t>, </a:t>
            </a:r>
            <a:r>
              <a:rPr lang="en-US" altLang="ko-KR" sz="1400" b="1" dirty="0" err="1" smtClean="0"/>
              <a:t>kubelet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설치</a:t>
            </a:r>
            <a:r>
              <a:rPr lang="en-US" altLang="ko-KR" sz="1400" b="1" dirty="0" smtClean="0"/>
              <a:t>(</a:t>
            </a:r>
            <a:r>
              <a:rPr lang="en-US" altLang="ko-KR" sz="1400" b="1" dirty="0"/>
              <a:t>Worker node</a:t>
            </a:r>
            <a:r>
              <a:rPr lang="ko-KR" altLang="en-US" sz="1400" b="1" dirty="0"/>
              <a:t>는 </a:t>
            </a:r>
            <a:r>
              <a:rPr lang="en-US" altLang="ko-KR" sz="1400" b="1" dirty="0" err="1"/>
              <a:t>kubectl</a:t>
            </a:r>
            <a:r>
              <a:rPr lang="en-US" altLang="ko-KR" sz="1400" b="1" dirty="0"/>
              <a:t> </a:t>
            </a:r>
            <a:r>
              <a:rPr lang="ko-KR" altLang="en-US" sz="1400" b="1" dirty="0" smtClean="0"/>
              <a:t>제외 가능</a:t>
            </a:r>
            <a:r>
              <a:rPr lang="en-US" altLang="ko-KR" sz="1400" b="1" dirty="0" smtClean="0"/>
              <a:t>)</a:t>
            </a:r>
          </a:p>
        </p:txBody>
      </p:sp>
      <p:sp>
        <p:nvSpPr>
          <p:cNvPr id="15" name="TextBox 3"/>
          <p:cNvSpPr txBox="1"/>
          <p:nvPr/>
        </p:nvSpPr>
        <p:spPr>
          <a:xfrm>
            <a:off x="782847" y="3847818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apt-get update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apt-get install -y </a:t>
            </a:r>
            <a:r>
              <a:rPr lang="en-US" altLang="ko-KR" sz="1200" dirty="0" err="1">
                <a:solidFill>
                  <a:schemeClr val="bg1"/>
                </a:solidFill>
              </a:rPr>
              <a:t>kubeadm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kubelet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$ apt-mark hold </a:t>
            </a:r>
            <a:r>
              <a:rPr lang="en-US" altLang="ko-KR" sz="1200" dirty="0" err="1">
                <a:solidFill>
                  <a:schemeClr val="bg1"/>
                </a:solidFill>
              </a:rPr>
              <a:t>kubelet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kubeadm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5498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7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 Cluster Master Node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 설정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1018" y="67697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 smtClean="0"/>
              <a:t>설치 전 </a:t>
            </a:r>
            <a:r>
              <a:rPr lang="en-US" altLang="ko-KR" sz="1400" b="1" dirty="0" smtClean="0"/>
              <a:t>CRI-O </a:t>
            </a:r>
            <a:r>
              <a:rPr lang="ko-KR" altLang="en-US" sz="1400" b="1" dirty="0" smtClean="0"/>
              <a:t>정상 기동 확인</a:t>
            </a:r>
            <a:endParaRPr lang="en-US" altLang="ko-KR" sz="1400" b="1" dirty="0" smtClean="0"/>
          </a:p>
        </p:txBody>
      </p:sp>
      <p:sp>
        <p:nvSpPr>
          <p:cNvPr id="9" name="TextBox 3"/>
          <p:cNvSpPr txBox="1"/>
          <p:nvPr/>
        </p:nvSpPr>
        <p:spPr>
          <a:xfrm>
            <a:off x="782847" y="1047585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systemctl</a:t>
            </a:r>
            <a:r>
              <a:rPr lang="en-US" altLang="ko-KR" sz="1200" dirty="0" smtClean="0">
                <a:solidFill>
                  <a:schemeClr val="bg1"/>
                </a:solidFill>
              </a:rPr>
              <a:t> status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crio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82847" y="1363444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Kubernetes </a:t>
            </a:r>
            <a:r>
              <a:rPr lang="ko-KR" altLang="en-US" sz="1400" b="1" dirty="0" smtClean="0"/>
              <a:t>초기 설정</a:t>
            </a:r>
            <a:endParaRPr lang="en-US" altLang="ko-KR" sz="1400" b="1" dirty="0" smtClean="0"/>
          </a:p>
        </p:txBody>
      </p:sp>
      <p:sp>
        <p:nvSpPr>
          <p:cNvPr id="12" name="TextBox 3"/>
          <p:cNvSpPr txBox="1"/>
          <p:nvPr/>
        </p:nvSpPr>
        <p:spPr>
          <a:xfrm>
            <a:off x="782847" y="1668451"/>
            <a:ext cx="10838341" cy="230832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kubeadm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init</a:t>
            </a:r>
            <a:r>
              <a:rPr lang="en-US" altLang="ko-KR" sz="1200" dirty="0">
                <a:solidFill>
                  <a:schemeClr val="bg1"/>
                </a:solidFill>
              </a:rPr>
              <a:t> --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-version=v1.32.1 </a:t>
            </a:r>
            <a:r>
              <a:rPr lang="en-US" altLang="ko-KR" sz="1200" dirty="0" smtClean="0">
                <a:solidFill>
                  <a:schemeClr val="bg1"/>
                </a:solidFill>
              </a:rPr>
              <a:t>--</a:t>
            </a:r>
            <a:r>
              <a:rPr lang="en-US" altLang="ko-KR" sz="1200" dirty="0">
                <a:solidFill>
                  <a:schemeClr val="bg1"/>
                </a:solidFill>
              </a:rPr>
              <a:t>control-plane-endpoint=[master </a:t>
            </a:r>
            <a:r>
              <a:rPr lang="ko-KR" altLang="en-US" sz="1200" dirty="0">
                <a:solidFill>
                  <a:schemeClr val="bg1"/>
                </a:solidFill>
              </a:rPr>
              <a:t>주소 </a:t>
            </a:r>
            <a:r>
              <a:rPr lang="en-US" altLang="ko-KR" sz="1200" dirty="0">
                <a:solidFill>
                  <a:schemeClr val="bg1"/>
                </a:solidFill>
              </a:rPr>
              <a:t>/ </a:t>
            </a:r>
            <a:r>
              <a:rPr lang="ko-KR" altLang="en-US" sz="1200" dirty="0">
                <a:solidFill>
                  <a:schemeClr val="bg1"/>
                </a:solidFill>
              </a:rPr>
              <a:t>내부 </a:t>
            </a:r>
            <a:r>
              <a:rPr lang="en-US" altLang="ko-KR" sz="1200" dirty="0" err="1">
                <a:solidFill>
                  <a:schemeClr val="bg1"/>
                </a:solidFill>
              </a:rPr>
              <a:t>ip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주소</a:t>
            </a:r>
            <a:r>
              <a:rPr lang="en-US" altLang="ko-KR" sz="1200" dirty="0">
                <a:solidFill>
                  <a:schemeClr val="bg1"/>
                </a:solidFill>
              </a:rPr>
              <a:t>] --upload-certs --</a:t>
            </a:r>
            <a:r>
              <a:rPr lang="en-US" altLang="ko-KR" sz="1200" dirty="0" err="1">
                <a:solidFill>
                  <a:schemeClr val="bg1"/>
                </a:solidFill>
              </a:rPr>
              <a:t>apiserver</a:t>
            </a:r>
            <a:r>
              <a:rPr lang="en-US" altLang="ko-KR" sz="1200" dirty="0">
                <a:solidFill>
                  <a:schemeClr val="bg1"/>
                </a:solidFill>
              </a:rPr>
              <a:t>-advertise-address=[master </a:t>
            </a:r>
            <a:r>
              <a:rPr lang="ko-KR" altLang="en-US" sz="1200" dirty="0">
                <a:solidFill>
                  <a:schemeClr val="bg1"/>
                </a:solidFill>
              </a:rPr>
              <a:t>주소 </a:t>
            </a:r>
            <a:r>
              <a:rPr lang="en-US" altLang="ko-KR" sz="1200" dirty="0">
                <a:solidFill>
                  <a:schemeClr val="bg1"/>
                </a:solidFill>
              </a:rPr>
              <a:t>/ </a:t>
            </a:r>
            <a:r>
              <a:rPr lang="ko-KR" altLang="en-US" sz="1200" dirty="0">
                <a:solidFill>
                  <a:schemeClr val="bg1"/>
                </a:solidFill>
              </a:rPr>
              <a:t>내부 </a:t>
            </a:r>
            <a:r>
              <a:rPr lang="en-US" altLang="ko-KR" sz="1200" dirty="0" err="1">
                <a:solidFill>
                  <a:schemeClr val="bg1"/>
                </a:solidFill>
              </a:rPr>
              <a:t>ip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주소</a:t>
            </a:r>
            <a:r>
              <a:rPr lang="en-US" altLang="ko-KR" sz="1200" dirty="0">
                <a:solidFill>
                  <a:schemeClr val="bg1"/>
                </a:solidFill>
              </a:rPr>
              <a:t>] --pod-network-</a:t>
            </a:r>
            <a:r>
              <a:rPr lang="en-US" altLang="ko-KR" sz="1200" dirty="0" err="1">
                <a:solidFill>
                  <a:schemeClr val="bg1"/>
                </a:solidFill>
              </a:rPr>
              <a:t>cidr</a:t>
            </a:r>
            <a:r>
              <a:rPr lang="en-US" altLang="ko-KR" sz="1200" dirty="0">
                <a:solidFill>
                  <a:schemeClr val="bg1"/>
                </a:solidFill>
              </a:rPr>
              <a:t>=[pod </a:t>
            </a:r>
            <a:r>
              <a:rPr lang="ko-KR" altLang="en-US" sz="1200" dirty="0">
                <a:solidFill>
                  <a:schemeClr val="bg1"/>
                </a:solidFill>
              </a:rPr>
              <a:t>내에서 사용할 주소</a:t>
            </a:r>
            <a:r>
              <a:rPr lang="en-US" altLang="ko-KR" sz="1200" dirty="0">
                <a:solidFill>
                  <a:schemeClr val="bg1"/>
                </a:solidFill>
              </a:rPr>
              <a:t>]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...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Then you can join any number of worker nodes by running the following on each as root: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err="1">
                <a:solidFill>
                  <a:schemeClr val="bg1"/>
                </a:solidFill>
              </a:rPr>
              <a:t>kubeadm</a:t>
            </a:r>
            <a:r>
              <a:rPr lang="en-US" altLang="ko-KR" sz="1200" dirty="0">
                <a:solidFill>
                  <a:schemeClr val="bg1"/>
                </a:solidFill>
              </a:rPr>
              <a:t> join [</a:t>
            </a:r>
            <a:r>
              <a:rPr lang="en-US" altLang="ko-KR" sz="1200" dirty="0" err="1">
                <a:solidFill>
                  <a:schemeClr val="bg1"/>
                </a:solidFill>
              </a:rPr>
              <a:t>ip</a:t>
            </a:r>
            <a:r>
              <a:rPr lang="ko-KR" altLang="en-US" sz="1200" dirty="0">
                <a:solidFill>
                  <a:schemeClr val="bg1"/>
                </a:solidFill>
              </a:rPr>
              <a:t>주소</a:t>
            </a:r>
            <a:r>
              <a:rPr lang="en-US" altLang="ko-KR" sz="1200" dirty="0">
                <a:solidFill>
                  <a:schemeClr val="bg1"/>
                </a:solidFill>
              </a:rPr>
              <a:t>]:6443 --token v1nfh1.hjlkza7z630egrgy \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--discovery-token-ca-cert-hash sha256:37cc731e72892e2c0a10dc1139ab2a399e77de8ea8fe539995097234d2361ff2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ko-KR" altLang="en-US" sz="1200" dirty="0">
                <a:solidFill>
                  <a:schemeClr val="bg1"/>
                </a:solidFill>
              </a:rPr>
              <a:t>위와 같이 나오면 설치 </a:t>
            </a:r>
            <a:r>
              <a:rPr lang="ko-KR" altLang="en-US" sz="1200" dirty="0" smtClean="0">
                <a:solidFill>
                  <a:schemeClr val="bg1"/>
                </a:solidFill>
              </a:rPr>
              <a:t>성공</a:t>
            </a:r>
            <a:endParaRPr lang="en-US" altLang="ko-KR" sz="1200" dirty="0" smtClean="0">
              <a:solidFill>
                <a:schemeClr val="bg1"/>
              </a:solidFill>
            </a:endParaRPr>
          </a:p>
          <a:p>
            <a:endParaRPr lang="en-US" altLang="ko-KR" sz="1200" dirty="0" smtClean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systemctl</a:t>
            </a:r>
            <a:r>
              <a:rPr lang="en-US" altLang="ko-KR" sz="1200" dirty="0">
                <a:solidFill>
                  <a:schemeClr val="bg1"/>
                </a:solidFill>
              </a:rPr>
              <a:t> status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kubelet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 smtClean="0">
                <a:solidFill>
                  <a:schemeClr val="bg1"/>
                </a:solidFill>
              </a:rPr>
              <a:t>     </a:t>
            </a:r>
            <a:r>
              <a:rPr lang="en-US" altLang="ko-KR" sz="1200" dirty="0" smtClean="0">
                <a:solidFill>
                  <a:schemeClr val="bg1"/>
                </a:solidFill>
              </a:rPr>
              <a:t># </a:t>
            </a:r>
            <a:r>
              <a:rPr lang="ko-KR" altLang="en-US" sz="1200" dirty="0" smtClean="0">
                <a:solidFill>
                  <a:schemeClr val="bg1"/>
                </a:solidFill>
              </a:rPr>
              <a:t>정상 동작 확인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2847" y="4203815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/>
              <a:t>r</a:t>
            </a:r>
            <a:r>
              <a:rPr lang="en-US" altLang="ko-KR" sz="1400" b="1" dirty="0" smtClean="0"/>
              <a:t>oot </a:t>
            </a:r>
            <a:r>
              <a:rPr lang="ko-KR" altLang="en-US" sz="1400" b="1" dirty="0" smtClean="0"/>
              <a:t>계정에서 </a:t>
            </a:r>
            <a:r>
              <a:rPr lang="en-US" altLang="ko-KR" sz="1400" b="1" dirty="0" err="1" smtClean="0"/>
              <a:t>kubectl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사용을 위해 환경 변수 설정</a:t>
            </a:r>
            <a:endParaRPr lang="en-US" altLang="ko-KR" sz="1400" b="1" dirty="0" smtClean="0"/>
          </a:p>
        </p:txBody>
      </p:sp>
      <p:sp>
        <p:nvSpPr>
          <p:cNvPr id="14" name="TextBox 3"/>
          <p:cNvSpPr txBox="1"/>
          <p:nvPr/>
        </p:nvSpPr>
        <p:spPr>
          <a:xfrm>
            <a:off x="782847" y="4551345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mkdir</a:t>
            </a:r>
            <a:r>
              <a:rPr lang="en-US" altLang="ko-KR" sz="1200" dirty="0">
                <a:solidFill>
                  <a:schemeClr val="bg1"/>
                </a:solidFill>
              </a:rPr>
              <a:t> -p $HOME/.</a:t>
            </a:r>
            <a:r>
              <a:rPr lang="en-US" altLang="ko-KR" sz="1200" dirty="0" err="1">
                <a:solidFill>
                  <a:schemeClr val="bg1"/>
                </a:solidFill>
              </a:rPr>
              <a:t>kube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cp</a:t>
            </a:r>
            <a:r>
              <a:rPr lang="en-US" altLang="ko-KR" sz="1200" dirty="0">
                <a:solidFill>
                  <a:schemeClr val="bg1"/>
                </a:solidFill>
              </a:rPr>
              <a:t> -</a:t>
            </a:r>
            <a:r>
              <a:rPr lang="en-US" altLang="ko-KR" sz="1200" dirty="0" err="1">
                <a:solidFill>
                  <a:schemeClr val="bg1"/>
                </a:solidFill>
              </a:rPr>
              <a:t>i</a:t>
            </a:r>
            <a:r>
              <a:rPr lang="en-US" altLang="ko-KR" sz="1200" dirty="0">
                <a:solidFill>
                  <a:schemeClr val="bg1"/>
                </a:solidFill>
              </a:rPr>
              <a:t> /</a:t>
            </a:r>
            <a:r>
              <a:rPr lang="en-US" altLang="ko-KR" sz="1200" dirty="0" err="1">
                <a:solidFill>
                  <a:schemeClr val="bg1"/>
                </a:solidFill>
              </a:rPr>
              <a:t>etc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admin.conf</a:t>
            </a:r>
            <a:r>
              <a:rPr lang="en-US" altLang="ko-KR" sz="1200" dirty="0">
                <a:solidFill>
                  <a:schemeClr val="bg1"/>
                </a:solidFill>
              </a:rPr>
              <a:t> $HOME/.</a:t>
            </a:r>
            <a:r>
              <a:rPr lang="en-US" altLang="ko-KR" sz="1200" dirty="0" err="1">
                <a:solidFill>
                  <a:schemeClr val="bg1"/>
                </a:solidFill>
              </a:rPr>
              <a:t>kube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chown</a:t>
            </a:r>
            <a:r>
              <a:rPr lang="en-US" altLang="ko-KR" sz="1200" dirty="0">
                <a:solidFill>
                  <a:schemeClr val="bg1"/>
                </a:solidFill>
              </a:rPr>
              <a:t> $(id -u):$(id -g) $HOME/.</a:t>
            </a:r>
            <a:r>
              <a:rPr lang="en-US" altLang="ko-KR" sz="1200" dirty="0" err="1">
                <a:solidFill>
                  <a:schemeClr val="bg1"/>
                </a:solidFill>
              </a:rPr>
              <a:t>kube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config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82847" y="5237429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err="1"/>
              <a:t>k</a:t>
            </a:r>
            <a:r>
              <a:rPr lang="en-US" altLang="ko-KR" sz="1400" b="1" dirty="0" err="1" smtClean="0"/>
              <a:t>ubectl</a:t>
            </a:r>
            <a:r>
              <a:rPr lang="en-US" altLang="ko-KR" sz="1400" b="1" dirty="0" smtClean="0"/>
              <a:t> </a:t>
            </a:r>
            <a:r>
              <a:rPr lang="ko-KR" altLang="en-US" sz="1400" b="1" dirty="0" smtClean="0"/>
              <a:t>명령어 자동 완성 설정</a:t>
            </a:r>
            <a:endParaRPr lang="en-US" altLang="ko-KR" sz="1400" b="1" dirty="0" smtClean="0"/>
          </a:p>
        </p:txBody>
      </p:sp>
      <p:sp>
        <p:nvSpPr>
          <p:cNvPr id="17" name="TextBox 3"/>
          <p:cNvSpPr txBox="1"/>
          <p:nvPr/>
        </p:nvSpPr>
        <p:spPr>
          <a:xfrm>
            <a:off x="782847" y="5584959"/>
            <a:ext cx="10838341" cy="646331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apt-get install bash-completion </a:t>
            </a:r>
            <a:r>
              <a:rPr lang="en-US" altLang="ko-KR" sz="1200" dirty="0" smtClean="0">
                <a:solidFill>
                  <a:schemeClr val="bg1"/>
                </a:solidFill>
              </a:rPr>
              <a:t>-y</a:t>
            </a:r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>
                <a:solidFill>
                  <a:schemeClr val="bg1"/>
                </a:solidFill>
              </a:rPr>
              <a:t>$ source &lt;(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completion bash)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$ echo “source &lt;(</a:t>
            </a:r>
            <a:r>
              <a:rPr lang="en-US" altLang="ko-KR" sz="1200" dirty="0" err="1">
                <a:solidFill>
                  <a:schemeClr val="bg1"/>
                </a:solidFill>
              </a:rPr>
              <a:t>kubectl</a:t>
            </a:r>
            <a:r>
              <a:rPr lang="en-US" altLang="ko-KR" sz="1200" dirty="0">
                <a:solidFill>
                  <a:schemeClr val="bg1"/>
                </a:solidFill>
              </a:rPr>
              <a:t> completion bash)” &gt;&gt; ~/.</a:t>
            </a:r>
            <a:r>
              <a:rPr lang="en-US" altLang="ko-KR" sz="1200" dirty="0" err="1">
                <a:solidFill>
                  <a:schemeClr val="bg1"/>
                </a:solidFill>
              </a:rPr>
              <a:t>bashrc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160482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636116" y="338424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 Cluster Worker Node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설정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41018" y="676978"/>
            <a:ext cx="109220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ko-KR" altLang="en-US" sz="1400" b="1" dirty="0"/>
              <a:t>설치 전 </a:t>
            </a:r>
            <a:r>
              <a:rPr lang="en-US" altLang="ko-KR" sz="1400" b="1" dirty="0" smtClean="0"/>
              <a:t>CRI-O </a:t>
            </a:r>
            <a:r>
              <a:rPr lang="ko-KR" altLang="en-US" sz="1400" b="1" dirty="0" smtClean="0"/>
              <a:t>정상 </a:t>
            </a:r>
            <a:r>
              <a:rPr lang="ko-KR" altLang="en-US" sz="1400" b="1" dirty="0"/>
              <a:t>기동 확인</a:t>
            </a:r>
            <a:endParaRPr lang="en-US" altLang="ko-KR" sz="1400" b="1" dirty="0" smtClean="0"/>
          </a:p>
        </p:txBody>
      </p:sp>
      <p:sp>
        <p:nvSpPr>
          <p:cNvPr id="9" name="TextBox 3"/>
          <p:cNvSpPr txBox="1"/>
          <p:nvPr/>
        </p:nvSpPr>
        <p:spPr>
          <a:xfrm>
            <a:off x="782847" y="1047585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systemctl</a:t>
            </a:r>
            <a:r>
              <a:rPr lang="en-US" altLang="ko-KR" sz="1200" dirty="0" smtClean="0">
                <a:solidFill>
                  <a:schemeClr val="bg1"/>
                </a:solidFill>
              </a:rPr>
              <a:t> status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crio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1018" y="1466314"/>
            <a:ext cx="12014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Kubernetes Master Node</a:t>
            </a:r>
            <a:r>
              <a:rPr lang="ko-KR" altLang="en-US" sz="1400" b="1" dirty="0" smtClean="0"/>
              <a:t>에 </a:t>
            </a:r>
            <a:r>
              <a:rPr lang="en-US" altLang="ko-KR" sz="1400" b="1" dirty="0" smtClean="0"/>
              <a:t>Join </a:t>
            </a:r>
            <a:r>
              <a:rPr lang="ko-KR" altLang="en-US" sz="1400" b="1" dirty="0" smtClean="0"/>
              <a:t>명령어 실행</a:t>
            </a:r>
            <a:endParaRPr lang="en-US" altLang="ko-KR" sz="1400" b="1" dirty="0" smtClean="0"/>
          </a:p>
        </p:txBody>
      </p:sp>
      <p:sp>
        <p:nvSpPr>
          <p:cNvPr id="12" name="TextBox 3"/>
          <p:cNvSpPr txBox="1"/>
          <p:nvPr/>
        </p:nvSpPr>
        <p:spPr>
          <a:xfrm>
            <a:off x="745201" y="1817041"/>
            <a:ext cx="10875987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err="1">
                <a:solidFill>
                  <a:schemeClr val="bg1"/>
                </a:solidFill>
              </a:rPr>
              <a:t>kubeadm</a:t>
            </a:r>
            <a:r>
              <a:rPr lang="en-US" altLang="ko-KR" sz="1200" dirty="0">
                <a:solidFill>
                  <a:schemeClr val="bg1"/>
                </a:solidFill>
              </a:rPr>
              <a:t> join [</a:t>
            </a:r>
            <a:r>
              <a:rPr lang="en-US" altLang="ko-KR" sz="1200" dirty="0" err="1">
                <a:solidFill>
                  <a:schemeClr val="bg1"/>
                </a:solidFill>
              </a:rPr>
              <a:t>ip</a:t>
            </a:r>
            <a:r>
              <a:rPr lang="ko-KR" altLang="en-US" sz="1200" dirty="0">
                <a:solidFill>
                  <a:schemeClr val="bg1"/>
                </a:solidFill>
              </a:rPr>
              <a:t>주소</a:t>
            </a:r>
            <a:r>
              <a:rPr lang="en-US" altLang="ko-KR" sz="1200" dirty="0">
                <a:solidFill>
                  <a:schemeClr val="bg1"/>
                </a:solidFill>
              </a:rPr>
              <a:t>]:6443 --token v1nfh1.hjlkza7z630egrgy \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--discovery-token-ca-cert-hash </a:t>
            </a:r>
            <a:r>
              <a:rPr lang="en-US" altLang="ko-KR" sz="1200" dirty="0" smtClean="0">
                <a:solidFill>
                  <a:schemeClr val="bg1"/>
                </a:solidFill>
              </a:rPr>
              <a:t>sha256:37cc731e72892e2c0a10dc1139ab2a399e77de8ea8fe539995097234d2361ff2</a:t>
            </a:r>
          </a:p>
          <a:p>
            <a:endParaRPr lang="en-US" altLang="ko-KR" sz="1200" dirty="0">
              <a:solidFill>
                <a:schemeClr val="bg1"/>
              </a:solidFill>
            </a:endParaRPr>
          </a:p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systemctl</a:t>
            </a:r>
            <a:r>
              <a:rPr lang="en-US" altLang="ko-KR" sz="1200" dirty="0">
                <a:solidFill>
                  <a:schemeClr val="bg1"/>
                </a:solidFill>
              </a:rPr>
              <a:t> status </a:t>
            </a:r>
            <a:r>
              <a:rPr lang="en-US" altLang="ko-KR" sz="1200" dirty="0" err="1">
                <a:solidFill>
                  <a:schemeClr val="bg1"/>
                </a:solidFill>
              </a:rPr>
              <a:t>kubelet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ko-KR" altLang="en-US" sz="1200" dirty="0">
                <a:solidFill>
                  <a:schemeClr val="bg1"/>
                </a:solidFill>
              </a:rPr>
              <a:t>      </a:t>
            </a:r>
            <a:r>
              <a:rPr lang="en-US" altLang="ko-KR" sz="1200" dirty="0">
                <a:solidFill>
                  <a:schemeClr val="bg1"/>
                </a:solidFill>
              </a:rPr>
              <a:t># </a:t>
            </a:r>
            <a:r>
              <a:rPr lang="ko-KR" altLang="en-US" sz="1200" dirty="0">
                <a:solidFill>
                  <a:schemeClr val="bg1"/>
                </a:solidFill>
              </a:rPr>
              <a:t>정상 동작 확인</a:t>
            </a:r>
            <a:endParaRPr lang="en-US" altLang="ko-KR" sz="1200" dirty="0">
              <a:solidFill>
                <a:schemeClr val="bg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82847" y="2959933"/>
            <a:ext cx="1092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Token </a:t>
            </a:r>
            <a:r>
              <a:rPr lang="ko-KR" altLang="en-US" sz="1400" b="1" dirty="0" smtClean="0"/>
              <a:t>값 확인</a:t>
            </a:r>
            <a:endParaRPr lang="en-US" altLang="ko-KR" sz="1400" b="1" dirty="0" smtClean="0"/>
          </a:p>
          <a:p>
            <a:pPr marL="360000" indent="-18000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Master Node</a:t>
            </a:r>
            <a:r>
              <a:rPr lang="ko-KR" altLang="en-US" sz="1200" dirty="0" smtClean="0"/>
              <a:t>에서 아래 명령어 실행</a:t>
            </a:r>
            <a:endParaRPr lang="en-US" altLang="ko-KR" sz="1400" dirty="0" smtClean="0"/>
          </a:p>
        </p:txBody>
      </p:sp>
      <p:sp>
        <p:nvSpPr>
          <p:cNvPr id="14" name="TextBox 3"/>
          <p:cNvSpPr txBox="1"/>
          <p:nvPr/>
        </p:nvSpPr>
        <p:spPr>
          <a:xfrm>
            <a:off x="782847" y="3486365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kubeadm</a:t>
            </a:r>
            <a:r>
              <a:rPr lang="en-US" altLang="ko-KR" sz="1200" dirty="0">
                <a:solidFill>
                  <a:schemeClr val="bg1"/>
                </a:solidFill>
              </a:rPr>
              <a:t> token create --print-join-command</a:t>
            </a:r>
            <a:endParaRPr lang="en-US" altLang="ko-KR" sz="1200" dirty="0" smtClean="0">
              <a:solidFill>
                <a:schemeClr val="bg1"/>
              </a:solidFill>
            </a:endParaRPr>
          </a:p>
        </p:txBody>
      </p:sp>
      <p:sp>
        <p:nvSpPr>
          <p:cNvPr id="17" name="TextBox 3"/>
          <p:cNvSpPr txBox="1"/>
          <p:nvPr/>
        </p:nvSpPr>
        <p:spPr>
          <a:xfrm>
            <a:off x="771417" y="5746856"/>
            <a:ext cx="10838341" cy="276999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 smtClean="0">
                <a:solidFill>
                  <a:schemeClr val="bg1"/>
                </a:solidFill>
              </a:rPr>
              <a:t>$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kubeadm</a:t>
            </a:r>
            <a:r>
              <a:rPr lang="en-US" altLang="ko-KR" sz="1200" dirty="0" smtClean="0">
                <a:solidFill>
                  <a:schemeClr val="bg1"/>
                </a:solidFill>
              </a:rPr>
              <a:t> reset --force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4686" y="5342525"/>
            <a:ext cx="52439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Kubernetes Cluster </a:t>
            </a:r>
            <a:r>
              <a:rPr lang="ko-KR" altLang="en-US" sz="1600" b="1" dirty="0" smtClean="0">
                <a:solidFill>
                  <a:srgbClr val="333333"/>
                </a:solidFill>
                <a:ea typeface="맑은 고딕" panose="020B0503020000020004" pitchFamily="50" charset="-127"/>
                <a:cs typeface="Pretendard SemiBold" panose="02000703000000020004" pitchFamily="50" charset="-127"/>
              </a:rPr>
              <a:t>초기화</a:t>
            </a:r>
            <a:endParaRPr lang="ko-KR" altLang="en-US" sz="1600" b="1" dirty="0">
              <a:solidFill>
                <a:srgbClr val="333333"/>
              </a:solidFill>
              <a:ea typeface="맑은 고딕" panose="020B0503020000020004" pitchFamily="50" charset="-127"/>
              <a:cs typeface="Pretendard SemiBold" panose="02000703000000020004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82847" y="3867389"/>
            <a:ext cx="109220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000" indent="-180000">
              <a:buFont typeface="Wingdings" panose="05000000000000000000" pitchFamily="2" charset="2"/>
              <a:buChar char="§"/>
            </a:pPr>
            <a:r>
              <a:rPr lang="en-US" altLang="ko-KR" sz="1400" b="1" dirty="0" smtClean="0"/>
              <a:t>Hash </a:t>
            </a:r>
            <a:r>
              <a:rPr lang="ko-KR" altLang="en-US" sz="1400" b="1" dirty="0" smtClean="0"/>
              <a:t>값 확인</a:t>
            </a:r>
            <a:endParaRPr lang="en-US" altLang="ko-KR" sz="1400" b="1" dirty="0" smtClean="0"/>
          </a:p>
          <a:p>
            <a:pPr marL="360000" indent="-180000">
              <a:buFont typeface="Arial" panose="020B0604020202020204" pitchFamily="34" charset="0"/>
              <a:buChar char="•"/>
            </a:pPr>
            <a:r>
              <a:rPr lang="en-US" altLang="ko-KR" sz="1200" dirty="0" smtClean="0"/>
              <a:t>Master Node</a:t>
            </a:r>
            <a:r>
              <a:rPr lang="ko-KR" altLang="en-US" sz="1200" dirty="0" smtClean="0"/>
              <a:t>에서 아래 명령어 실행</a:t>
            </a:r>
            <a:endParaRPr lang="en-US" altLang="ko-KR" sz="1400" dirty="0" smtClean="0"/>
          </a:p>
        </p:txBody>
      </p:sp>
      <p:sp>
        <p:nvSpPr>
          <p:cNvPr id="19" name="TextBox 3"/>
          <p:cNvSpPr txBox="1"/>
          <p:nvPr/>
        </p:nvSpPr>
        <p:spPr>
          <a:xfrm>
            <a:off x="782847" y="4393821"/>
            <a:ext cx="10838341" cy="830997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00" dirty="0">
                <a:solidFill>
                  <a:schemeClr val="bg1"/>
                </a:solidFill>
              </a:rPr>
              <a:t>$ </a:t>
            </a:r>
            <a:r>
              <a:rPr lang="en-US" altLang="ko-KR" sz="1200" dirty="0" err="1">
                <a:solidFill>
                  <a:schemeClr val="bg1"/>
                </a:solidFill>
              </a:rPr>
              <a:t>openssl</a:t>
            </a:r>
            <a:r>
              <a:rPr lang="en-US" altLang="ko-KR" sz="1200" dirty="0">
                <a:solidFill>
                  <a:schemeClr val="bg1"/>
                </a:solidFill>
              </a:rPr>
              <a:t> x509 -</a:t>
            </a:r>
            <a:r>
              <a:rPr lang="en-US" altLang="ko-KR" sz="1200" dirty="0" err="1">
                <a:solidFill>
                  <a:schemeClr val="bg1"/>
                </a:solidFill>
              </a:rPr>
              <a:t>pubkey</a:t>
            </a:r>
            <a:r>
              <a:rPr lang="en-US" altLang="ko-KR" sz="1200" dirty="0">
                <a:solidFill>
                  <a:schemeClr val="bg1"/>
                </a:solidFill>
              </a:rPr>
              <a:t> -in /</a:t>
            </a:r>
            <a:r>
              <a:rPr lang="en-US" altLang="ko-KR" sz="1200" dirty="0" err="1">
                <a:solidFill>
                  <a:schemeClr val="bg1"/>
                </a:solidFill>
              </a:rPr>
              <a:t>etc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kubernetes</a:t>
            </a:r>
            <a:r>
              <a:rPr lang="en-US" altLang="ko-KR" sz="1200" dirty="0">
                <a:solidFill>
                  <a:schemeClr val="bg1"/>
                </a:solidFill>
              </a:rPr>
              <a:t>/</a:t>
            </a:r>
            <a:r>
              <a:rPr lang="en-US" altLang="ko-KR" sz="1200" dirty="0" err="1">
                <a:solidFill>
                  <a:schemeClr val="bg1"/>
                </a:solidFill>
              </a:rPr>
              <a:t>pki</a:t>
            </a:r>
            <a:r>
              <a:rPr lang="en-US" altLang="ko-KR" sz="1200" dirty="0">
                <a:solidFill>
                  <a:schemeClr val="bg1"/>
                </a:solidFill>
              </a:rPr>
              <a:t>/ca.crt | \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smtClean="0">
                <a:solidFill>
                  <a:schemeClr val="bg1"/>
                </a:solidFill>
              </a:rPr>
              <a:t>  </a:t>
            </a:r>
            <a:r>
              <a:rPr lang="en-US" altLang="ko-KR" sz="1200" dirty="0" err="1">
                <a:solidFill>
                  <a:schemeClr val="bg1"/>
                </a:solidFill>
              </a:rPr>
              <a:t>openssl</a:t>
            </a:r>
            <a:r>
              <a:rPr lang="en-US" altLang="ko-KR" sz="1200" dirty="0">
                <a:solidFill>
                  <a:schemeClr val="bg1"/>
                </a:solidFill>
              </a:rPr>
              <a:t> </a:t>
            </a:r>
            <a:r>
              <a:rPr lang="en-US" altLang="ko-KR" sz="1200" dirty="0" err="1">
                <a:solidFill>
                  <a:schemeClr val="bg1"/>
                </a:solidFill>
              </a:rPr>
              <a:t>rsa</a:t>
            </a:r>
            <a:r>
              <a:rPr lang="en-US" altLang="ko-KR" sz="1200" dirty="0">
                <a:solidFill>
                  <a:schemeClr val="bg1"/>
                </a:solidFill>
              </a:rPr>
              <a:t> -</a:t>
            </a:r>
            <a:r>
              <a:rPr lang="en-US" altLang="ko-KR" sz="1200" dirty="0" err="1">
                <a:solidFill>
                  <a:schemeClr val="bg1"/>
                </a:solidFill>
              </a:rPr>
              <a:t>pubin</a:t>
            </a:r>
            <a:r>
              <a:rPr lang="en-US" altLang="ko-KR" sz="1200" dirty="0">
                <a:solidFill>
                  <a:schemeClr val="bg1"/>
                </a:solidFill>
              </a:rPr>
              <a:t> -</a:t>
            </a:r>
            <a:r>
              <a:rPr lang="en-US" altLang="ko-KR" sz="1200" dirty="0" err="1">
                <a:solidFill>
                  <a:schemeClr val="bg1"/>
                </a:solidFill>
              </a:rPr>
              <a:t>outform</a:t>
            </a:r>
            <a:r>
              <a:rPr lang="en-US" altLang="ko-KR" sz="1200" dirty="0">
                <a:solidFill>
                  <a:schemeClr val="bg1"/>
                </a:solidFill>
              </a:rPr>
              <a:t> der 2&gt;/dev/null | \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smtClean="0">
                <a:solidFill>
                  <a:schemeClr val="bg1"/>
                </a:solidFill>
              </a:rPr>
              <a:t> sha256sum </a:t>
            </a:r>
            <a:r>
              <a:rPr lang="en-US" altLang="ko-KR" sz="1200" dirty="0">
                <a:solidFill>
                  <a:schemeClr val="bg1"/>
                </a:solidFill>
              </a:rPr>
              <a:t>| \</a:t>
            </a:r>
          </a:p>
          <a:p>
            <a:r>
              <a:rPr lang="en-US" altLang="ko-KR" sz="1200" dirty="0">
                <a:solidFill>
                  <a:schemeClr val="bg1"/>
                </a:solidFill>
              </a:rPr>
              <a:t>  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 err="1" smtClean="0">
                <a:solidFill>
                  <a:schemeClr val="bg1"/>
                </a:solidFill>
              </a:rPr>
              <a:t>awk</a:t>
            </a:r>
            <a:r>
              <a:rPr lang="en-US" altLang="ko-KR" sz="1200" dirty="0" smtClean="0">
                <a:solidFill>
                  <a:schemeClr val="bg1"/>
                </a:solidFill>
              </a:rPr>
              <a:t> </a:t>
            </a:r>
            <a:r>
              <a:rPr lang="en-US" altLang="ko-KR" sz="1200" dirty="0">
                <a:solidFill>
                  <a:schemeClr val="bg1"/>
                </a:solidFill>
              </a:rPr>
              <a:t>'{print "sha256:" $1}'</a:t>
            </a:r>
          </a:p>
        </p:txBody>
      </p:sp>
    </p:spTree>
    <p:extLst>
      <p:ext uri="{BB962C8B-B14F-4D97-AF65-F5344CB8AC3E}">
        <p14:creationId xmlns:p14="http://schemas.microsoft.com/office/powerpoint/2010/main" val="1846793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902524" y="2094660"/>
            <a:ext cx="4942186" cy="7950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6219"/>
              </a:lnSpc>
            </a:pPr>
            <a:r>
              <a:rPr sz="5400" spc="-104" dirty="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WRTDIQ+SpoqaHanSans-Bold"/>
              </a:rPr>
              <a:t>감사합니다.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41464" y="4996703"/>
            <a:ext cx="5687935" cy="96949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본사        </a:t>
            </a:r>
            <a:r>
              <a:rPr lang="ko-KR" altLang="en-US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황새울로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258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번길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29,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티맥스수내타워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R&amp;D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센터  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경기도 성남시 분당구 </a:t>
            </a:r>
            <a:r>
              <a:rPr lang="ko-KR" altLang="en-US" sz="1050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정자일로</a:t>
            </a:r>
            <a:r>
              <a:rPr lang="ko-KR" altLang="en-US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45, </a:t>
            </a:r>
            <a:r>
              <a:rPr lang="ko-KR" altLang="en-US" sz="1050" dirty="0" err="1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티맥스타워</a:t>
            </a:r>
            <a:endParaRPr lang="en-US" altLang="ko-KR" sz="1050" dirty="0" smtClean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BVOPUE+SpoqaHanSans-Bold"/>
            </a:endParaRPr>
          </a:p>
          <a:p>
            <a:pPr>
              <a:lnSpc>
                <a:spcPct val="150000"/>
              </a:lnSpc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홈페이지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BVOPUE+SpoqaHanSans-Bold"/>
              </a:rPr>
              <a:t>www.tmaxsoft.com</a:t>
            </a: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대표번호</a:t>
            </a:r>
            <a:r>
              <a:rPr lang="en-US" altLang="ko-KR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ko-KR" altLang="en-US" sz="1050" b="1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 </a:t>
            </a:r>
            <a:r>
              <a:rPr lang="en-US" altLang="ko-KR" sz="1050" dirty="0" smtClean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+mn-ea"/>
                <a:cs typeface="BVOPUE+SpoqaHanSans-Bold"/>
              </a:rPr>
              <a:t>031-8018-1000</a:t>
            </a:r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41464" y="4336547"/>
            <a:ext cx="2254733" cy="46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0234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20915</TotalTime>
  <Words>986</Words>
  <Application>Microsoft Office PowerPoint</Application>
  <PresentationFormat>와이드스크린</PresentationFormat>
  <Paragraphs>221</Paragraphs>
  <Slides>13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4" baseType="lpstr">
      <vt:lpstr>BVOPUE+SpoqaHanSans-Bold</vt:lpstr>
      <vt:lpstr>Pretendard SemiBold</vt:lpstr>
      <vt:lpstr>Univers LT Std 85 XBlk</vt:lpstr>
      <vt:lpstr>WRTDIQ+SpoqaHanSans-Bold</vt:lpstr>
      <vt:lpstr>뉴티맥스고딕 CJK</vt:lpstr>
      <vt:lpstr>맑은 고딕</vt:lpstr>
      <vt:lpstr>Arial</vt:lpstr>
      <vt:lpstr>Arial Black</vt:lpstr>
      <vt:lpstr>Lucida Sans Unicode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Tmax</dc:creator>
  <cp:lastModifiedBy>조 성환</cp:lastModifiedBy>
  <cp:revision>289</cp:revision>
  <dcterms:created xsi:type="dcterms:W3CDTF">2022-09-15T01:21:24Z</dcterms:created>
  <dcterms:modified xsi:type="dcterms:W3CDTF">2025-03-05T05:06:30Z</dcterms:modified>
</cp:coreProperties>
</file>