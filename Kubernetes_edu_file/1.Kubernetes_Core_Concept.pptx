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70" r:id="rId2"/>
    <p:sldId id="271" r:id="rId3"/>
    <p:sldId id="360" r:id="rId4"/>
    <p:sldId id="362" r:id="rId5"/>
    <p:sldId id="366" r:id="rId6"/>
    <p:sldId id="295" r:id="rId7"/>
    <p:sldId id="341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57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6" r:id="rId26"/>
    <p:sldId id="387" r:id="rId27"/>
    <p:sldId id="388" r:id="rId28"/>
    <p:sldId id="389" r:id="rId29"/>
    <p:sldId id="390" r:id="rId30"/>
    <p:sldId id="393" r:id="rId31"/>
    <p:sldId id="391" r:id="rId32"/>
    <p:sldId id="392" r:id="rId33"/>
    <p:sldId id="394" r:id="rId34"/>
    <p:sldId id="395" r:id="rId35"/>
    <p:sldId id="308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366"/>
            <p14:sldId id="295"/>
            <p14:sldId id="341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57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6"/>
            <p14:sldId id="387"/>
            <p14:sldId id="388"/>
            <p14:sldId id="389"/>
            <p14:sldId id="390"/>
            <p14:sldId id="393"/>
            <p14:sldId id="391"/>
            <p14:sldId id="392"/>
            <p14:sldId id="394"/>
            <p14:sldId id="395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6EF"/>
    <a:srgbClr val="7D9EBB"/>
    <a:srgbClr val="171C2C"/>
    <a:srgbClr val="0232AE"/>
    <a:srgbClr val="BACDFE"/>
    <a:srgbClr val="333333"/>
    <a:srgbClr val="95BCF0"/>
    <a:srgbClr val="09E6E1"/>
    <a:srgbClr val="12F6F6"/>
    <a:srgbClr val="10B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898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Kubernetes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Google</a:t>
            </a:r>
            <a:r>
              <a:rPr lang="ko-KR" altLang="en-US" sz="1200" dirty="0" smtClean="0"/>
              <a:t>의 </a:t>
            </a:r>
            <a:r>
              <a:rPr lang="en-US" altLang="ko-KR" sz="1200" dirty="0" smtClean="0"/>
              <a:t>Borg</a:t>
            </a:r>
            <a:r>
              <a:rPr lang="ko-KR" altLang="en-US" sz="1200" dirty="0" smtClean="0"/>
              <a:t>라는 시스템으로 프로젝트를 시작하여</a:t>
            </a:r>
            <a:r>
              <a:rPr lang="en-US" altLang="ko-KR" sz="1200" dirty="0" smtClean="0"/>
              <a:t>, Google</a:t>
            </a:r>
            <a:r>
              <a:rPr lang="ko-KR" altLang="en-US" sz="1200" dirty="0" smtClean="0"/>
              <a:t>이 </a:t>
            </a:r>
            <a:r>
              <a:rPr lang="en-US" altLang="ko-KR" sz="1200" dirty="0" smtClean="0"/>
              <a:t>CNCF</a:t>
            </a:r>
            <a:r>
              <a:rPr lang="ko-KR" altLang="en-US" sz="1200" dirty="0" smtClean="0"/>
              <a:t>에 코드를 기부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하였습니다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쿠버네티스는</a:t>
            </a:r>
            <a:r>
              <a:rPr lang="ko-KR" altLang="en-US" sz="1200" baseline="0" dirty="0" smtClean="0"/>
              <a:t> 컨테이너화된 </a:t>
            </a:r>
            <a:r>
              <a:rPr lang="en-US" altLang="ko-KR" sz="1200" baseline="0" dirty="0" smtClean="0"/>
              <a:t>Application</a:t>
            </a:r>
            <a:r>
              <a:rPr lang="ko-KR" altLang="en-US" sz="1200" baseline="0" dirty="0" smtClean="0"/>
              <a:t>을 배포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확장 및 관리를 자동화하는 </a:t>
            </a:r>
            <a:r>
              <a:rPr lang="ko-KR" altLang="en-US" sz="1200" baseline="0" dirty="0" err="1" smtClean="0"/>
              <a:t>오픈시스템입니다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쿠버네티스</a:t>
            </a:r>
            <a:r>
              <a:rPr lang="ko-KR" altLang="en-US" sz="1200" baseline="0" dirty="0" smtClean="0"/>
              <a:t> 종류로는 </a:t>
            </a:r>
            <a:r>
              <a:rPr lang="ko-KR" altLang="en-US" sz="1200" baseline="0" dirty="0" err="1" smtClean="0"/>
              <a:t>관리형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err="1" smtClean="0"/>
              <a:t>설치형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err="1" smtClean="0"/>
              <a:t>구성형이</a:t>
            </a:r>
            <a:r>
              <a:rPr lang="ko-KR" altLang="en-US" sz="1200" baseline="0" dirty="0" smtClean="0"/>
              <a:t> 있고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관리형은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AWS, Azure, GCP</a:t>
            </a:r>
            <a:r>
              <a:rPr lang="ko-KR" altLang="en-US" sz="1200" baseline="0" dirty="0" smtClean="0"/>
              <a:t>같은 </a:t>
            </a:r>
            <a:r>
              <a:rPr lang="en-US" altLang="ko-KR" sz="1200" baseline="0" dirty="0" smtClean="0"/>
              <a:t>CSP</a:t>
            </a:r>
            <a:r>
              <a:rPr lang="ko-KR" altLang="en-US" sz="1200" baseline="0" dirty="0" smtClean="0"/>
              <a:t>사에서 제공 해주고 사용자는 </a:t>
            </a:r>
            <a:r>
              <a:rPr lang="en-US" altLang="ko-KR" sz="1200" baseline="0" dirty="0" smtClean="0"/>
              <a:t>Application</a:t>
            </a:r>
            <a:r>
              <a:rPr lang="ko-KR" altLang="en-US" sz="1200" baseline="0" dirty="0" smtClean="0"/>
              <a:t>을 </a:t>
            </a:r>
            <a:r>
              <a:rPr lang="ko-KR" altLang="en-US" sz="1200" baseline="0" dirty="0" err="1" smtClean="0"/>
              <a:t>배포만</a:t>
            </a:r>
            <a:r>
              <a:rPr lang="ko-KR" altLang="en-US" sz="1200" baseline="0" dirty="0" smtClean="0"/>
              <a:t> 하는 형태로 사용한다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설치형은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Rancher, </a:t>
            </a:r>
            <a:r>
              <a:rPr lang="en-US" altLang="ko-KR" sz="1200" baseline="0" dirty="0" err="1" smtClean="0"/>
              <a:t>openshift</a:t>
            </a:r>
            <a:r>
              <a:rPr lang="ko-KR" altLang="en-US" sz="1200" baseline="0" dirty="0" smtClean="0"/>
              <a:t>같이 </a:t>
            </a:r>
            <a:r>
              <a:rPr lang="en-US" altLang="ko-KR" sz="1200" baseline="0" dirty="0" smtClean="0"/>
              <a:t>Kubernetes</a:t>
            </a:r>
            <a:r>
              <a:rPr lang="ko-KR" altLang="en-US" sz="1200" baseline="0" dirty="0" smtClean="0"/>
              <a:t>를 패키지화하여 설치를 진행하고 사용자는 </a:t>
            </a:r>
            <a:r>
              <a:rPr lang="en-US" altLang="ko-KR" sz="1200" baseline="0" dirty="0" err="1" smtClean="0"/>
              <a:t>Applicaton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배포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관리를 하는 형태로 사용한다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구성형은</a:t>
            </a:r>
            <a:r>
              <a:rPr lang="ko-KR" altLang="en-US" sz="1200" baseline="0" dirty="0" smtClean="0"/>
              <a:t> 사용자가 원하는 형태로 설치 </a:t>
            </a:r>
            <a:r>
              <a:rPr lang="ko-KR" altLang="en-US" sz="1200" baseline="0" dirty="0" err="1" smtClean="0"/>
              <a:t>부터</a:t>
            </a:r>
            <a:r>
              <a:rPr lang="ko-KR" altLang="en-US" sz="1200" baseline="0" dirty="0" smtClean="0"/>
              <a:t> 운영까지 직접 모두 사용한다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7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9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indent="0">
              <a:buFont typeface="Arial" panose="020B0604020202020204" pitchFamily="34" charset="0"/>
              <a:buNone/>
            </a:pPr>
            <a:r>
              <a:rPr lang="en-US" altLang="ko-KR" sz="1400" b="1" dirty="0" err="1" smtClean="0"/>
              <a:t>kube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apiserver</a:t>
            </a:r>
            <a:endParaRPr lang="en-US" altLang="ko-KR" sz="1400" b="1" dirty="0" smtClean="0"/>
          </a:p>
          <a:p>
            <a:pPr marL="180000">
              <a:spcBef>
                <a:spcPts val="300"/>
              </a:spcBef>
            </a:pPr>
            <a:r>
              <a:rPr lang="en-US" altLang="ko-KR" sz="1200" dirty="0" err="1" smtClean="0"/>
              <a:t>Kubectl</a:t>
            </a:r>
            <a:r>
              <a:rPr lang="ko-KR" altLang="en-US" sz="1200" dirty="0" smtClean="0"/>
              <a:t>을 사용해 각종 명령을 수행할 경우 이 명령은 </a:t>
            </a:r>
            <a:r>
              <a:rPr lang="en-US" altLang="ko-KR" sz="1200" dirty="0" err="1" smtClean="0"/>
              <a:t>kube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apiserver</a:t>
            </a:r>
            <a:r>
              <a:rPr lang="ko-KR" altLang="en-US" sz="1200" dirty="0" smtClean="0"/>
              <a:t>로 전송됨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이렇게 전달된 요청에 대하여 </a:t>
            </a:r>
            <a:r>
              <a:rPr lang="en-US" altLang="ko-KR" sz="1200" dirty="0" err="1" smtClean="0"/>
              <a:t>kube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apiserver</a:t>
            </a:r>
            <a:r>
              <a:rPr lang="ko-KR" altLang="en-US" sz="1200" dirty="0" smtClean="0"/>
              <a:t>는 이 요청의 처리 흐름에 따라 적절한 </a:t>
            </a:r>
            <a:r>
              <a:rPr lang="ko-KR" altLang="en-US" sz="1200" dirty="0" err="1" smtClean="0"/>
              <a:t>컴포너틑로</a:t>
            </a:r>
            <a:r>
              <a:rPr lang="ko-KR" altLang="en-US" sz="1200" dirty="0" smtClean="0"/>
              <a:t> 요청을 전달하는 역할을 함 </a:t>
            </a:r>
            <a:endParaRPr lang="en-US" altLang="ko-KR" sz="120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138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81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ㅇ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api</a:t>
            </a:r>
            <a:r>
              <a:rPr lang="en-US" altLang="ko-KR" baseline="0" dirty="0" smtClean="0"/>
              <a:t> server </a:t>
            </a:r>
            <a:r>
              <a:rPr lang="ko-KR" altLang="en-US" baseline="0" dirty="0" smtClean="0"/>
              <a:t>호출은 크게 두 가지 방법이 존재한다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dirty="0" smtClean="0"/>
              <a:t>  - </a:t>
            </a:r>
            <a:r>
              <a:rPr lang="ko-KR" altLang="en-US" dirty="0" smtClean="0"/>
              <a:t>프록시 모드에서 </a:t>
            </a:r>
            <a:r>
              <a:rPr lang="en-US" altLang="ko-KR" dirty="0" err="1" smtClean="0"/>
              <a:t>kubectl</a:t>
            </a:r>
            <a:r>
              <a:rPr lang="ko-KR" altLang="en-US" dirty="0" smtClean="0"/>
              <a:t>을 실행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방법은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서버 위치를 사용하고 자체 서명된 인증서를 사용하여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서버의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확인 하므로 권장한다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이 방법을 사용하면 중간자 공격이 불가능하다</a:t>
            </a:r>
            <a:r>
              <a:rPr lang="en-US" altLang="ko-KR" dirty="0" smtClean="0"/>
              <a:t>.</a:t>
            </a:r>
          </a:p>
          <a:p>
            <a:r>
              <a:rPr lang="en-US" altLang="ko-KR" baseline="0" dirty="0" smtClean="0"/>
              <a:t> - </a:t>
            </a:r>
            <a:r>
              <a:rPr lang="ko-KR" altLang="en-US" dirty="0" smtClean="0"/>
              <a:t>위치와 자격증명을 </a:t>
            </a:r>
            <a:r>
              <a:rPr lang="en-US" altLang="ko-KR" dirty="0" smtClean="0"/>
              <a:t>http </a:t>
            </a:r>
            <a:r>
              <a:rPr lang="ko-KR" altLang="en-US" dirty="0" smtClean="0"/>
              <a:t>클라이언트에 직접 제공할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방법은 프록시를 혼란스럽게 하는 클라이언트 코드와 동작한다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중간자 공격으로 부터 보호하려면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브라우저로 루트 인증서를 가져와야 한다</a:t>
            </a:r>
            <a:r>
              <a:rPr lang="en-US" altLang="ko-KR" dirty="0" smtClean="0"/>
              <a:t>. (Kubernetes Dashboard </a:t>
            </a:r>
            <a:r>
              <a:rPr lang="ko-KR" altLang="en-US" dirty="0" smtClean="0"/>
              <a:t>방법</a:t>
            </a:r>
            <a:r>
              <a:rPr lang="en-US" altLang="ko-KR" dirty="0" smtClean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72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ㅇ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controller manager </a:t>
            </a:r>
            <a:r>
              <a:rPr lang="ko-KR" altLang="en-US" baseline="0" dirty="0" smtClean="0"/>
              <a:t>종류</a:t>
            </a:r>
            <a:endParaRPr lang="en-US" altLang="ko-KR" baseline="0" dirty="0" smtClean="0"/>
          </a:p>
          <a:p>
            <a:r>
              <a:rPr lang="en-US" altLang="ko-KR" baseline="0" dirty="0" smtClean="0"/>
              <a:t>  - Deployment, Namespace, Endpoint, </a:t>
            </a:r>
            <a:r>
              <a:rPr lang="en-US" altLang="ko-KR" baseline="0" dirty="0" err="1" smtClean="0"/>
              <a:t>CronJob</a:t>
            </a:r>
            <a:r>
              <a:rPr lang="en-US" altLang="ko-KR" baseline="0" dirty="0" smtClean="0"/>
              <a:t>, Service-Account-Controller, Job-</a:t>
            </a:r>
            <a:r>
              <a:rPr lang="en-US" altLang="ko-KR" baseline="0" dirty="0" err="1" smtClean="0"/>
              <a:t>Contoller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StatefulSet</a:t>
            </a:r>
            <a:r>
              <a:rPr lang="en-US" altLang="ko-KR" baseline="0" dirty="0" smtClean="0"/>
              <a:t>, PV-Protection-Controller, </a:t>
            </a:r>
            <a:r>
              <a:rPr lang="en-US" altLang="ko-KR" baseline="0" dirty="0" err="1" smtClean="0"/>
              <a:t>ReplicaSet</a:t>
            </a:r>
            <a:r>
              <a:rPr lang="en-US" altLang="ko-KR" baseline="0" dirty="0" smtClean="0"/>
              <a:t>, Node-</a:t>
            </a:r>
            <a:r>
              <a:rPr lang="en-US" altLang="ko-KR" baseline="0" dirty="0" err="1" smtClean="0"/>
              <a:t>Contoller</a:t>
            </a:r>
            <a:r>
              <a:rPr lang="en-US" altLang="ko-KR" baseline="0" dirty="0" smtClean="0"/>
              <a:t>, PV-Binder-Controller, Replication-Controller</a:t>
            </a:r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ㅇ</a:t>
            </a:r>
            <a:r>
              <a:rPr lang="en-US" altLang="ko-KR" baseline="0" dirty="0" smtClean="0"/>
              <a:t> Default Option Value</a:t>
            </a:r>
          </a:p>
          <a:p>
            <a:r>
              <a:rPr lang="en-US" altLang="ko-KR" baseline="0" dirty="0" smtClean="0"/>
              <a:t>  - --node-monitor-period=5s</a:t>
            </a:r>
          </a:p>
          <a:p>
            <a:r>
              <a:rPr lang="en-US" altLang="ko-KR" baseline="0" dirty="0" smtClean="0"/>
              <a:t>  - --node-monitor-grace-period=40s</a:t>
            </a:r>
          </a:p>
          <a:p>
            <a:r>
              <a:rPr lang="en-US" altLang="ko-KR" baseline="0" dirty="0" smtClean="0"/>
              <a:t>  - --pod-</a:t>
            </a:r>
            <a:r>
              <a:rPr lang="en-US" altLang="ko-KR" baseline="0" dirty="0" err="1" smtClean="0"/>
              <a:t>evition</a:t>
            </a:r>
            <a:r>
              <a:rPr lang="en-US" altLang="ko-KR" baseline="0" dirty="0" smtClean="0"/>
              <a:t>-timeout=5m //</a:t>
            </a:r>
            <a:r>
              <a:rPr lang="ko-KR" altLang="en-US" baseline="0" dirty="0" smtClean="0"/>
              <a:t>문제 발생 노드를 다시 띄우는데 소요되는 시간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ㅇ</a:t>
            </a:r>
            <a:r>
              <a:rPr lang="ko-KR" altLang="en-US" baseline="0" dirty="0" smtClean="0"/>
              <a:t> 위 옵션들은 아래 </a:t>
            </a:r>
            <a:r>
              <a:rPr lang="en-US" altLang="ko-KR" baseline="0" dirty="0" err="1" smtClean="0"/>
              <a:t>yaml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파일에서 추가 설정 가능</a:t>
            </a:r>
            <a:endParaRPr lang="en-US" altLang="ko-KR" baseline="0" dirty="0" smtClean="0"/>
          </a:p>
          <a:p>
            <a:r>
              <a:rPr lang="en-US" altLang="ko-KR" baseline="0" dirty="0" smtClean="0"/>
              <a:t>  - /</a:t>
            </a:r>
            <a:r>
              <a:rPr lang="en-US" altLang="ko-KR" baseline="0" dirty="0" err="1" smtClean="0"/>
              <a:t>etc</a:t>
            </a:r>
            <a:r>
              <a:rPr lang="en-US" altLang="ko-KR" baseline="0" dirty="0" smtClean="0"/>
              <a:t>/</a:t>
            </a:r>
            <a:r>
              <a:rPr lang="en-US" altLang="ko-KR" baseline="0" dirty="0" err="1" smtClean="0"/>
              <a:t>kubernetes</a:t>
            </a:r>
            <a:r>
              <a:rPr lang="en-US" altLang="ko-KR" baseline="0" dirty="0" smtClean="0"/>
              <a:t>/manifests/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-controller-</a:t>
            </a:r>
            <a:r>
              <a:rPr lang="en-US" altLang="ko-KR" baseline="0" dirty="0" err="1" smtClean="0"/>
              <a:t>manager.yaml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ㅇ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관리형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쿠버네티스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(</a:t>
            </a:r>
            <a:r>
              <a:rPr lang="en-US" altLang="ko-KR" baseline="0" dirty="0" err="1" smtClean="0"/>
              <a:t>kubeadm</a:t>
            </a:r>
            <a:r>
              <a:rPr lang="en-US" altLang="ko-KR" baseline="0" dirty="0" smtClean="0"/>
              <a:t>)</a:t>
            </a:r>
            <a:r>
              <a:rPr lang="ko-KR" altLang="en-US" baseline="0" dirty="0" smtClean="0"/>
              <a:t>으로 </a:t>
            </a:r>
            <a:r>
              <a:rPr lang="en-US" altLang="ko-KR" baseline="0" dirty="0" err="1" smtClean="0"/>
              <a:t>kubernetes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설치 시</a:t>
            </a:r>
            <a:r>
              <a:rPr lang="en-US" altLang="ko-KR" baseline="0" dirty="0" smtClean="0"/>
              <a:t>, controller manage</a:t>
            </a:r>
            <a:r>
              <a:rPr lang="ko-KR" altLang="en-US" baseline="0" dirty="0" smtClean="0"/>
              <a:t>는 아래 명령어로 옵션이 확인 가능</a:t>
            </a: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  - cat /</a:t>
            </a:r>
            <a:r>
              <a:rPr lang="en-US" altLang="ko-KR" baseline="0" dirty="0" err="1" smtClean="0"/>
              <a:t>etc</a:t>
            </a:r>
            <a:r>
              <a:rPr lang="en-US" altLang="ko-KR" baseline="0" dirty="0" smtClean="0"/>
              <a:t>/</a:t>
            </a:r>
            <a:r>
              <a:rPr lang="en-US" altLang="ko-KR" baseline="0" dirty="0" err="1" smtClean="0"/>
              <a:t>kubernetes</a:t>
            </a:r>
            <a:r>
              <a:rPr lang="en-US" altLang="ko-KR" baseline="0" dirty="0" smtClean="0"/>
              <a:t>/manifests/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-controller-</a:t>
            </a:r>
            <a:r>
              <a:rPr lang="en-US" altLang="ko-KR" baseline="0" dirty="0" err="1" smtClean="0"/>
              <a:t>manager.yaml</a:t>
            </a:r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078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dirty="0" err="1" smtClean="0"/>
              <a:t>ㅇ</a:t>
            </a:r>
            <a:r>
              <a:rPr lang="ko-KR" altLang="en-US" dirty="0" smtClean="0"/>
              <a:t> </a:t>
            </a:r>
            <a:r>
              <a:rPr lang="ko-KR" altLang="en-US" sz="1200" dirty="0" smtClean="0"/>
              <a:t>노드 </a:t>
            </a:r>
            <a:r>
              <a:rPr lang="ko-KR" altLang="en-US" sz="1200" dirty="0" err="1" smtClean="0"/>
              <a:t>파드의</a:t>
            </a:r>
            <a:r>
              <a:rPr lang="ko-KR" altLang="en-US" sz="1200" dirty="0" smtClean="0"/>
              <a:t> 일정 관리를 책임지는 역할을 함</a:t>
            </a: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dirty="0" err="1" smtClean="0"/>
              <a:t>ㅇ</a:t>
            </a:r>
            <a:r>
              <a:rPr lang="ko-KR" altLang="en-US" sz="1200" dirty="0" smtClean="0"/>
              <a:t> 어떤 </a:t>
            </a:r>
            <a:r>
              <a:rPr lang="ko-KR" altLang="en-US" sz="1200" dirty="0" err="1" smtClean="0"/>
              <a:t>파드가</a:t>
            </a:r>
            <a:r>
              <a:rPr lang="ko-KR" altLang="en-US" sz="1200" dirty="0" smtClean="0"/>
              <a:t> 어떤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로 들어갈지 만 결정함</a:t>
            </a:r>
            <a:r>
              <a:rPr lang="en-US" altLang="ko-KR" sz="1200" dirty="0" smtClean="0"/>
              <a:t>. Node</a:t>
            </a:r>
            <a:r>
              <a:rPr lang="ko-KR" altLang="en-US" sz="1200" dirty="0" smtClean="0"/>
              <a:t>에 </a:t>
            </a:r>
            <a:r>
              <a:rPr lang="ko-KR" altLang="en-US" sz="1200" dirty="0" err="1" smtClean="0"/>
              <a:t>파드를</a:t>
            </a:r>
            <a:r>
              <a:rPr lang="ko-KR" altLang="en-US" sz="1200" dirty="0" smtClean="0"/>
              <a:t> 배치하는 것은 </a:t>
            </a:r>
            <a:r>
              <a:rPr lang="en-US" altLang="ko-KR" sz="1200" dirty="0" err="1" smtClean="0"/>
              <a:t>kubelet</a:t>
            </a:r>
            <a:r>
              <a:rPr lang="ko-KR" altLang="en-US" sz="1200" dirty="0" smtClean="0"/>
              <a:t>이다</a:t>
            </a: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dirty="0" err="1" smtClean="0"/>
              <a:t>ㅇ</a:t>
            </a:r>
            <a:r>
              <a:rPr lang="ko-KR" altLang="en-US" sz="1200" dirty="0" smtClean="0"/>
              <a:t> 스케줄러 역할</a:t>
            </a: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dirty="0" smtClean="0"/>
              <a:t>  -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일정 기준에 따라 특정 </a:t>
            </a:r>
            <a:r>
              <a:rPr lang="ko-KR" altLang="en-US" sz="1200" baseline="0" dirty="0" err="1" smtClean="0"/>
              <a:t>파드를</a:t>
            </a:r>
            <a:r>
              <a:rPr lang="ko-KR" altLang="en-US" sz="1200" baseline="0" dirty="0" smtClean="0"/>
              <a:t> 어떤 노드에 둘지 결정함</a:t>
            </a:r>
            <a:r>
              <a:rPr lang="en-US" altLang="ko-KR" sz="1200" baseline="0" dirty="0" smtClean="0"/>
              <a:t>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- CPU, Memory Resource</a:t>
            </a:r>
            <a:r>
              <a:rPr lang="ko-KR" altLang="en-US" sz="1200" baseline="0" dirty="0" smtClean="0"/>
              <a:t>를 확인하여 </a:t>
            </a:r>
            <a:r>
              <a:rPr lang="ko-KR" altLang="en-US" sz="1200" baseline="0" dirty="0" err="1" smtClean="0"/>
              <a:t>파드를</a:t>
            </a:r>
            <a:r>
              <a:rPr lang="ko-KR" altLang="en-US" sz="1200" baseline="0" dirty="0" smtClean="0"/>
              <a:t> 배치함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  </a:t>
            </a:r>
            <a:r>
              <a:rPr lang="ko-KR" altLang="en-US" sz="1200" baseline="0" dirty="0" smtClean="0"/>
              <a:t>남은 노드들중에는 남은 </a:t>
            </a:r>
            <a:r>
              <a:rPr lang="ko-KR" altLang="en-US" sz="1200" baseline="0" dirty="0" err="1" smtClean="0"/>
              <a:t>리스소가</a:t>
            </a:r>
            <a:r>
              <a:rPr lang="ko-KR" altLang="en-US" sz="1200" baseline="0" dirty="0" smtClean="0"/>
              <a:t> 많은 </a:t>
            </a:r>
            <a:r>
              <a:rPr lang="ko-KR" altLang="en-US" sz="1200" baseline="0" dirty="0" err="1" smtClean="0"/>
              <a:t>노드쪽으로</a:t>
            </a:r>
            <a:r>
              <a:rPr lang="ko-KR" altLang="en-US" sz="1200" baseline="0" dirty="0" smtClean="0"/>
              <a:t> 배치함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baseline="0" dirty="0" err="1" smtClean="0"/>
              <a:t>ㅇ</a:t>
            </a:r>
            <a:r>
              <a:rPr lang="ko-KR" altLang="en-US" sz="1200" baseline="0" dirty="0" smtClean="0"/>
              <a:t> 스케줄링 기준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- Label &amp; Selectors, Resource Limits, Manual Scheduling, </a:t>
            </a:r>
            <a:r>
              <a:rPr lang="en-US" altLang="ko-KR" sz="1200" baseline="0" dirty="0" err="1" smtClean="0"/>
              <a:t>DaemonSet</a:t>
            </a:r>
            <a:r>
              <a:rPr lang="en-US" altLang="ko-KR" sz="1200" baseline="0" dirty="0" smtClean="0"/>
              <a:t>, Multiple Schedulers, Scheduler Events, Configure Kubernetes Scheduler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baseline="0" dirty="0" err="1" smtClean="0"/>
              <a:t>ㅇ</a:t>
            </a:r>
            <a:r>
              <a:rPr lang="ko-KR" altLang="en-US" sz="1200" baseline="0" dirty="0" smtClean="0"/>
              <a:t> </a:t>
            </a:r>
            <a:r>
              <a:rPr lang="ko-KR" altLang="en-US" sz="1200" baseline="0" dirty="0" err="1" smtClean="0"/>
              <a:t>관리형</a:t>
            </a:r>
            <a:r>
              <a:rPr lang="ko-KR" altLang="en-US" sz="1200" baseline="0" dirty="0" smtClean="0"/>
              <a:t> </a:t>
            </a:r>
            <a:r>
              <a:rPr lang="ko-KR" altLang="en-US" sz="1200" baseline="0" dirty="0" err="1" smtClean="0"/>
              <a:t>쿠버네티스</a:t>
            </a:r>
            <a:r>
              <a:rPr lang="en-US" altLang="ko-KR" sz="1200" baseline="0" dirty="0" smtClean="0"/>
              <a:t>(</a:t>
            </a:r>
            <a:r>
              <a:rPr lang="en-US" altLang="ko-KR" sz="1200" baseline="0" dirty="0" err="1" smtClean="0"/>
              <a:t>kubeadm</a:t>
            </a:r>
            <a:r>
              <a:rPr lang="en-US" altLang="ko-KR" sz="1200" baseline="0" dirty="0" smtClean="0"/>
              <a:t>) </a:t>
            </a:r>
            <a:r>
              <a:rPr lang="ko-KR" altLang="en-US" sz="1200" baseline="0" dirty="0" smtClean="0"/>
              <a:t>설치 시 아래 명령어로 설정 확인 가능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- cat /</a:t>
            </a:r>
            <a:r>
              <a:rPr lang="en-US" altLang="ko-KR" sz="1200" baseline="0" dirty="0" err="1" smtClean="0"/>
              <a:t>etc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kubernetes</a:t>
            </a:r>
            <a:r>
              <a:rPr lang="en-US" altLang="ko-KR" sz="1200" baseline="0" dirty="0" smtClean="0"/>
              <a:t>/manifests/</a:t>
            </a:r>
            <a:r>
              <a:rPr lang="en-US" altLang="ko-KR" sz="1200" baseline="0" dirty="0" err="1" smtClean="0"/>
              <a:t>kube-scheduler.yaml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 smtClean="0"/>
          </a:p>
          <a:p>
            <a:pPr marL="18000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 smtClean="0"/>
          </a:p>
          <a:p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344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baseline="0" dirty="0" err="1" smtClean="0"/>
              <a:t>kubelet</a:t>
            </a:r>
            <a:r>
              <a:rPr lang="ko-KR" altLang="en-US" baseline="0" dirty="0" smtClean="0"/>
              <a:t>은 </a:t>
            </a:r>
            <a:r>
              <a:rPr lang="ko-KR" altLang="en-US" baseline="0" dirty="0" err="1" smtClean="0"/>
              <a:t>파드와</a:t>
            </a:r>
            <a:r>
              <a:rPr lang="ko-KR" altLang="en-US" baseline="0" dirty="0" smtClean="0"/>
              <a:t> 노드를 계속 모니터링 하여 상태를 </a:t>
            </a:r>
            <a:r>
              <a:rPr lang="en-US" altLang="ko-KR" baseline="0" dirty="0" err="1" smtClean="0"/>
              <a:t>kube-apiserver</a:t>
            </a:r>
            <a:r>
              <a:rPr lang="ko-KR" altLang="en-US" baseline="0" dirty="0" smtClean="0"/>
              <a:t>쪽으로 보고한다</a:t>
            </a:r>
            <a:r>
              <a:rPr lang="en-US" altLang="ko-KR" baseline="0" dirty="0" smtClean="0"/>
              <a:t>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baseline="0" dirty="0" smtClean="0"/>
              <a:t>필요한 이미지를 끌어와 인스턴스를 실행하라고 </a:t>
            </a:r>
            <a:r>
              <a:rPr lang="en-US" altLang="ko-KR" baseline="0" dirty="0" smtClean="0"/>
              <a:t>Container Runtime Engine</a:t>
            </a:r>
            <a:r>
              <a:rPr lang="ko-KR" altLang="en-US" baseline="0" dirty="0" smtClean="0"/>
              <a:t>한테 명령한다</a:t>
            </a:r>
            <a:r>
              <a:rPr lang="en-US" altLang="ko-KR" baseline="0" dirty="0" smtClean="0"/>
              <a:t>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baseline="0" dirty="0" err="1" smtClean="0"/>
              <a:t>Kubelet</a:t>
            </a:r>
            <a:r>
              <a:rPr lang="ko-KR" altLang="en-US" baseline="0" dirty="0" smtClean="0"/>
              <a:t>은 실질적으로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를 </a:t>
            </a:r>
            <a:r>
              <a:rPr lang="en-US" altLang="ko-KR" baseline="0" dirty="0" smtClean="0"/>
              <a:t>Worker Node</a:t>
            </a:r>
            <a:r>
              <a:rPr lang="ko-KR" altLang="en-US" baseline="0" dirty="0" smtClean="0"/>
              <a:t>에 배치시키는 역할을 한다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696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baseline="0" dirty="0" err="1" smtClean="0"/>
              <a:t>ㅇ</a:t>
            </a:r>
            <a:r>
              <a:rPr lang="ko-KR" altLang="en-US" baseline="0" dirty="0" smtClean="0"/>
              <a:t> 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-proxy </a:t>
            </a:r>
            <a:r>
              <a:rPr lang="ko-KR" altLang="en-US" baseline="0" dirty="0" smtClean="0"/>
              <a:t>참고 </a:t>
            </a:r>
            <a:r>
              <a:rPr lang="en-US" altLang="ko-KR" baseline="0" dirty="0" smtClean="0"/>
              <a:t>URL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baseline="0" dirty="0" smtClean="0"/>
              <a:t>  - https://kubernetes.io/docs/reference/generated/kubectl/kubectl-commands#proxy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867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465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한</a:t>
            </a:r>
            <a:r>
              <a:rPr lang="en-US" altLang="ko-KR" dirty="0" smtClean="0"/>
              <a:t> Pod </a:t>
            </a:r>
            <a:r>
              <a:rPr lang="ko-KR" altLang="en-US" dirty="0" smtClean="0"/>
              <a:t>내에서 </a:t>
            </a:r>
            <a:r>
              <a:rPr lang="en-US" altLang="ko-KR" dirty="0" smtClean="0"/>
              <a:t>Container </a:t>
            </a:r>
            <a:r>
              <a:rPr lang="ko-KR" altLang="en-US" dirty="0" smtClean="0"/>
              <a:t>사용 </a:t>
            </a:r>
            <a:r>
              <a:rPr lang="en-US" altLang="ko-KR" dirty="0" smtClean="0"/>
              <a:t>Port</a:t>
            </a:r>
            <a:r>
              <a:rPr lang="ko-KR" altLang="en-US" dirty="0" smtClean="0"/>
              <a:t>는 중복으로 사용할 수 없다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멀티 컨테이너같은 경우 여러 컨테이너 관리가 필요하고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복잡하다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사이드 컨테이너같은 경우 주 컨테이너와 함께 배포 및 유지 관리가 가능하다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93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244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en-US" altLang="ko-KR" dirty="0" smtClean="0"/>
              <a:t>Pod </a:t>
            </a:r>
            <a:r>
              <a:rPr lang="ko-KR" altLang="en-US" dirty="0" smtClean="0"/>
              <a:t>생성시 </a:t>
            </a:r>
            <a:r>
              <a:rPr lang="en-US" altLang="ko-KR" dirty="0" smtClean="0"/>
              <a:t>default</a:t>
            </a:r>
            <a:r>
              <a:rPr lang="ko-KR" altLang="en-US" dirty="0" smtClean="0"/>
              <a:t>로 </a:t>
            </a:r>
            <a:r>
              <a:rPr lang="en-US" altLang="ko-KR" dirty="0" err="1" smtClean="0"/>
              <a:t>docker</a:t>
            </a:r>
            <a:r>
              <a:rPr lang="en-US" altLang="ko-KR" dirty="0" smtClean="0"/>
              <a:t> hub</a:t>
            </a:r>
            <a:r>
              <a:rPr lang="ko-KR" altLang="en-US" dirty="0" smtClean="0"/>
              <a:t>에 있는 이미지를 가지고 생성한다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183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 smtClean="0"/>
              <a:t>Replication Controller vs Replica Set</a:t>
            </a:r>
          </a:p>
          <a:p>
            <a:r>
              <a:rPr lang="en-US" altLang="ko-KR" baseline="0" dirty="0" smtClean="0"/>
              <a:t>  - Replication Controller</a:t>
            </a:r>
            <a:r>
              <a:rPr lang="ko-KR" altLang="en-US" baseline="0" dirty="0" smtClean="0"/>
              <a:t>는 구 세대에서 많이 사용하였고 지금은 </a:t>
            </a:r>
            <a:r>
              <a:rPr lang="en-US" altLang="ko-KR" baseline="0" dirty="0" smtClean="0"/>
              <a:t>Replica Set</a:t>
            </a:r>
            <a:r>
              <a:rPr lang="ko-KR" altLang="en-US" baseline="0" dirty="0" smtClean="0"/>
              <a:t>으로 많이 사용한다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  - 2</a:t>
            </a:r>
            <a:r>
              <a:rPr lang="ko-KR" altLang="en-US" baseline="0" dirty="0" smtClean="0"/>
              <a:t>개는 미묘한 차이가 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단일 </a:t>
            </a:r>
            <a:r>
              <a:rPr lang="en-US" altLang="ko-KR" baseline="0" dirty="0" smtClean="0"/>
              <a:t>pod</a:t>
            </a:r>
            <a:r>
              <a:rPr lang="ko-KR" altLang="en-US" baseline="0" dirty="0" err="1" smtClean="0"/>
              <a:t>인경우</a:t>
            </a:r>
            <a:r>
              <a:rPr lang="ko-KR" altLang="en-US" baseline="0" dirty="0" smtClean="0"/>
              <a:t> 서비스가 장애가 발생하면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서비스가 </a:t>
            </a:r>
            <a:r>
              <a:rPr lang="ko-KR" altLang="en-US" baseline="0" dirty="0" err="1" smtClean="0"/>
              <a:t>재기동</a:t>
            </a:r>
            <a:r>
              <a:rPr lang="ko-KR" altLang="en-US" baseline="0" dirty="0" smtClean="0"/>
              <a:t> 되는 동안 중단이 발생할 수 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사용자가 계속 서비스를 사용하기 위해서는 하나 이상의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로 서비스를 해야 한다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err="1" smtClean="0"/>
              <a:t>Replicaset</a:t>
            </a:r>
            <a:r>
              <a:rPr lang="ko-KR" altLang="en-US" baseline="0" dirty="0" smtClean="0"/>
              <a:t>은 </a:t>
            </a:r>
            <a:r>
              <a:rPr lang="ko-KR" altLang="en-US" baseline="0" dirty="0" err="1" smtClean="0"/>
              <a:t>고가용성을</a:t>
            </a:r>
            <a:r>
              <a:rPr lang="ko-KR" altLang="en-US" baseline="0" dirty="0" smtClean="0"/>
              <a:t> 제공하여 여러 </a:t>
            </a:r>
            <a:r>
              <a:rPr lang="ko-KR" altLang="en-US" baseline="0" dirty="0" err="1" smtClean="0"/>
              <a:t>파드를</a:t>
            </a:r>
            <a:r>
              <a:rPr lang="ko-KR" altLang="en-US" baseline="0" dirty="0" smtClean="0"/>
              <a:t> 기동할 수 있게 한다</a:t>
            </a:r>
            <a:r>
              <a:rPr lang="en-US" altLang="ko-KR" baseline="0" dirty="0" smtClean="0"/>
              <a:t>. </a:t>
            </a:r>
            <a:r>
              <a:rPr lang="ko-KR" altLang="en-US" baseline="0" dirty="0" err="1" smtClean="0"/>
              <a:t>파드가</a:t>
            </a:r>
            <a:r>
              <a:rPr lang="ko-KR" altLang="en-US" baseline="0" dirty="0" smtClean="0"/>
              <a:t> 최소 한 개는 기동하도록 보장한다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복제컨트롤러는 또한 여러 개의 </a:t>
            </a:r>
            <a:r>
              <a:rPr lang="ko-KR" altLang="en-US" baseline="0" dirty="0" err="1" smtClean="0"/>
              <a:t>파드를</a:t>
            </a:r>
            <a:r>
              <a:rPr lang="ko-KR" altLang="en-US" baseline="0" dirty="0" smtClean="0"/>
              <a:t> 만들어 트랜잭션이 분산되게 한다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사용자가 증가하면 한 개 </a:t>
            </a:r>
            <a:r>
              <a:rPr lang="ko-KR" altLang="en-US" baseline="0" dirty="0" err="1" smtClean="0"/>
              <a:t>파드에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많이나면</a:t>
            </a:r>
            <a:r>
              <a:rPr lang="ko-KR" altLang="en-US" baseline="0" dirty="0" smtClean="0"/>
              <a:t> 다른 노드에 추가 부품을 배포하여 서비스 하게 한다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로드밸런싱</a:t>
            </a:r>
            <a:r>
              <a:rPr lang="ko-KR" altLang="en-US" baseline="0" dirty="0" smtClean="0"/>
              <a:t> 엔 스케일링 </a:t>
            </a:r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80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238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674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Deployment</a:t>
            </a:r>
            <a:r>
              <a:rPr lang="en-US" altLang="ko-KR" baseline="0" dirty="0" smtClean="0"/>
              <a:t> Controller</a:t>
            </a:r>
            <a:r>
              <a:rPr lang="ko-KR" altLang="en-US" baseline="0" dirty="0" smtClean="0"/>
              <a:t>를 이용하면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를 업데이트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롤백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업그레이드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배치 기능을 사용할 수 있다</a:t>
            </a:r>
            <a:r>
              <a:rPr lang="en-US" altLang="ko-KR" baseline="0" dirty="0" smtClean="0"/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147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266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562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827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0426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258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79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 err="1" smtClean="0"/>
              <a:t>자원분리</a:t>
            </a:r>
            <a:endParaRPr lang="en-US" altLang="ko-KR" baseline="0" dirty="0" smtClean="0"/>
          </a:p>
          <a:p>
            <a:r>
              <a:rPr lang="ko-KR" altLang="en-US" baseline="0" dirty="0" smtClean="0"/>
              <a:t>개발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테스트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운영 </a:t>
            </a:r>
            <a:r>
              <a:rPr lang="ko-KR" altLang="en-US" baseline="0" dirty="0" err="1" smtClean="0"/>
              <a:t>환경별로</a:t>
            </a:r>
            <a:r>
              <a:rPr lang="ko-KR" altLang="en-US" baseline="0" dirty="0" smtClean="0"/>
              <a:t> 분리하여 환경 관리 가능하다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RBAC Role Based Access Control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439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 smtClean="0"/>
              <a:t>Kubernetes </a:t>
            </a:r>
            <a:r>
              <a:rPr lang="ko-KR" altLang="en-US" baseline="0" dirty="0" err="1" smtClean="0"/>
              <a:t>설치시</a:t>
            </a:r>
            <a:r>
              <a:rPr lang="ko-KR" altLang="en-US" baseline="0" dirty="0" smtClean="0"/>
              <a:t> 기본 </a:t>
            </a:r>
            <a:r>
              <a:rPr lang="en-US" altLang="ko-KR" baseline="0" dirty="0" err="1" smtClean="0"/>
              <a:t>Namepsace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default, 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-system, 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-public, 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-node-lease</a:t>
            </a:r>
            <a:r>
              <a:rPr lang="ko-KR" altLang="en-US" baseline="0" dirty="0" smtClean="0"/>
              <a:t>가 생성이 된다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다른 네임스페이스로 서비스를 </a:t>
            </a:r>
            <a:r>
              <a:rPr lang="ko-KR" altLang="en-US" baseline="0" dirty="0" err="1" smtClean="0"/>
              <a:t>호출할때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web-</a:t>
            </a:r>
            <a:r>
              <a:rPr lang="en-US" altLang="ko-KR" baseline="0" dirty="0" err="1" smtClean="0"/>
              <a:t>svc.dev.svc.cluster.local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형태로 호출이 가능하다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서비스가 생성될 때 </a:t>
            </a:r>
            <a:r>
              <a:rPr lang="en-US" altLang="ko-KR" baseline="0" dirty="0" smtClean="0"/>
              <a:t>DNS </a:t>
            </a:r>
            <a:r>
              <a:rPr lang="ko-KR" altLang="en-US" baseline="0" dirty="0" smtClean="0"/>
              <a:t>항목이 자동으로 이 포맷이 추가되기 때문이다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err="1" smtClean="0"/>
              <a:t>Cluster.local</a:t>
            </a:r>
            <a:r>
              <a:rPr lang="ko-KR" altLang="en-US" baseline="0" dirty="0" smtClean="0"/>
              <a:t>은 하위 도메인</a:t>
            </a:r>
            <a:endParaRPr lang="en-US" altLang="ko-KR" baseline="0" dirty="0" smtClean="0"/>
          </a:p>
          <a:p>
            <a:r>
              <a:rPr lang="en-US" altLang="ko-KR" baseline="0" dirty="0" smtClean="0"/>
              <a:t>Svc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service</a:t>
            </a:r>
          </a:p>
          <a:p>
            <a:r>
              <a:rPr lang="en-US" altLang="ko-KR" baseline="0" dirty="0" smtClean="0"/>
              <a:t>Dev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namespace</a:t>
            </a:r>
          </a:p>
          <a:p>
            <a:r>
              <a:rPr lang="en-US" altLang="ko-KR" baseline="0" dirty="0" smtClean="0"/>
              <a:t>Web-svc</a:t>
            </a:r>
            <a:r>
              <a:rPr lang="ko-KR" altLang="en-US" baseline="0" dirty="0" smtClean="0"/>
              <a:t>는 서비스 이름이 된다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7247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0342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 smtClean="0"/>
              <a:t>HPA </a:t>
            </a:r>
            <a:r>
              <a:rPr lang="ko-KR" altLang="en-US" baseline="0" dirty="0" smtClean="0"/>
              <a:t>사용시 충돌 가능성이 있기 때문에 </a:t>
            </a:r>
            <a:r>
              <a:rPr lang="en-US" altLang="ko-KR" baseline="0" dirty="0" smtClean="0"/>
              <a:t>HPA</a:t>
            </a:r>
            <a:r>
              <a:rPr lang="ko-KR" altLang="en-US" baseline="0" dirty="0" smtClean="0"/>
              <a:t>를 사용하는 경우에는 </a:t>
            </a:r>
            <a:r>
              <a:rPr lang="en-US" altLang="ko-KR" baseline="0" dirty="0" err="1" smtClean="0"/>
              <a:t>LimitRange</a:t>
            </a:r>
            <a:r>
              <a:rPr lang="ko-KR" altLang="en-US" baseline="0" dirty="0" smtClean="0"/>
              <a:t>를 따로 설정하지 않는다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4712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Namespace </a:t>
            </a:r>
            <a:r>
              <a:rPr lang="ko-KR" altLang="en-US" dirty="0" smtClean="0"/>
              <a:t>삭제 시</a:t>
            </a:r>
            <a:r>
              <a:rPr lang="en-US" altLang="ko-KR" dirty="0" smtClean="0"/>
              <a:t>, namespace </a:t>
            </a:r>
            <a:r>
              <a:rPr lang="ko-KR" altLang="en-US" dirty="0" smtClean="0"/>
              <a:t>안에 모든 </a:t>
            </a:r>
            <a:r>
              <a:rPr lang="en-US" altLang="ko-KR" dirty="0" smtClean="0"/>
              <a:t>resource</a:t>
            </a:r>
            <a:r>
              <a:rPr lang="ko-KR" altLang="en-US" dirty="0" smtClean="0"/>
              <a:t>도 같이 삭제 된다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1191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Imperative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명령어는 </a:t>
            </a:r>
            <a:r>
              <a:rPr lang="en-US" altLang="ko-KR" baseline="0" dirty="0" err="1" smtClean="0"/>
              <a:t>kubectl</a:t>
            </a:r>
            <a:r>
              <a:rPr lang="ko-KR" altLang="en-US" baseline="0" dirty="0" smtClean="0"/>
              <a:t>을 통해 직접 </a:t>
            </a:r>
            <a:r>
              <a:rPr lang="en-US" altLang="ko-KR" baseline="0" dirty="0" smtClean="0"/>
              <a:t>object</a:t>
            </a:r>
            <a:r>
              <a:rPr lang="ko-KR" altLang="en-US" baseline="0" dirty="0" smtClean="0"/>
              <a:t>를 생성하는 것이다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err="1" smtClean="0"/>
              <a:t>Yaml</a:t>
            </a:r>
            <a:r>
              <a:rPr lang="ko-KR" altLang="en-US" baseline="0" dirty="0" smtClean="0"/>
              <a:t>파일을 통해 설정하는 것이 아닌 명령어 입력함으로써 바로 </a:t>
            </a:r>
            <a:r>
              <a:rPr lang="en-US" altLang="ko-KR" baseline="0" dirty="0" smtClean="0"/>
              <a:t>object</a:t>
            </a:r>
            <a:r>
              <a:rPr lang="ko-KR" altLang="en-US" baseline="0" dirty="0" smtClean="0"/>
              <a:t>가 생성된다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Declarative </a:t>
            </a:r>
            <a:r>
              <a:rPr lang="ko-KR" altLang="en-US" baseline="0" dirty="0" smtClean="0"/>
              <a:t>명령어는 </a:t>
            </a:r>
            <a:r>
              <a:rPr lang="en-US" altLang="ko-KR" baseline="0" dirty="0" err="1" smtClean="0"/>
              <a:t>yaml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파일을 작성하여 </a:t>
            </a:r>
            <a:r>
              <a:rPr lang="en-US" altLang="ko-KR" baseline="0" dirty="0" smtClean="0"/>
              <a:t>object</a:t>
            </a:r>
            <a:r>
              <a:rPr lang="ko-KR" altLang="en-US" baseline="0" dirty="0" smtClean="0"/>
              <a:t>를 관리한다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760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microsoft.com/office/2007/relationships/hdphoto" Target="../media/hdphoto3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microsoft.com/office/2007/relationships/hdphoto" Target="../media/hdphoto6.wdp"/><Relationship Id="rId5" Type="http://schemas.openxmlformats.org/officeDocument/2006/relationships/image" Target="../media/image24.png"/><Relationship Id="rId4" Type="http://schemas.microsoft.com/office/2007/relationships/hdphoto" Target="../media/hdphoto5.wdp"/><Relationship Id="rId9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2025.02.24.</a:t>
            </a:r>
            <a:endParaRPr lang="en-US" altLang="ko-KR" sz="1400" b="1" dirty="0" smtClean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Core Concept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2" y="3254174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Kubernetes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Kubernetes </a:t>
            </a:r>
            <a:r>
              <a:rPr lang="ko-KR" altLang="en-US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구성 요소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1" y="4472572"/>
            <a:ext cx="1557115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Kubernetes </a:t>
            </a:r>
            <a:r>
              <a:rPr lang="ko-KR" altLang="en-US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핵심 요소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06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24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7" name="object 18"/>
          <p:cNvSpPr/>
          <p:nvPr/>
        </p:nvSpPr>
        <p:spPr>
          <a:xfrm>
            <a:off x="6173663" y="4844028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20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830" y="2299260"/>
            <a:ext cx="889808" cy="8542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</a:t>
            </a:r>
          </a:p>
          <a:p>
            <a:pPr marL="180000">
              <a:spcBef>
                <a:spcPts val="600"/>
              </a:spcBef>
            </a:pPr>
            <a:r>
              <a:rPr lang="ko-KR" altLang="en-US" sz="1200" dirty="0" smtClean="0"/>
              <a:t>컨테이너화된 </a:t>
            </a:r>
            <a:r>
              <a:rPr lang="en-US" altLang="ko-KR" sz="1200" dirty="0" smtClean="0"/>
              <a:t>Application </a:t>
            </a:r>
            <a:r>
              <a:rPr lang="ko-KR" altLang="en-US" sz="1200" dirty="0" smtClean="0"/>
              <a:t>배포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확장 및 관리를 자동화하는 오픈 소스 시스템</a:t>
            </a:r>
            <a:endParaRPr lang="en-US" altLang="ko-KR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</a:t>
            </a:r>
            <a:r>
              <a:rPr lang="ko-KR" altLang="en-US" sz="1400" b="1" dirty="0" smtClean="0"/>
              <a:t>종류</a:t>
            </a:r>
            <a:endParaRPr lang="en-US" altLang="ko-KR" sz="1400" b="1" dirty="0" smtClean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D8C657D-17EC-47EB-A647-9CB0A7A47008}"/>
              </a:ext>
            </a:extLst>
          </p:cNvPr>
          <p:cNvGrpSpPr/>
          <p:nvPr/>
        </p:nvGrpSpPr>
        <p:grpSpPr>
          <a:xfrm>
            <a:off x="3020527" y="2548336"/>
            <a:ext cx="294475" cy="294475"/>
            <a:chOff x="746465" y="2902362"/>
            <a:chExt cx="390525" cy="390525"/>
          </a:xfrm>
          <a:solidFill>
            <a:schemeClr val="bg1"/>
          </a:solidFill>
        </p:grpSpPr>
        <p:sp>
          <p:nvSpPr>
            <p:cNvPr id="14" name="자유형: 도형 5">
              <a:extLst>
                <a:ext uri="{FF2B5EF4-FFF2-40B4-BE49-F238E27FC236}">
                  <a16:creationId xmlns:a16="http://schemas.microsoft.com/office/drawing/2014/main" id="{7053608B-AB80-4D37-9A2C-72ECE45B8E31}"/>
                </a:ext>
              </a:extLst>
            </p:cNvPr>
            <p:cNvSpPr/>
            <p:nvPr/>
          </p:nvSpPr>
          <p:spPr>
            <a:xfrm>
              <a:off x="746465" y="2902362"/>
              <a:ext cx="390525" cy="390525"/>
            </a:xfrm>
            <a:custGeom>
              <a:avLst/>
              <a:gdLst>
                <a:gd name="connsiteX0" fmla="*/ 346520 w 390525"/>
                <a:gd name="connsiteY0" fmla="*/ 7144 h 390525"/>
                <a:gd name="connsiteX1" fmla="*/ 48101 w 390525"/>
                <a:gd name="connsiteY1" fmla="*/ 7144 h 390525"/>
                <a:gd name="connsiteX2" fmla="*/ 7144 w 390525"/>
                <a:gd name="connsiteY2" fmla="*/ 48101 h 390525"/>
                <a:gd name="connsiteX3" fmla="*/ 7144 w 390525"/>
                <a:gd name="connsiteY3" fmla="*/ 346519 h 390525"/>
                <a:gd name="connsiteX4" fmla="*/ 48101 w 390525"/>
                <a:gd name="connsiteY4" fmla="*/ 387477 h 390525"/>
                <a:gd name="connsiteX5" fmla="*/ 346520 w 390525"/>
                <a:gd name="connsiteY5" fmla="*/ 387477 h 390525"/>
                <a:gd name="connsiteX6" fmla="*/ 387477 w 390525"/>
                <a:gd name="connsiteY6" fmla="*/ 346519 h 390525"/>
                <a:gd name="connsiteX7" fmla="*/ 387477 w 390525"/>
                <a:gd name="connsiteY7" fmla="*/ 48101 h 390525"/>
                <a:gd name="connsiteX8" fmla="*/ 346520 w 390525"/>
                <a:gd name="connsiteY8" fmla="*/ 7144 h 390525"/>
                <a:gd name="connsiteX9" fmla="*/ 308420 w 390525"/>
                <a:gd name="connsiteY9" fmla="*/ 70009 h 390525"/>
                <a:gd name="connsiteX10" fmla="*/ 316325 w 390525"/>
                <a:gd name="connsiteY10" fmla="*/ 66770 h 390525"/>
                <a:gd name="connsiteX11" fmla="*/ 324231 w 390525"/>
                <a:gd name="connsiteY11" fmla="*/ 70009 h 390525"/>
                <a:gd name="connsiteX12" fmla="*/ 327470 w 390525"/>
                <a:gd name="connsiteY12" fmla="*/ 77914 h 390525"/>
                <a:gd name="connsiteX13" fmla="*/ 324231 w 390525"/>
                <a:gd name="connsiteY13" fmla="*/ 85820 h 390525"/>
                <a:gd name="connsiteX14" fmla="*/ 316325 w 390525"/>
                <a:gd name="connsiteY14" fmla="*/ 89059 h 390525"/>
                <a:gd name="connsiteX15" fmla="*/ 308420 w 390525"/>
                <a:gd name="connsiteY15" fmla="*/ 85820 h 390525"/>
                <a:gd name="connsiteX16" fmla="*/ 305181 w 390525"/>
                <a:gd name="connsiteY16" fmla="*/ 77914 h 390525"/>
                <a:gd name="connsiteX17" fmla="*/ 308420 w 390525"/>
                <a:gd name="connsiteY17" fmla="*/ 70009 h 390525"/>
                <a:gd name="connsiteX18" fmla="*/ 248793 w 390525"/>
                <a:gd name="connsiteY18" fmla="*/ 70009 h 390525"/>
                <a:gd name="connsiteX19" fmla="*/ 256699 w 390525"/>
                <a:gd name="connsiteY19" fmla="*/ 66770 h 390525"/>
                <a:gd name="connsiteX20" fmla="*/ 264605 w 390525"/>
                <a:gd name="connsiteY20" fmla="*/ 70009 h 390525"/>
                <a:gd name="connsiteX21" fmla="*/ 267843 w 390525"/>
                <a:gd name="connsiteY21" fmla="*/ 77914 h 390525"/>
                <a:gd name="connsiteX22" fmla="*/ 264605 w 390525"/>
                <a:gd name="connsiteY22" fmla="*/ 85820 h 390525"/>
                <a:gd name="connsiteX23" fmla="*/ 256699 w 390525"/>
                <a:gd name="connsiteY23" fmla="*/ 89059 h 390525"/>
                <a:gd name="connsiteX24" fmla="*/ 248793 w 390525"/>
                <a:gd name="connsiteY24" fmla="*/ 85820 h 390525"/>
                <a:gd name="connsiteX25" fmla="*/ 245555 w 390525"/>
                <a:gd name="connsiteY25" fmla="*/ 77914 h 390525"/>
                <a:gd name="connsiteX26" fmla="*/ 248793 w 390525"/>
                <a:gd name="connsiteY26" fmla="*/ 70009 h 390525"/>
                <a:gd name="connsiteX27" fmla="*/ 189071 w 390525"/>
                <a:gd name="connsiteY27" fmla="*/ 70009 h 390525"/>
                <a:gd name="connsiteX28" fmla="*/ 196977 w 390525"/>
                <a:gd name="connsiteY28" fmla="*/ 66770 h 390525"/>
                <a:gd name="connsiteX29" fmla="*/ 204883 w 390525"/>
                <a:gd name="connsiteY29" fmla="*/ 70009 h 390525"/>
                <a:gd name="connsiteX30" fmla="*/ 208121 w 390525"/>
                <a:gd name="connsiteY30" fmla="*/ 77914 h 390525"/>
                <a:gd name="connsiteX31" fmla="*/ 204883 w 390525"/>
                <a:gd name="connsiteY31" fmla="*/ 85820 h 390525"/>
                <a:gd name="connsiteX32" fmla="*/ 196977 w 390525"/>
                <a:gd name="connsiteY32" fmla="*/ 89059 h 390525"/>
                <a:gd name="connsiteX33" fmla="*/ 189071 w 390525"/>
                <a:gd name="connsiteY33" fmla="*/ 85820 h 390525"/>
                <a:gd name="connsiteX34" fmla="*/ 185833 w 390525"/>
                <a:gd name="connsiteY34" fmla="*/ 77914 h 390525"/>
                <a:gd name="connsiteX35" fmla="*/ 189071 w 390525"/>
                <a:gd name="connsiteY35" fmla="*/ 70009 h 390525"/>
                <a:gd name="connsiteX36" fmla="*/ 77629 w 390525"/>
                <a:gd name="connsiteY36" fmla="*/ 66580 h 390525"/>
                <a:gd name="connsiteX37" fmla="*/ 137065 w 390525"/>
                <a:gd name="connsiteY37" fmla="*/ 66580 h 390525"/>
                <a:gd name="connsiteX38" fmla="*/ 148400 w 390525"/>
                <a:gd name="connsiteY38" fmla="*/ 76486 h 390525"/>
                <a:gd name="connsiteX39" fmla="*/ 137351 w 390525"/>
                <a:gd name="connsiteY39" fmla="*/ 88868 h 390525"/>
                <a:gd name="connsiteX40" fmla="*/ 77915 w 390525"/>
                <a:gd name="connsiteY40" fmla="*/ 88868 h 390525"/>
                <a:gd name="connsiteX41" fmla="*/ 66580 w 390525"/>
                <a:gd name="connsiteY41" fmla="*/ 78962 h 390525"/>
                <a:gd name="connsiteX42" fmla="*/ 77629 w 390525"/>
                <a:gd name="connsiteY42" fmla="*/ 66580 h 390525"/>
                <a:gd name="connsiteX43" fmla="*/ 346520 w 390525"/>
                <a:gd name="connsiteY43" fmla="*/ 365188 h 390525"/>
                <a:gd name="connsiteX44" fmla="*/ 48101 w 390525"/>
                <a:gd name="connsiteY44" fmla="*/ 365188 h 390525"/>
                <a:gd name="connsiteX45" fmla="*/ 29432 w 390525"/>
                <a:gd name="connsiteY45" fmla="*/ 346519 h 390525"/>
                <a:gd name="connsiteX46" fmla="*/ 29432 w 390525"/>
                <a:gd name="connsiteY46" fmla="*/ 148971 h 390525"/>
                <a:gd name="connsiteX47" fmla="*/ 365284 w 390525"/>
                <a:gd name="connsiteY47" fmla="*/ 148971 h 390525"/>
                <a:gd name="connsiteX48" fmla="*/ 365284 w 390525"/>
                <a:gd name="connsiteY48" fmla="*/ 346519 h 390525"/>
                <a:gd name="connsiteX49" fmla="*/ 346520 w 390525"/>
                <a:gd name="connsiteY49" fmla="*/ 36518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90525" h="390525">
                  <a:moveTo>
                    <a:pt x="346520" y="7144"/>
                  </a:moveTo>
                  <a:lnTo>
                    <a:pt x="48101" y="7144"/>
                  </a:lnTo>
                  <a:cubicBezTo>
                    <a:pt x="25432" y="7144"/>
                    <a:pt x="7144" y="25527"/>
                    <a:pt x="7144" y="48101"/>
                  </a:cubicBezTo>
                  <a:lnTo>
                    <a:pt x="7144" y="346519"/>
                  </a:lnTo>
                  <a:cubicBezTo>
                    <a:pt x="7144" y="369189"/>
                    <a:pt x="25527" y="387477"/>
                    <a:pt x="48101" y="387477"/>
                  </a:cubicBezTo>
                  <a:lnTo>
                    <a:pt x="346520" y="387477"/>
                  </a:lnTo>
                  <a:cubicBezTo>
                    <a:pt x="369189" y="387477"/>
                    <a:pt x="387477" y="369094"/>
                    <a:pt x="387477" y="346519"/>
                  </a:cubicBezTo>
                  <a:lnTo>
                    <a:pt x="387477" y="48101"/>
                  </a:lnTo>
                  <a:cubicBezTo>
                    <a:pt x="387572" y="25432"/>
                    <a:pt x="369189" y="7144"/>
                    <a:pt x="346520" y="7144"/>
                  </a:cubicBezTo>
                  <a:close/>
                  <a:moveTo>
                    <a:pt x="308420" y="70009"/>
                  </a:moveTo>
                  <a:cubicBezTo>
                    <a:pt x="310515" y="67913"/>
                    <a:pt x="313373" y="66770"/>
                    <a:pt x="316325" y="66770"/>
                  </a:cubicBezTo>
                  <a:cubicBezTo>
                    <a:pt x="319278" y="66770"/>
                    <a:pt x="322136" y="67913"/>
                    <a:pt x="324231" y="70009"/>
                  </a:cubicBezTo>
                  <a:cubicBezTo>
                    <a:pt x="326326" y="72104"/>
                    <a:pt x="327470" y="74962"/>
                    <a:pt x="327470" y="77914"/>
                  </a:cubicBezTo>
                  <a:cubicBezTo>
                    <a:pt x="327470" y="80867"/>
                    <a:pt x="326326" y="83725"/>
                    <a:pt x="324231" y="85820"/>
                  </a:cubicBezTo>
                  <a:cubicBezTo>
                    <a:pt x="322136" y="87916"/>
                    <a:pt x="319278" y="89059"/>
                    <a:pt x="316325" y="89059"/>
                  </a:cubicBezTo>
                  <a:cubicBezTo>
                    <a:pt x="313373" y="89059"/>
                    <a:pt x="310515" y="87916"/>
                    <a:pt x="308420" y="85820"/>
                  </a:cubicBezTo>
                  <a:cubicBezTo>
                    <a:pt x="306324" y="83725"/>
                    <a:pt x="305181" y="80867"/>
                    <a:pt x="305181" y="77914"/>
                  </a:cubicBezTo>
                  <a:cubicBezTo>
                    <a:pt x="305181" y="74962"/>
                    <a:pt x="306419" y="72104"/>
                    <a:pt x="308420" y="70009"/>
                  </a:cubicBezTo>
                  <a:close/>
                  <a:moveTo>
                    <a:pt x="248793" y="70009"/>
                  </a:moveTo>
                  <a:cubicBezTo>
                    <a:pt x="250889" y="67913"/>
                    <a:pt x="253746" y="66770"/>
                    <a:pt x="256699" y="66770"/>
                  </a:cubicBezTo>
                  <a:cubicBezTo>
                    <a:pt x="259652" y="66770"/>
                    <a:pt x="262509" y="67913"/>
                    <a:pt x="264605" y="70009"/>
                  </a:cubicBezTo>
                  <a:cubicBezTo>
                    <a:pt x="266700" y="72104"/>
                    <a:pt x="267843" y="74962"/>
                    <a:pt x="267843" y="77914"/>
                  </a:cubicBezTo>
                  <a:cubicBezTo>
                    <a:pt x="267843" y="80867"/>
                    <a:pt x="266700" y="83725"/>
                    <a:pt x="264605" y="85820"/>
                  </a:cubicBezTo>
                  <a:cubicBezTo>
                    <a:pt x="262509" y="87916"/>
                    <a:pt x="259652" y="89059"/>
                    <a:pt x="256699" y="89059"/>
                  </a:cubicBezTo>
                  <a:cubicBezTo>
                    <a:pt x="253746" y="89059"/>
                    <a:pt x="250889" y="87916"/>
                    <a:pt x="248793" y="85820"/>
                  </a:cubicBezTo>
                  <a:cubicBezTo>
                    <a:pt x="246698" y="83725"/>
                    <a:pt x="245555" y="80867"/>
                    <a:pt x="245555" y="77914"/>
                  </a:cubicBezTo>
                  <a:cubicBezTo>
                    <a:pt x="245555" y="74962"/>
                    <a:pt x="246698" y="72104"/>
                    <a:pt x="248793" y="70009"/>
                  </a:cubicBezTo>
                  <a:close/>
                  <a:moveTo>
                    <a:pt x="189071" y="70009"/>
                  </a:moveTo>
                  <a:cubicBezTo>
                    <a:pt x="191167" y="67913"/>
                    <a:pt x="194024" y="66770"/>
                    <a:pt x="196977" y="66770"/>
                  </a:cubicBezTo>
                  <a:cubicBezTo>
                    <a:pt x="199930" y="66770"/>
                    <a:pt x="202787" y="67913"/>
                    <a:pt x="204883" y="70009"/>
                  </a:cubicBezTo>
                  <a:cubicBezTo>
                    <a:pt x="206978" y="72104"/>
                    <a:pt x="208121" y="74962"/>
                    <a:pt x="208121" y="77914"/>
                  </a:cubicBezTo>
                  <a:cubicBezTo>
                    <a:pt x="208121" y="80867"/>
                    <a:pt x="206978" y="83725"/>
                    <a:pt x="204883" y="85820"/>
                  </a:cubicBezTo>
                  <a:cubicBezTo>
                    <a:pt x="202787" y="87916"/>
                    <a:pt x="199930" y="89059"/>
                    <a:pt x="196977" y="89059"/>
                  </a:cubicBezTo>
                  <a:cubicBezTo>
                    <a:pt x="194024" y="89059"/>
                    <a:pt x="191167" y="87916"/>
                    <a:pt x="189071" y="85820"/>
                  </a:cubicBezTo>
                  <a:cubicBezTo>
                    <a:pt x="186976" y="83725"/>
                    <a:pt x="185833" y="80867"/>
                    <a:pt x="185833" y="77914"/>
                  </a:cubicBezTo>
                  <a:cubicBezTo>
                    <a:pt x="185833" y="74962"/>
                    <a:pt x="186976" y="72104"/>
                    <a:pt x="189071" y="70009"/>
                  </a:cubicBezTo>
                  <a:close/>
                  <a:moveTo>
                    <a:pt x="77629" y="66580"/>
                  </a:moveTo>
                  <a:lnTo>
                    <a:pt x="137065" y="66580"/>
                  </a:lnTo>
                  <a:cubicBezTo>
                    <a:pt x="142780" y="66580"/>
                    <a:pt x="147828" y="70771"/>
                    <a:pt x="148400" y="76486"/>
                  </a:cubicBezTo>
                  <a:cubicBezTo>
                    <a:pt x="149162" y="83248"/>
                    <a:pt x="143923" y="88868"/>
                    <a:pt x="137351" y="88868"/>
                  </a:cubicBezTo>
                  <a:lnTo>
                    <a:pt x="77915" y="88868"/>
                  </a:lnTo>
                  <a:cubicBezTo>
                    <a:pt x="72200" y="88868"/>
                    <a:pt x="67151" y="84677"/>
                    <a:pt x="66580" y="78962"/>
                  </a:cubicBezTo>
                  <a:cubicBezTo>
                    <a:pt x="65818" y="72199"/>
                    <a:pt x="71057" y="66580"/>
                    <a:pt x="77629" y="66580"/>
                  </a:cubicBezTo>
                  <a:close/>
                  <a:moveTo>
                    <a:pt x="346520" y="365188"/>
                  </a:moveTo>
                  <a:lnTo>
                    <a:pt x="48101" y="365188"/>
                  </a:lnTo>
                  <a:cubicBezTo>
                    <a:pt x="37814" y="365188"/>
                    <a:pt x="29432" y="356806"/>
                    <a:pt x="29432" y="346519"/>
                  </a:cubicBezTo>
                  <a:lnTo>
                    <a:pt x="29432" y="148971"/>
                  </a:lnTo>
                  <a:lnTo>
                    <a:pt x="365284" y="148971"/>
                  </a:lnTo>
                  <a:lnTo>
                    <a:pt x="365284" y="346519"/>
                  </a:lnTo>
                  <a:cubicBezTo>
                    <a:pt x="365284" y="356806"/>
                    <a:pt x="356902" y="365188"/>
                    <a:pt x="346520" y="365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5" name="자유형: 도형 6">
              <a:extLst>
                <a:ext uri="{FF2B5EF4-FFF2-40B4-BE49-F238E27FC236}">
                  <a16:creationId xmlns:a16="http://schemas.microsoft.com/office/drawing/2014/main" id="{741A90B8-A00F-44B2-829E-E014D217554D}"/>
                </a:ext>
              </a:extLst>
            </p:cNvPr>
            <p:cNvSpPr/>
            <p:nvPr/>
          </p:nvSpPr>
          <p:spPr>
            <a:xfrm>
              <a:off x="805827" y="3200971"/>
              <a:ext cx="266700" cy="28575"/>
            </a:xfrm>
            <a:custGeom>
              <a:avLst/>
              <a:gdLst>
                <a:gd name="connsiteX0" fmla="*/ 18267 w 266700"/>
                <a:gd name="connsiteY0" fmla="*/ 29432 h 28575"/>
                <a:gd name="connsiteX1" fmla="*/ 256677 w 266700"/>
                <a:gd name="connsiteY1" fmla="*/ 29432 h 28575"/>
                <a:gd name="connsiteX2" fmla="*/ 268012 w 266700"/>
                <a:gd name="connsiteY2" fmla="*/ 19526 h 28575"/>
                <a:gd name="connsiteX3" fmla="*/ 256963 w 266700"/>
                <a:gd name="connsiteY3" fmla="*/ 7144 h 28575"/>
                <a:gd name="connsiteX4" fmla="*/ 18552 w 266700"/>
                <a:gd name="connsiteY4" fmla="*/ 7144 h 28575"/>
                <a:gd name="connsiteX5" fmla="*/ 7218 w 266700"/>
                <a:gd name="connsiteY5" fmla="*/ 17050 h 28575"/>
                <a:gd name="connsiteX6" fmla="*/ 18267 w 2667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28575">
                  <a:moveTo>
                    <a:pt x="18267" y="29432"/>
                  </a:moveTo>
                  <a:lnTo>
                    <a:pt x="256677" y="29432"/>
                  </a:lnTo>
                  <a:cubicBezTo>
                    <a:pt x="262392" y="29432"/>
                    <a:pt x="267441" y="25241"/>
                    <a:pt x="268012" y="19526"/>
                  </a:cubicBezTo>
                  <a:cubicBezTo>
                    <a:pt x="268774" y="12763"/>
                    <a:pt x="263535" y="7144"/>
                    <a:pt x="256963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717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6" name="자유형: 도형 7">
              <a:extLst>
                <a:ext uri="{FF2B5EF4-FFF2-40B4-BE49-F238E27FC236}">
                  <a16:creationId xmlns:a16="http://schemas.microsoft.com/office/drawing/2014/main" id="{1B1203F4-F138-436C-808B-8A9FFAA217EE}"/>
                </a:ext>
              </a:extLst>
            </p:cNvPr>
            <p:cNvSpPr/>
            <p:nvPr/>
          </p:nvSpPr>
          <p:spPr>
            <a:xfrm>
              <a:off x="805806" y="3081432"/>
              <a:ext cx="95250" cy="95250"/>
            </a:xfrm>
            <a:custGeom>
              <a:avLst/>
              <a:gdLst>
                <a:gd name="connsiteX0" fmla="*/ 48101 w 95250"/>
                <a:gd name="connsiteY0" fmla="*/ 89059 h 95250"/>
                <a:gd name="connsiteX1" fmla="*/ 89059 w 95250"/>
                <a:gd name="connsiteY1" fmla="*/ 48101 h 95250"/>
                <a:gd name="connsiteX2" fmla="*/ 48101 w 95250"/>
                <a:gd name="connsiteY2" fmla="*/ 7144 h 95250"/>
                <a:gd name="connsiteX3" fmla="*/ 7144 w 95250"/>
                <a:gd name="connsiteY3" fmla="*/ 48101 h 95250"/>
                <a:gd name="connsiteX4" fmla="*/ 48101 w 95250"/>
                <a:gd name="connsiteY4" fmla="*/ 8905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89059"/>
                  </a:moveTo>
                  <a:cubicBezTo>
                    <a:pt x="70676" y="89059"/>
                    <a:pt x="89059" y="70675"/>
                    <a:pt x="89059" y="48101"/>
                  </a:cubicBezTo>
                  <a:cubicBezTo>
                    <a:pt x="89059" y="25527"/>
                    <a:pt x="70676" y="7144"/>
                    <a:pt x="48101" y="7144"/>
                  </a:cubicBezTo>
                  <a:cubicBezTo>
                    <a:pt x="25527" y="7144"/>
                    <a:pt x="7144" y="25527"/>
                    <a:pt x="7144" y="48101"/>
                  </a:cubicBezTo>
                  <a:cubicBezTo>
                    <a:pt x="7144" y="70675"/>
                    <a:pt x="25527" y="89059"/>
                    <a:pt x="48101" y="890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7" name="자유형: 도형 8">
              <a:extLst>
                <a:ext uri="{FF2B5EF4-FFF2-40B4-BE49-F238E27FC236}">
                  <a16:creationId xmlns:a16="http://schemas.microsoft.com/office/drawing/2014/main" id="{7B9D1526-43E6-4F04-BA0D-2E40984367B4}"/>
                </a:ext>
              </a:extLst>
            </p:cNvPr>
            <p:cNvSpPr/>
            <p:nvPr/>
          </p:nvSpPr>
          <p:spPr>
            <a:xfrm>
              <a:off x="925154" y="3081337"/>
              <a:ext cx="152400" cy="28575"/>
            </a:xfrm>
            <a:custGeom>
              <a:avLst/>
              <a:gdLst>
                <a:gd name="connsiteX0" fmla="*/ 18288 w 152400"/>
                <a:gd name="connsiteY0" fmla="*/ 29432 h 28575"/>
                <a:gd name="connsiteX1" fmla="*/ 137636 w 152400"/>
                <a:gd name="connsiteY1" fmla="*/ 29432 h 28575"/>
                <a:gd name="connsiteX2" fmla="*/ 148781 w 152400"/>
                <a:gd name="connsiteY2" fmla="*/ 18288 h 28575"/>
                <a:gd name="connsiteX3" fmla="*/ 137636 w 152400"/>
                <a:gd name="connsiteY3" fmla="*/ 7144 h 28575"/>
                <a:gd name="connsiteX4" fmla="*/ 18288 w 152400"/>
                <a:gd name="connsiteY4" fmla="*/ 7144 h 28575"/>
                <a:gd name="connsiteX5" fmla="*/ 7144 w 152400"/>
                <a:gd name="connsiteY5" fmla="*/ 18288 h 28575"/>
                <a:gd name="connsiteX6" fmla="*/ 18288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88" y="29432"/>
                  </a:moveTo>
                  <a:lnTo>
                    <a:pt x="137636" y="29432"/>
                  </a:lnTo>
                  <a:cubicBezTo>
                    <a:pt x="143828" y="29432"/>
                    <a:pt x="148781" y="24479"/>
                    <a:pt x="148781" y="18288"/>
                  </a:cubicBezTo>
                  <a:cubicBezTo>
                    <a:pt x="148781" y="12097"/>
                    <a:pt x="143828" y="7144"/>
                    <a:pt x="137636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8" name="자유형: 도형 9">
              <a:extLst>
                <a:ext uri="{FF2B5EF4-FFF2-40B4-BE49-F238E27FC236}">
                  <a16:creationId xmlns:a16="http://schemas.microsoft.com/office/drawing/2014/main" id="{F1F68AA1-3142-4972-9F41-E576255266CC}"/>
                </a:ext>
              </a:extLst>
            </p:cNvPr>
            <p:cNvSpPr/>
            <p:nvPr/>
          </p:nvSpPr>
          <p:spPr>
            <a:xfrm>
              <a:off x="925176" y="3140773"/>
              <a:ext cx="152400" cy="28575"/>
            </a:xfrm>
            <a:custGeom>
              <a:avLst/>
              <a:gdLst>
                <a:gd name="connsiteX0" fmla="*/ 18267 w 152400"/>
                <a:gd name="connsiteY0" fmla="*/ 29432 h 28575"/>
                <a:gd name="connsiteX1" fmla="*/ 137329 w 152400"/>
                <a:gd name="connsiteY1" fmla="*/ 29432 h 28575"/>
                <a:gd name="connsiteX2" fmla="*/ 148664 w 152400"/>
                <a:gd name="connsiteY2" fmla="*/ 19526 h 28575"/>
                <a:gd name="connsiteX3" fmla="*/ 137615 w 152400"/>
                <a:gd name="connsiteY3" fmla="*/ 7144 h 28575"/>
                <a:gd name="connsiteX4" fmla="*/ 18552 w 152400"/>
                <a:gd name="connsiteY4" fmla="*/ 7144 h 28575"/>
                <a:gd name="connsiteX5" fmla="*/ 7218 w 152400"/>
                <a:gd name="connsiteY5" fmla="*/ 17050 h 28575"/>
                <a:gd name="connsiteX6" fmla="*/ 18267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67" y="29432"/>
                  </a:moveTo>
                  <a:lnTo>
                    <a:pt x="137329" y="29432"/>
                  </a:lnTo>
                  <a:cubicBezTo>
                    <a:pt x="143044" y="29432"/>
                    <a:pt x="148092" y="25241"/>
                    <a:pt x="148664" y="19526"/>
                  </a:cubicBezTo>
                  <a:cubicBezTo>
                    <a:pt x="149426" y="12763"/>
                    <a:pt x="144187" y="7144"/>
                    <a:pt x="137615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813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3056DD-D5C9-496D-8530-A5AD2BD1BD01}"/>
              </a:ext>
            </a:extLst>
          </p:cNvPr>
          <p:cNvSpPr txBox="1"/>
          <p:nvPr/>
        </p:nvSpPr>
        <p:spPr>
          <a:xfrm>
            <a:off x="2157060" y="3920901"/>
            <a:ext cx="201756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dirty="0" smtClean="0"/>
              <a:t>AWS, GCP, Azure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Kubernetes</a:t>
            </a:r>
            <a:r>
              <a:rPr lang="ko-KR" altLang="en-US" dirty="0" smtClean="0"/>
              <a:t>를 관리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사용자는 </a:t>
            </a:r>
            <a:r>
              <a:rPr lang="en-US" altLang="ko-KR" dirty="0" smtClean="0"/>
              <a:t>Application</a:t>
            </a:r>
            <a:r>
              <a:rPr lang="ko-KR" altLang="en-US" dirty="0" smtClean="0"/>
              <a:t>만 올린다</a:t>
            </a:r>
            <a:endParaRPr lang="en-US" altLang="ko-KR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3AA22C-BB89-44BF-BCE6-1BF735CC01B7}"/>
              </a:ext>
            </a:extLst>
          </p:cNvPr>
          <p:cNvSpPr/>
          <p:nvPr/>
        </p:nvSpPr>
        <p:spPr>
          <a:xfrm>
            <a:off x="2236385" y="3621191"/>
            <a:ext cx="183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관리형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Kubernetes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EA22A86-BFCF-468F-8D7F-3068D56E1949}"/>
              </a:ext>
            </a:extLst>
          </p:cNvPr>
          <p:cNvGrpSpPr/>
          <p:nvPr/>
        </p:nvGrpSpPr>
        <p:grpSpPr>
          <a:xfrm>
            <a:off x="5948764" y="2570672"/>
            <a:ext cx="294475" cy="294475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23" name="자유형: 도형 26">
              <a:extLst>
                <a:ext uri="{FF2B5EF4-FFF2-40B4-BE49-F238E27FC236}">
                  <a16:creationId xmlns:a16="http://schemas.microsoft.com/office/drawing/2014/main" id="{30E2E536-4334-44E3-833A-4D5FDD7D06D8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4" name="자유형: 도형 27">
              <a:extLst>
                <a:ext uri="{FF2B5EF4-FFF2-40B4-BE49-F238E27FC236}">
                  <a16:creationId xmlns:a16="http://schemas.microsoft.com/office/drawing/2014/main" id="{73D109EF-7854-4BD0-AF9D-F4A203634219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5" name="자유형: 도형 28">
              <a:extLst>
                <a:ext uri="{FF2B5EF4-FFF2-40B4-BE49-F238E27FC236}">
                  <a16:creationId xmlns:a16="http://schemas.microsoft.com/office/drawing/2014/main" id="{073DBA4D-06EE-4A5B-B76E-A72D508F33EF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6" name="자유형: 도형 29">
              <a:extLst>
                <a:ext uri="{FF2B5EF4-FFF2-40B4-BE49-F238E27FC236}">
                  <a16:creationId xmlns:a16="http://schemas.microsoft.com/office/drawing/2014/main" id="{6049A0D6-77E5-4CCA-B4E5-462E3FFB9CE5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7" name="자유형: 도형 30">
              <a:extLst>
                <a:ext uri="{FF2B5EF4-FFF2-40B4-BE49-F238E27FC236}">
                  <a16:creationId xmlns:a16="http://schemas.microsoft.com/office/drawing/2014/main" id="{46459674-8767-490A-BAE5-DBAB1D89AAD7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8B3BFCC-2766-482F-ACEA-780E50AAFB9C}"/>
              </a:ext>
            </a:extLst>
          </p:cNvPr>
          <p:cNvSpPr txBox="1"/>
          <p:nvPr/>
        </p:nvSpPr>
        <p:spPr>
          <a:xfrm>
            <a:off x="5103430" y="3920901"/>
            <a:ext cx="19989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dirty="0" smtClean="0"/>
              <a:t>Rancher, OPENSHIFT </a:t>
            </a:r>
            <a:r>
              <a:rPr lang="ko-KR" altLang="en-US" dirty="0" smtClean="0"/>
              <a:t>같이 </a:t>
            </a:r>
            <a:r>
              <a:rPr lang="en-US" altLang="ko-KR" dirty="0" smtClean="0"/>
              <a:t>Kubernetes</a:t>
            </a:r>
            <a:r>
              <a:rPr lang="ko-KR" altLang="en-US" dirty="0" smtClean="0"/>
              <a:t>를 패키지화 하여 설치를 진행</a:t>
            </a:r>
            <a:endParaRPr lang="en-US" altLang="ko-KR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15CFD6-4255-41A2-A4C3-258626A8E7BE}"/>
              </a:ext>
            </a:extLst>
          </p:cNvPr>
          <p:cNvSpPr/>
          <p:nvPr/>
        </p:nvSpPr>
        <p:spPr>
          <a:xfrm>
            <a:off x="5177119" y="3621191"/>
            <a:ext cx="183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설치형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Kubernetes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96546A-1663-4488-A691-85CBCFC36C61}"/>
              </a:ext>
            </a:extLst>
          </p:cNvPr>
          <p:cNvSpPr txBox="1"/>
          <p:nvPr/>
        </p:nvSpPr>
        <p:spPr>
          <a:xfrm>
            <a:off x="8180761" y="3920901"/>
            <a:ext cx="17119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ko-KR" altLang="en-US" dirty="0" smtClean="0"/>
              <a:t>사용자가 원하는 형태로 </a:t>
            </a:r>
            <a:r>
              <a:rPr lang="en-US" altLang="ko-KR" dirty="0" smtClean="0"/>
              <a:t>Kubernetes</a:t>
            </a:r>
            <a:r>
              <a:rPr lang="ko-KR" altLang="en-US" dirty="0" smtClean="0"/>
              <a:t>를 설치하고 환경을 직접 구성</a:t>
            </a:r>
            <a:endParaRPr lang="en-US" altLang="ko-KR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DBAA9C4-4B48-4EC6-A4D5-5631FFD11CF6}"/>
              </a:ext>
            </a:extLst>
          </p:cNvPr>
          <p:cNvSpPr/>
          <p:nvPr/>
        </p:nvSpPr>
        <p:spPr>
          <a:xfrm>
            <a:off x="8117853" y="3621191"/>
            <a:ext cx="183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구성형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Kubernetes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B806354-09EA-4A21-9254-B794C8ED6683}"/>
              </a:ext>
            </a:extLst>
          </p:cNvPr>
          <p:cNvCxnSpPr/>
          <p:nvPr/>
        </p:nvCxnSpPr>
        <p:spPr>
          <a:xfrm>
            <a:off x="4618941" y="2171699"/>
            <a:ext cx="0" cy="11193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12EF142-AAA3-4929-9580-C28C2C5A7394}"/>
              </a:ext>
            </a:extLst>
          </p:cNvPr>
          <p:cNvCxnSpPr/>
          <p:nvPr/>
        </p:nvCxnSpPr>
        <p:spPr>
          <a:xfrm>
            <a:off x="7609791" y="2171699"/>
            <a:ext cx="0" cy="11193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910" y="2205755"/>
            <a:ext cx="1066800" cy="639191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06" y="2856985"/>
            <a:ext cx="1758328" cy="478430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50" y="2097074"/>
            <a:ext cx="1409278" cy="737318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460" y="2387146"/>
            <a:ext cx="889543" cy="95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40">
            <a:extLst>
              <a:ext uri="{FF2B5EF4-FFF2-40B4-BE49-F238E27FC236}">
                <a16:creationId xmlns:a16="http://schemas.microsoft.com/office/drawing/2014/main" id="{2E2BEFD2-A6AD-43CF-BD6F-8FB4BB9E3D00}"/>
              </a:ext>
            </a:extLst>
          </p:cNvPr>
          <p:cNvSpPr/>
          <p:nvPr/>
        </p:nvSpPr>
        <p:spPr>
          <a:xfrm>
            <a:off x="6320970" y="2688958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       </a:t>
            </a:r>
            <a:r>
              <a:rPr lang="ko-KR" altLang="en-US" sz="1600" b="1" dirty="0" smtClean="0"/>
              <a:t>자동화된 복구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         </a:t>
            </a:r>
            <a:r>
              <a:rPr lang="ko-KR" altLang="en-US" sz="1200" dirty="0" smtClean="0"/>
              <a:t>실패한 컨테이너를 다시 시작하고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컨테이너를                 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</a:t>
            </a:r>
            <a:r>
              <a:rPr lang="ko-KR" altLang="en-US" sz="1200" dirty="0" smtClean="0"/>
              <a:t>교체</a:t>
            </a:r>
            <a:endParaRPr lang="en-US" altLang="ko-KR" sz="1200" dirty="0" smtClean="0"/>
          </a:p>
        </p:txBody>
      </p:sp>
      <p:sp>
        <p:nvSpPr>
          <p:cNvPr id="13" name="사각형: 둥근 모서리 40">
            <a:extLst>
              <a:ext uri="{FF2B5EF4-FFF2-40B4-BE49-F238E27FC236}">
                <a16:creationId xmlns:a16="http://schemas.microsoft.com/office/drawing/2014/main" id="{2E2BEFD2-A6AD-43CF-BD6F-8FB4BB9E3D00}"/>
              </a:ext>
            </a:extLst>
          </p:cNvPr>
          <p:cNvSpPr/>
          <p:nvPr/>
        </p:nvSpPr>
        <p:spPr>
          <a:xfrm>
            <a:off x="634140" y="2706140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리소스 제한 설정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각 컨테이너가 필요로 하는 </a:t>
            </a:r>
            <a:r>
              <a:rPr lang="en-US" altLang="ko-KR" sz="1200" dirty="0" smtClean="0"/>
              <a:t>CPU</a:t>
            </a:r>
            <a:r>
              <a:rPr lang="ko-KR" altLang="en-US" sz="1200" dirty="0" smtClean="0"/>
              <a:t>와 메모리 제공</a:t>
            </a:r>
            <a:endParaRPr lang="en-US" altLang="ko-KR" sz="12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기능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634141" y="1078123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err="1" smtClean="0"/>
              <a:t>로드밸런싱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DNS </a:t>
            </a:r>
            <a:r>
              <a:rPr lang="ko-KR" altLang="en-US" sz="1200" dirty="0" smtClean="0"/>
              <a:t>이름을 사용하거나 자체 </a:t>
            </a:r>
            <a:r>
              <a:rPr lang="en-US" altLang="ko-KR" sz="1200" dirty="0" smtClean="0"/>
              <a:t>IP</a:t>
            </a:r>
            <a:r>
              <a:rPr lang="ko-KR" altLang="en-US" sz="1200" dirty="0" smtClean="0"/>
              <a:t>주소를 사용하여 </a:t>
            </a:r>
            <a:endParaRPr lang="en-US" altLang="ko-KR" sz="1200" dirty="0" smtClean="0"/>
          </a:p>
          <a:p>
            <a:r>
              <a:rPr lang="ko-KR" altLang="en-US" sz="1200" dirty="0" smtClean="0"/>
              <a:t>컨테이너 노출</a:t>
            </a:r>
            <a:endParaRPr lang="en-US" altLang="ko-KR" sz="1200" dirty="0"/>
          </a:p>
        </p:txBody>
      </p:sp>
      <p:sp>
        <p:nvSpPr>
          <p:cNvPr id="8" name="사각형: 둥근 모서리 38">
            <a:extLst>
              <a:ext uri="{FF2B5EF4-FFF2-40B4-BE49-F238E27FC236}">
                <a16:creationId xmlns:a16="http://schemas.microsoft.com/office/drawing/2014/main" id="{296B9A31-0BA7-4869-B7E2-683BB8F82D21}"/>
              </a:ext>
            </a:extLst>
          </p:cNvPr>
          <p:cNvSpPr/>
          <p:nvPr/>
        </p:nvSpPr>
        <p:spPr>
          <a:xfrm>
            <a:off x="6320970" y="1078123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스토리지 오케스트레이션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로컬 저장소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공용 </a:t>
            </a:r>
            <a:r>
              <a:rPr lang="ko-KR" altLang="en-US" sz="1200" dirty="0" err="1" smtClean="0"/>
              <a:t>클라우드</a:t>
            </a:r>
            <a:r>
              <a:rPr lang="ko-KR" altLang="en-US" sz="1200" dirty="0" smtClean="0"/>
              <a:t> 공급자 등과 같이 원하는 저장 시스템을 자동으로 탑재</a:t>
            </a:r>
            <a:endParaRPr lang="en-US" altLang="ko-KR" sz="1200" dirty="0"/>
          </a:p>
        </p:txBody>
      </p:sp>
      <p:sp>
        <p:nvSpPr>
          <p:cNvPr id="9" name="사각형: 둥근 모서리 40">
            <a:extLst>
              <a:ext uri="{FF2B5EF4-FFF2-40B4-BE49-F238E27FC236}">
                <a16:creationId xmlns:a16="http://schemas.microsoft.com/office/drawing/2014/main" id="{2E2BEFD2-A6AD-43CF-BD6F-8FB4BB9E3D00}"/>
              </a:ext>
            </a:extLst>
          </p:cNvPr>
          <p:cNvSpPr/>
          <p:nvPr/>
        </p:nvSpPr>
        <p:spPr>
          <a:xfrm>
            <a:off x="634140" y="4345611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Auto Scaling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트랜잭션에 따라 컨테이너 리소스를 변경 가능하고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컨테이너를 늘리고 줄일 수 있음</a:t>
            </a:r>
            <a:endParaRPr lang="en-US" altLang="ko-KR" sz="1200" dirty="0" smtClean="0"/>
          </a:p>
        </p:txBody>
      </p:sp>
      <p:sp>
        <p:nvSpPr>
          <p:cNvPr id="11" name="사각형: 둥근 모서리 41">
            <a:extLst>
              <a:ext uri="{FF2B5EF4-FFF2-40B4-BE49-F238E27FC236}">
                <a16:creationId xmlns:a16="http://schemas.microsoft.com/office/drawing/2014/main" id="{42E13575-B208-4CDD-9191-C31935189359}"/>
              </a:ext>
            </a:extLst>
          </p:cNvPr>
          <p:cNvSpPr/>
          <p:nvPr/>
        </p:nvSpPr>
        <p:spPr>
          <a:xfrm>
            <a:off x="6320970" y="4345611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시크릿과 구성 관리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암호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Oauth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Token </a:t>
            </a:r>
            <a:r>
              <a:rPr lang="ko-KR" altLang="en-US" sz="1200" dirty="0" smtClean="0"/>
              <a:t>및 </a:t>
            </a:r>
            <a:r>
              <a:rPr lang="en-US" altLang="ko-KR" sz="1200" dirty="0" smtClean="0"/>
              <a:t>SSH</a:t>
            </a:r>
            <a:r>
              <a:rPr lang="ko-KR" altLang="en-US" sz="1200" dirty="0" smtClean="0"/>
              <a:t>키와 같은 중요한 정보를 저장하고 관리</a:t>
            </a:r>
            <a:endParaRPr lang="en-US" altLang="ko-KR" sz="1200" dirty="0"/>
          </a:p>
        </p:txBody>
      </p:sp>
      <p:sp>
        <p:nvSpPr>
          <p:cNvPr id="12" name="자유형: 도형 42">
            <a:extLst>
              <a:ext uri="{FF2B5EF4-FFF2-40B4-BE49-F238E27FC236}">
                <a16:creationId xmlns:a16="http://schemas.microsoft.com/office/drawing/2014/main" id="{BED55B58-A9D0-46BC-9F0A-627C3415C800}"/>
              </a:ext>
            </a:extLst>
          </p:cNvPr>
          <p:cNvSpPr/>
          <p:nvPr/>
        </p:nvSpPr>
        <p:spPr>
          <a:xfrm>
            <a:off x="4720543" y="2111788"/>
            <a:ext cx="2753684" cy="2579480"/>
          </a:xfrm>
          <a:custGeom>
            <a:avLst/>
            <a:gdLst>
              <a:gd name="connsiteX0" fmla="*/ 3721894 w 3724275"/>
              <a:gd name="connsiteY0" fmla="*/ 1864519 h 3724275"/>
              <a:gd name="connsiteX1" fmla="*/ 1864519 w 3724275"/>
              <a:gd name="connsiteY1" fmla="*/ 3721894 h 3724275"/>
              <a:gd name="connsiteX2" fmla="*/ 7144 w 3724275"/>
              <a:gd name="connsiteY2" fmla="*/ 1864519 h 3724275"/>
              <a:gd name="connsiteX3" fmla="*/ 1864519 w 3724275"/>
              <a:gd name="connsiteY3" fmla="*/ 7144 h 3724275"/>
              <a:gd name="connsiteX4" fmla="*/ 3721894 w 3724275"/>
              <a:gd name="connsiteY4" fmla="*/ 1864519 h 372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4275" h="3724275">
                <a:moveTo>
                  <a:pt x="3721894" y="1864519"/>
                </a:moveTo>
                <a:cubicBezTo>
                  <a:pt x="3721894" y="2890319"/>
                  <a:pt x="2890319" y="3721894"/>
                  <a:pt x="1864519" y="3721894"/>
                </a:cubicBezTo>
                <a:cubicBezTo>
                  <a:pt x="838719" y="3721894"/>
                  <a:pt x="7144" y="2890319"/>
                  <a:pt x="7144" y="1864519"/>
                </a:cubicBezTo>
                <a:cubicBezTo>
                  <a:pt x="7144" y="838719"/>
                  <a:pt x="838719" y="7144"/>
                  <a:pt x="1864519" y="7144"/>
                </a:cubicBezTo>
                <a:cubicBezTo>
                  <a:pt x="2890319" y="7144"/>
                  <a:pt x="3721894" y="838719"/>
                  <a:pt x="3721894" y="1864519"/>
                </a:cubicBezTo>
                <a:close/>
              </a:path>
            </a:pathLst>
          </a:custGeom>
          <a:solidFill>
            <a:srgbClr val="5B69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Kubernetes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837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</a:t>
            </a:r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구성 요소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280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전체 구성 요소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160105" y="904462"/>
            <a:ext cx="7871791" cy="4870174"/>
            <a:chOff x="2160105" y="904462"/>
            <a:chExt cx="7871791" cy="4870174"/>
          </a:xfrm>
        </p:grpSpPr>
        <p:sp>
          <p:nvSpPr>
            <p:cNvPr id="5" name="직사각형 4"/>
            <p:cNvSpPr/>
            <p:nvPr/>
          </p:nvSpPr>
          <p:spPr>
            <a:xfrm>
              <a:off x="2160105" y="904462"/>
              <a:ext cx="7871791" cy="4870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0105" y="904463"/>
              <a:ext cx="714376" cy="6858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874481" y="1062697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2721977" y="1798985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121" y="1799148"/>
              <a:ext cx="549380" cy="527404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574501" y="1893573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Master Node</a:t>
              </a:r>
              <a:endParaRPr lang="ko-KR" altLang="en-US" b="1" dirty="0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6376936" y="1798985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080" y="1799148"/>
              <a:ext cx="549380" cy="52740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229460" y="1893573"/>
              <a:ext cx="161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Worker Node</a:t>
              </a:r>
              <a:endParaRPr lang="ko-KR" altLang="en-US" b="1" dirty="0"/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3372989" y="249760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kube-apiserver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3372989" y="3043140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scheduler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3372988" y="358914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ETCD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3104785" y="4134680"/>
              <a:ext cx="2265813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-controller-manager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7027948" y="249760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kubelet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7033073" y="3043140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-proxy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7027947" y="358914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 Runtime Engine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04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Master Node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6118" y="924339"/>
            <a:ext cx="3975652" cy="4870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924340"/>
            <a:ext cx="71437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0493" y="1082574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197989" y="1818862"/>
            <a:ext cx="3031435" cy="3756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3" y="1819025"/>
            <a:ext cx="549380" cy="5274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50513" y="1913450"/>
            <a:ext cx="1469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Master Node</a:t>
            </a:r>
            <a:endParaRPr lang="ko-KR" altLang="en-US" b="1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849001" y="2517482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kube-apiserver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849001" y="3063017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-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scheduler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849000" y="3609022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ETCD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580797" y="4154557"/>
            <a:ext cx="2265813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-controller-manager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2" y="92433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ube-apiserver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Kubernetes Cluster</a:t>
            </a:r>
            <a:r>
              <a:rPr lang="ko-KR" altLang="en-US" sz="1200" dirty="0" smtClean="0"/>
              <a:t>로 들어오는 요청을 가장 앞에서 접수하는 역할</a:t>
            </a:r>
            <a:endParaRPr lang="en-US" altLang="ko-KR" sz="1200" dirty="0"/>
          </a:p>
        </p:txBody>
      </p:sp>
      <p:sp>
        <p:nvSpPr>
          <p:cNvPr id="26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1" y="2201624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</a:t>
            </a:r>
            <a:r>
              <a:rPr lang="en-US" altLang="ko-KR" sz="1600" b="1" dirty="0" smtClean="0"/>
              <a:t>-scheduler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새로 생성된 </a:t>
            </a:r>
            <a:r>
              <a:rPr lang="ko-KR" altLang="en-US" sz="1200" dirty="0" err="1" smtClean="0"/>
              <a:t>파드를</a:t>
            </a:r>
            <a:r>
              <a:rPr lang="ko-KR" altLang="en-US" sz="1200" dirty="0" smtClean="0"/>
              <a:t> 감지하여 어떤 노드로 배치할지 결정하는 작업을 하는 역할</a:t>
            </a:r>
            <a:endParaRPr lang="en-US" altLang="ko-KR" sz="1200" dirty="0"/>
          </a:p>
        </p:txBody>
      </p:sp>
      <p:sp>
        <p:nvSpPr>
          <p:cNvPr id="27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0" y="347890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ETCD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Kubernetes Cluster </a:t>
            </a:r>
            <a:r>
              <a:rPr lang="ko-KR" altLang="en-US" sz="1200" dirty="0" smtClean="0"/>
              <a:t>및 리소스의 구성 정보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상태 정보 및 명세 정보 등을 </a:t>
            </a:r>
            <a:r>
              <a:rPr lang="en-US" altLang="ko-KR" sz="1200" dirty="0" smtClean="0"/>
              <a:t>key-value </a:t>
            </a:r>
            <a:r>
              <a:rPr lang="ko-KR" altLang="en-US" sz="1200" dirty="0" smtClean="0"/>
              <a:t>형태로 저장하는 저장소</a:t>
            </a:r>
            <a:endParaRPr lang="en-US" altLang="ko-KR" sz="1200" dirty="0"/>
          </a:p>
        </p:txBody>
      </p:sp>
      <p:sp>
        <p:nvSpPr>
          <p:cNvPr id="28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0" y="4756194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</a:t>
            </a:r>
            <a:r>
              <a:rPr lang="en-US" altLang="ko-KR" sz="1600" b="1" dirty="0" smtClean="0"/>
              <a:t>-controller-manager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노드 및 </a:t>
            </a:r>
            <a:r>
              <a:rPr lang="ko-KR" altLang="en-US" sz="1200" dirty="0" err="1" smtClean="0"/>
              <a:t>파드</a:t>
            </a:r>
            <a:r>
              <a:rPr lang="ko-KR" altLang="en-US" sz="1200" dirty="0" smtClean="0"/>
              <a:t> 상태 확인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서비스와 </a:t>
            </a:r>
            <a:r>
              <a:rPr lang="ko-KR" altLang="en-US" sz="1200" dirty="0" err="1" smtClean="0"/>
              <a:t>파드</a:t>
            </a:r>
            <a:r>
              <a:rPr lang="ko-KR" altLang="en-US" sz="1200" dirty="0" smtClean="0"/>
              <a:t> 제대로 연결되어 있는지 확인하고 적절하지 않다면 적절한 수준을 유지하기 위해 조치하는 역할</a:t>
            </a:r>
            <a:endParaRPr lang="en-US" altLang="ko-KR" sz="1200" dirty="0"/>
          </a:p>
        </p:txBody>
      </p:sp>
      <p:cxnSp>
        <p:nvCxnSpPr>
          <p:cNvPr id="3" name="꺾인 연결선 2"/>
          <p:cNvCxnSpPr>
            <a:stCxn id="18" idx="3"/>
            <a:endCxn id="25" idx="1"/>
          </p:cNvCxnSpPr>
          <p:nvPr/>
        </p:nvCxnSpPr>
        <p:spPr>
          <a:xfrm flipV="1">
            <a:off x="3578410" y="1448656"/>
            <a:ext cx="2194262" cy="125606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9" idx="3"/>
            <a:endCxn id="26" idx="1"/>
          </p:cNvCxnSpPr>
          <p:nvPr/>
        </p:nvCxnSpPr>
        <p:spPr>
          <a:xfrm flipV="1">
            <a:off x="3578410" y="2725941"/>
            <a:ext cx="2194261" cy="524317"/>
          </a:xfrm>
          <a:prstGeom prst="bentConnector3">
            <a:avLst>
              <a:gd name="adj1" fmla="val 5769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20" idx="3"/>
            <a:endCxn id="27" idx="1"/>
          </p:cNvCxnSpPr>
          <p:nvPr/>
        </p:nvCxnSpPr>
        <p:spPr>
          <a:xfrm>
            <a:off x="3578409" y="3796263"/>
            <a:ext cx="2194261" cy="20696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21" idx="3"/>
            <a:endCxn id="28" idx="1"/>
          </p:cNvCxnSpPr>
          <p:nvPr/>
        </p:nvCxnSpPr>
        <p:spPr>
          <a:xfrm>
            <a:off x="3846610" y="4341798"/>
            <a:ext cx="1926060" cy="938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30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6118" y="924339"/>
            <a:ext cx="3975652" cy="4870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924340"/>
            <a:ext cx="71437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0493" y="1082574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25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2" y="92433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 smtClean="0"/>
              <a:t>kubelet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노드에서 컨테이너가 동작하도록 관리해주는 핵심 </a:t>
            </a:r>
            <a:endParaRPr lang="en-US" altLang="ko-KR" sz="1200" dirty="0" smtClean="0"/>
          </a:p>
          <a:p>
            <a:r>
              <a:rPr lang="ko-KR" altLang="en-US" sz="1200" dirty="0" smtClean="0"/>
              <a:t>요소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각 노드에서 </a:t>
            </a:r>
            <a:r>
              <a:rPr lang="ko-KR" altLang="en-US" sz="1200" dirty="0" err="1" smtClean="0"/>
              <a:t>파드를</a:t>
            </a:r>
            <a:r>
              <a:rPr lang="ko-KR" altLang="en-US" sz="1200" dirty="0" smtClean="0"/>
              <a:t> 생성하고 관리하는 역할</a:t>
            </a:r>
            <a:endParaRPr lang="en-US" altLang="ko-KR" sz="1200" dirty="0"/>
          </a:p>
        </p:txBody>
      </p:sp>
      <p:sp>
        <p:nvSpPr>
          <p:cNvPr id="26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1" y="2201624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</a:t>
            </a:r>
            <a:r>
              <a:rPr lang="en-US" altLang="ko-KR" sz="1600" b="1" dirty="0" smtClean="0"/>
              <a:t>-proxy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Kubernetes Cluster </a:t>
            </a:r>
            <a:r>
              <a:rPr lang="ko-KR" altLang="en-US" sz="1200" dirty="0" smtClean="0"/>
              <a:t>내부에서 네트워크 요청을 전달하는 역할</a:t>
            </a:r>
            <a:endParaRPr lang="en-US" altLang="ko-KR" sz="1200" dirty="0"/>
          </a:p>
        </p:txBody>
      </p:sp>
      <p:sp>
        <p:nvSpPr>
          <p:cNvPr id="27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0" y="347890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Container Runtime Engine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err="1" smtClean="0"/>
              <a:t>파드에</a:t>
            </a:r>
            <a:r>
              <a:rPr lang="ko-KR" altLang="en-US" sz="1200" dirty="0" smtClean="0"/>
              <a:t> 포함된 컨테이너 실행을 실질적으로 담당하는 </a:t>
            </a:r>
            <a:r>
              <a:rPr lang="en-US" altLang="ko-KR" sz="1200" dirty="0" smtClean="0"/>
              <a:t>Application</a:t>
            </a:r>
            <a:endParaRPr lang="en-US" altLang="ko-KR" sz="12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108227" y="1699267"/>
            <a:ext cx="3031435" cy="3756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194" y="1689235"/>
            <a:ext cx="549380" cy="5274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14104" y="1793855"/>
            <a:ext cx="1619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Worker Node</a:t>
            </a:r>
            <a:endParaRPr lang="ko-KR" altLang="en-US" b="1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1759240" y="2397887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kubelet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759240" y="2943422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ysClr val="windowText" lastClr="000000"/>
                </a:solidFill>
              </a:rPr>
              <a:t>k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-proxy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759240" y="3489427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Container Runtime Engine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" name="꺾인 연결선 2"/>
          <p:cNvCxnSpPr>
            <a:stCxn id="31" idx="3"/>
            <a:endCxn id="25" idx="1"/>
          </p:cNvCxnSpPr>
          <p:nvPr/>
        </p:nvCxnSpPr>
        <p:spPr>
          <a:xfrm flipV="1">
            <a:off x="3488649" y="1448656"/>
            <a:ext cx="2284023" cy="113647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33" idx="3"/>
            <a:endCxn id="26" idx="1"/>
          </p:cNvCxnSpPr>
          <p:nvPr/>
        </p:nvCxnSpPr>
        <p:spPr>
          <a:xfrm flipV="1">
            <a:off x="3488649" y="2725941"/>
            <a:ext cx="2284022" cy="4047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34" idx="3"/>
            <a:endCxn id="27" idx="1"/>
          </p:cNvCxnSpPr>
          <p:nvPr/>
        </p:nvCxnSpPr>
        <p:spPr>
          <a:xfrm>
            <a:off x="3488649" y="3676668"/>
            <a:ext cx="2284021" cy="32655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apiserver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33495" y="1014299"/>
            <a:ext cx="4576014" cy="546144"/>
            <a:chOff x="2500647" y="1163386"/>
            <a:chExt cx="4576014" cy="546144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647" y="1163386"/>
              <a:ext cx="546144" cy="546144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3179428" y="1163386"/>
              <a:ext cx="3897233" cy="20821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179428" y="1371600"/>
              <a:ext cx="3897233" cy="33793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kubectl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get nodes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975508" y="1858618"/>
            <a:ext cx="4091989" cy="4283765"/>
            <a:chOff x="1314898" y="1858618"/>
            <a:chExt cx="4091989" cy="4283765"/>
          </a:xfrm>
        </p:grpSpPr>
        <p:sp>
          <p:nvSpPr>
            <p:cNvPr id="31" name="직사각형 30"/>
            <p:cNvSpPr/>
            <p:nvPr/>
          </p:nvSpPr>
          <p:spPr>
            <a:xfrm>
              <a:off x="1314898" y="1858618"/>
              <a:ext cx="4091989" cy="4283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4898" y="1858619"/>
              <a:ext cx="714376" cy="6858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2029274" y="2016853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1876770" y="2753141"/>
              <a:ext cx="3031435" cy="312088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9914" y="2753304"/>
              <a:ext cx="549380" cy="52740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2729294" y="2847729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Master Node</a:t>
              </a:r>
              <a:endParaRPr lang="ko-KR" altLang="en-US" b="1" dirty="0"/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2527782" y="345176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kube-apiserver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1995521" y="4333697"/>
              <a:ext cx="149569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scheduler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3772156" y="4317907"/>
              <a:ext cx="97006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ETCD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2259579" y="5172909"/>
              <a:ext cx="2265813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-controller-manager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4" name="꺾인 연결선 13"/>
          <p:cNvCxnSpPr>
            <a:stCxn id="28" idx="2"/>
            <a:endCxn id="40" idx="0"/>
          </p:cNvCxnSpPr>
          <p:nvPr/>
        </p:nvCxnSpPr>
        <p:spPr>
          <a:xfrm rot="5400000">
            <a:off x="2261336" y="2352204"/>
            <a:ext cx="1891318" cy="307796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750392" y="2401765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①</a:t>
            </a:r>
            <a:endParaRPr lang="ko-KR" altLang="en-US" b="1" dirty="0"/>
          </a:p>
        </p:txBody>
      </p:sp>
      <p:cxnSp>
        <p:nvCxnSpPr>
          <p:cNvPr id="50" name="꺾인 연결선 49"/>
          <p:cNvCxnSpPr>
            <a:stCxn id="40" idx="2"/>
            <a:endCxn id="42" idx="0"/>
          </p:cNvCxnSpPr>
          <p:nvPr/>
        </p:nvCxnSpPr>
        <p:spPr>
          <a:xfrm rot="16200000" flipH="1">
            <a:off x="3239617" y="3639723"/>
            <a:ext cx="491664" cy="86470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60892" y="3852772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②</a:t>
            </a:r>
            <a:endParaRPr lang="ko-KR" alt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5585791" y="2016853"/>
            <a:ext cx="6132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① 사용자가 </a:t>
            </a:r>
            <a:r>
              <a:rPr lang="en-US" altLang="ko-KR" sz="1400" dirty="0" err="1" smtClean="0"/>
              <a:t>kubectl</a:t>
            </a:r>
            <a:r>
              <a:rPr lang="ko-KR" altLang="en-US" sz="1400" dirty="0" smtClean="0"/>
              <a:t>을 통해 명령어 </a:t>
            </a:r>
            <a:r>
              <a:rPr lang="ko-KR" altLang="en-US" sz="1400" dirty="0" err="1" smtClean="0"/>
              <a:t>입력시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로 요청을 보낸다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②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ETCD</a:t>
            </a:r>
            <a:r>
              <a:rPr lang="ko-KR" altLang="en-US" sz="1400" dirty="0" smtClean="0"/>
              <a:t>에서 데이터를 회수해서 응답한다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92831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controller manager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160105" y="1639956"/>
            <a:ext cx="7871791" cy="4668741"/>
            <a:chOff x="636117" y="1398768"/>
            <a:chExt cx="7871791" cy="4870174"/>
          </a:xfrm>
        </p:grpSpPr>
        <p:sp>
          <p:nvSpPr>
            <p:cNvPr id="24" name="직사각형 23"/>
            <p:cNvSpPr/>
            <p:nvPr/>
          </p:nvSpPr>
          <p:spPr>
            <a:xfrm>
              <a:off x="636117" y="1398768"/>
              <a:ext cx="7871791" cy="4870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398769"/>
              <a:ext cx="714376" cy="6858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1350493" y="1557003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1197989" y="2293291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1133" y="2293454"/>
              <a:ext cx="549380" cy="527404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2050513" y="2387879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Master Node</a:t>
              </a:r>
              <a:endParaRPr lang="ko-KR" altLang="en-US" b="1" dirty="0"/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4852948" y="2293291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6092" y="2293454"/>
              <a:ext cx="549380" cy="527404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5705472" y="2387879"/>
              <a:ext cx="161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Worker Node</a:t>
              </a:r>
              <a:endParaRPr lang="ko-KR" altLang="en-US" b="1" dirty="0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849001" y="299191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kube-apiserver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1274575" y="3987193"/>
              <a:ext cx="150379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scheduler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3196365" y="3987193"/>
              <a:ext cx="76408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ETCD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1580797" y="4987280"/>
              <a:ext cx="2265813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-controller-manager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5503960" y="299191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kubelet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5503958" y="398927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-proxy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5503959" y="4987280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 Runtime Engine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" name="직선 화살표 연결선 4"/>
            <p:cNvCxnSpPr>
              <a:stCxn id="49" idx="0"/>
              <a:endCxn id="45" idx="2"/>
            </p:cNvCxnSpPr>
            <p:nvPr/>
          </p:nvCxnSpPr>
          <p:spPr>
            <a:xfrm flipV="1">
              <a:off x="2713704" y="3366393"/>
              <a:ext cx="2" cy="162088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431512" y="4532728"/>
              <a:ext cx="346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/>
                <a:t>5s</a:t>
              </a:r>
              <a:endParaRPr lang="ko-KR" altLang="en-US" b="1" dirty="0"/>
            </a:p>
          </p:txBody>
        </p:sp>
        <p:cxnSp>
          <p:nvCxnSpPr>
            <p:cNvPr id="56" name="직선 화살표 연결선 55"/>
            <p:cNvCxnSpPr>
              <a:stCxn id="45" idx="3"/>
              <a:endCxn id="51" idx="1"/>
            </p:cNvCxnSpPr>
            <p:nvPr/>
          </p:nvCxnSpPr>
          <p:spPr>
            <a:xfrm>
              <a:off x="3578410" y="3179152"/>
              <a:ext cx="19255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398580" y="2902153"/>
              <a:ext cx="4543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/>
                <a:t>40s</a:t>
              </a:r>
              <a:endParaRPr lang="ko-KR" altLang="en-US" b="1" dirty="0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11200" y="715450"/>
            <a:ext cx="10922000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시스템 상태를 감시하고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문제가 있으면 원하는 상태로 만드는 역할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Node-Controller </a:t>
            </a:r>
            <a:r>
              <a:rPr lang="ko-KR" altLang="en-US" sz="1400" dirty="0" smtClean="0"/>
              <a:t>같은 경우 </a:t>
            </a: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를 통해 </a:t>
            </a:r>
            <a:r>
              <a:rPr lang="en-US" altLang="ko-KR" sz="1400" dirty="0" smtClean="0"/>
              <a:t>5</a:t>
            </a:r>
            <a:r>
              <a:rPr lang="ko-KR" altLang="en-US" sz="1400" dirty="0" smtClean="0"/>
              <a:t>초 주기로 </a:t>
            </a:r>
            <a:r>
              <a:rPr lang="en-US" altLang="ko-KR" sz="1400" dirty="0" smtClean="0"/>
              <a:t>Worker Node </a:t>
            </a:r>
            <a:r>
              <a:rPr lang="ko-KR" altLang="en-US" sz="1400" dirty="0" smtClean="0"/>
              <a:t>상태를 모니터링 한다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문제가 생긴 노드는 </a:t>
            </a:r>
            <a:r>
              <a:rPr lang="en-US" altLang="ko-KR" sz="1400" dirty="0" smtClean="0"/>
              <a:t>40</a:t>
            </a:r>
            <a:r>
              <a:rPr lang="ko-KR" altLang="en-US" sz="1400" dirty="0" smtClean="0"/>
              <a:t>초 뒤에 수신 불가로 표시 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  <a:p>
            <a:pPr marL="180000">
              <a:spcBef>
                <a:spcPts val="600"/>
              </a:spcBef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15160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scheduler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6117" y="1620078"/>
            <a:ext cx="7871791" cy="46687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1620079"/>
            <a:ext cx="714376" cy="6574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0493" y="1771768"/>
            <a:ext cx="2425148" cy="35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1197989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3" y="2477759"/>
            <a:ext cx="549380" cy="5055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50513" y="2568279"/>
            <a:ext cx="1469505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Master Node</a:t>
            </a:r>
            <a:endParaRPr lang="ko-KR" altLang="en-US" b="1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4852948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2" y="2477759"/>
            <a:ext cx="549380" cy="50559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05472" y="2568279"/>
            <a:ext cx="1619680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Worker Node</a:t>
            </a:r>
            <a:endParaRPr lang="ko-KR" altLang="en-US" b="1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1849001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kube-apiserver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608992" y="4103436"/>
            <a:ext cx="150379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-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scheduler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1533141" y="4108338"/>
            <a:ext cx="76408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ETCD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580797" y="5060167"/>
            <a:ext cx="2265813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-controller-manager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503960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kubelet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5503958" y="4103436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ysClr val="windowText" lastClr="000000"/>
                </a:solidFill>
              </a:rPr>
              <a:t>k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-proxy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503959" y="5060167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Container Runtime Engine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33495" y="1014299"/>
            <a:ext cx="4576014" cy="546144"/>
            <a:chOff x="733495" y="1014299"/>
            <a:chExt cx="4576014" cy="546144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495" y="1014299"/>
              <a:ext cx="546144" cy="546144"/>
            </a:xfrm>
            <a:prstGeom prst="rect">
              <a:avLst/>
            </a:prstGeom>
          </p:spPr>
        </p:pic>
        <p:sp>
          <p:nvSpPr>
            <p:cNvPr id="31" name="직사각형 30"/>
            <p:cNvSpPr/>
            <p:nvPr/>
          </p:nvSpPr>
          <p:spPr>
            <a:xfrm>
              <a:off x="1412276" y="1014299"/>
              <a:ext cx="3897233" cy="20821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412276" y="1222513"/>
              <a:ext cx="3897233" cy="33793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kubectl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run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pod --image=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3" name="꺾인 연결선 32"/>
          <p:cNvCxnSpPr>
            <a:stCxn id="32" idx="2"/>
            <a:endCxn id="45" idx="0"/>
          </p:cNvCxnSpPr>
          <p:nvPr/>
        </p:nvCxnSpPr>
        <p:spPr>
          <a:xfrm rot="5400000">
            <a:off x="2243858" y="2030292"/>
            <a:ext cx="1586885" cy="647187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85265" y="211457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①</a:t>
            </a:r>
            <a:endParaRPr lang="ko-KR" altLang="en-US" b="1" dirty="0"/>
          </a:p>
        </p:txBody>
      </p:sp>
      <p:cxnSp>
        <p:nvCxnSpPr>
          <p:cNvPr id="35" name="꺾인 연결선 34"/>
          <p:cNvCxnSpPr>
            <a:stCxn id="45" idx="2"/>
            <a:endCxn id="46" idx="0"/>
          </p:cNvCxnSpPr>
          <p:nvPr/>
        </p:nvCxnSpPr>
        <p:spPr>
          <a:xfrm rot="16200000" flipH="1">
            <a:off x="2738742" y="3481285"/>
            <a:ext cx="597115" cy="64718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37330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②</a:t>
            </a:r>
            <a:endParaRPr lang="ko-KR" altLang="en-US" b="1" dirty="0"/>
          </a:p>
        </p:txBody>
      </p:sp>
      <p:cxnSp>
        <p:nvCxnSpPr>
          <p:cNvPr id="40" name="꺾인 연결선 39"/>
          <p:cNvCxnSpPr>
            <a:stCxn id="46" idx="3"/>
            <a:endCxn id="51" idx="1"/>
          </p:cNvCxnSpPr>
          <p:nvPr/>
        </p:nvCxnSpPr>
        <p:spPr>
          <a:xfrm flipV="1">
            <a:off x="4112791" y="3326825"/>
            <a:ext cx="1391169" cy="95610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93834" y="368995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③</a:t>
            </a:r>
            <a:endParaRPr lang="ko-KR" altLang="en-US" b="1" dirty="0"/>
          </a:p>
        </p:txBody>
      </p:sp>
      <p:cxnSp>
        <p:nvCxnSpPr>
          <p:cNvPr id="42" name="꺾인 연결선 41"/>
          <p:cNvCxnSpPr>
            <a:stCxn id="45" idx="2"/>
            <a:endCxn id="47" idx="0"/>
          </p:cNvCxnSpPr>
          <p:nvPr/>
        </p:nvCxnSpPr>
        <p:spPr>
          <a:xfrm rot="5400000">
            <a:off x="2013438" y="3408069"/>
            <a:ext cx="602017" cy="79852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915191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④</a:t>
            </a:r>
            <a:endParaRPr lang="ko-KR" alt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718613" y="1620078"/>
            <a:ext cx="339718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① 사용자가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시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로 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명령을 전달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②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scheduler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성 명령을 전달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③ </a:t>
            </a:r>
            <a:r>
              <a:rPr lang="en-US" altLang="ko-KR" sz="1400" dirty="0" smtClean="0"/>
              <a:t>scheduler</a:t>
            </a:r>
            <a:r>
              <a:rPr lang="ko-KR" altLang="en-US" sz="1400" dirty="0" smtClean="0"/>
              <a:t>는 </a:t>
            </a:r>
            <a:r>
              <a:rPr lang="en-US" altLang="ko-KR" sz="1400" dirty="0"/>
              <a:t>W</a:t>
            </a:r>
            <a:r>
              <a:rPr lang="en-US" altLang="ko-KR" sz="1400" dirty="0" smtClean="0"/>
              <a:t>orker </a:t>
            </a:r>
            <a:r>
              <a:rPr lang="en-US" altLang="ko-KR" sz="1400" dirty="0"/>
              <a:t>N</a:t>
            </a:r>
            <a:r>
              <a:rPr lang="en-US" altLang="ko-KR" sz="1400" dirty="0" smtClean="0"/>
              <a:t>ode</a:t>
            </a:r>
            <a:r>
              <a:rPr lang="ko-KR" altLang="en-US" sz="1400" dirty="0" smtClean="0"/>
              <a:t>들 중에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서 리소스가 많은 </a:t>
            </a:r>
            <a:r>
              <a:rPr lang="en-US" altLang="ko-KR" sz="1400" dirty="0"/>
              <a:t>N</a:t>
            </a:r>
            <a:r>
              <a:rPr lang="en-US" altLang="ko-KR" sz="1400" dirty="0" smtClean="0"/>
              <a:t>ode</a:t>
            </a:r>
            <a:r>
              <a:rPr lang="ko-KR" altLang="en-US" sz="1400" dirty="0" smtClean="0"/>
              <a:t>를 선택해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해당 </a:t>
            </a:r>
            <a:r>
              <a:rPr lang="en-US" altLang="ko-KR" sz="1400" dirty="0" smtClean="0"/>
              <a:t>node </a:t>
            </a:r>
            <a:r>
              <a:rPr lang="en-US" altLang="ko-KR" sz="1400" dirty="0" err="1" smtClean="0"/>
              <a:t>kubelet</a:t>
            </a:r>
            <a:r>
              <a:rPr lang="ko-KR" altLang="en-US" sz="1400" dirty="0" smtClean="0"/>
              <a:t>에 명령을 전달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④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배치된 정보를 </a:t>
            </a:r>
            <a:r>
              <a:rPr lang="en-US" altLang="ko-KR" sz="1400" dirty="0" err="1" smtClean="0"/>
              <a:t>etcd</a:t>
            </a:r>
            <a:r>
              <a:rPr lang="ko-KR" altLang="en-US" sz="1400" dirty="0" smtClean="0"/>
              <a:t>에 저장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5230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kubelet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6117" y="1620078"/>
            <a:ext cx="7871791" cy="46687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1620079"/>
            <a:ext cx="714376" cy="6574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0493" y="1771768"/>
            <a:ext cx="2425148" cy="35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1197989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3" y="2477759"/>
            <a:ext cx="549380" cy="5055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50513" y="2568279"/>
            <a:ext cx="1469505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Master Node</a:t>
            </a:r>
            <a:endParaRPr lang="ko-KR" altLang="en-US" b="1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4852948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2" y="2477759"/>
            <a:ext cx="549380" cy="50559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05472" y="2568279"/>
            <a:ext cx="1619680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Worker Node</a:t>
            </a:r>
            <a:endParaRPr lang="ko-KR" altLang="en-US" b="1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1849001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kube-apiserver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608992" y="4103436"/>
            <a:ext cx="150379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-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scheduler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1533141" y="4108338"/>
            <a:ext cx="76408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ETCD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580797" y="5060167"/>
            <a:ext cx="2265813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-controller-manager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503960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kubelet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5503958" y="4103436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ysClr val="windowText" lastClr="000000"/>
                </a:solidFill>
              </a:rPr>
              <a:t>k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-proxy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503959" y="5060167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Container Runtime Engine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733495" y="1014299"/>
            <a:ext cx="4576014" cy="546144"/>
            <a:chOff x="2500647" y="1163386"/>
            <a:chExt cx="4576014" cy="546144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647" y="1163386"/>
              <a:ext cx="546144" cy="546144"/>
            </a:xfrm>
            <a:prstGeom prst="rect">
              <a:avLst/>
            </a:prstGeom>
          </p:spPr>
        </p:pic>
        <p:sp>
          <p:nvSpPr>
            <p:cNvPr id="31" name="직사각형 30"/>
            <p:cNvSpPr/>
            <p:nvPr/>
          </p:nvSpPr>
          <p:spPr>
            <a:xfrm>
              <a:off x="3179428" y="1163386"/>
              <a:ext cx="3897233" cy="20821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179428" y="1371600"/>
              <a:ext cx="3897233" cy="33793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kubectl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run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pod --image=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3" name="꺾인 연결선 32"/>
          <p:cNvCxnSpPr>
            <a:stCxn id="32" idx="2"/>
            <a:endCxn id="45" idx="0"/>
          </p:cNvCxnSpPr>
          <p:nvPr/>
        </p:nvCxnSpPr>
        <p:spPr>
          <a:xfrm rot="5400000">
            <a:off x="2243858" y="2030292"/>
            <a:ext cx="1586885" cy="647187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85265" y="211457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①</a:t>
            </a:r>
            <a:endParaRPr lang="ko-KR" altLang="en-US" b="1" dirty="0"/>
          </a:p>
        </p:txBody>
      </p:sp>
      <p:cxnSp>
        <p:nvCxnSpPr>
          <p:cNvPr id="35" name="꺾인 연결선 34"/>
          <p:cNvCxnSpPr>
            <a:stCxn id="45" idx="2"/>
            <a:endCxn id="46" idx="0"/>
          </p:cNvCxnSpPr>
          <p:nvPr/>
        </p:nvCxnSpPr>
        <p:spPr>
          <a:xfrm rot="16200000" flipH="1">
            <a:off x="2738742" y="3481285"/>
            <a:ext cx="597115" cy="64718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37330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②</a:t>
            </a:r>
            <a:endParaRPr lang="ko-KR" altLang="en-US" b="1" dirty="0"/>
          </a:p>
        </p:txBody>
      </p:sp>
      <p:cxnSp>
        <p:nvCxnSpPr>
          <p:cNvPr id="40" name="꺾인 연결선 39"/>
          <p:cNvCxnSpPr>
            <a:stCxn id="46" idx="3"/>
            <a:endCxn id="51" idx="1"/>
          </p:cNvCxnSpPr>
          <p:nvPr/>
        </p:nvCxnSpPr>
        <p:spPr>
          <a:xfrm flipV="1">
            <a:off x="4112791" y="3326825"/>
            <a:ext cx="1391169" cy="95610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93834" y="368995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③</a:t>
            </a:r>
            <a:endParaRPr lang="ko-KR" altLang="en-US" b="1" dirty="0"/>
          </a:p>
        </p:txBody>
      </p:sp>
      <p:cxnSp>
        <p:nvCxnSpPr>
          <p:cNvPr id="42" name="꺾인 연결선 41"/>
          <p:cNvCxnSpPr>
            <a:stCxn id="45" idx="2"/>
            <a:endCxn id="47" idx="0"/>
          </p:cNvCxnSpPr>
          <p:nvPr/>
        </p:nvCxnSpPr>
        <p:spPr>
          <a:xfrm rot="5400000">
            <a:off x="2013438" y="3408069"/>
            <a:ext cx="602017" cy="79852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915191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④</a:t>
            </a:r>
            <a:endParaRPr lang="ko-KR" alt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718613" y="1620078"/>
            <a:ext cx="33971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⑤ </a:t>
            </a: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로 부터 명령을 </a:t>
            </a:r>
            <a:r>
              <a:rPr lang="ko-KR" altLang="en-US" sz="1400" dirty="0" err="1" smtClean="0"/>
              <a:t>받으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면 </a:t>
            </a:r>
            <a:r>
              <a:rPr lang="en-US" altLang="ko-KR" sz="1400" dirty="0" smtClean="0"/>
              <a:t>Worker Node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Runtime Engine</a:t>
            </a:r>
            <a:r>
              <a:rPr lang="ko-KR" altLang="en-US" sz="1400" dirty="0" smtClean="0"/>
              <a:t>에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게 명령을 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cxnSp>
        <p:nvCxnSpPr>
          <p:cNvPr id="43" name="꺾인 연결선 42"/>
          <p:cNvCxnSpPr>
            <a:stCxn id="51" idx="2"/>
            <a:endCxn id="55" idx="0"/>
          </p:cNvCxnSpPr>
          <p:nvPr/>
        </p:nvCxnSpPr>
        <p:spPr>
          <a:xfrm rot="5400000">
            <a:off x="5591742" y="4283244"/>
            <a:ext cx="1553846" cy="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76803" y="369784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⑤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96062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proxy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로컬 호스트와 </a:t>
            </a:r>
            <a:r>
              <a:rPr lang="en-US" altLang="ko-KR" sz="1400" dirty="0" smtClean="0"/>
              <a:t>Kubernetes API </a:t>
            </a:r>
            <a:r>
              <a:rPr lang="ko-KR" altLang="en-US" sz="1400" dirty="0" smtClean="0"/>
              <a:t>서버 사이에 </a:t>
            </a:r>
            <a:r>
              <a:rPr lang="en-US" altLang="ko-KR" sz="1400" dirty="0" smtClean="0"/>
              <a:t>Proxy </a:t>
            </a:r>
            <a:r>
              <a:rPr lang="ko-KR" altLang="en-US" sz="1400" dirty="0" smtClean="0"/>
              <a:t>서버 또는 </a:t>
            </a:r>
            <a:r>
              <a:rPr lang="en-US" altLang="ko-KR" sz="1400" dirty="0" smtClean="0"/>
              <a:t>Application Level</a:t>
            </a:r>
            <a:r>
              <a:rPr lang="ko-KR" altLang="en-US" sz="1400" dirty="0" smtClean="0"/>
              <a:t>에 게이트웨이를 만드는 역할을 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항상 </a:t>
            </a:r>
            <a:r>
              <a:rPr lang="en-US" altLang="ko-KR" sz="1400" dirty="0" err="1" smtClean="0"/>
              <a:t>DaemonSet</a:t>
            </a:r>
            <a:r>
              <a:rPr lang="ko-KR" altLang="en-US" sz="1400" dirty="0" smtClean="0"/>
              <a:t>으로 </a:t>
            </a:r>
            <a:r>
              <a:rPr lang="en-US" altLang="ko-KR" sz="1400" dirty="0" smtClean="0"/>
              <a:t>Kubernetes Cluster </a:t>
            </a:r>
            <a:r>
              <a:rPr lang="ko-KR" altLang="en-US" sz="1400" dirty="0" smtClean="0"/>
              <a:t>각 노드에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생성 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341262"/>
            <a:ext cx="8535591" cy="71447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11200" y="2094209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실행 예시</a:t>
            </a:r>
            <a:endParaRPr lang="en-US" altLang="ko-KR" sz="1200" dirty="0"/>
          </a:p>
        </p:txBody>
      </p:sp>
      <p:sp>
        <p:nvSpPr>
          <p:cNvPr id="60" name="직사각형 59"/>
          <p:cNvSpPr/>
          <p:nvPr/>
        </p:nvSpPr>
        <p:spPr>
          <a:xfrm>
            <a:off x="694245" y="2440458"/>
            <a:ext cx="10079772" cy="20821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ysClr val="windowText" lastClr="000000"/>
                </a:solidFill>
              </a:rPr>
              <a:t>CMD</a:t>
            </a:r>
            <a:endParaRPr lang="ko-KR" altLang="en-US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94245" y="2648671"/>
            <a:ext cx="10079772" cy="28079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 smtClean="0">
                <a:solidFill>
                  <a:schemeClr val="bg1"/>
                </a:solidFill>
              </a:rPr>
              <a:t># Proxy Server 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실행</a:t>
            </a:r>
            <a:endParaRPr lang="en-US" altLang="ko-KR" sz="1100" b="1" dirty="0" smtClean="0">
              <a:solidFill>
                <a:schemeClr val="bg1"/>
              </a:solidFill>
            </a:endParaRPr>
          </a:p>
          <a:p>
            <a:r>
              <a:rPr lang="en-US" altLang="ko-KR" sz="1100" b="1" dirty="0" smtClean="0">
                <a:solidFill>
                  <a:schemeClr val="bg1"/>
                </a:solidFill>
              </a:rPr>
              <a:t>$ </a:t>
            </a:r>
            <a:r>
              <a:rPr lang="en-US" altLang="ko-KR" sz="1100" b="1" dirty="0" err="1">
                <a:solidFill>
                  <a:schemeClr val="bg1"/>
                </a:solidFill>
              </a:rPr>
              <a:t>kubectl</a:t>
            </a:r>
            <a:r>
              <a:rPr lang="en-US" altLang="ko-KR" sz="1100" b="1" dirty="0">
                <a:solidFill>
                  <a:schemeClr val="bg1"/>
                </a:solidFill>
              </a:rPr>
              <a:t> proxy --</a:t>
            </a:r>
            <a:r>
              <a:rPr lang="en-US" altLang="ko-KR" sz="1100" b="1" dirty="0" err="1">
                <a:solidFill>
                  <a:schemeClr val="bg1"/>
                </a:solidFill>
              </a:rPr>
              <a:t>api</a:t>
            </a:r>
            <a:r>
              <a:rPr lang="en-US" altLang="ko-KR" sz="1100" b="1" dirty="0">
                <a:solidFill>
                  <a:schemeClr val="bg1"/>
                </a:solidFill>
              </a:rPr>
              <a:t>-prefix</a:t>
            </a:r>
            <a:r>
              <a:rPr lang="en-US" altLang="ko-KR" sz="1100" b="1" dirty="0" smtClean="0">
                <a:solidFill>
                  <a:schemeClr val="bg1"/>
                </a:solidFill>
              </a:rPr>
              <a:t>=/ -p 8001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1100" b="1" dirty="0" smtClean="0">
                <a:solidFill>
                  <a:schemeClr val="bg1"/>
                </a:solidFill>
              </a:rPr>
              <a:t># 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실행한 </a:t>
            </a:r>
            <a:r>
              <a:rPr lang="en-US" altLang="ko-KR" sz="1100" b="1" dirty="0" smtClean="0">
                <a:solidFill>
                  <a:schemeClr val="bg1"/>
                </a:solidFill>
              </a:rPr>
              <a:t>Proxy Server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를 통해 </a:t>
            </a:r>
            <a:r>
              <a:rPr lang="en-US" altLang="ko-KR" sz="1100" b="1" dirty="0" smtClean="0">
                <a:solidFill>
                  <a:schemeClr val="bg1"/>
                </a:solidFill>
              </a:rPr>
              <a:t>Pod 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조회</a:t>
            </a:r>
            <a:endParaRPr lang="en-US" altLang="ko-KR" sz="1100" b="1" dirty="0" smtClean="0">
              <a:solidFill>
                <a:schemeClr val="bg1"/>
              </a:solidFill>
            </a:endParaRPr>
          </a:p>
          <a:p>
            <a:r>
              <a:rPr lang="en-US" altLang="ko-KR" sz="1100" b="1" dirty="0" smtClean="0">
                <a:solidFill>
                  <a:schemeClr val="bg1"/>
                </a:solidFill>
              </a:rPr>
              <a:t>$ curl localhost:8001/</a:t>
            </a:r>
            <a:r>
              <a:rPr lang="en-US" altLang="ko-KR" sz="1100" b="1" dirty="0" err="1" smtClean="0">
                <a:solidFill>
                  <a:schemeClr val="bg1"/>
                </a:solidFill>
              </a:rPr>
              <a:t>api</a:t>
            </a:r>
            <a:r>
              <a:rPr lang="en-US" altLang="ko-KR" sz="1100" b="1" dirty="0" smtClean="0">
                <a:solidFill>
                  <a:schemeClr val="bg1"/>
                </a:solidFill>
              </a:rPr>
              <a:t>/v1/pods</a:t>
            </a:r>
          </a:p>
          <a:p>
            <a:r>
              <a:rPr lang="en-US" altLang="ko-KR" sz="11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"kind": "</a:t>
            </a:r>
            <a:r>
              <a:rPr lang="en-US" altLang="ko-KR" sz="1100" b="1" dirty="0" err="1">
                <a:solidFill>
                  <a:schemeClr val="bg1"/>
                </a:solidFill>
              </a:rPr>
              <a:t>PodList</a:t>
            </a:r>
            <a:r>
              <a:rPr lang="en-US" altLang="ko-KR" sz="1100" b="1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"</a:t>
            </a:r>
            <a:r>
              <a:rPr lang="en-US" altLang="ko-KR" sz="1100" b="1" dirty="0" err="1">
                <a:solidFill>
                  <a:schemeClr val="bg1"/>
                </a:solidFill>
              </a:rPr>
              <a:t>apiVersion</a:t>
            </a:r>
            <a:r>
              <a:rPr lang="en-US" altLang="ko-KR" sz="1100" b="1" dirty="0">
                <a:solidFill>
                  <a:schemeClr val="bg1"/>
                </a:solidFill>
              </a:rPr>
              <a:t>": "v1",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"metadata": {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  "</a:t>
            </a:r>
            <a:r>
              <a:rPr lang="en-US" altLang="ko-KR" sz="1100" b="1" dirty="0" err="1">
                <a:solidFill>
                  <a:schemeClr val="bg1"/>
                </a:solidFill>
              </a:rPr>
              <a:t>resourceVersion</a:t>
            </a:r>
            <a:r>
              <a:rPr lang="en-US" altLang="ko-KR" sz="1100" b="1" dirty="0">
                <a:solidFill>
                  <a:schemeClr val="bg1"/>
                </a:solidFill>
              </a:rPr>
              <a:t>": "17115220"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},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"items": [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  {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      "metadata": {</a:t>
            </a:r>
          </a:p>
          <a:p>
            <a:r>
              <a:rPr lang="en-US" altLang="ko-KR" sz="1100" b="1" dirty="0" smtClean="0">
                <a:solidFill>
                  <a:schemeClr val="bg1"/>
                </a:solidFill>
              </a:rPr>
              <a:t>…(</a:t>
            </a:r>
            <a:r>
              <a:rPr lang="ko-KR" altLang="en-US" sz="1100" b="1" dirty="0" smtClean="0">
                <a:solidFill>
                  <a:schemeClr val="bg1"/>
                </a:solidFill>
              </a:rPr>
              <a:t>생략</a:t>
            </a:r>
            <a:r>
              <a:rPr lang="en-US" altLang="ko-KR" sz="1100" b="1" dirty="0" smtClean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6706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</a:t>
            </a:r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핵심 요소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20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Pod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80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단일 </a:t>
            </a:r>
            <a:r>
              <a:rPr lang="en-US" altLang="ko-KR" sz="1400" dirty="0" smtClean="0"/>
              <a:t>Application</a:t>
            </a:r>
            <a:r>
              <a:rPr lang="ko-KR" altLang="en-US" sz="1400" dirty="0" smtClean="0"/>
              <a:t>이 올라가는 최소 단위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안에는 여러 컨테이너가 존재할 수 있다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같은 서비스를 하는 컨테이너가 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 올라가지는 않으며</a:t>
            </a:r>
            <a:r>
              <a:rPr lang="en-US" altLang="ko-KR" sz="1400" dirty="0" smtClean="0"/>
              <a:t>, Multi Container </a:t>
            </a:r>
            <a:r>
              <a:rPr lang="ko-KR" altLang="en-US" sz="1400" dirty="0" smtClean="0"/>
              <a:t>및 </a:t>
            </a:r>
            <a:r>
              <a:rPr lang="en-US" altLang="ko-KR" sz="1400" dirty="0" smtClean="0"/>
              <a:t>Sidecar Container </a:t>
            </a:r>
            <a:r>
              <a:rPr lang="ko-KR" altLang="en-US" sz="1400" dirty="0" smtClean="0"/>
              <a:t>형태로 올라갈 수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3283233" y="3516542"/>
            <a:ext cx="5625535" cy="2644435"/>
            <a:chOff x="3283233" y="3328982"/>
            <a:chExt cx="5625535" cy="2644435"/>
          </a:xfrm>
        </p:grpSpPr>
        <p:sp>
          <p:nvSpPr>
            <p:cNvPr id="5" name="직사각형 4"/>
            <p:cNvSpPr/>
            <p:nvPr/>
          </p:nvSpPr>
          <p:spPr>
            <a:xfrm>
              <a:off x="3283234" y="3328982"/>
              <a:ext cx="5625534" cy="26444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3233" y="3328982"/>
              <a:ext cx="714376" cy="64958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3997609" y="3478860"/>
              <a:ext cx="2425148" cy="349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3997610" y="4201850"/>
              <a:ext cx="4215420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538" y="4276573"/>
              <a:ext cx="612554" cy="581151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713092" y="4419836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  <a:endParaRPr lang="ko-KR" altLang="en-US" b="1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4302556" y="5039331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</a:t>
              </a:r>
            </a:p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Port : 8080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6182597" y="5039331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</a:t>
              </a:r>
            </a:p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Port : 8081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22283"/>
              </p:ext>
            </p:extLst>
          </p:nvPr>
        </p:nvGraphicFramePr>
        <p:xfrm>
          <a:off x="711199" y="1705794"/>
          <a:ext cx="10922000" cy="16231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424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4800788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4800788">
                  <a:extLst>
                    <a:ext uri="{9D8B030D-6E8A-4147-A177-3AD203B41FA5}">
                      <a16:colId xmlns:a16="http://schemas.microsoft.com/office/drawing/2014/main" val="35048891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항목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Multi</a:t>
                      </a:r>
                      <a:r>
                        <a:rPr lang="en-US" altLang="ko-KR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Container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Sidecar Container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여러 개의 컨테이너를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컨테이너와 보조 컨테이너를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목적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서로 독립적인 기능을 가진 컨테이너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컨테이너의 기능을 확장 또는 보완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예제 사용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백엔드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캐싱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API + DB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 수집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프록시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스캐닝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732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Pod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yaml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예시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711200" y="3489653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이용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9" y="3820523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pod.yaml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1200" y="4120615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y</a:t>
            </a:r>
            <a:r>
              <a:rPr lang="en-US" altLang="ko-KR" sz="1400" dirty="0" err="1" smtClean="0"/>
              <a:t>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이용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삭제</a:t>
            </a:r>
            <a:r>
              <a:rPr lang="en-US" altLang="ko-KR" sz="1400" dirty="0" smtClean="0"/>
              <a:t> </a:t>
            </a:r>
            <a:endParaRPr lang="en-US" altLang="ko-KR" sz="1200" dirty="0"/>
          </a:p>
        </p:txBody>
      </p:sp>
      <p:sp>
        <p:nvSpPr>
          <p:cNvPr id="20" name="TextBox 3"/>
          <p:cNvSpPr txBox="1"/>
          <p:nvPr/>
        </p:nvSpPr>
        <p:spPr>
          <a:xfrm>
            <a:off x="753029" y="445148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pod.yaml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53029" y="1050524"/>
            <a:ext cx="10838341" cy="2400657"/>
            <a:chOff x="753029" y="1050524"/>
            <a:chExt cx="10838341" cy="2400657"/>
          </a:xfrm>
        </p:grpSpPr>
        <p:sp>
          <p:nvSpPr>
            <p:cNvPr id="16" name="TextBox 3"/>
            <p:cNvSpPr txBox="1"/>
            <p:nvPr/>
          </p:nvSpPr>
          <p:spPr>
            <a:xfrm>
              <a:off x="753029" y="1327523"/>
              <a:ext cx="10838341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#Object</a:t>
              </a:r>
              <a:r>
                <a:rPr lang="ko-KR" altLang="en-US" sz="1200" dirty="0">
                  <a:solidFill>
                    <a:srgbClr val="FF0000"/>
                  </a:solidFill>
                </a:rPr>
                <a:t>를 생성할 때 사용하는 </a:t>
              </a:r>
              <a:r>
                <a:rPr lang="en-US" altLang="ko-KR" sz="1200" dirty="0">
                  <a:solidFill>
                    <a:srgbClr val="FF0000"/>
                  </a:solidFill>
                </a:rPr>
                <a:t>API Version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을 명시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Pod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만들려고 하는 </a:t>
              </a:r>
              <a:r>
                <a:rPr lang="en-US" altLang="ko-KR" sz="1200" dirty="0">
                  <a:solidFill>
                    <a:srgbClr val="FF0000"/>
                  </a:solidFill>
                </a:rPr>
                <a:t>Object </a:t>
              </a:r>
              <a:r>
                <a:rPr lang="ko-KR" altLang="en-US" sz="1200" dirty="0">
                  <a:solidFill>
                    <a:srgbClr val="FF0000"/>
                  </a:solidFill>
                </a:rPr>
                <a:t>종류를 명시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metadata: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이름이나 </a:t>
              </a:r>
              <a:r>
                <a:rPr lang="en-US" altLang="ko-KR" sz="1200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을 명시한다</a:t>
              </a:r>
              <a:r>
                <a:rPr lang="en-US" altLang="ko-KR" sz="1200" dirty="0">
                  <a:solidFill>
                    <a:srgbClr val="FF0000"/>
                  </a:solidFill>
                </a:rPr>
                <a:t>.</a:t>
              </a: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labels:</a:t>
              </a:r>
            </a:p>
            <a:p>
              <a:pPr algn="l"/>
              <a:r>
                <a:rPr lang="en-US" altLang="ko-KR" sz="1200" dirty="0"/>
                <a:t>    app: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  type: front-end</a:t>
              </a:r>
            </a:p>
            <a:p>
              <a:pPr algn="l"/>
              <a:r>
                <a:rPr lang="en-US" altLang="ko-KR" sz="1200" dirty="0"/>
                <a:t>spec: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생성하려는 객체의 스펙을 작성하는 곳</a:t>
              </a:r>
              <a:r>
                <a:rPr lang="en-US" altLang="ko-KR" sz="1200" dirty="0">
                  <a:solidFill>
                    <a:srgbClr val="FF0000"/>
                  </a:solidFill>
                </a:rPr>
                <a:t>. ‘-’</a:t>
              </a:r>
              <a:r>
                <a:rPr lang="ko-KR" altLang="en-US" sz="1200" dirty="0">
                  <a:solidFill>
                    <a:srgbClr val="FF0000"/>
                  </a:solidFill>
                </a:rPr>
                <a:t>는 시작을 의미함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  containers:</a:t>
              </a:r>
            </a:p>
            <a:p>
              <a:pPr algn="l"/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nignx</a:t>
              </a:r>
              <a:endParaRPr lang="en-US" altLang="ko-KR" sz="1200" dirty="0"/>
            </a:p>
          </p:txBody>
        </p:sp>
        <p:sp>
          <p:nvSpPr>
            <p:cNvPr id="12" name="TextBox 3"/>
            <p:cNvSpPr txBox="1"/>
            <p:nvPr/>
          </p:nvSpPr>
          <p:spPr>
            <a:xfrm>
              <a:off x="753029" y="1050524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n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ginx-pod.yaml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297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Pod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Default Namespace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02322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pods -n default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13310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상세 정보 확인</a:t>
            </a:r>
            <a:endParaRPr lang="en-US" altLang="ko-KR" sz="1200" dirty="0"/>
          </a:p>
        </p:txBody>
      </p:sp>
      <p:sp>
        <p:nvSpPr>
          <p:cNvPr id="11" name="TextBox 3"/>
          <p:cNvSpPr txBox="1"/>
          <p:nvPr/>
        </p:nvSpPr>
        <p:spPr>
          <a:xfrm>
            <a:off x="753028" y="1638781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pod [POD_NAME]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194655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225433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run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--image=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2562112"/>
            <a:ext cx="1092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생성하는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생성</a:t>
            </a:r>
            <a:endParaRPr lang="en-US" altLang="ko-KR" sz="1400" dirty="0" smtClean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b="1" dirty="0" smtClean="0">
                <a:solidFill>
                  <a:srgbClr val="FF0000"/>
                </a:solidFill>
              </a:rPr>
              <a:t>--dry-run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옵션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실제로 서버에 올리지 않고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클러스터로 보낼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object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를 미리 확인 할 수 있다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sp>
        <p:nvSpPr>
          <p:cNvPr id="15" name="TextBox 3"/>
          <p:cNvSpPr txBox="1"/>
          <p:nvPr/>
        </p:nvSpPr>
        <p:spPr>
          <a:xfrm>
            <a:off x="753028" y="3058730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run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--image=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--dry-run=client –o </a:t>
            </a:r>
            <a:r>
              <a:rPr lang="en-US" altLang="ko-KR" sz="1200" dirty="0" err="1">
                <a:solidFill>
                  <a:schemeClr val="bg1"/>
                </a:solidFill>
              </a:rPr>
              <a:t>yaml</a:t>
            </a:r>
            <a:r>
              <a:rPr lang="en-US" altLang="ko-KR" sz="1200" dirty="0">
                <a:solidFill>
                  <a:schemeClr val="bg1"/>
                </a:solidFill>
              </a:rPr>
              <a:t> &gt;&gt; </a:t>
            </a:r>
            <a:r>
              <a:rPr lang="en-US" altLang="ko-KR" sz="1200" dirty="0" err="1">
                <a:solidFill>
                  <a:schemeClr val="bg1"/>
                </a:solidFill>
              </a:rPr>
              <a:t>nginx.yaml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1200" y="33722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22" name="TextBox 3"/>
          <p:cNvSpPr txBox="1"/>
          <p:nvPr/>
        </p:nvSpPr>
        <p:spPr>
          <a:xfrm>
            <a:off x="753028" y="3680048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pod [POD_NAME]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077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ReplicaSet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err="1" smtClean="0"/>
              <a:t>고가용성</a:t>
            </a:r>
            <a:r>
              <a:rPr lang="en-US" altLang="ko-KR" sz="1400" dirty="0" smtClean="0"/>
              <a:t>(high </a:t>
            </a:r>
            <a:r>
              <a:rPr lang="en-US" altLang="ko-KR" sz="1400" dirty="0" err="1" smtClean="0"/>
              <a:t>availibity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구성을 위해 사용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서로 다른 노드의 여러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 걸쳐 부하를 분사하기 위해 사용</a:t>
            </a:r>
            <a:endParaRPr lang="en-US" altLang="ko-KR" sz="1200" dirty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445686"/>
              </p:ext>
            </p:extLst>
          </p:nvPr>
        </p:nvGraphicFramePr>
        <p:xfrm>
          <a:off x="711199" y="1328112"/>
          <a:ext cx="10922000" cy="16231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424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4800788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4800788">
                  <a:extLst>
                    <a:ext uri="{9D8B030D-6E8A-4147-A177-3AD203B41FA5}">
                      <a16:colId xmlns:a16="http://schemas.microsoft.com/office/drawing/2014/main" val="35048891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항목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ReplicationController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ReplicaSet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버전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(Deprecated)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표준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Selector 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방식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Equal Based(=)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Equal Based(=), Set Based(in, </a:t>
                      </a: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notin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Deployment 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불가능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</a:tbl>
          </a:graphicData>
        </a:graphic>
      </p:graphicFrame>
      <p:grpSp>
        <p:nvGrpSpPr>
          <p:cNvPr id="42" name="그룹 41"/>
          <p:cNvGrpSpPr/>
          <p:nvPr/>
        </p:nvGrpSpPr>
        <p:grpSpPr>
          <a:xfrm>
            <a:off x="711199" y="3437031"/>
            <a:ext cx="10835299" cy="2644436"/>
            <a:chOff x="711199" y="3437031"/>
            <a:chExt cx="10835299" cy="2644436"/>
          </a:xfrm>
        </p:grpSpPr>
        <p:sp>
          <p:nvSpPr>
            <p:cNvPr id="32" name="직사각형 31"/>
            <p:cNvSpPr/>
            <p:nvPr/>
          </p:nvSpPr>
          <p:spPr>
            <a:xfrm>
              <a:off x="6241774" y="3437031"/>
              <a:ext cx="5304724" cy="26444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11200" y="3437032"/>
              <a:ext cx="5304724" cy="26444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99" y="3437032"/>
              <a:ext cx="714376" cy="64958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425575" y="3586910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Worker Node1</a:t>
              </a:r>
              <a:endParaRPr lang="ko-KR" altLang="en-US" b="1" dirty="0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1425575" y="4309900"/>
              <a:ext cx="9855337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41058" y="4527886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err="1" smtClean="0"/>
                <a:t>ReplicaSet</a:t>
              </a:r>
              <a:endParaRPr lang="ko-KR" altLang="en-US" b="1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730522" y="5147381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3610563" y="5147381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5147381"/>
              <a:ext cx="299811" cy="284441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5149264"/>
              <a:ext cx="299811" cy="284441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4341733"/>
              <a:ext cx="544707" cy="523027"/>
            </a:xfrm>
            <a:prstGeom prst="rect">
              <a:avLst/>
            </a:prstGeom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1773" y="3437031"/>
              <a:ext cx="714376" cy="649585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6956149" y="3586909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Worker Node2</a:t>
              </a:r>
              <a:endParaRPr lang="ko-KR" altLang="en-US" b="1" dirty="0"/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7261096" y="5147380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9141137" y="5147380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1096" y="5147380"/>
              <a:ext cx="299811" cy="284441"/>
            </a:xfrm>
            <a:prstGeom prst="rect">
              <a:avLst/>
            </a:prstGeom>
          </p:spPr>
        </p:pic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5545" y="5149263"/>
              <a:ext cx="299811" cy="2844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9751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ReplicaSet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yaml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예시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53029" y="1071775"/>
            <a:ext cx="10838341" cy="3508653"/>
            <a:chOff x="753029" y="1178105"/>
            <a:chExt cx="10838341" cy="3508653"/>
          </a:xfrm>
        </p:grpSpPr>
        <p:sp>
          <p:nvSpPr>
            <p:cNvPr id="16" name="TextBox 3"/>
            <p:cNvSpPr txBox="1"/>
            <p:nvPr/>
          </p:nvSpPr>
          <p:spPr>
            <a:xfrm>
              <a:off x="753029" y="1455104"/>
              <a:ext cx="10838341" cy="323165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ReplicaSet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my-app-</a:t>
              </a:r>
              <a:r>
                <a:rPr lang="en-US" altLang="ko-KR" sz="1200" dirty="0" err="1"/>
                <a:t>rs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replicas: </a:t>
              </a:r>
              <a:r>
                <a:rPr lang="en-US" altLang="ko-KR" sz="1200" dirty="0" smtClean="0"/>
                <a:t>3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복제할 </a:t>
              </a:r>
              <a:r>
                <a:rPr lang="ko-KR" altLang="en-US" sz="1200" dirty="0" err="1" smtClean="0">
                  <a:solidFill>
                    <a:srgbClr val="FF0000"/>
                  </a:solidFill>
                </a:rPr>
                <a:t>파드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 숫자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 smtClean="0"/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ReplicaController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에서는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matchLabels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부분이 없다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.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  app: my-app</a:t>
              </a:r>
            </a:p>
            <a:p>
              <a:r>
                <a:rPr lang="en-US" altLang="ko-KR" sz="1200" dirty="0"/>
                <a:t>  template</a:t>
              </a:r>
              <a:r>
                <a:rPr lang="en-US" altLang="ko-KR" sz="1200" dirty="0" smtClean="0"/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Template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안에는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pod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yaml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에서 작성한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spec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부분이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metadata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에 들어간다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.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metadata:</a:t>
              </a:r>
            </a:p>
            <a:p>
              <a:r>
                <a:rPr lang="en-US" altLang="ko-KR" sz="1200" dirty="0"/>
                <a:t>      labels:</a:t>
              </a:r>
            </a:p>
            <a:p>
              <a:r>
                <a:rPr lang="en-US" altLang="ko-KR" sz="1200" dirty="0"/>
                <a:t>        app: my-app</a:t>
              </a:r>
            </a:p>
            <a:p>
              <a:r>
                <a:rPr lang="en-US" altLang="ko-KR" sz="1200" dirty="0"/>
                <a:t>    spec:</a:t>
              </a: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  - name: my-container</a:t>
              </a:r>
            </a:p>
            <a:p>
              <a:r>
                <a:rPr lang="en-US" altLang="ko-KR" sz="1200" dirty="0"/>
                <a:t>    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</p:txBody>
        </p:sp>
        <p:sp>
          <p:nvSpPr>
            <p:cNvPr id="5" name="TextBox 3"/>
            <p:cNvSpPr txBox="1"/>
            <p:nvPr/>
          </p:nvSpPr>
          <p:spPr>
            <a:xfrm>
              <a:off x="753029" y="1178105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replicaset.yaml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7980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ReplicaSet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02322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13310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List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1" name="TextBox 3"/>
          <p:cNvSpPr txBox="1"/>
          <p:nvPr/>
        </p:nvSpPr>
        <p:spPr>
          <a:xfrm>
            <a:off x="753028" y="1638781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194655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225433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[REPLICA_SET 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256211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r</a:t>
            </a:r>
            <a:r>
              <a:rPr lang="en-US" altLang="ko-KR" sz="1400" dirty="0" err="1" smtClean="0"/>
              <a:t>eplicaset.yaml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파일에서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수 변경 후 적용</a:t>
            </a:r>
            <a:endParaRPr lang="en-US" altLang="ko-KR" sz="1400" dirty="0" smtClean="0"/>
          </a:p>
        </p:txBody>
      </p:sp>
      <p:sp>
        <p:nvSpPr>
          <p:cNvPr id="15" name="TextBox 3"/>
          <p:cNvSpPr txBox="1"/>
          <p:nvPr/>
        </p:nvSpPr>
        <p:spPr>
          <a:xfrm>
            <a:off x="753028" y="2869889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replace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1200" y="3177666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scale </a:t>
            </a:r>
            <a:r>
              <a:rPr lang="ko-KR" altLang="en-US" sz="1400" dirty="0" smtClean="0"/>
              <a:t>명령어 사용하여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수 변경</a:t>
            </a:r>
            <a:endParaRPr lang="en-US" altLang="ko-KR" sz="1200" dirty="0"/>
          </a:p>
        </p:txBody>
      </p:sp>
      <p:sp>
        <p:nvSpPr>
          <p:cNvPr id="22" name="TextBox 3"/>
          <p:cNvSpPr txBox="1"/>
          <p:nvPr/>
        </p:nvSpPr>
        <p:spPr>
          <a:xfrm>
            <a:off x="753028" y="3485443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scale -replicas=6 -f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scale -replicas=6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r>
              <a:rPr lang="en-US" altLang="ko-KR" sz="1200" dirty="0" smtClean="0">
                <a:solidFill>
                  <a:schemeClr val="bg1"/>
                </a:solidFill>
              </a:rPr>
              <a:t> [REPLICA_SET 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539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Deployment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여러 개의 서비스를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배치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업그레이드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롤링 업데이트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롤백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일시 정지 기능을 제공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Pod, </a:t>
            </a: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상위 컨트롤러</a:t>
            </a:r>
            <a:endParaRPr lang="en-US" altLang="ko-KR" sz="1200" dirty="0"/>
          </a:p>
        </p:txBody>
      </p:sp>
      <p:sp>
        <p:nvSpPr>
          <p:cNvPr id="5" name="직사각형 4"/>
          <p:cNvSpPr/>
          <p:nvPr/>
        </p:nvSpPr>
        <p:spPr>
          <a:xfrm>
            <a:off x="711201" y="1448744"/>
            <a:ext cx="10814492" cy="2644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5576" y="1598622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Deployment</a:t>
            </a:r>
            <a:endParaRPr lang="ko-KR" altLang="en-US" b="1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425576" y="2321612"/>
            <a:ext cx="9855337" cy="1483334"/>
          </a:xfrm>
          <a:prstGeom prst="roundRect">
            <a:avLst/>
          </a:prstGeom>
          <a:solidFill>
            <a:schemeClr val="bg1"/>
          </a:solidFill>
          <a:ln>
            <a:solidFill>
              <a:srgbClr val="7D9E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141059" y="2539598"/>
            <a:ext cx="1469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/>
              <a:t>ReplicaSet</a:t>
            </a:r>
            <a:endParaRPr lang="ko-KR" altLang="en-US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1730523" y="3159093"/>
            <a:ext cx="1729409" cy="466320"/>
            <a:chOff x="1730523" y="3159093"/>
            <a:chExt cx="1729409" cy="466320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1730523" y="3159093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3" y="3159093"/>
              <a:ext cx="299811" cy="284441"/>
            </a:xfrm>
            <a:prstGeom prst="rect">
              <a:avLst/>
            </a:prstGeom>
          </p:spPr>
        </p:pic>
      </p:grpSp>
      <p:grpSp>
        <p:nvGrpSpPr>
          <p:cNvPr id="3" name="그룹 2"/>
          <p:cNvGrpSpPr/>
          <p:nvPr/>
        </p:nvGrpSpPr>
        <p:grpSpPr>
          <a:xfrm>
            <a:off x="3583177" y="3159093"/>
            <a:ext cx="1729409" cy="466320"/>
            <a:chOff x="3610564" y="3159093"/>
            <a:chExt cx="1729409" cy="466320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3610564" y="3159093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2" y="3160976"/>
              <a:ext cx="299811" cy="284441"/>
            </a:xfrm>
            <a:prstGeom prst="rect">
              <a:avLst/>
            </a:prstGeom>
          </p:spPr>
        </p:pic>
      </p:grpSp>
      <p:pic>
        <p:nvPicPr>
          <p:cNvPr id="18" name="그림 17"/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18" b="99482" l="498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627" y="2353445"/>
            <a:ext cx="544707" cy="523027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7288485" y="3159092"/>
            <a:ext cx="1729409" cy="466320"/>
            <a:chOff x="7261097" y="3159092"/>
            <a:chExt cx="1729409" cy="466320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7261097" y="3159092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1097" y="3159092"/>
              <a:ext cx="299811" cy="284441"/>
            </a:xfrm>
            <a:prstGeom prst="rect">
              <a:avLst/>
            </a:prstGeom>
          </p:spPr>
        </p:pic>
      </p:grpSp>
      <p:grpSp>
        <p:nvGrpSpPr>
          <p:cNvPr id="19" name="그룹 18"/>
          <p:cNvGrpSpPr/>
          <p:nvPr/>
        </p:nvGrpSpPr>
        <p:grpSpPr>
          <a:xfrm>
            <a:off x="9141138" y="3159092"/>
            <a:ext cx="1729409" cy="466320"/>
            <a:chOff x="9141138" y="3159092"/>
            <a:chExt cx="1729409" cy="466320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9141138" y="3159092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5546" y="3160975"/>
              <a:ext cx="299811" cy="284441"/>
            </a:xfrm>
            <a:prstGeom prst="rect">
              <a:avLst/>
            </a:prstGeom>
          </p:spPr>
        </p:pic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48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479302"/>
            <a:ext cx="633172" cy="607971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5435831" y="3159092"/>
            <a:ext cx="1729409" cy="466320"/>
            <a:chOff x="5435830" y="3159092"/>
            <a:chExt cx="1729409" cy="466320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5435830" y="3159092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5830" y="3159092"/>
              <a:ext cx="299811" cy="2844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2827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Deployment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yaml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예시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53028" y="1050512"/>
            <a:ext cx="10838342" cy="4985980"/>
            <a:chOff x="753028" y="1273800"/>
            <a:chExt cx="10838342" cy="4985980"/>
          </a:xfrm>
        </p:grpSpPr>
        <p:sp>
          <p:nvSpPr>
            <p:cNvPr id="16" name="TextBox 3"/>
            <p:cNvSpPr txBox="1"/>
            <p:nvPr/>
          </p:nvSpPr>
          <p:spPr>
            <a:xfrm>
              <a:off x="753029" y="1550799"/>
              <a:ext cx="10838341" cy="4708981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</a:t>
              </a:r>
            </a:p>
            <a:p>
              <a:r>
                <a:rPr lang="en-US" altLang="ko-KR" sz="1200" dirty="0"/>
                <a:t>kind: Deployment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deployment-lotto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app: lotto</a:t>
              </a:r>
            </a:p>
            <a:p>
              <a:r>
                <a:rPr lang="en-US" altLang="ko-KR" sz="1200" dirty="0"/>
                <a:t>  replicas: </a:t>
              </a:r>
              <a:r>
                <a:rPr lang="en-US" altLang="ko-KR" sz="1200" dirty="0" smtClean="0"/>
                <a:t>2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Pod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수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strategy</a:t>
              </a:r>
              <a:r>
                <a:rPr lang="en-US" altLang="ko-KR" sz="1200" dirty="0" smtClean="0"/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Update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전략 설정 부분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type: </a:t>
              </a:r>
              <a:r>
                <a:rPr lang="en-US" altLang="ko-KR" sz="1200" dirty="0" err="1" smtClean="0"/>
                <a:t>RollingUpdate</a:t>
              </a:r>
              <a:r>
                <a:rPr lang="en-US" altLang="ko-KR" sz="1200" dirty="0" smtClean="0"/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Recreate or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RollingUpdate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설정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minReadySeconds</a:t>
              </a:r>
              <a:r>
                <a:rPr lang="en-US" altLang="ko-KR" sz="1200" dirty="0"/>
                <a:t>: 10</a:t>
              </a:r>
            </a:p>
            <a:p>
              <a:r>
                <a:rPr lang="en-US" altLang="ko-KR" sz="1200" dirty="0"/>
                <a:t>  template:</a:t>
              </a:r>
            </a:p>
            <a:p>
              <a:r>
                <a:rPr lang="en-US" altLang="ko-KR" sz="1200" dirty="0"/>
                <a:t>    metadata:</a:t>
              </a:r>
            </a:p>
            <a:p>
              <a:r>
                <a:rPr lang="en-US" altLang="ko-KR" sz="1200" dirty="0"/>
                <a:t>      labels:</a:t>
              </a:r>
            </a:p>
            <a:p>
              <a:r>
                <a:rPr lang="en-US" altLang="ko-KR" sz="1200" dirty="0"/>
                <a:t>        app: lotto</a:t>
              </a:r>
            </a:p>
            <a:p>
              <a:r>
                <a:rPr lang="en-US" altLang="ko-KR" sz="1200" dirty="0"/>
                <a:t>    spec:</a:t>
              </a: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- name: lotto</a:t>
              </a:r>
            </a:p>
            <a:p>
              <a:r>
                <a:rPr lang="en-US" altLang="ko-KR" sz="1200" dirty="0"/>
                <a:t>        image: </a:t>
              </a:r>
              <a:r>
                <a:rPr lang="en-US" altLang="ko-KR" sz="1200" dirty="0" smtClean="0"/>
                <a:t>www.harbor.co.kr/tsp/lotto:v1_1</a:t>
              </a:r>
              <a:endParaRPr lang="en-US" altLang="ko-KR" sz="1200" dirty="0"/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imagePullPolicy</a:t>
              </a:r>
              <a:r>
                <a:rPr lang="en-US" altLang="ko-KR" sz="1200" dirty="0"/>
                <a:t>: Always</a:t>
              </a:r>
            </a:p>
            <a:p>
              <a:r>
                <a:rPr lang="en-US" altLang="ko-KR" sz="1200" dirty="0"/>
                <a:t>  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7071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- name: harbor</a:t>
              </a:r>
            </a:p>
          </p:txBody>
        </p:sp>
        <p:sp>
          <p:nvSpPr>
            <p:cNvPr id="5" name="TextBox 3"/>
            <p:cNvSpPr txBox="1"/>
            <p:nvPr/>
          </p:nvSpPr>
          <p:spPr>
            <a:xfrm>
              <a:off x="753028" y="1273800"/>
              <a:ext cx="1479809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deployment.yaml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042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Deployment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02322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13310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List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1" name="TextBox 3"/>
          <p:cNvSpPr txBox="1"/>
          <p:nvPr/>
        </p:nvSpPr>
        <p:spPr>
          <a:xfrm>
            <a:off x="753028" y="1638781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deployment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194655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225433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deployment [DEPLOYMENT_NAME]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81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Service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의 </a:t>
            </a:r>
            <a:r>
              <a:rPr lang="ko-KR" altLang="en-US" sz="1400" dirty="0" err="1" smtClean="0"/>
              <a:t>아이피는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재기동</a:t>
            </a:r>
            <a:r>
              <a:rPr lang="ko-KR" altLang="en-US" sz="1400" dirty="0" smtClean="0"/>
              <a:t> 되면 항상 변하기 때문에 </a:t>
            </a:r>
            <a:r>
              <a:rPr lang="en-US" altLang="ko-KR" sz="1400" dirty="0" smtClean="0"/>
              <a:t>Service</a:t>
            </a:r>
            <a:r>
              <a:rPr lang="ko-KR" altLang="en-US" sz="1400" dirty="0" smtClean="0"/>
              <a:t>를 이용하여 요청을 보낸다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ClusterIP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NodePort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LoadBalancer</a:t>
            </a:r>
            <a:r>
              <a:rPr lang="en-US" altLang="ko-KR" sz="1400" dirty="0" smtClean="0"/>
              <a:t> 3</a:t>
            </a:r>
            <a:r>
              <a:rPr lang="ko-KR" altLang="en-US" sz="1400" dirty="0" smtClean="0"/>
              <a:t>가지 종류가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212536"/>
              </p:ext>
            </p:extLst>
          </p:nvPr>
        </p:nvGraphicFramePr>
        <p:xfrm>
          <a:off x="817524" y="1450613"/>
          <a:ext cx="10922000" cy="2504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424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3200525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3200526">
                  <a:extLst>
                    <a:ext uri="{9D8B030D-6E8A-4147-A177-3AD203B41FA5}">
                      <a16:colId xmlns:a16="http://schemas.microsoft.com/office/drawing/2014/main" val="3214807342"/>
                    </a:ext>
                  </a:extLst>
                </a:gridCol>
                <a:gridCol w="3200525">
                  <a:extLst>
                    <a:ext uri="{9D8B030D-6E8A-4147-A177-3AD203B41FA5}">
                      <a16:colId xmlns:a16="http://schemas.microsoft.com/office/drawing/2014/main" val="2716990408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항목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ClusterIP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NodePort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LoadBalancer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기본값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기본값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ClusterIP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ClusterIP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접근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접근 불가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접근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고정 포트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</a:t>
                      </a: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LoadBalancer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IP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접근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목적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서비스 간 통신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외부에서 직접 노드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접근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LoadBalancer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접근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클러스터 내부에서만 접근 가능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외부에 노출 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LoadBalancer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설정 필요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17061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사례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DB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연결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TEST,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네트워크 서비스 노출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Application,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트래픽 처리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428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595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ClusterIP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Cluster</a:t>
            </a:r>
            <a:r>
              <a:rPr lang="ko-KR" altLang="en-US" sz="1400" dirty="0" smtClean="0"/>
              <a:t>내에 모든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에서 접근 가능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생성 시 기본 값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인가된 사용자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내부 서비스 통신할 때 사용</a:t>
            </a:r>
            <a:endParaRPr lang="en-US" altLang="ko-KR" sz="1200" dirty="0"/>
          </a:p>
        </p:txBody>
      </p:sp>
      <p:grpSp>
        <p:nvGrpSpPr>
          <p:cNvPr id="5" name="그룹 4"/>
          <p:cNvGrpSpPr/>
          <p:nvPr/>
        </p:nvGrpSpPr>
        <p:grpSpPr>
          <a:xfrm>
            <a:off x="1739036" y="1833688"/>
            <a:ext cx="8713927" cy="4258766"/>
            <a:chOff x="1739036" y="1833688"/>
            <a:chExt cx="8713927" cy="4258766"/>
          </a:xfrm>
        </p:grpSpPr>
        <p:sp>
          <p:nvSpPr>
            <p:cNvPr id="6" name="직사각형 5"/>
            <p:cNvSpPr/>
            <p:nvPr/>
          </p:nvSpPr>
          <p:spPr>
            <a:xfrm>
              <a:off x="4527366" y="1965692"/>
              <a:ext cx="3139523" cy="4126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7365" y="1965692"/>
              <a:ext cx="714376" cy="64958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241741" y="2115570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Cluster Node</a:t>
              </a:r>
              <a:endParaRPr lang="ko-KR" altLang="en-US" b="1" dirty="0"/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5004632" y="4473375"/>
              <a:ext cx="2184988" cy="1483334"/>
              <a:chOff x="6603735" y="3900312"/>
              <a:chExt cx="2184988" cy="1483334"/>
            </a:xfrm>
          </p:grpSpPr>
          <p:sp>
            <p:nvSpPr>
              <p:cNvPr id="11" name="모서리가 둥근 직사각형 10"/>
              <p:cNvSpPr/>
              <p:nvPr/>
            </p:nvSpPr>
            <p:spPr>
              <a:xfrm>
                <a:off x="6603735" y="3900312"/>
                <a:ext cx="2184988" cy="148333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7D9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" name="그림 11"/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36" b="96373" l="498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06663" y="3975035"/>
                <a:ext cx="612554" cy="581151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7319217" y="4118298"/>
                <a:ext cx="14695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 smtClean="0"/>
                  <a:t>Pod</a:t>
                </a:r>
                <a:endParaRPr lang="ko-KR" altLang="en-US" b="1" dirty="0"/>
              </a:p>
            </p:txBody>
          </p:sp>
          <p:sp>
            <p:nvSpPr>
              <p:cNvPr id="14" name="모서리가 둥근 직사각형 13"/>
              <p:cNvSpPr/>
              <p:nvPr/>
            </p:nvSpPr>
            <p:spPr>
              <a:xfrm>
                <a:off x="6908681" y="4737793"/>
                <a:ext cx="1729409" cy="46632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Container</a:t>
                </a:r>
              </a:p>
              <a:p>
                <a:pPr algn="ctr"/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Port : 8080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9432238" y="3756717"/>
              <a:ext cx="1020725" cy="771896"/>
              <a:chOff x="7407367" y="1526073"/>
              <a:chExt cx="1020725" cy="771896"/>
            </a:xfrm>
          </p:grpSpPr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4658" y="1526073"/>
                <a:ext cx="546144" cy="546144"/>
              </a:xfrm>
              <a:prstGeom prst="rect">
                <a:avLst/>
              </a:prstGeom>
            </p:spPr>
          </p:pic>
          <p:sp>
            <p:nvSpPr>
              <p:cNvPr id="2" name="TextBox 1"/>
              <p:cNvSpPr txBox="1"/>
              <p:nvPr/>
            </p:nvSpPr>
            <p:spPr>
              <a:xfrm>
                <a:off x="7407367" y="2051748"/>
                <a:ext cx="10207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 smtClean="0"/>
                  <a:t>외부 사용자</a:t>
                </a:r>
                <a:endParaRPr lang="ko-KR" altLang="en-US" dirty="0"/>
              </a:p>
            </p:txBody>
          </p:sp>
        </p:grpSp>
        <p:sp>
          <p:nvSpPr>
            <p:cNvPr id="19" name="TextBox 48"/>
            <p:cNvSpPr txBox="1"/>
            <p:nvPr/>
          </p:nvSpPr>
          <p:spPr>
            <a:xfrm>
              <a:off x="1739037" y="2112077"/>
              <a:ext cx="1796091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 </a:t>
              </a:r>
            </a:p>
            <a:p>
              <a:r>
                <a:rPr lang="en-US" altLang="ko-KR" sz="1200" dirty="0"/>
                <a:t>kind: Service </a:t>
              </a:r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svc-1 </a:t>
              </a:r>
            </a:p>
            <a:p>
              <a:r>
                <a:rPr lang="en-US" altLang="ko-KR" sz="1200" dirty="0"/>
                <a:t>spec: </a:t>
              </a:r>
            </a:p>
            <a:p>
              <a:r>
                <a:rPr lang="en-US" altLang="ko-KR" sz="1200" dirty="0"/>
                <a:t>  selector: </a:t>
              </a:r>
            </a:p>
            <a:p>
              <a:r>
                <a:rPr lang="en-US" altLang="ko-KR" sz="1200" dirty="0"/>
                <a:t>    app: pod </a:t>
              </a:r>
            </a:p>
            <a:p>
              <a:r>
                <a:rPr lang="en-US" altLang="ko-KR" sz="1200" dirty="0"/>
                <a:t>  ports: </a:t>
              </a:r>
            </a:p>
            <a:p>
              <a:r>
                <a:rPr lang="en-US" altLang="ko-KR" sz="1200" dirty="0"/>
                <a:t>  - port: 80 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targetPort</a:t>
              </a:r>
              <a:r>
                <a:rPr lang="en-US" altLang="ko-KR" sz="1200" dirty="0"/>
                <a:t>: 8080</a:t>
              </a:r>
            </a:p>
            <a:p>
              <a:r>
                <a:rPr lang="en-US" altLang="ko-KR" sz="1200" dirty="0"/>
                <a:t>  type: </a:t>
              </a:r>
              <a:r>
                <a:rPr lang="en-US" altLang="ko-KR" sz="1200" dirty="0" err="1"/>
                <a:t>ClusterIP</a:t>
              </a:r>
              <a:r>
                <a:rPr lang="en-US" altLang="ko-KR" sz="1200" dirty="0"/>
                <a:t> </a:t>
              </a: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5004632" y="2709100"/>
              <a:ext cx="2184988" cy="1483334"/>
              <a:chOff x="8853641" y="2877171"/>
              <a:chExt cx="2184988" cy="1483334"/>
            </a:xfrm>
          </p:grpSpPr>
          <p:sp>
            <p:nvSpPr>
              <p:cNvPr id="22" name="모서리가 둥근 직사각형 21"/>
              <p:cNvSpPr/>
              <p:nvPr/>
            </p:nvSpPr>
            <p:spPr>
              <a:xfrm>
                <a:off x="8853641" y="2877171"/>
                <a:ext cx="2184988" cy="148333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7D9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569123" y="3095157"/>
                <a:ext cx="14695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 smtClean="0"/>
                  <a:t>Service</a:t>
                </a:r>
                <a:endParaRPr lang="ko-KR" altLang="en-US" b="1" dirty="0"/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8994522" y="3715738"/>
                <a:ext cx="1903226" cy="46632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Port : 80</a:t>
                </a:r>
              </a:p>
              <a:p>
                <a:pPr algn="ctr"/>
                <a:r>
                  <a:rPr lang="en-US" altLang="ko-KR" sz="1400" dirty="0" err="1" smtClean="0">
                    <a:solidFill>
                      <a:sysClr val="windowText" lastClr="000000"/>
                    </a:solidFill>
                  </a:rPr>
                  <a:t>containerPort</a:t>
                </a:r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 : 8080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43035" y="2970168"/>
                <a:ext cx="536694" cy="515333"/>
              </a:xfrm>
              <a:prstGeom prst="rect">
                <a:avLst/>
              </a:prstGeom>
            </p:spPr>
          </p:pic>
        </p:grpSp>
        <p:cxnSp>
          <p:nvCxnSpPr>
            <p:cNvPr id="29" name="직선 연결선 28"/>
            <p:cNvCxnSpPr>
              <a:stCxn id="22" idx="2"/>
              <a:endCxn id="11" idx="0"/>
            </p:cNvCxnSpPr>
            <p:nvPr/>
          </p:nvCxnSpPr>
          <p:spPr>
            <a:xfrm>
              <a:off x="6097126" y="4192434"/>
              <a:ext cx="0" cy="2809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16" idx="1"/>
              <a:endCxn id="6" idx="3"/>
            </p:cNvCxnSpPr>
            <p:nvPr/>
          </p:nvCxnSpPr>
          <p:spPr>
            <a:xfrm flipH="1" flipV="1">
              <a:off x="7666889" y="4029073"/>
              <a:ext cx="2002640" cy="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곱셈 기호 35"/>
            <p:cNvSpPr/>
            <p:nvPr/>
          </p:nvSpPr>
          <p:spPr>
            <a:xfrm>
              <a:off x="8423071" y="3621368"/>
              <a:ext cx="606056" cy="785237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연결선 37"/>
            <p:cNvCxnSpPr/>
            <p:nvPr/>
          </p:nvCxnSpPr>
          <p:spPr>
            <a:xfrm>
              <a:off x="2743177" y="3692919"/>
              <a:ext cx="293440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3248689" y="3912779"/>
              <a:ext cx="1993052" cy="4339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"/>
            <p:cNvSpPr txBox="1"/>
            <p:nvPr/>
          </p:nvSpPr>
          <p:spPr>
            <a:xfrm>
              <a:off x="1739036" y="1833688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clusterip.yaml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519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NodePort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모든 </a:t>
            </a:r>
            <a:r>
              <a:rPr lang="en-US" altLang="ko-KR" sz="1400" dirty="0" err="1" smtClean="0"/>
              <a:t>NodePort</a:t>
            </a:r>
            <a:r>
              <a:rPr lang="ko-KR" altLang="en-US" sz="1400" dirty="0" smtClean="0"/>
              <a:t>에 할당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외부에서 모든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Port</a:t>
            </a:r>
            <a:r>
              <a:rPr lang="ko-KR" altLang="en-US" sz="1400" dirty="0" smtClean="0"/>
              <a:t>로 접속 가능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NodePort</a:t>
            </a:r>
            <a:r>
              <a:rPr lang="ko-KR" altLang="en-US" sz="1400" dirty="0" smtClean="0"/>
              <a:t>를 지정하지 않으면 랜덤으로 </a:t>
            </a:r>
            <a:r>
              <a:rPr lang="en-US" altLang="ko-KR" sz="1400" dirty="0" smtClean="0"/>
              <a:t>Port</a:t>
            </a:r>
            <a:r>
              <a:rPr lang="ko-KR" altLang="en-US" sz="1400" dirty="0" smtClean="0"/>
              <a:t>가 할당 된다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(30000 ~ 32767)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527366" y="1965692"/>
            <a:ext cx="3139523" cy="4126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365" y="1965692"/>
            <a:ext cx="714376" cy="6495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41741" y="2115570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Cluster Node</a:t>
            </a:r>
            <a:endParaRPr lang="ko-KR" altLang="en-US" b="1" dirty="0"/>
          </a:p>
        </p:txBody>
      </p:sp>
      <p:grpSp>
        <p:nvGrpSpPr>
          <p:cNvPr id="4" name="그룹 3"/>
          <p:cNvGrpSpPr/>
          <p:nvPr/>
        </p:nvGrpSpPr>
        <p:grpSpPr>
          <a:xfrm>
            <a:off x="5004632" y="4473375"/>
            <a:ext cx="2184988" cy="1483334"/>
            <a:chOff x="6603735" y="3900312"/>
            <a:chExt cx="2184988" cy="1483334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603735" y="3900312"/>
              <a:ext cx="2184988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6663" y="3975035"/>
              <a:ext cx="612554" cy="581151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319217" y="4118298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Pod</a:t>
              </a:r>
              <a:endParaRPr lang="ko-KR" altLang="en-US" b="1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6908681" y="4737793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</a:t>
              </a:r>
            </a:p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Port : 8080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9432238" y="3756717"/>
            <a:ext cx="1020725" cy="771896"/>
            <a:chOff x="7407367" y="1526073"/>
            <a:chExt cx="1020725" cy="771896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4658" y="1526073"/>
              <a:ext cx="546144" cy="546144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7407367" y="2051748"/>
              <a:ext cx="10207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 smtClean="0"/>
                <a:t>외부 사용자</a:t>
              </a:r>
              <a:endParaRPr lang="ko-KR" altLang="en-US" dirty="0"/>
            </a:p>
          </p:txBody>
        </p:sp>
      </p:grpSp>
      <p:sp>
        <p:nvSpPr>
          <p:cNvPr id="19" name="TextBox 48"/>
          <p:cNvSpPr txBox="1"/>
          <p:nvPr/>
        </p:nvSpPr>
        <p:spPr>
          <a:xfrm>
            <a:off x="1739037" y="1931322"/>
            <a:ext cx="1796091" cy="2308324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 </a:t>
            </a:r>
          </a:p>
          <a:p>
            <a:r>
              <a:rPr lang="en-US" altLang="ko-KR" sz="1200" dirty="0"/>
              <a:t>kind: Service </a:t>
            </a:r>
          </a:p>
          <a:p>
            <a:r>
              <a:rPr lang="en-US" altLang="ko-KR" sz="1200" dirty="0"/>
              <a:t>metadata: </a:t>
            </a:r>
          </a:p>
          <a:p>
            <a:r>
              <a:rPr lang="en-US" altLang="ko-KR" sz="1200" dirty="0"/>
              <a:t>  name: svc-1 </a:t>
            </a:r>
          </a:p>
          <a:p>
            <a:r>
              <a:rPr lang="en-US" altLang="ko-KR" sz="1200" dirty="0"/>
              <a:t>spec: </a:t>
            </a:r>
          </a:p>
          <a:p>
            <a:r>
              <a:rPr lang="en-US" altLang="ko-KR" sz="1200" dirty="0"/>
              <a:t>  selector: </a:t>
            </a:r>
          </a:p>
          <a:p>
            <a:r>
              <a:rPr lang="en-US" altLang="ko-KR" sz="1200" dirty="0"/>
              <a:t>    app: pod </a:t>
            </a:r>
          </a:p>
          <a:p>
            <a:r>
              <a:rPr lang="en-US" altLang="ko-KR" sz="1200" dirty="0"/>
              <a:t>  ports: </a:t>
            </a:r>
          </a:p>
          <a:p>
            <a:r>
              <a:rPr lang="en-US" altLang="ko-KR" sz="1200" dirty="0"/>
              <a:t>  - port: 80 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targetPort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8080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</a:t>
            </a:r>
            <a:r>
              <a:rPr lang="en-US" altLang="ko-KR" sz="1200" dirty="0" err="1" smtClean="0"/>
              <a:t>nodePort</a:t>
            </a:r>
            <a:r>
              <a:rPr lang="en-US" altLang="ko-KR" sz="1200" dirty="0" smtClean="0"/>
              <a:t>: 30000</a:t>
            </a:r>
            <a:endParaRPr lang="en-US" altLang="ko-KR" sz="1200" dirty="0"/>
          </a:p>
          <a:p>
            <a:r>
              <a:rPr lang="en-US" altLang="ko-KR" sz="1200" dirty="0"/>
              <a:t>  type: </a:t>
            </a:r>
            <a:r>
              <a:rPr lang="en-US" altLang="ko-KR" sz="1200" dirty="0" err="1" smtClean="0"/>
              <a:t>NodePort</a:t>
            </a:r>
            <a:r>
              <a:rPr lang="en-US" altLang="ko-KR" sz="1200" dirty="0" smtClean="0"/>
              <a:t> </a:t>
            </a:r>
            <a:endParaRPr lang="en-US" altLang="ko-KR" sz="1200" dirty="0"/>
          </a:p>
        </p:txBody>
      </p:sp>
      <p:grpSp>
        <p:nvGrpSpPr>
          <p:cNvPr id="18" name="그룹 17"/>
          <p:cNvGrpSpPr/>
          <p:nvPr/>
        </p:nvGrpSpPr>
        <p:grpSpPr>
          <a:xfrm>
            <a:off x="5004632" y="2709100"/>
            <a:ext cx="2184988" cy="1483334"/>
            <a:chOff x="8853641" y="2877171"/>
            <a:chExt cx="2184988" cy="1483334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8853641" y="2877171"/>
              <a:ext cx="2184988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569123" y="3095157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Service</a:t>
              </a:r>
              <a:endParaRPr lang="ko-KR" altLang="en-US" b="1" dirty="0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8994522" y="3576974"/>
              <a:ext cx="1903226" cy="60508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Port : 80</a:t>
              </a:r>
            </a:p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containerPort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 : 8080</a:t>
              </a:r>
            </a:p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NodePort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 : 30000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7" cstate="screen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3035" y="2970168"/>
              <a:ext cx="536694" cy="515333"/>
            </a:xfrm>
            <a:prstGeom prst="rect">
              <a:avLst/>
            </a:prstGeom>
          </p:spPr>
        </p:pic>
      </p:grpSp>
      <p:cxnSp>
        <p:nvCxnSpPr>
          <p:cNvPr id="29" name="직선 연결선 28"/>
          <p:cNvCxnSpPr>
            <a:stCxn id="22" idx="2"/>
            <a:endCxn id="11" idx="0"/>
          </p:cNvCxnSpPr>
          <p:nvPr/>
        </p:nvCxnSpPr>
        <p:spPr>
          <a:xfrm>
            <a:off x="6097126" y="4192434"/>
            <a:ext cx="0" cy="280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6" idx="1"/>
            <a:endCxn id="6" idx="3"/>
          </p:cNvCxnSpPr>
          <p:nvPr/>
        </p:nvCxnSpPr>
        <p:spPr>
          <a:xfrm flipH="1" flipV="1">
            <a:off x="7666889" y="4029073"/>
            <a:ext cx="2002640" cy="7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2721935" y="3519377"/>
            <a:ext cx="2998179" cy="1405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3239283" y="3711445"/>
            <a:ext cx="1993052" cy="4339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3239283" y="3910057"/>
            <a:ext cx="2133933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9"/>
          <p:cNvSpPr txBox="1"/>
          <p:nvPr/>
        </p:nvSpPr>
        <p:spPr>
          <a:xfrm>
            <a:off x="7881138" y="3736988"/>
            <a:ext cx="1618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smtClean="0"/>
              <a:t>NodeIP:30000 </a:t>
            </a:r>
            <a:r>
              <a:rPr lang="ko-KR" altLang="en-US" sz="1200" dirty="0" smtClean="0"/>
              <a:t>호출</a:t>
            </a:r>
            <a:endParaRPr lang="ko-KR" altLang="en-US" sz="1200" dirty="0"/>
          </a:p>
        </p:txBody>
      </p:sp>
      <p:sp>
        <p:nvSpPr>
          <p:cNvPr id="33" name="TextBox 3"/>
          <p:cNvSpPr txBox="1"/>
          <p:nvPr/>
        </p:nvSpPr>
        <p:spPr>
          <a:xfrm>
            <a:off x="1739037" y="1654323"/>
            <a:ext cx="13716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BBE0E3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 err="1" smtClean="0">
                <a:solidFill>
                  <a:sysClr val="windowText" lastClr="000000"/>
                </a:solidFill>
              </a:rPr>
              <a:t>nodeport.yaml</a:t>
            </a:r>
            <a:endParaRPr lang="en-US" altLang="ko-KR" sz="1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662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LoadBalancer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LoadBalancer</a:t>
            </a:r>
            <a:r>
              <a:rPr lang="ko-KR" altLang="en-US" sz="1400" dirty="0" smtClean="0"/>
              <a:t>는 각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로 트래픽을 분산 시킨다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LoadBalancer</a:t>
            </a:r>
            <a:r>
              <a:rPr lang="ko-KR" altLang="en-US" sz="1400" dirty="0" smtClean="0"/>
              <a:t>는 외부 </a:t>
            </a:r>
            <a:r>
              <a:rPr lang="en-US" altLang="ko-KR" sz="1400" dirty="0" smtClean="0"/>
              <a:t>IP</a:t>
            </a:r>
            <a:r>
              <a:rPr lang="ko-KR" altLang="en-US" sz="1400" dirty="0" smtClean="0"/>
              <a:t>에서 접속할 수 있도록 별도 </a:t>
            </a:r>
            <a:r>
              <a:rPr lang="ko-KR" altLang="en-US" sz="1400" dirty="0" err="1" smtClean="0"/>
              <a:t>아이피를</a:t>
            </a:r>
            <a:r>
              <a:rPr lang="ko-KR" altLang="en-US" sz="1400" dirty="0" smtClean="0"/>
              <a:t> 설정해줘야 하며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별도의 </a:t>
            </a:r>
            <a:r>
              <a:rPr lang="en-US" altLang="ko-KR" sz="1400" dirty="0" smtClean="0"/>
              <a:t>Plugin</a:t>
            </a:r>
            <a:r>
              <a:rPr lang="ko-KR" altLang="en-US" sz="1400" dirty="0" smtClean="0"/>
              <a:t>을 설치해야 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대표적인 예시로 </a:t>
            </a:r>
            <a:r>
              <a:rPr lang="en-US" altLang="ko-KR" sz="1400" dirty="0" err="1" smtClean="0"/>
              <a:t>Metallb</a:t>
            </a:r>
            <a:r>
              <a:rPr lang="ko-KR" altLang="en-US" sz="1400" dirty="0" smtClean="0"/>
              <a:t>같은 외부 </a:t>
            </a:r>
            <a:r>
              <a:rPr lang="en-US" altLang="ko-KR" sz="1400" dirty="0" smtClean="0"/>
              <a:t>IP </a:t>
            </a:r>
            <a:r>
              <a:rPr lang="ko-KR" altLang="en-US" sz="1400" dirty="0" smtClean="0"/>
              <a:t>할당 솔루션이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5" name="그룹 4"/>
          <p:cNvGrpSpPr/>
          <p:nvPr/>
        </p:nvGrpSpPr>
        <p:grpSpPr>
          <a:xfrm>
            <a:off x="1739037" y="1965692"/>
            <a:ext cx="8713926" cy="4126762"/>
            <a:chOff x="1739037" y="1965692"/>
            <a:chExt cx="8713926" cy="4126762"/>
          </a:xfrm>
        </p:grpSpPr>
        <p:sp>
          <p:nvSpPr>
            <p:cNvPr id="6" name="직사각형 5"/>
            <p:cNvSpPr/>
            <p:nvPr/>
          </p:nvSpPr>
          <p:spPr>
            <a:xfrm>
              <a:off x="4527366" y="1965692"/>
              <a:ext cx="3139523" cy="4126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7365" y="1965692"/>
              <a:ext cx="714376" cy="64958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241741" y="2115570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Cluster Node</a:t>
              </a:r>
              <a:endParaRPr lang="ko-KR" altLang="en-US" b="1" dirty="0"/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5004632" y="4473375"/>
              <a:ext cx="2184988" cy="1483334"/>
              <a:chOff x="6603735" y="3900312"/>
              <a:chExt cx="2184988" cy="1483334"/>
            </a:xfrm>
          </p:grpSpPr>
          <p:sp>
            <p:nvSpPr>
              <p:cNvPr id="11" name="모서리가 둥근 직사각형 10"/>
              <p:cNvSpPr/>
              <p:nvPr/>
            </p:nvSpPr>
            <p:spPr>
              <a:xfrm>
                <a:off x="6603735" y="3900312"/>
                <a:ext cx="2184988" cy="148333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7D9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" name="그림 11"/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36" b="96373" l="498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06663" y="3975035"/>
                <a:ext cx="612554" cy="581151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7319217" y="4118298"/>
                <a:ext cx="14695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 smtClean="0"/>
                  <a:t>Pod</a:t>
                </a:r>
                <a:endParaRPr lang="ko-KR" altLang="en-US" b="1" dirty="0"/>
              </a:p>
            </p:txBody>
          </p:sp>
          <p:sp>
            <p:nvSpPr>
              <p:cNvPr id="14" name="모서리가 둥근 직사각형 13"/>
              <p:cNvSpPr/>
              <p:nvPr/>
            </p:nvSpPr>
            <p:spPr>
              <a:xfrm>
                <a:off x="6908681" y="4737793"/>
                <a:ext cx="1729409" cy="46632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Container</a:t>
                </a:r>
              </a:p>
              <a:p>
                <a:pPr algn="ctr"/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Port : 8080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9432238" y="3756717"/>
              <a:ext cx="1020725" cy="771896"/>
              <a:chOff x="7407367" y="1526073"/>
              <a:chExt cx="1020725" cy="771896"/>
            </a:xfrm>
          </p:grpSpPr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4658" y="1526073"/>
                <a:ext cx="546144" cy="546144"/>
              </a:xfrm>
              <a:prstGeom prst="rect">
                <a:avLst/>
              </a:prstGeom>
            </p:spPr>
          </p:pic>
          <p:sp>
            <p:nvSpPr>
              <p:cNvPr id="2" name="TextBox 1"/>
              <p:cNvSpPr txBox="1"/>
              <p:nvPr/>
            </p:nvSpPr>
            <p:spPr>
              <a:xfrm>
                <a:off x="7407367" y="2051748"/>
                <a:ext cx="10207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 smtClean="0"/>
                  <a:t>외부 사용자</a:t>
                </a:r>
                <a:endParaRPr lang="ko-KR" altLang="en-US" dirty="0"/>
              </a:p>
            </p:txBody>
          </p:sp>
        </p:grpSp>
        <p:sp>
          <p:nvSpPr>
            <p:cNvPr id="19" name="TextBox 48"/>
            <p:cNvSpPr txBox="1"/>
            <p:nvPr/>
          </p:nvSpPr>
          <p:spPr>
            <a:xfrm>
              <a:off x="1739037" y="2112077"/>
              <a:ext cx="1796091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 </a:t>
              </a:r>
            </a:p>
            <a:p>
              <a:r>
                <a:rPr lang="en-US" altLang="ko-KR" sz="1200" dirty="0"/>
                <a:t>kind: Service </a:t>
              </a:r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svc-1 </a:t>
              </a:r>
            </a:p>
            <a:p>
              <a:r>
                <a:rPr lang="en-US" altLang="ko-KR" sz="1200" dirty="0"/>
                <a:t>spec: </a:t>
              </a:r>
            </a:p>
            <a:p>
              <a:r>
                <a:rPr lang="en-US" altLang="ko-KR" sz="1200" dirty="0"/>
                <a:t>  selector: </a:t>
              </a:r>
            </a:p>
            <a:p>
              <a:r>
                <a:rPr lang="en-US" altLang="ko-KR" sz="1200" dirty="0"/>
                <a:t>    app: pod </a:t>
              </a:r>
            </a:p>
            <a:p>
              <a:r>
                <a:rPr lang="en-US" altLang="ko-KR" sz="1200" dirty="0"/>
                <a:t>  ports: </a:t>
              </a:r>
            </a:p>
            <a:p>
              <a:r>
                <a:rPr lang="en-US" altLang="ko-KR" sz="1200" dirty="0"/>
                <a:t>  - port: 80 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targetPort</a:t>
              </a:r>
              <a:r>
                <a:rPr lang="en-US" altLang="ko-KR" sz="1200" dirty="0"/>
                <a:t>: 8080</a:t>
              </a:r>
            </a:p>
            <a:p>
              <a:r>
                <a:rPr lang="en-US" altLang="ko-KR" sz="1200" dirty="0"/>
                <a:t>  type: </a:t>
              </a:r>
              <a:r>
                <a:rPr lang="en-US" altLang="ko-KR" sz="1200" dirty="0" err="1" smtClean="0"/>
                <a:t>LoadBalancer</a:t>
              </a:r>
              <a:r>
                <a:rPr lang="en-US" altLang="ko-KR" sz="1200" dirty="0" smtClean="0"/>
                <a:t> </a:t>
              </a:r>
              <a:endParaRPr lang="en-US" altLang="ko-KR" sz="1200" dirty="0"/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5004632" y="2709100"/>
              <a:ext cx="2184988" cy="1483334"/>
              <a:chOff x="8853641" y="2877171"/>
              <a:chExt cx="2184988" cy="1483334"/>
            </a:xfrm>
          </p:grpSpPr>
          <p:sp>
            <p:nvSpPr>
              <p:cNvPr id="22" name="모서리가 둥근 직사각형 21"/>
              <p:cNvSpPr/>
              <p:nvPr/>
            </p:nvSpPr>
            <p:spPr>
              <a:xfrm>
                <a:off x="8853641" y="2877171"/>
                <a:ext cx="2184988" cy="148333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7D9EB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569123" y="3095157"/>
                <a:ext cx="14695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 smtClean="0"/>
                  <a:t>Service</a:t>
                </a:r>
                <a:endParaRPr lang="ko-KR" altLang="en-US" b="1" dirty="0"/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8994522" y="3715738"/>
                <a:ext cx="1903226" cy="46632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Port : 80</a:t>
                </a:r>
              </a:p>
              <a:p>
                <a:pPr algn="ctr"/>
                <a:r>
                  <a:rPr lang="en-US" altLang="ko-KR" sz="1400" dirty="0" err="1" smtClean="0">
                    <a:solidFill>
                      <a:sysClr val="windowText" lastClr="000000"/>
                    </a:solidFill>
                  </a:rPr>
                  <a:t>containerPort</a:t>
                </a:r>
                <a:r>
                  <a:rPr lang="en-US" altLang="ko-KR" sz="1400" dirty="0" smtClean="0">
                    <a:solidFill>
                      <a:sysClr val="windowText" lastClr="000000"/>
                    </a:solidFill>
                  </a:rPr>
                  <a:t> : 8080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43035" y="2970168"/>
                <a:ext cx="536694" cy="515333"/>
              </a:xfrm>
              <a:prstGeom prst="rect">
                <a:avLst/>
              </a:prstGeom>
            </p:spPr>
          </p:pic>
        </p:grpSp>
        <p:cxnSp>
          <p:nvCxnSpPr>
            <p:cNvPr id="29" name="직선 연결선 28"/>
            <p:cNvCxnSpPr>
              <a:stCxn id="22" idx="2"/>
              <a:endCxn id="11" idx="0"/>
            </p:cNvCxnSpPr>
            <p:nvPr/>
          </p:nvCxnSpPr>
          <p:spPr>
            <a:xfrm>
              <a:off x="6097126" y="4192434"/>
              <a:ext cx="0" cy="2809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16" idx="1"/>
              <a:endCxn id="6" idx="3"/>
            </p:cNvCxnSpPr>
            <p:nvPr/>
          </p:nvCxnSpPr>
          <p:spPr>
            <a:xfrm flipH="1" flipV="1">
              <a:off x="7666889" y="4029073"/>
              <a:ext cx="2002640" cy="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2743177" y="3692919"/>
              <a:ext cx="293440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3248689" y="3912779"/>
              <a:ext cx="1993052" cy="4339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49"/>
            <p:cNvSpPr txBox="1"/>
            <p:nvPr/>
          </p:nvSpPr>
          <p:spPr>
            <a:xfrm>
              <a:off x="7881138" y="3736988"/>
              <a:ext cx="16182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 smtClean="0"/>
                <a:t>외부</a:t>
              </a:r>
              <a:r>
                <a:rPr lang="en-US" altLang="ko-KR" sz="1200" dirty="0" smtClean="0"/>
                <a:t>IP:80 </a:t>
              </a:r>
              <a:r>
                <a:rPr lang="ko-KR" altLang="en-US" sz="1200" dirty="0" smtClean="0"/>
                <a:t>호출</a:t>
              </a:r>
              <a:endParaRPr lang="ko-KR" altLang="en-US" sz="1200" dirty="0"/>
            </a:p>
          </p:txBody>
        </p:sp>
      </p:grpSp>
      <p:sp>
        <p:nvSpPr>
          <p:cNvPr id="30" name="TextBox 3"/>
          <p:cNvSpPr txBox="1"/>
          <p:nvPr/>
        </p:nvSpPr>
        <p:spPr>
          <a:xfrm>
            <a:off x="1739037" y="1834935"/>
            <a:ext cx="150965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BBE0E3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 err="1" smtClean="0">
                <a:solidFill>
                  <a:sysClr val="windowText" lastClr="000000"/>
                </a:solidFill>
              </a:rPr>
              <a:t>loadbalancer.yaml</a:t>
            </a:r>
            <a:endParaRPr lang="en-US" altLang="ko-KR" sz="1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644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NameSpace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(1/2)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Cluster</a:t>
            </a:r>
            <a:r>
              <a:rPr lang="ko-KR" altLang="en-US" sz="1400" dirty="0" smtClean="0"/>
              <a:t>에서 여러 개의 논리적인 환경을 분리하는 가상 공간이다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Cluster </a:t>
            </a:r>
            <a:r>
              <a:rPr lang="ko-KR" altLang="en-US" sz="1400" dirty="0" smtClean="0"/>
              <a:t>내에서 여러 애플리케이션을 실행할 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서로 다른 팀이나 프로젝트 간 리소스를 격리하여 관리하기 위해 사용한다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5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725714" y="1797705"/>
            <a:ext cx="5239657" cy="2075542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자원 분리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동일한 클러스터 내에서도 서로 다른 네임스페이스를 사용하면 충돌 없이 독립적인 운영 가능</a:t>
            </a:r>
            <a:endParaRPr lang="en-US" altLang="ko-KR" sz="1200" dirty="0"/>
          </a:p>
        </p:txBody>
      </p:sp>
      <p:sp>
        <p:nvSpPr>
          <p:cNvPr id="6" name="사각형: 둥근 모서리 38">
            <a:extLst>
              <a:ext uri="{FF2B5EF4-FFF2-40B4-BE49-F238E27FC236}">
                <a16:creationId xmlns:a16="http://schemas.microsoft.com/office/drawing/2014/main" id="{296B9A31-0BA7-4869-B7E2-683BB8F82D21}"/>
              </a:ext>
            </a:extLst>
          </p:cNvPr>
          <p:cNvSpPr/>
          <p:nvPr/>
        </p:nvSpPr>
        <p:spPr>
          <a:xfrm>
            <a:off x="6320973" y="1797705"/>
            <a:ext cx="5239657" cy="2075542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자원 할당 및 제한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각 네임스페이스마다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CPU, Memory 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제한을 </a:t>
            </a:r>
            <a:r>
              <a:rPr lang="ko-KR" altLang="en-US" sz="1200" dirty="0" smtClean="0"/>
              <a:t>설정하여 특정 팀이나 프로젝트가 과도한 자원을 사용하지 않도록 제한 가능</a:t>
            </a:r>
            <a:endParaRPr lang="en-US" altLang="ko-KR" sz="1200" dirty="0"/>
          </a:p>
        </p:txBody>
      </p:sp>
      <p:sp>
        <p:nvSpPr>
          <p:cNvPr id="7" name="사각형: 둥근 모서리 40">
            <a:extLst>
              <a:ext uri="{FF2B5EF4-FFF2-40B4-BE49-F238E27FC236}">
                <a16:creationId xmlns:a16="http://schemas.microsoft.com/office/drawing/2014/main" id="{2E2BEFD2-A6AD-43CF-BD6F-8FB4BB9E3D00}"/>
              </a:ext>
            </a:extLst>
          </p:cNvPr>
          <p:cNvSpPr/>
          <p:nvPr/>
        </p:nvSpPr>
        <p:spPr>
          <a:xfrm>
            <a:off x="725714" y="4221890"/>
            <a:ext cx="5239657" cy="2075542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RBAC </a:t>
            </a:r>
            <a:r>
              <a:rPr lang="ko-KR" altLang="en-US" sz="1600" b="1" dirty="0" smtClean="0"/>
              <a:t>적용 가능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네임스페이스별로 접근 권한을 분리하여 </a:t>
            </a:r>
            <a:r>
              <a:rPr lang="ko-KR" altLang="en-US" sz="1200" dirty="0" err="1" smtClean="0"/>
              <a:t>보안성을</a:t>
            </a:r>
            <a:r>
              <a:rPr lang="ko-KR" altLang="en-US" sz="1200" dirty="0" smtClean="0"/>
              <a:t> 강화할 수 있음</a:t>
            </a:r>
            <a:endParaRPr lang="en-US" altLang="ko-KR" sz="1200" dirty="0"/>
          </a:p>
        </p:txBody>
      </p:sp>
      <p:sp>
        <p:nvSpPr>
          <p:cNvPr id="10" name="사각형: 둥근 모서리 41">
            <a:extLst>
              <a:ext uri="{FF2B5EF4-FFF2-40B4-BE49-F238E27FC236}">
                <a16:creationId xmlns:a16="http://schemas.microsoft.com/office/drawing/2014/main" id="{42E13575-B208-4CDD-9191-C31935189359}"/>
              </a:ext>
            </a:extLst>
          </p:cNvPr>
          <p:cNvSpPr/>
          <p:nvPr/>
        </p:nvSpPr>
        <p:spPr>
          <a:xfrm>
            <a:off x="6320973" y="4221890"/>
            <a:ext cx="5239657" cy="2075542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이름 충돌 방지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동일한 </a:t>
            </a:r>
            <a:r>
              <a:rPr lang="en-US" altLang="ko-KR" sz="1200" dirty="0" smtClean="0"/>
              <a:t>pod, service </a:t>
            </a:r>
            <a:r>
              <a:rPr lang="ko-KR" altLang="en-US" sz="1200" dirty="0" smtClean="0"/>
              <a:t>이름을 사용해도 네임스페이스가 다르면 충돌되지 않음</a:t>
            </a:r>
            <a:endParaRPr lang="en-US" altLang="ko-KR" sz="1200" dirty="0"/>
          </a:p>
        </p:txBody>
      </p:sp>
      <p:sp>
        <p:nvSpPr>
          <p:cNvPr id="11" name="자유형: 도형 42">
            <a:extLst>
              <a:ext uri="{FF2B5EF4-FFF2-40B4-BE49-F238E27FC236}">
                <a16:creationId xmlns:a16="http://schemas.microsoft.com/office/drawing/2014/main" id="{BED55B58-A9D0-46BC-9F0A-627C3415C800}"/>
              </a:ext>
            </a:extLst>
          </p:cNvPr>
          <p:cNvSpPr/>
          <p:nvPr/>
        </p:nvSpPr>
        <p:spPr>
          <a:xfrm>
            <a:off x="5058002" y="3008186"/>
            <a:ext cx="2078765" cy="2078765"/>
          </a:xfrm>
          <a:custGeom>
            <a:avLst/>
            <a:gdLst>
              <a:gd name="connsiteX0" fmla="*/ 3721894 w 3724275"/>
              <a:gd name="connsiteY0" fmla="*/ 1864519 h 3724275"/>
              <a:gd name="connsiteX1" fmla="*/ 1864519 w 3724275"/>
              <a:gd name="connsiteY1" fmla="*/ 3721894 h 3724275"/>
              <a:gd name="connsiteX2" fmla="*/ 7144 w 3724275"/>
              <a:gd name="connsiteY2" fmla="*/ 1864519 h 3724275"/>
              <a:gd name="connsiteX3" fmla="*/ 1864519 w 3724275"/>
              <a:gd name="connsiteY3" fmla="*/ 7144 h 3724275"/>
              <a:gd name="connsiteX4" fmla="*/ 3721894 w 3724275"/>
              <a:gd name="connsiteY4" fmla="*/ 1864519 h 372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4275" h="3724275">
                <a:moveTo>
                  <a:pt x="3721894" y="1864519"/>
                </a:moveTo>
                <a:cubicBezTo>
                  <a:pt x="3721894" y="2890319"/>
                  <a:pt x="2890319" y="3721894"/>
                  <a:pt x="1864519" y="3721894"/>
                </a:cubicBezTo>
                <a:cubicBezTo>
                  <a:pt x="838719" y="3721894"/>
                  <a:pt x="7144" y="2890319"/>
                  <a:pt x="7144" y="1864519"/>
                </a:cubicBezTo>
                <a:cubicBezTo>
                  <a:pt x="7144" y="838719"/>
                  <a:pt x="838719" y="7144"/>
                  <a:pt x="1864519" y="7144"/>
                </a:cubicBezTo>
                <a:cubicBezTo>
                  <a:pt x="2890319" y="7144"/>
                  <a:pt x="3721894" y="838719"/>
                  <a:pt x="3721894" y="1864519"/>
                </a:cubicBezTo>
                <a:close/>
              </a:path>
            </a:pathLst>
          </a:custGeom>
          <a:solidFill>
            <a:srgbClr val="5B69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네임스페이스</a:t>
            </a:r>
            <a:endParaRPr lang="en-US" altLang="ko-KR" b="1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특징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739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NameSpace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(2/2)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기본 네임스페이스</a:t>
            </a:r>
            <a:endParaRPr lang="en-US" altLang="ko-KR" sz="1400" dirty="0" smtClean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571443"/>
              </p:ext>
            </p:extLst>
          </p:nvPr>
        </p:nvGraphicFramePr>
        <p:xfrm>
          <a:off x="817524" y="1025306"/>
          <a:ext cx="10922000" cy="206361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424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9601576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NameSpace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리소스의 기본 네임스페이스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-system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Kubernetes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내부 시스템 컴포넌트가 실행되는 네임스페이스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-public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사용자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인증없이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접근 가능한 공개 리소스 저장소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</a:t>
                      </a: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-node-lease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 상태를 관리하는 네임스페이스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170615"/>
                  </a:ext>
                </a:extLst>
              </a:tr>
            </a:tbl>
          </a:graphicData>
        </a:graphic>
      </p:graphicFrame>
      <p:grpSp>
        <p:nvGrpSpPr>
          <p:cNvPr id="59" name="그룹 58"/>
          <p:cNvGrpSpPr/>
          <p:nvPr/>
        </p:nvGrpSpPr>
        <p:grpSpPr>
          <a:xfrm>
            <a:off x="1673040" y="3358558"/>
            <a:ext cx="8845920" cy="2882754"/>
            <a:chOff x="1529917" y="3358558"/>
            <a:chExt cx="8845920" cy="2882754"/>
          </a:xfrm>
        </p:grpSpPr>
        <p:grpSp>
          <p:nvGrpSpPr>
            <p:cNvPr id="58" name="그룹 57"/>
            <p:cNvGrpSpPr/>
            <p:nvPr/>
          </p:nvGrpSpPr>
          <p:grpSpPr>
            <a:xfrm>
              <a:off x="1529917" y="3358558"/>
              <a:ext cx="3139523" cy="2882754"/>
              <a:chOff x="2380517" y="3358558"/>
              <a:chExt cx="3139523" cy="2882754"/>
            </a:xfrm>
          </p:grpSpPr>
          <p:sp>
            <p:nvSpPr>
              <p:cNvPr id="13" name="직사각형 12"/>
              <p:cNvSpPr/>
              <p:nvPr/>
            </p:nvSpPr>
            <p:spPr>
              <a:xfrm>
                <a:off x="2380517" y="3358558"/>
                <a:ext cx="3139523" cy="2882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094892" y="3508436"/>
                <a:ext cx="2425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 smtClean="0"/>
                  <a:t>Prod </a:t>
                </a:r>
                <a:r>
                  <a:rPr lang="en-US" altLang="ko-KR" b="1" dirty="0" err="1" smtClean="0"/>
                  <a:t>NameSpace</a:t>
                </a:r>
                <a:endParaRPr lang="ko-KR" altLang="en-US" b="1" dirty="0"/>
              </a:p>
            </p:txBody>
          </p:sp>
          <p:grpSp>
            <p:nvGrpSpPr>
              <p:cNvPr id="3" name="그룹 2"/>
              <p:cNvGrpSpPr/>
              <p:nvPr/>
            </p:nvGrpSpPr>
            <p:grpSpPr>
              <a:xfrm>
                <a:off x="2515195" y="4196661"/>
                <a:ext cx="2184988" cy="726213"/>
                <a:chOff x="952203" y="4196661"/>
                <a:chExt cx="2184988" cy="726213"/>
              </a:xfrm>
            </p:grpSpPr>
            <p:sp>
              <p:nvSpPr>
                <p:cNvPr id="22" name="모서리가 둥근 직사각형 21"/>
                <p:cNvSpPr/>
                <p:nvPr/>
              </p:nvSpPr>
              <p:spPr>
                <a:xfrm>
                  <a:off x="952203" y="4196661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667685" y="4414647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/>
                    <a:t>w</a:t>
                  </a:r>
                  <a:r>
                    <a:rPr lang="en-US" altLang="ko-KR" sz="1600" b="1" dirty="0" smtClean="0"/>
                    <a:t>eb-svc</a:t>
                  </a:r>
                  <a:endParaRPr lang="ko-KR" altLang="en-US" b="1" dirty="0"/>
                </a:p>
              </p:txBody>
            </p:sp>
            <p:pic>
              <p:nvPicPr>
                <p:cNvPr id="25" name="그림 24"/>
                <p:cNvPicPr>
                  <a:picLocks noChangeAspect="1"/>
                </p:cNvPicPr>
                <p:nvPr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0" b="100000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597" y="4289658"/>
                  <a:ext cx="536694" cy="515333"/>
                </a:xfrm>
                <a:prstGeom prst="rect">
                  <a:avLst/>
                </a:prstGeom>
              </p:spPr>
            </p:pic>
          </p:grpSp>
          <p:pic>
            <p:nvPicPr>
              <p:cNvPr id="27" name="그림 26"/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99502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4038" y="3367503"/>
                <a:ext cx="690854" cy="663357"/>
              </a:xfrm>
              <a:prstGeom prst="rect">
                <a:avLst/>
              </a:prstGeom>
            </p:spPr>
          </p:pic>
          <p:grpSp>
            <p:nvGrpSpPr>
              <p:cNvPr id="4" name="그룹 3"/>
              <p:cNvGrpSpPr/>
              <p:nvPr/>
            </p:nvGrpSpPr>
            <p:grpSpPr>
              <a:xfrm>
                <a:off x="2515195" y="5311439"/>
                <a:ext cx="2184988" cy="726213"/>
                <a:chOff x="994440" y="5344977"/>
                <a:chExt cx="2184988" cy="726213"/>
              </a:xfrm>
            </p:grpSpPr>
            <p:sp>
              <p:nvSpPr>
                <p:cNvPr id="29" name="모서리가 둥근 직사각형 28"/>
                <p:cNvSpPr/>
                <p:nvPr/>
              </p:nvSpPr>
              <p:spPr>
                <a:xfrm>
                  <a:off x="994440" y="5344977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1709922" y="5562963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 smtClean="0"/>
                    <a:t>Pod</a:t>
                  </a:r>
                  <a:endParaRPr lang="ko-KR" altLang="en-US" b="1" dirty="0"/>
                </a:p>
              </p:txBody>
            </p:sp>
            <p:pic>
              <p:nvPicPr>
                <p:cNvPr id="34" name="그림 33"/>
                <p:cNvPicPr>
                  <a:picLocks noChangeAspect="1"/>
                </p:cNvPicPr>
                <p:nvPr/>
              </p:nvPicPr>
              <p:blipFill>
                <a:blip r:embed="rId7" cstate="screen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1036" b="96373" l="498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3667" y="5417507"/>
                  <a:ext cx="612554" cy="581151"/>
                </a:xfrm>
                <a:prstGeom prst="rect">
                  <a:avLst/>
                </a:prstGeom>
              </p:spPr>
            </p:pic>
          </p:grpSp>
          <p:cxnSp>
            <p:nvCxnSpPr>
              <p:cNvPr id="38" name="직선 화살표 연결선 37"/>
              <p:cNvCxnSpPr>
                <a:stCxn id="29" idx="0"/>
                <a:endCxn id="22" idx="2"/>
              </p:cNvCxnSpPr>
              <p:nvPr/>
            </p:nvCxnSpPr>
            <p:spPr>
              <a:xfrm flipV="1">
                <a:off x="3607689" y="4922874"/>
                <a:ext cx="0" cy="3885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3650513" y="4985503"/>
                <a:ext cx="11843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c</a:t>
                </a:r>
                <a:r>
                  <a:rPr lang="en-US" altLang="ko-KR" sz="1100" b="1" dirty="0" smtClean="0"/>
                  <a:t>url web-svc</a:t>
                </a:r>
                <a:endParaRPr lang="ko-KR" altLang="en-US" sz="1100" b="1" dirty="0"/>
              </a:p>
            </p:txBody>
          </p:sp>
        </p:grpSp>
        <p:grpSp>
          <p:nvGrpSpPr>
            <p:cNvPr id="41" name="그룹 40"/>
            <p:cNvGrpSpPr/>
            <p:nvPr/>
          </p:nvGrpSpPr>
          <p:grpSpPr>
            <a:xfrm>
              <a:off x="7236314" y="3358558"/>
              <a:ext cx="3139523" cy="2882754"/>
              <a:chOff x="817525" y="3358558"/>
              <a:chExt cx="3139523" cy="2882754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817525" y="3358558"/>
                <a:ext cx="3139523" cy="2882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531900" y="3508436"/>
                <a:ext cx="2425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 smtClean="0"/>
                  <a:t>DEV </a:t>
                </a:r>
                <a:r>
                  <a:rPr lang="en-US" altLang="ko-KR" b="1" dirty="0" err="1" smtClean="0"/>
                  <a:t>NameSpace</a:t>
                </a:r>
                <a:endParaRPr lang="ko-KR" altLang="en-US" b="1" dirty="0"/>
              </a:p>
            </p:txBody>
          </p:sp>
          <p:grpSp>
            <p:nvGrpSpPr>
              <p:cNvPr id="44" name="그룹 43"/>
              <p:cNvGrpSpPr/>
              <p:nvPr/>
            </p:nvGrpSpPr>
            <p:grpSpPr>
              <a:xfrm>
                <a:off x="952203" y="4196661"/>
                <a:ext cx="2184988" cy="726213"/>
                <a:chOff x="952203" y="4196661"/>
                <a:chExt cx="2184988" cy="726213"/>
              </a:xfrm>
            </p:grpSpPr>
            <p:sp>
              <p:nvSpPr>
                <p:cNvPr id="52" name="모서리가 둥근 직사각형 51"/>
                <p:cNvSpPr/>
                <p:nvPr/>
              </p:nvSpPr>
              <p:spPr>
                <a:xfrm>
                  <a:off x="952203" y="4196661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1667685" y="4414647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/>
                    <a:t>w</a:t>
                  </a:r>
                  <a:r>
                    <a:rPr lang="en-US" altLang="ko-KR" sz="1600" b="1" dirty="0" smtClean="0"/>
                    <a:t>eb-svc</a:t>
                  </a:r>
                  <a:endParaRPr lang="ko-KR" altLang="en-US" b="1" dirty="0"/>
                </a:p>
              </p:txBody>
            </p:sp>
            <p:pic>
              <p:nvPicPr>
                <p:cNvPr id="54" name="그림 53"/>
                <p:cNvPicPr>
                  <a:picLocks noChangeAspect="1"/>
                </p:cNvPicPr>
                <p:nvPr/>
              </p:nvPicPr>
              <p:blipFill>
                <a:blip r:embed="rId3" cstate="screen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0" b="100000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1597" y="4289658"/>
                  <a:ext cx="536694" cy="515333"/>
                </a:xfrm>
                <a:prstGeom prst="rect">
                  <a:avLst/>
                </a:prstGeom>
              </p:spPr>
            </p:pic>
          </p:grpSp>
          <p:pic>
            <p:nvPicPr>
              <p:cNvPr id="45" name="그림 44"/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99502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046" y="3367503"/>
                <a:ext cx="690854" cy="663357"/>
              </a:xfrm>
              <a:prstGeom prst="rect">
                <a:avLst/>
              </a:prstGeom>
            </p:spPr>
          </p:pic>
          <p:grpSp>
            <p:nvGrpSpPr>
              <p:cNvPr id="46" name="그룹 45"/>
              <p:cNvGrpSpPr/>
              <p:nvPr/>
            </p:nvGrpSpPr>
            <p:grpSpPr>
              <a:xfrm>
                <a:off x="952203" y="5311439"/>
                <a:ext cx="2184988" cy="726213"/>
                <a:chOff x="994440" y="5344977"/>
                <a:chExt cx="2184988" cy="726213"/>
              </a:xfrm>
            </p:grpSpPr>
            <p:sp>
              <p:nvSpPr>
                <p:cNvPr id="49" name="모서리가 둥근 직사각형 48"/>
                <p:cNvSpPr/>
                <p:nvPr/>
              </p:nvSpPr>
              <p:spPr>
                <a:xfrm>
                  <a:off x="994440" y="5344977"/>
                  <a:ext cx="2184988" cy="72621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7D9E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1709922" y="5562963"/>
                  <a:ext cx="14695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 smtClean="0"/>
                    <a:t>Pod</a:t>
                  </a:r>
                  <a:endParaRPr lang="ko-KR" altLang="en-US" b="1" dirty="0"/>
                </a:p>
              </p:txBody>
            </p:sp>
            <p:pic>
              <p:nvPicPr>
                <p:cNvPr id="51" name="그림 50"/>
                <p:cNvPicPr>
                  <a:picLocks noChangeAspect="1"/>
                </p:cNvPicPr>
                <p:nvPr/>
              </p:nvPicPr>
              <p:blipFill>
                <a:blip r:embed="rId7" cstate="screen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1036" b="96373" l="498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3667" y="5417507"/>
                  <a:ext cx="612554" cy="581151"/>
                </a:xfrm>
                <a:prstGeom prst="rect">
                  <a:avLst/>
                </a:prstGeom>
              </p:spPr>
            </p:pic>
          </p:grpSp>
          <p:cxnSp>
            <p:nvCxnSpPr>
              <p:cNvPr id="47" name="직선 화살표 연결선 46"/>
              <p:cNvCxnSpPr>
                <a:stCxn id="49" idx="0"/>
                <a:endCxn id="52" idx="2"/>
              </p:cNvCxnSpPr>
              <p:nvPr/>
            </p:nvCxnSpPr>
            <p:spPr>
              <a:xfrm flipV="1">
                <a:off x="2044697" y="4922874"/>
                <a:ext cx="0" cy="3885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2087521" y="5010055"/>
                <a:ext cx="11843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c</a:t>
                </a:r>
                <a:r>
                  <a:rPr lang="en-US" altLang="ko-KR" sz="1100" b="1" dirty="0" smtClean="0"/>
                  <a:t>url web-svc</a:t>
                </a:r>
                <a:endParaRPr lang="ko-KR" altLang="en-US" sz="1100" b="1" dirty="0"/>
              </a:p>
            </p:txBody>
          </p:sp>
        </p:grpSp>
        <p:cxnSp>
          <p:nvCxnSpPr>
            <p:cNvPr id="56" name="꺾인 연결선 55"/>
            <p:cNvCxnSpPr>
              <a:stCxn id="30" idx="3"/>
              <a:endCxn id="52" idx="1"/>
            </p:cNvCxnSpPr>
            <p:nvPr/>
          </p:nvCxnSpPr>
          <p:spPr>
            <a:xfrm flipV="1">
              <a:off x="3849582" y="4559768"/>
              <a:ext cx="3521410" cy="113893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814766" y="4245967"/>
              <a:ext cx="26456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c</a:t>
              </a:r>
              <a:r>
                <a:rPr lang="en-US" altLang="ko-KR" sz="1100" b="1" dirty="0" smtClean="0"/>
                <a:t>url web-</a:t>
              </a:r>
              <a:r>
                <a:rPr lang="en-US" altLang="ko-KR" sz="1100" b="1" dirty="0" err="1" smtClean="0"/>
                <a:t>svc.dev.svc.cluster.local</a:t>
              </a:r>
              <a:endParaRPr lang="ko-KR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69947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ResourceQuota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ResourceQuota</a:t>
            </a:r>
            <a:r>
              <a:rPr lang="ko-KR" altLang="en-US" sz="1400" dirty="0" smtClean="0"/>
              <a:t>를 사용하여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네임스페이스 내에서 사용할 수 있는 최대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자원양을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제한</a:t>
            </a:r>
            <a:r>
              <a:rPr lang="ko-KR" altLang="en-US" sz="1400" dirty="0" smtClean="0"/>
              <a:t> 할 수 있다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ResourceQuota</a:t>
            </a:r>
            <a:r>
              <a:rPr lang="en-US" altLang="ko-KR" sz="1400" dirty="0"/>
              <a:t>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53029" y="1337598"/>
            <a:ext cx="10838341" cy="2954655"/>
            <a:chOff x="753029" y="1358864"/>
            <a:chExt cx="10838341" cy="2954655"/>
          </a:xfrm>
        </p:grpSpPr>
        <p:sp>
          <p:nvSpPr>
            <p:cNvPr id="12" name="TextBox 3"/>
            <p:cNvSpPr txBox="1"/>
            <p:nvPr/>
          </p:nvSpPr>
          <p:spPr>
            <a:xfrm>
              <a:off x="753029" y="1635863"/>
              <a:ext cx="10838341" cy="267765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ResourceQuota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dev-quota</a:t>
              </a:r>
            </a:p>
            <a:p>
              <a:r>
                <a:rPr lang="en-US" altLang="ko-KR" sz="1200" dirty="0"/>
                <a:t>  namespace: dev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hard:</a:t>
              </a:r>
            </a:p>
            <a:p>
              <a:r>
                <a:rPr lang="en-US" altLang="ko-KR" sz="1200" dirty="0"/>
                <a:t>    pods: "10"                     # </a:t>
              </a:r>
              <a:r>
                <a:rPr lang="ko-KR" altLang="en-US" sz="1200" dirty="0"/>
                <a:t>최대 </a:t>
              </a:r>
              <a:r>
                <a:rPr lang="en-US" altLang="ko-KR" sz="1200" dirty="0"/>
                <a:t>10</a:t>
              </a:r>
              <a:r>
                <a:rPr lang="ko-KR" altLang="en-US" sz="1200" dirty="0"/>
                <a:t>개의 </a:t>
              </a:r>
              <a:r>
                <a:rPr lang="en-US" altLang="ko-KR" sz="1200" dirty="0"/>
                <a:t>Pod</a:t>
              </a:r>
              <a:r>
                <a:rPr lang="ko-KR" altLang="en-US" sz="1200" dirty="0"/>
                <a:t>만 생성 가능</a:t>
              </a:r>
            </a:p>
            <a:p>
              <a:r>
                <a:rPr lang="ko-KR" altLang="en-US" sz="1200" dirty="0"/>
                <a:t>    </a:t>
              </a:r>
              <a:r>
                <a:rPr lang="en-US" altLang="ko-KR" sz="1200" dirty="0" err="1"/>
                <a:t>requests.cpu</a:t>
              </a:r>
              <a:r>
                <a:rPr lang="en-US" altLang="ko-KR" sz="1200" dirty="0"/>
                <a:t>: "4"               # </a:t>
              </a:r>
              <a:r>
                <a:rPr lang="ko-KR" altLang="en-US" sz="1200" dirty="0"/>
                <a:t>전체 </a:t>
              </a:r>
              <a:r>
                <a:rPr lang="en-US" altLang="ko-KR" sz="1200" dirty="0"/>
                <a:t>CPU </a:t>
              </a:r>
              <a:r>
                <a:rPr lang="ko-KR" altLang="en-US" sz="1200" dirty="0"/>
                <a:t>요청 합이 </a:t>
              </a:r>
              <a:r>
                <a:rPr lang="en-US" altLang="ko-KR" sz="1200" dirty="0"/>
                <a:t>4</a:t>
              </a:r>
              <a:r>
                <a:rPr lang="ko-KR" altLang="en-US" sz="1200" dirty="0"/>
                <a:t>코어 이하로 제한</a:t>
              </a:r>
            </a:p>
            <a:p>
              <a:r>
                <a:rPr lang="ko-KR" altLang="en-US" sz="1200" dirty="0"/>
                <a:t>    </a:t>
              </a:r>
              <a:r>
                <a:rPr lang="en-US" altLang="ko-KR" sz="1200" dirty="0" err="1"/>
                <a:t>requests.memory</a:t>
              </a:r>
              <a:r>
                <a:rPr lang="en-US" altLang="ko-KR" sz="1200" dirty="0"/>
                <a:t>: "8Gi"          # </a:t>
              </a:r>
              <a:r>
                <a:rPr lang="ko-KR" altLang="en-US" sz="1200" dirty="0"/>
                <a:t>전체 메모리 요청 합이 </a:t>
              </a:r>
              <a:r>
                <a:rPr lang="en-US" altLang="ko-KR" sz="1200" dirty="0"/>
                <a:t>8Gi </a:t>
              </a:r>
              <a:r>
                <a:rPr lang="ko-KR" altLang="en-US" sz="1200" dirty="0"/>
                <a:t>이하로 제한</a:t>
              </a:r>
            </a:p>
            <a:p>
              <a:r>
                <a:rPr lang="ko-KR" altLang="en-US" sz="1200" dirty="0"/>
                <a:t>    </a:t>
              </a:r>
              <a:r>
                <a:rPr lang="en-US" altLang="ko-KR" sz="1200" dirty="0" err="1"/>
                <a:t>limits.cpu</a:t>
              </a:r>
              <a:r>
                <a:rPr lang="en-US" altLang="ko-KR" sz="1200" dirty="0"/>
                <a:t>: "8"                 # </a:t>
              </a:r>
              <a:r>
                <a:rPr lang="ko-KR" altLang="en-US" sz="1200" dirty="0"/>
                <a:t>전체 </a:t>
              </a:r>
              <a:r>
                <a:rPr lang="en-US" altLang="ko-KR" sz="1200" dirty="0"/>
                <a:t>CPU </a:t>
              </a:r>
              <a:r>
                <a:rPr lang="ko-KR" altLang="en-US" sz="1200" dirty="0"/>
                <a:t>상한 </a:t>
              </a:r>
              <a:r>
                <a:rPr lang="en-US" altLang="ko-KR" sz="1200" dirty="0"/>
                <a:t>8</a:t>
              </a:r>
              <a:r>
                <a:rPr lang="ko-KR" altLang="en-US" sz="1200" dirty="0"/>
                <a:t>코어</a:t>
              </a:r>
            </a:p>
            <a:p>
              <a:r>
                <a:rPr lang="ko-KR" altLang="en-US" sz="1200" dirty="0"/>
                <a:t>    </a:t>
              </a:r>
              <a:r>
                <a:rPr lang="en-US" altLang="ko-KR" sz="1200" dirty="0" err="1"/>
                <a:t>limits.memory</a:t>
              </a:r>
              <a:r>
                <a:rPr lang="en-US" altLang="ko-KR" sz="1200" dirty="0"/>
                <a:t>: "16Gi"           # </a:t>
              </a:r>
              <a:r>
                <a:rPr lang="ko-KR" altLang="en-US" sz="1200" dirty="0"/>
                <a:t>전체 메모리 상한 </a:t>
              </a:r>
              <a:r>
                <a:rPr lang="en-US" altLang="ko-KR" sz="1200" dirty="0"/>
                <a:t>16Gi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persistentvolumeclaims</a:t>
              </a:r>
              <a:r>
                <a:rPr lang="en-US" altLang="ko-KR" sz="1200" dirty="0"/>
                <a:t>: "5"     # PVC </a:t>
              </a:r>
              <a:r>
                <a:rPr lang="ko-KR" altLang="en-US" sz="1200" dirty="0"/>
                <a:t>최대 </a:t>
              </a:r>
              <a:r>
                <a:rPr lang="en-US" altLang="ko-KR" sz="1200" dirty="0"/>
                <a:t>5</a:t>
              </a:r>
              <a:r>
                <a:rPr lang="ko-KR" altLang="en-US" sz="1200" dirty="0"/>
                <a:t>개</a:t>
              </a:r>
            </a:p>
            <a:p>
              <a:r>
                <a:rPr lang="ko-KR" altLang="en-US" sz="1200" dirty="0"/>
                <a:t>    </a:t>
              </a:r>
              <a:r>
                <a:rPr lang="en-US" altLang="ko-KR" sz="1200" dirty="0" err="1"/>
                <a:t>requests.storage</a:t>
              </a:r>
              <a:r>
                <a:rPr lang="en-US" altLang="ko-KR" sz="1200" dirty="0"/>
                <a:t>: "100Gi"       # </a:t>
              </a:r>
              <a:r>
                <a:rPr lang="ko-KR" altLang="en-US" sz="1200" dirty="0"/>
                <a:t>최대 </a:t>
              </a:r>
              <a:r>
                <a:rPr lang="en-US" altLang="ko-KR" sz="1200" dirty="0"/>
                <a:t>100Gi </a:t>
              </a:r>
              <a:r>
                <a:rPr lang="ko-KR" altLang="en-US" sz="1200" dirty="0"/>
                <a:t>스토리지 요청 가능</a:t>
              </a:r>
              <a:endParaRPr lang="en-US" altLang="ko-KR" sz="1200" dirty="0"/>
            </a:p>
          </p:txBody>
        </p:sp>
        <p:sp>
          <p:nvSpPr>
            <p:cNvPr id="6" name="TextBox 3"/>
            <p:cNvSpPr txBox="1"/>
            <p:nvPr/>
          </p:nvSpPr>
          <p:spPr>
            <a:xfrm>
              <a:off x="753029" y="1358864"/>
              <a:ext cx="1649929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Resourcequota.yaml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6424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LimitRange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>
                <a:solidFill>
                  <a:srgbClr val="FF0000"/>
                </a:solidFill>
              </a:rPr>
              <a:t>Pod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및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컨테이너별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CPU/Memory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의 최소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최대 값과 기본 요청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제한을 설정할 </a:t>
            </a:r>
            <a:r>
              <a:rPr lang="ko-KR" altLang="en-US" sz="1400" dirty="0" smtClean="0"/>
              <a:t>수 있다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b="1" dirty="0" smtClean="0">
                <a:solidFill>
                  <a:srgbClr val="FF0000"/>
                </a:solidFill>
              </a:rPr>
              <a:t>HPA(Horizontal Pod </a:t>
            </a:r>
            <a:r>
              <a:rPr lang="en-US" altLang="ko-KR" sz="1400" b="1" dirty="0" err="1" smtClean="0">
                <a:solidFill>
                  <a:srgbClr val="FF0000"/>
                </a:solidFill>
              </a:rPr>
              <a:t>Autoscaler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사용 시 충돌 가능성이 있다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LimitRange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53029" y="1614036"/>
            <a:ext cx="10838341" cy="4062651"/>
            <a:chOff x="753029" y="1986183"/>
            <a:chExt cx="10838341" cy="4062651"/>
          </a:xfrm>
        </p:grpSpPr>
        <p:sp>
          <p:nvSpPr>
            <p:cNvPr id="12" name="TextBox 3"/>
            <p:cNvSpPr txBox="1"/>
            <p:nvPr/>
          </p:nvSpPr>
          <p:spPr>
            <a:xfrm>
              <a:off x="753029" y="2263182"/>
              <a:ext cx="10838341" cy="378565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LimitRange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dev-limit</a:t>
              </a:r>
            </a:p>
            <a:p>
              <a:r>
                <a:rPr lang="en-US" altLang="ko-KR" sz="1200" dirty="0"/>
                <a:t>  namespace: dev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limits:</a:t>
              </a:r>
            </a:p>
            <a:p>
              <a:r>
                <a:rPr lang="en-US" altLang="ko-KR" sz="1200" dirty="0"/>
                <a:t>    - type: Container</a:t>
              </a:r>
            </a:p>
            <a:p>
              <a:r>
                <a:rPr lang="en-US" altLang="ko-KR" sz="1200" dirty="0"/>
                <a:t>      default: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cpu</a:t>
              </a:r>
              <a:r>
                <a:rPr lang="en-US" altLang="ko-KR" sz="1200" dirty="0"/>
                <a:t>: "500m"            # </a:t>
              </a:r>
              <a:r>
                <a:rPr lang="ko-KR" altLang="en-US" sz="1200" dirty="0"/>
                <a:t>기본 </a:t>
              </a:r>
              <a:r>
                <a:rPr lang="en-US" altLang="ko-KR" sz="1200" dirty="0"/>
                <a:t>CPU limit: 0.5 </a:t>
              </a:r>
              <a:r>
                <a:rPr lang="ko-KR" altLang="en-US" sz="1200" dirty="0"/>
                <a:t>코어</a:t>
              </a:r>
            </a:p>
            <a:p>
              <a:r>
                <a:rPr lang="ko-KR" altLang="en-US" sz="1200" dirty="0"/>
                <a:t>        </a:t>
              </a:r>
              <a:r>
                <a:rPr lang="en-US" altLang="ko-KR" sz="1200" dirty="0"/>
                <a:t>memory: "512Mi"        # </a:t>
              </a:r>
              <a:r>
                <a:rPr lang="ko-KR" altLang="en-US" sz="1200" dirty="0"/>
                <a:t>기본 </a:t>
              </a:r>
              <a:r>
                <a:rPr lang="en-US" altLang="ko-KR" sz="1200" dirty="0"/>
                <a:t>Memory limit: 512Mi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defaultRequest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cpu</a:t>
              </a:r>
              <a:r>
                <a:rPr lang="en-US" altLang="ko-KR" sz="1200" dirty="0"/>
                <a:t>: "250m"            # </a:t>
              </a:r>
              <a:r>
                <a:rPr lang="ko-KR" altLang="en-US" sz="1200" dirty="0"/>
                <a:t>기본 </a:t>
              </a:r>
              <a:r>
                <a:rPr lang="en-US" altLang="ko-KR" sz="1200" dirty="0"/>
                <a:t>CPU </a:t>
              </a:r>
              <a:r>
                <a:rPr lang="ko-KR" altLang="en-US" sz="1200" dirty="0"/>
                <a:t>요청</a:t>
              </a:r>
              <a:r>
                <a:rPr lang="en-US" altLang="ko-KR" sz="1200" dirty="0"/>
                <a:t>: 0.25 </a:t>
              </a:r>
              <a:r>
                <a:rPr lang="ko-KR" altLang="en-US" sz="1200" dirty="0"/>
                <a:t>코어</a:t>
              </a:r>
            </a:p>
            <a:p>
              <a:r>
                <a:rPr lang="ko-KR" altLang="en-US" sz="1200" dirty="0"/>
                <a:t>        </a:t>
              </a:r>
              <a:r>
                <a:rPr lang="en-US" altLang="ko-KR" sz="1200" dirty="0"/>
                <a:t>memory: "256Mi"        # </a:t>
              </a:r>
              <a:r>
                <a:rPr lang="ko-KR" altLang="en-US" sz="1200" dirty="0"/>
                <a:t>기본 </a:t>
              </a:r>
              <a:r>
                <a:rPr lang="en-US" altLang="ko-KR" sz="1200" dirty="0"/>
                <a:t>Memory </a:t>
              </a:r>
              <a:r>
                <a:rPr lang="ko-KR" altLang="en-US" sz="1200" dirty="0"/>
                <a:t>요청</a:t>
              </a:r>
              <a:r>
                <a:rPr lang="en-US" altLang="ko-KR" sz="1200" dirty="0"/>
                <a:t>: 256Mi</a:t>
              </a:r>
            </a:p>
            <a:p>
              <a:r>
                <a:rPr lang="en-US" altLang="ko-KR" sz="1200" dirty="0"/>
                <a:t>      max: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cpu</a:t>
              </a:r>
              <a:r>
                <a:rPr lang="en-US" altLang="ko-KR" sz="1200" dirty="0"/>
                <a:t>: "2"               # </a:t>
              </a:r>
              <a:r>
                <a:rPr lang="ko-KR" altLang="en-US" sz="1200" dirty="0"/>
                <a:t>최대 </a:t>
              </a:r>
              <a:r>
                <a:rPr lang="en-US" altLang="ko-KR" sz="1200" dirty="0"/>
                <a:t>CPU </a:t>
              </a:r>
              <a:r>
                <a:rPr lang="ko-KR" altLang="en-US" sz="1200" dirty="0"/>
                <a:t>사용량</a:t>
              </a:r>
              <a:r>
                <a:rPr lang="en-US" altLang="ko-KR" sz="1200" dirty="0"/>
                <a:t>: 2 </a:t>
              </a:r>
              <a:r>
                <a:rPr lang="ko-KR" altLang="en-US" sz="1200" dirty="0"/>
                <a:t>코어</a:t>
              </a:r>
            </a:p>
            <a:p>
              <a:r>
                <a:rPr lang="ko-KR" altLang="en-US" sz="1200" dirty="0"/>
                <a:t>        </a:t>
              </a:r>
              <a:r>
                <a:rPr lang="en-US" altLang="ko-KR" sz="1200" dirty="0"/>
                <a:t>memory: "2Gi"          # </a:t>
              </a:r>
              <a:r>
                <a:rPr lang="ko-KR" altLang="en-US" sz="1200" dirty="0"/>
                <a:t>최대 </a:t>
              </a:r>
              <a:r>
                <a:rPr lang="en-US" altLang="ko-KR" sz="1200" dirty="0"/>
                <a:t>Memory </a:t>
              </a:r>
              <a:r>
                <a:rPr lang="ko-KR" altLang="en-US" sz="1200" dirty="0"/>
                <a:t>사용량</a:t>
              </a:r>
              <a:r>
                <a:rPr lang="en-US" altLang="ko-KR" sz="1200" dirty="0"/>
                <a:t>: 2Gi</a:t>
              </a:r>
            </a:p>
            <a:p>
              <a:r>
                <a:rPr lang="en-US" altLang="ko-KR" sz="1200" dirty="0"/>
                <a:t>      min: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cpu</a:t>
              </a:r>
              <a:r>
                <a:rPr lang="en-US" altLang="ko-KR" sz="1200" dirty="0"/>
                <a:t>: "100m"            # </a:t>
              </a:r>
              <a:r>
                <a:rPr lang="ko-KR" altLang="en-US" sz="1200" dirty="0"/>
                <a:t>최소 </a:t>
              </a:r>
              <a:r>
                <a:rPr lang="en-US" altLang="ko-KR" sz="1200" dirty="0"/>
                <a:t>CPU </a:t>
              </a:r>
              <a:r>
                <a:rPr lang="ko-KR" altLang="en-US" sz="1200" dirty="0" err="1"/>
                <a:t>요청량</a:t>
              </a:r>
              <a:r>
                <a:rPr lang="en-US" altLang="ko-KR" sz="1200" dirty="0"/>
                <a:t>: 0.1 </a:t>
              </a:r>
              <a:r>
                <a:rPr lang="ko-KR" altLang="en-US" sz="1200" dirty="0"/>
                <a:t>코어</a:t>
              </a:r>
            </a:p>
            <a:p>
              <a:r>
                <a:rPr lang="ko-KR" altLang="en-US" sz="1200" dirty="0"/>
                <a:t>        </a:t>
              </a:r>
              <a:r>
                <a:rPr lang="en-US" altLang="ko-KR" sz="1200" dirty="0"/>
                <a:t>memory: "128Mi"        # </a:t>
              </a:r>
              <a:r>
                <a:rPr lang="ko-KR" altLang="en-US" sz="1200" dirty="0"/>
                <a:t>최소 </a:t>
              </a:r>
              <a:r>
                <a:rPr lang="en-US" altLang="ko-KR" sz="1200" dirty="0"/>
                <a:t>Memory </a:t>
              </a:r>
              <a:r>
                <a:rPr lang="ko-KR" altLang="en-US" sz="1200" dirty="0" err="1"/>
                <a:t>요청량</a:t>
              </a:r>
              <a:r>
                <a:rPr lang="en-US" altLang="ko-KR" sz="1200" dirty="0"/>
                <a:t>: 128Mi</a:t>
              </a:r>
            </a:p>
          </p:txBody>
        </p:sp>
        <p:sp>
          <p:nvSpPr>
            <p:cNvPr id="5" name="TextBox 3"/>
            <p:cNvSpPr txBox="1"/>
            <p:nvPr/>
          </p:nvSpPr>
          <p:spPr>
            <a:xfrm>
              <a:off x="753029" y="1986183"/>
              <a:ext cx="1509652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limitrange.yaml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630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NameSpace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namespace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02322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 namespace prod # prod namespace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13310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n</a:t>
            </a:r>
            <a:r>
              <a:rPr lang="en-US" altLang="ko-KR" sz="1400" dirty="0" smtClean="0"/>
              <a:t>amespace </a:t>
            </a:r>
            <a:r>
              <a:rPr lang="ko-KR" altLang="en-US" sz="1400" dirty="0" smtClean="0"/>
              <a:t>삭제</a:t>
            </a:r>
            <a:endParaRPr lang="en-US" altLang="ko-KR" sz="1200" dirty="0"/>
          </a:p>
        </p:txBody>
      </p:sp>
      <p:sp>
        <p:nvSpPr>
          <p:cNvPr id="11" name="TextBox 3"/>
          <p:cNvSpPr txBox="1"/>
          <p:nvPr/>
        </p:nvSpPr>
        <p:spPr>
          <a:xfrm>
            <a:off x="753028" y="1638781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delete namespace prod # prod namespace </a:t>
            </a:r>
            <a:r>
              <a:rPr lang="ko-KR" altLang="en-US" sz="1200" dirty="0" smtClean="0">
                <a:solidFill>
                  <a:schemeClr val="bg1"/>
                </a:solidFill>
              </a:rPr>
              <a:t>삭제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194655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n</a:t>
            </a:r>
            <a:r>
              <a:rPr lang="en-US" altLang="ko-KR" sz="1400" dirty="0" smtClean="0"/>
              <a:t>amespace </a:t>
            </a:r>
            <a:r>
              <a:rPr lang="ko-KR" altLang="en-US" sz="1400" dirty="0" smtClean="0"/>
              <a:t>안에 사용되고 있는 모든 </a:t>
            </a:r>
            <a:r>
              <a:rPr lang="en-US" altLang="ko-KR" sz="1400" dirty="0" smtClean="0"/>
              <a:t>Resource </a:t>
            </a:r>
            <a:r>
              <a:rPr lang="ko-KR" altLang="en-US" sz="1400" dirty="0" smtClean="0"/>
              <a:t>조회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8" y="225433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all -n prod #prod namespace</a:t>
            </a:r>
            <a:r>
              <a:rPr lang="ko-KR" altLang="en-US" sz="1200" dirty="0" smtClean="0">
                <a:solidFill>
                  <a:schemeClr val="bg1"/>
                </a:solidFill>
              </a:rPr>
              <a:t>에 기동 중인 모든 </a:t>
            </a:r>
            <a:r>
              <a:rPr lang="en-US" altLang="ko-KR" sz="1200" dirty="0" smtClean="0">
                <a:solidFill>
                  <a:schemeClr val="bg1"/>
                </a:solidFill>
              </a:rPr>
              <a:t>Resource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256211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n</a:t>
            </a:r>
            <a:r>
              <a:rPr lang="en-US" altLang="ko-KR" sz="1400" dirty="0" smtClean="0"/>
              <a:t>amespace list </a:t>
            </a:r>
            <a:r>
              <a:rPr lang="ko-KR" altLang="en-US" sz="1400" dirty="0" smtClean="0"/>
              <a:t>조회</a:t>
            </a:r>
            <a:endParaRPr lang="en-US" altLang="ko-KR" sz="1400" dirty="0" smtClean="0"/>
          </a:p>
        </p:txBody>
      </p:sp>
      <p:sp>
        <p:nvSpPr>
          <p:cNvPr id="15" name="TextBox 3"/>
          <p:cNvSpPr txBox="1"/>
          <p:nvPr/>
        </p:nvSpPr>
        <p:spPr>
          <a:xfrm>
            <a:off x="753028" y="2869889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namespace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1200" y="3177666"/>
            <a:ext cx="1092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namespace </a:t>
            </a:r>
            <a:r>
              <a:rPr lang="ko-KR" altLang="en-US" sz="1400" dirty="0" smtClean="0"/>
              <a:t>지정 없이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조회 시 </a:t>
            </a:r>
            <a:r>
              <a:rPr lang="en-US" altLang="ko-KR" sz="1400" dirty="0" smtClean="0"/>
              <a:t>default namespace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조회된다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만약 </a:t>
            </a:r>
            <a:r>
              <a:rPr lang="en-US" altLang="ko-KR" sz="1400" dirty="0" smtClean="0"/>
              <a:t>prod namespace</a:t>
            </a:r>
            <a:r>
              <a:rPr lang="ko-KR" altLang="en-US" sz="1400" dirty="0" smtClean="0"/>
              <a:t>에 있는 </a:t>
            </a:r>
            <a:r>
              <a:rPr lang="en-US" altLang="ko-KR" sz="1400" dirty="0" smtClean="0"/>
              <a:t>Resource</a:t>
            </a:r>
            <a:r>
              <a:rPr lang="ko-KR" altLang="en-US" sz="1400" dirty="0" smtClean="0"/>
              <a:t>를 </a:t>
            </a:r>
            <a:r>
              <a:rPr lang="en-US" altLang="ko-KR" sz="1400" dirty="0" smtClean="0"/>
              <a:t>namespace </a:t>
            </a:r>
            <a:r>
              <a:rPr lang="ko-KR" altLang="en-US" sz="1400" dirty="0" smtClean="0"/>
              <a:t>지정 없이 사용하고 싶다면 아래 명령어를 사용</a:t>
            </a:r>
            <a:r>
              <a:rPr lang="en-US" altLang="ko-KR" sz="1400" dirty="0" smtClean="0"/>
              <a:t> </a:t>
            </a:r>
            <a:endParaRPr lang="en-US" altLang="ko-KR" sz="1200" dirty="0"/>
          </a:p>
        </p:txBody>
      </p:sp>
      <p:sp>
        <p:nvSpPr>
          <p:cNvPr id="22" name="TextBox 3"/>
          <p:cNvSpPr txBox="1"/>
          <p:nvPr/>
        </p:nvSpPr>
        <p:spPr>
          <a:xfrm>
            <a:off x="753028" y="3698099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set-context $(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current-context) --</a:t>
            </a:r>
            <a:r>
              <a:rPr lang="en-US" altLang="ko-KR" sz="1200" dirty="0" smtClean="0">
                <a:solidFill>
                  <a:schemeClr val="bg1"/>
                </a:solidFill>
              </a:rPr>
              <a:t>namespace=prod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084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명령어 실행 방법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1200" y="715450"/>
            <a:ext cx="10922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Imperative </a:t>
            </a:r>
            <a:r>
              <a:rPr lang="ko-KR" altLang="en-US" sz="1400" b="1" dirty="0" smtClean="0"/>
              <a:t>명령어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명령어를 통해 </a:t>
            </a:r>
            <a:r>
              <a:rPr lang="en-US" altLang="ko-KR" sz="1200" dirty="0" smtClean="0"/>
              <a:t>Object</a:t>
            </a:r>
            <a:r>
              <a:rPr lang="ko-KR" altLang="en-US" sz="1200" dirty="0" smtClean="0"/>
              <a:t>를 관리한다</a:t>
            </a:r>
            <a:r>
              <a:rPr lang="en-US" altLang="ko-KR" sz="1200" dirty="0" smtClean="0"/>
              <a:t>.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항상 현재 환경을 인지하고 있어야 변경이 쉽다</a:t>
            </a:r>
            <a:r>
              <a:rPr lang="en-US" altLang="ko-KR" sz="1200" dirty="0" smtClean="0"/>
              <a:t>.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Create Object </a:t>
            </a:r>
            <a:r>
              <a:rPr lang="ko-KR" altLang="en-US" sz="1200" dirty="0" smtClean="0"/>
              <a:t>예시</a:t>
            </a:r>
            <a:endParaRPr lang="en-US" altLang="ko-KR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1112765" y="1808057"/>
            <a:ext cx="1052043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run --image=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deployment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--image=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expose pod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--port=80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" y="2554883"/>
            <a:ext cx="10922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Declarative </a:t>
            </a:r>
            <a:r>
              <a:rPr lang="ko-KR" altLang="en-US" sz="1400" b="1" dirty="0" smtClean="0"/>
              <a:t>명령어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/>
              <a:t>y</a:t>
            </a:r>
            <a:r>
              <a:rPr lang="en-US" altLang="ko-KR" sz="1200" dirty="0" err="1" smtClean="0"/>
              <a:t>aml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파일을 작성하여 </a:t>
            </a:r>
            <a:r>
              <a:rPr lang="en-US" altLang="ko-KR" sz="1200" dirty="0" smtClean="0"/>
              <a:t>Object</a:t>
            </a:r>
            <a:r>
              <a:rPr lang="ko-KR" altLang="en-US" sz="1200" dirty="0" smtClean="0"/>
              <a:t>를 관리한다</a:t>
            </a:r>
            <a:r>
              <a:rPr lang="en-US" altLang="ko-KR" sz="1200" dirty="0" smtClean="0"/>
              <a:t>.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6372982" y="3124270"/>
            <a:ext cx="5018567" cy="2400657"/>
            <a:chOff x="0" y="3546995"/>
            <a:chExt cx="5018567" cy="2400657"/>
          </a:xfrm>
        </p:grpSpPr>
        <p:sp>
          <p:nvSpPr>
            <p:cNvPr id="30" name="TextBox 3"/>
            <p:cNvSpPr txBox="1"/>
            <p:nvPr/>
          </p:nvSpPr>
          <p:spPr>
            <a:xfrm>
              <a:off x="0" y="3823994"/>
              <a:ext cx="5018567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#Object</a:t>
              </a:r>
              <a:r>
                <a:rPr lang="ko-KR" altLang="en-US" sz="1200" dirty="0">
                  <a:solidFill>
                    <a:srgbClr val="FF0000"/>
                  </a:solidFill>
                </a:rPr>
                <a:t>를 생성할 때 사용하는 </a:t>
              </a:r>
              <a:r>
                <a:rPr lang="en-US" altLang="ko-KR" sz="1200" dirty="0">
                  <a:solidFill>
                    <a:srgbClr val="FF0000"/>
                  </a:solidFill>
                </a:rPr>
                <a:t>API Version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을 명시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Pod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만들려고 하는 </a:t>
              </a:r>
              <a:r>
                <a:rPr lang="en-US" altLang="ko-KR" sz="1200" dirty="0">
                  <a:solidFill>
                    <a:srgbClr val="FF0000"/>
                  </a:solidFill>
                </a:rPr>
                <a:t>Object </a:t>
              </a:r>
              <a:r>
                <a:rPr lang="ko-KR" altLang="en-US" sz="1200" dirty="0">
                  <a:solidFill>
                    <a:srgbClr val="FF0000"/>
                  </a:solidFill>
                </a:rPr>
                <a:t>종류를 명시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metadata: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이름이나 </a:t>
              </a:r>
              <a:r>
                <a:rPr lang="en-US" altLang="ko-KR" sz="1200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을 명시한다</a:t>
              </a:r>
              <a:r>
                <a:rPr lang="en-US" altLang="ko-KR" sz="1200" dirty="0">
                  <a:solidFill>
                    <a:srgbClr val="FF0000"/>
                  </a:solidFill>
                </a:rPr>
                <a:t>.</a:t>
              </a: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labels:</a:t>
              </a:r>
            </a:p>
            <a:p>
              <a:pPr algn="l"/>
              <a:r>
                <a:rPr lang="en-US" altLang="ko-KR" sz="1200" dirty="0"/>
                <a:t>    app: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  type: front-end</a:t>
              </a:r>
            </a:p>
            <a:p>
              <a:pPr algn="l"/>
              <a:r>
                <a:rPr lang="en-US" altLang="ko-KR" sz="1200" dirty="0"/>
                <a:t>spec: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생성하려는 객체의 스펙을 작성하는 곳</a:t>
              </a:r>
              <a:r>
                <a:rPr lang="en-US" altLang="ko-KR" sz="1200" dirty="0">
                  <a:solidFill>
                    <a:srgbClr val="FF0000"/>
                  </a:solidFill>
                </a:rPr>
                <a:t>. ‘-’</a:t>
              </a:r>
              <a:r>
                <a:rPr lang="ko-KR" altLang="en-US" sz="1200" dirty="0">
                  <a:solidFill>
                    <a:srgbClr val="FF0000"/>
                  </a:solidFill>
                </a:rPr>
                <a:t>는 시작을 의미함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  containers:</a:t>
              </a:r>
            </a:p>
            <a:p>
              <a:pPr algn="l"/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nignx</a:t>
              </a:r>
              <a:endParaRPr lang="en-US" altLang="ko-KR" sz="1200" dirty="0"/>
            </a:p>
          </p:txBody>
        </p:sp>
        <p:sp>
          <p:nvSpPr>
            <p:cNvPr id="31" name="TextBox 3"/>
            <p:cNvSpPr txBox="1"/>
            <p:nvPr/>
          </p:nvSpPr>
          <p:spPr>
            <a:xfrm>
              <a:off x="0" y="3546995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n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ginx-pod.yaml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112765" y="3128136"/>
            <a:ext cx="4947794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smtClean="0">
                <a:solidFill>
                  <a:schemeClr val="bg1"/>
                </a:solidFill>
              </a:rPr>
              <a:t>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nginx-pod.yaml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8002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16578</TotalTime>
  <Words>3121</Words>
  <Application>Microsoft Office PowerPoint</Application>
  <PresentationFormat>와이드스크린</PresentationFormat>
  <Paragraphs>689</Paragraphs>
  <Slides>35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6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338</cp:revision>
  <dcterms:created xsi:type="dcterms:W3CDTF">2022-09-15T01:21:24Z</dcterms:created>
  <dcterms:modified xsi:type="dcterms:W3CDTF">2025-03-06T00:50:13Z</dcterms:modified>
</cp:coreProperties>
</file>