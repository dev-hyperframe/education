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70" r:id="rId2"/>
    <p:sldId id="414" r:id="rId3"/>
    <p:sldId id="417" r:id="rId4"/>
    <p:sldId id="418" r:id="rId5"/>
    <p:sldId id="419" r:id="rId6"/>
    <p:sldId id="420" r:id="rId7"/>
    <p:sldId id="308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71AA387-4111-4890-AC9B-FCE55A5E05BE}">
          <p14:sldIdLst>
            <p14:sldId id="270"/>
            <p14:sldId id="414"/>
            <p14:sldId id="417"/>
            <p14:sldId id="418"/>
            <p14:sldId id="419"/>
            <p14:sldId id="420"/>
            <p14:sldId id="3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14" userDrawn="1">
          <p15:clr>
            <a:srgbClr val="A4A3A4"/>
          </p15:clr>
        </p15:guide>
        <p15:guide id="2" pos="7333" userDrawn="1">
          <p15:clr>
            <a:srgbClr val="A4A3A4"/>
          </p15:clr>
        </p15:guide>
        <p15:guide id="3" pos="438" userDrawn="1">
          <p15:clr>
            <a:srgbClr val="A4A3A4"/>
          </p15:clr>
        </p15:guide>
        <p15:guide id="4" pos="72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66EF"/>
    <a:srgbClr val="7D9EBB"/>
    <a:srgbClr val="171C2C"/>
    <a:srgbClr val="0232AE"/>
    <a:srgbClr val="BACDFE"/>
    <a:srgbClr val="333333"/>
    <a:srgbClr val="95BCF0"/>
    <a:srgbClr val="09E6E1"/>
    <a:srgbClr val="12F6F6"/>
    <a:srgbClr val="10B7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49" autoAdjust="0"/>
    <p:restoredTop sz="91754" autoAdjust="0"/>
  </p:normalViewPr>
  <p:slideViewPr>
    <p:cSldViewPr snapToGrid="0">
      <p:cViewPr>
        <p:scale>
          <a:sx n="100" d="100"/>
          <a:sy n="100" d="100"/>
        </p:scale>
        <p:origin x="1050" y="210"/>
      </p:cViewPr>
      <p:guideLst>
        <p:guide orient="horz" pos="414"/>
        <p:guide pos="7333"/>
        <p:guide pos="438"/>
        <p:guide pos="728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37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E36D4-B224-4D49-A73E-0BF1A210728E}" type="datetimeFigureOut">
              <a:rPr lang="ko-KR" altLang="en-US" smtClean="0"/>
              <a:t>2025-03-07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661C5-6DF4-4E77-80CD-DCF64012D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04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7304B-F283-4E41-A8FA-EB923FFBA2A0}" type="datetimeFigureOut">
              <a:rPr lang="ko-KR" altLang="en-US" smtClean="0"/>
              <a:t>2025-03-07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92502-E94D-4E8D-8986-81BE15697A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331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758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 smtClean="0"/>
              <a:t>[Calico]</a:t>
            </a:r>
          </a:p>
          <a:p>
            <a:pPr marL="171450" indent="-171450">
              <a:buFontTx/>
              <a:buChar char="-"/>
            </a:pPr>
            <a:r>
              <a:rPr lang="en-US" altLang="ko-KR" dirty="0" smtClean="0"/>
              <a:t>Kubernetes</a:t>
            </a:r>
            <a:r>
              <a:rPr lang="ko-KR" altLang="en-US" dirty="0" smtClean="0"/>
              <a:t>에서 </a:t>
            </a:r>
            <a:r>
              <a:rPr lang="ko-KR" altLang="en-US" b="1" dirty="0" smtClean="0">
                <a:effectLst/>
              </a:rPr>
              <a:t>네트워크 및 네트워크 보안</a:t>
            </a:r>
            <a:r>
              <a:rPr lang="en-US" altLang="ko-KR" b="1" dirty="0" smtClean="0">
                <a:effectLst/>
              </a:rPr>
              <a:t>(</a:t>
            </a:r>
            <a:r>
              <a:rPr lang="ko-KR" altLang="en-US" b="1" dirty="0" smtClean="0">
                <a:effectLst/>
              </a:rPr>
              <a:t>네트워크 정책</a:t>
            </a:r>
            <a:r>
              <a:rPr lang="en-US" altLang="ko-KR" b="1" dirty="0" smtClean="0">
                <a:effectLst/>
              </a:rPr>
              <a:t>)</a:t>
            </a:r>
            <a:r>
              <a:rPr lang="ko-KR" altLang="en-US" dirty="0" smtClean="0"/>
              <a:t>을 제공하는 대표적인 </a:t>
            </a:r>
            <a:r>
              <a:rPr lang="en-US" altLang="ko-KR" b="1" dirty="0" smtClean="0">
                <a:effectLst/>
              </a:rPr>
              <a:t>CNI(Container Network Interface) </a:t>
            </a:r>
            <a:r>
              <a:rPr lang="ko-KR" altLang="en-US" b="1" dirty="0" smtClean="0">
                <a:effectLst/>
              </a:rPr>
              <a:t>플러그인</a:t>
            </a:r>
            <a:endParaRPr lang="en-US" altLang="ko-KR" b="1" dirty="0" smtClean="0">
              <a:effectLst/>
            </a:endParaRPr>
          </a:p>
          <a:p>
            <a:pPr marL="171450" indent="-171450">
              <a:buFontTx/>
              <a:buChar char="-"/>
            </a:pPr>
            <a:endParaRPr lang="en-US" altLang="ko-KR" b="1" dirty="0" smtClean="0">
              <a:effectLst/>
            </a:endParaRPr>
          </a:p>
          <a:p>
            <a:pPr marL="0" indent="0">
              <a:buFontTx/>
              <a:buNone/>
            </a:pPr>
            <a:r>
              <a:rPr lang="ko-KR" altLang="en-US" b="0" dirty="0" smtClean="0">
                <a:effectLst/>
              </a:rPr>
              <a:t>위의 예시는 </a:t>
            </a:r>
            <a:r>
              <a:rPr lang="en-US" altLang="ko-KR" b="1" dirty="0" smtClean="0">
                <a:effectLst/>
              </a:rPr>
              <a:t>50</a:t>
            </a:r>
            <a:r>
              <a:rPr lang="ko-KR" altLang="en-US" b="1" dirty="0" smtClean="0">
                <a:effectLst/>
              </a:rPr>
              <a:t>개 </a:t>
            </a:r>
            <a:r>
              <a:rPr lang="en-US" altLang="ko-KR" b="1" dirty="0" smtClean="0">
                <a:effectLst/>
              </a:rPr>
              <a:t>Node </a:t>
            </a:r>
            <a:r>
              <a:rPr lang="ko-KR" altLang="en-US" b="1" dirty="0" smtClean="0">
                <a:effectLst/>
              </a:rPr>
              <a:t>이하인 경우</a:t>
            </a:r>
            <a:r>
              <a:rPr lang="ko-KR" altLang="en-US" b="0" dirty="0" smtClean="0">
                <a:effectLst/>
              </a:rPr>
              <a:t>이다</a:t>
            </a:r>
            <a:r>
              <a:rPr lang="en-US" altLang="ko-KR" b="0" dirty="0" smtClean="0">
                <a:effectLst/>
              </a:rPr>
              <a:t>.</a:t>
            </a:r>
          </a:p>
          <a:p>
            <a:pPr marL="0" indent="0">
              <a:buFontTx/>
              <a:buNone/>
            </a:pPr>
            <a:endParaRPr lang="en-US" altLang="ko-KR" b="0" dirty="0" smtClean="0">
              <a:effectLst/>
            </a:endParaRPr>
          </a:p>
          <a:p>
            <a:pPr marL="0" indent="0">
              <a:buFontTx/>
              <a:buNone/>
            </a:pPr>
            <a:r>
              <a:rPr lang="en-US" altLang="ko-KR" b="1" dirty="0" smtClean="0">
                <a:effectLst/>
              </a:rPr>
              <a:t>[Node</a:t>
            </a:r>
            <a:r>
              <a:rPr lang="ko-KR" altLang="en-US" b="1" dirty="0" smtClean="0">
                <a:effectLst/>
              </a:rPr>
              <a:t>가 </a:t>
            </a:r>
            <a:r>
              <a:rPr lang="en-US" altLang="ko-KR" b="1" dirty="0" smtClean="0">
                <a:effectLst/>
              </a:rPr>
              <a:t>50</a:t>
            </a:r>
            <a:r>
              <a:rPr lang="ko-KR" altLang="en-US" b="1" dirty="0" smtClean="0">
                <a:effectLst/>
              </a:rPr>
              <a:t>개 노드 이상</a:t>
            </a:r>
            <a:r>
              <a:rPr lang="ko-KR" altLang="en-US" b="0" dirty="0" smtClean="0">
                <a:effectLst/>
              </a:rPr>
              <a:t>인 경우</a:t>
            </a:r>
            <a:r>
              <a:rPr lang="en-US" altLang="ko-KR" b="1" dirty="0" smtClean="0">
                <a:effectLst/>
              </a:rPr>
              <a:t>]</a:t>
            </a:r>
          </a:p>
          <a:p>
            <a:pPr marL="228600" indent="-228600">
              <a:buFontTx/>
              <a:buAutoNum type="arabicPeriod"/>
            </a:pPr>
            <a:r>
              <a:rPr lang="en-US" altLang="ko-KR" dirty="0" err="1" smtClean="0"/>
              <a:t>wget</a:t>
            </a:r>
            <a:r>
              <a:rPr lang="en-US" altLang="ko-KR" dirty="0" smtClean="0"/>
              <a:t> https://raw.githubusercontent.com/projectcalico/calico/v3.25.0/manifests/calico-typha.yaml -o </a:t>
            </a:r>
            <a:r>
              <a:rPr lang="en-US" altLang="ko-KR" dirty="0" err="1" smtClean="0"/>
              <a:t>calico.yaml</a:t>
            </a:r>
            <a:r>
              <a:rPr lang="en-US" altLang="ko-KR" dirty="0" smtClean="0"/>
              <a:t> </a:t>
            </a:r>
          </a:p>
          <a:p>
            <a:pPr marL="228600" indent="-228600">
              <a:buFontTx/>
              <a:buAutoNum type="arabicPeriod"/>
            </a:pPr>
            <a:endParaRPr lang="en-US" altLang="ko-KR" dirty="0" smtClean="0"/>
          </a:p>
          <a:p>
            <a:pPr marL="228600" indent="-228600">
              <a:buFontTx/>
              <a:buAutoNum type="arabicPeriod"/>
            </a:pPr>
            <a:r>
              <a:rPr lang="en-US" altLang="ko-KR" dirty="0" err="1" smtClean="0"/>
              <a:t>Yaml</a:t>
            </a:r>
            <a:r>
              <a:rPr lang="ko-KR" altLang="en-US" dirty="0" smtClean="0"/>
              <a:t>내 설정 변경</a:t>
            </a:r>
            <a:endParaRPr lang="en-US" altLang="ko-KR" dirty="0" smtClean="0"/>
          </a:p>
          <a:p>
            <a:pPr marL="0" indent="0">
              <a:buFontTx/>
              <a:buNone/>
            </a:pPr>
            <a:r>
              <a:rPr lang="en-US" altLang="ko-KR" dirty="0" smtClean="0"/>
              <a:t>##</a:t>
            </a:r>
            <a:r>
              <a:rPr lang="en-US" altLang="ko-KR" b="1" dirty="0" smtClean="0">
                <a:effectLst/>
              </a:rPr>
              <a:t> replica count </a:t>
            </a:r>
            <a:r>
              <a:rPr lang="ko-KR" altLang="en-US" b="1" dirty="0" smtClean="0">
                <a:effectLst/>
              </a:rPr>
              <a:t>수정</a:t>
            </a:r>
            <a:r>
              <a:rPr lang="ko-KR" altLang="en-US" dirty="0" smtClean="0"/>
              <a:t> </a:t>
            </a:r>
            <a:r>
              <a:rPr lang="en-US" altLang="ko-KR" dirty="0" smtClean="0"/>
              <a:t>######### </a:t>
            </a:r>
          </a:p>
          <a:p>
            <a:pPr marL="0" indent="0">
              <a:buFontTx/>
              <a:buNone/>
            </a:pPr>
            <a:r>
              <a:rPr lang="en-US" altLang="ko-KR" dirty="0" err="1" smtClean="0"/>
              <a:t>apiVersion</a:t>
            </a:r>
            <a:r>
              <a:rPr lang="en-US" altLang="ko-KR" dirty="0" smtClean="0"/>
              <a:t>: apps/v1beta1 </a:t>
            </a:r>
          </a:p>
          <a:p>
            <a:pPr marL="0" indent="0">
              <a:buFontTx/>
              <a:buNone/>
            </a:pPr>
            <a:r>
              <a:rPr lang="en-US" altLang="ko-KR" dirty="0" smtClean="0"/>
              <a:t>kind: Deployment </a:t>
            </a:r>
          </a:p>
          <a:p>
            <a:pPr marL="0" indent="0">
              <a:buFontTx/>
              <a:buNone/>
            </a:pPr>
            <a:r>
              <a:rPr lang="en-US" altLang="ko-KR" dirty="0" smtClean="0"/>
              <a:t>metadata:</a:t>
            </a:r>
          </a:p>
          <a:p>
            <a:pPr marL="0" indent="0">
              <a:buFontTx/>
              <a:buNone/>
            </a:pPr>
            <a:r>
              <a:rPr lang="en-US" altLang="ko-KR" dirty="0" smtClean="0"/>
              <a:t> name: calico-</a:t>
            </a:r>
            <a:r>
              <a:rPr lang="en-US" altLang="ko-KR" dirty="0" err="1" smtClean="0"/>
              <a:t>typha</a:t>
            </a:r>
            <a:endParaRPr lang="en-US" altLang="ko-KR" dirty="0" smtClean="0"/>
          </a:p>
          <a:p>
            <a:pPr marL="0" indent="0">
              <a:buFontTx/>
              <a:buNone/>
            </a:pPr>
            <a:r>
              <a:rPr lang="en-US" altLang="ko-KR" dirty="0" smtClean="0"/>
              <a:t> ...</a:t>
            </a:r>
          </a:p>
          <a:p>
            <a:pPr marL="0" indent="0">
              <a:buFontTx/>
              <a:buNone/>
            </a:pPr>
            <a:r>
              <a:rPr lang="en-US" altLang="ko-KR" dirty="0" smtClean="0"/>
              <a:t> spec:</a:t>
            </a:r>
          </a:p>
          <a:p>
            <a:pPr marL="0" indent="0">
              <a:buFontTx/>
              <a:buNone/>
            </a:pPr>
            <a:r>
              <a:rPr lang="en-US" altLang="ko-KR" dirty="0" smtClean="0"/>
              <a:t> ...</a:t>
            </a:r>
          </a:p>
          <a:p>
            <a:pPr marL="0" indent="0">
              <a:buFontTx/>
              <a:buNone/>
            </a:pPr>
            <a:r>
              <a:rPr lang="en-US" altLang="ko-KR" dirty="0" smtClean="0"/>
              <a:t> replicas: &lt;number of replicas&gt;</a:t>
            </a:r>
          </a:p>
          <a:p>
            <a:pPr marL="0" indent="0">
              <a:buFontTx/>
              <a:buNone/>
            </a:pPr>
            <a:r>
              <a:rPr lang="en-US" altLang="ko-KR" dirty="0" smtClean="0"/>
              <a:t>###########################</a:t>
            </a:r>
          </a:p>
          <a:p>
            <a:pPr marL="0" indent="0">
              <a:buFontTx/>
              <a:buNone/>
            </a:pPr>
            <a:endParaRPr lang="en-US" altLang="ko-KR" dirty="0" smtClean="0"/>
          </a:p>
          <a:p>
            <a:pPr marL="0" indent="0">
              <a:buFontTx/>
              <a:buNone/>
            </a:pPr>
            <a:r>
              <a:rPr lang="en-US" altLang="ko-KR" b="0" dirty="0" smtClean="0">
                <a:effectLst/>
              </a:rPr>
              <a:t>## </a:t>
            </a:r>
            <a:r>
              <a:rPr lang="en-US" altLang="ko-KR" b="1" dirty="0" smtClean="0">
                <a:effectLst/>
              </a:rPr>
              <a:t>IP </a:t>
            </a:r>
            <a:r>
              <a:rPr lang="ko-KR" altLang="en-US" b="1" dirty="0" smtClean="0">
                <a:effectLst/>
              </a:rPr>
              <a:t>변경 </a:t>
            </a:r>
            <a:r>
              <a:rPr lang="en-US" altLang="ko-KR" b="1" dirty="0" smtClean="0">
                <a:effectLst/>
              </a:rPr>
              <a:t>- </a:t>
            </a:r>
            <a:r>
              <a:rPr lang="en-US" altLang="ko-KR" b="1" dirty="0" err="1" smtClean="0">
                <a:effectLst/>
              </a:rPr>
              <a:t>cidr</a:t>
            </a:r>
            <a:r>
              <a:rPr lang="en-US" altLang="ko-KR" b="1" dirty="0" smtClean="0">
                <a:effectLst/>
              </a:rPr>
              <a:t> </a:t>
            </a:r>
            <a:r>
              <a:rPr lang="ko-KR" altLang="en-US" b="1" dirty="0" smtClean="0">
                <a:effectLst/>
              </a:rPr>
              <a:t>값이 다른 경우</a:t>
            </a:r>
            <a:r>
              <a:rPr lang="en-US" altLang="ko-KR" b="1" dirty="0" smtClean="0">
                <a:effectLst/>
              </a:rPr>
              <a:t>##</a:t>
            </a:r>
          </a:p>
          <a:p>
            <a:r>
              <a:rPr lang="en-US" altLang="ko-KR" sz="1200" dirty="0" smtClean="0"/>
              <a:t> </a:t>
            </a:r>
            <a:r>
              <a:rPr lang="en-US" altLang="ko-KR" sz="1200" dirty="0" smtClean="0">
                <a:solidFill>
                  <a:srgbClr val="FF0000"/>
                </a:solidFill>
              </a:rPr>
              <a:t># - name: CALICO_IPV4POOL_CIDR    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# 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주석 제거 후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, IP 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변경</a:t>
            </a:r>
            <a:endParaRPr lang="en-US" altLang="ko-KR" sz="1200" b="1" dirty="0" smtClean="0">
              <a:solidFill>
                <a:srgbClr val="FF0000"/>
              </a:solidFill>
            </a:endParaRPr>
          </a:p>
          <a:p>
            <a:r>
              <a:rPr lang="en-US" altLang="ko-KR" sz="1200" dirty="0" smtClean="0">
                <a:solidFill>
                  <a:srgbClr val="FF0000"/>
                </a:solidFill>
              </a:rPr>
              <a:t> #   value: "192.168.0.0/16“</a:t>
            </a:r>
          </a:p>
          <a:p>
            <a:r>
              <a:rPr lang="en-US" altLang="ko-KR" sz="1200" dirty="0" smtClean="0">
                <a:solidFill>
                  <a:srgbClr val="FF0000"/>
                </a:solidFill>
              </a:rPr>
              <a:t>###########################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0213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14837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 smtClean="0"/>
              <a:t>[</a:t>
            </a:r>
            <a:r>
              <a:rPr lang="en-US" altLang="ko-KR" b="1" dirty="0" err="1" smtClean="0"/>
              <a:t>MetalLB</a:t>
            </a:r>
            <a:r>
              <a:rPr lang="en-US" altLang="ko-KR" b="1" dirty="0" smtClean="0"/>
              <a:t>]</a:t>
            </a:r>
          </a:p>
          <a:p>
            <a:r>
              <a:rPr lang="ko-KR" altLang="en-US" dirty="0" smtClean="0"/>
              <a:t> </a:t>
            </a:r>
            <a:r>
              <a:rPr lang="en-US" altLang="ko-KR" dirty="0" smtClean="0"/>
              <a:t>Kubernetes </a:t>
            </a:r>
            <a:r>
              <a:rPr lang="ko-KR" altLang="en-US" dirty="0" smtClean="0"/>
              <a:t>환경에서 </a:t>
            </a:r>
            <a:r>
              <a:rPr lang="en-US" altLang="ko-KR" b="1" dirty="0" err="1" smtClean="0"/>
              <a:t>LoadBalancer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서비스</a:t>
            </a:r>
            <a:r>
              <a:rPr lang="ko-KR" altLang="en-US" dirty="0" smtClean="0"/>
              <a:t>를 사용할 수 있도록 해주는 </a:t>
            </a:r>
            <a:r>
              <a:rPr lang="ko-KR" altLang="en-US" b="1" dirty="0" smtClean="0"/>
              <a:t>네트워크 로드 </a:t>
            </a:r>
            <a:r>
              <a:rPr lang="ko-KR" altLang="en-US" b="1" dirty="0" err="1" smtClean="0"/>
              <a:t>밸런서</a:t>
            </a:r>
            <a:r>
              <a:rPr lang="ko-KR" altLang="en-US" b="1" dirty="0" smtClean="0"/>
              <a:t> 구현체</a:t>
            </a:r>
            <a:endParaRPr lang="en-US" altLang="ko-KR" b="1" dirty="0" smtClean="0">
              <a:effectLst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6170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9351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 txBox="1">
            <a:spLocks/>
          </p:cNvSpPr>
          <p:nvPr userDrawn="1"/>
        </p:nvSpPr>
        <p:spPr>
          <a:xfrm>
            <a:off x="11560552" y="6504396"/>
            <a:ext cx="490526" cy="233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84189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6271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218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9321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10775568" y="6262414"/>
            <a:ext cx="959232" cy="595586"/>
          </a:xfrm>
          <a:prstGeom prst="rect">
            <a:avLst/>
          </a:prstGeom>
        </p:spPr>
        <p:txBody>
          <a:bodyPr vert="horz" lIns="91447" tIns="45725" rIns="91447" bIns="45725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50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50" charset="-127"/>
              </a:rPr>
              <a:pPr marL="0" marR="0" lvl="0" indent="0" algn="r" defTabSz="91450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5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object 8"/>
          <p:cNvSpPr/>
          <p:nvPr userDrawn="1"/>
        </p:nvSpPr>
        <p:spPr>
          <a:xfrm>
            <a:off x="580644" y="6318503"/>
            <a:ext cx="11057890" cy="0"/>
          </a:xfrm>
          <a:custGeom>
            <a:avLst/>
            <a:gdLst/>
            <a:ahLst/>
            <a:cxnLst/>
            <a:rect l="l" t="t" r="r" b="b"/>
            <a:pathLst>
              <a:path w="11057890">
                <a:moveTo>
                  <a:pt x="0" y="0"/>
                </a:moveTo>
                <a:lnTo>
                  <a:pt x="11057509" y="0"/>
                </a:lnTo>
              </a:path>
            </a:pathLst>
          </a:custGeom>
          <a:ln w="6350">
            <a:solidFill>
              <a:srgbClr val="DBDB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직사각형 12"/>
          <p:cNvSpPr/>
          <p:nvPr userDrawn="1"/>
        </p:nvSpPr>
        <p:spPr>
          <a:xfrm>
            <a:off x="491124" y="6428173"/>
            <a:ext cx="24721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Copyrightⓒ </a:t>
            </a:r>
            <a:r>
              <a:rPr lang="en-US" altLang="ko-KR" sz="800" dirty="0" smtClean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2025 </a:t>
            </a:r>
            <a:r>
              <a:rPr lang="en-US" altLang="ko-KR" sz="800" dirty="0" err="1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TmaxSoft</a:t>
            </a:r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  All Rights Reserved.</a:t>
            </a:r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1317" y="338424"/>
            <a:ext cx="1157417" cy="11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568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393CA-1A98-4091-B4F8-8CF82E62BE0C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F8EB2-BEDB-4375-BAD0-E61FA200F7A6}" type="datetimeFigureOut">
              <a:rPr lang="ko-KR" altLang="en-US" smtClean="0"/>
              <a:pPr/>
              <a:t>2025-03-07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646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48855" y="4346799"/>
            <a:ext cx="2670034" cy="58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lang="en-US" altLang="ko-KR" sz="1400" b="1" dirty="0" smtClean="0">
                <a:ln w="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rgbClr val="95BCF0"/>
                </a:solidFill>
                <a:latin typeface="+mj-lt"/>
                <a:ea typeface="맑은 고딕" panose="020B0503020000020004" pitchFamily="50" charset="-127"/>
                <a:cs typeface="뉴티맥스고딕 CJK"/>
              </a:rPr>
              <a:t>2025.02.25.</a:t>
            </a:r>
          </a:p>
          <a:p>
            <a:pPr>
              <a:spcBef>
                <a:spcPts val="500"/>
              </a:spcBef>
            </a:pPr>
            <a:r>
              <a:rPr lang="ko-KR" altLang="en-US" sz="1400" b="1" dirty="0" smtClean="0">
                <a:ln w="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rgbClr val="95BCF0"/>
                </a:solidFill>
                <a:latin typeface="+mj-lt"/>
                <a:ea typeface="맑은 고딕" panose="020B0503020000020004" pitchFamily="50" charset="-127"/>
                <a:cs typeface="뉴티맥스고딕 CJK"/>
              </a:rPr>
              <a:t>조성환</a:t>
            </a:r>
            <a:endParaRPr lang="en-US" altLang="ko-KR" sz="1400" b="1" dirty="0">
              <a:ln w="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solidFill>
                <a:srgbClr val="95BCF0"/>
              </a:solidFill>
              <a:latin typeface="+mj-lt"/>
              <a:ea typeface="맑은 고딕" panose="020B0503020000020004" pitchFamily="50" charset="-127"/>
              <a:cs typeface="뉴티맥스고딕 CJK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8855" y="6328660"/>
            <a:ext cx="31967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Copyrightⓒ </a:t>
            </a:r>
            <a:r>
              <a:rPr lang="en-US" altLang="ko-KR" sz="1000" b="1" dirty="0" smtClean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 </a:t>
            </a:r>
            <a:r>
              <a:rPr lang="en-US" altLang="ko-KR" sz="1000" b="1" dirty="0" err="1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TmaxSoft</a:t>
            </a:r>
            <a:r>
              <a:rPr lang="en-US" altLang="ko-KR" sz="1000" b="1" dirty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All Rights Reserved.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24571" y="6201983"/>
            <a:ext cx="2086430" cy="431891"/>
          </a:xfrm>
          <a:prstGeom prst="rect">
            <a:avLst/>
          </a:prstGeom>
        </p:spPr>
      </p:pic>
      <p:sp>
        <p:nvSpPr>
          <p:cNvPr id="8" name="object 27"/>
          <p:cNvSpPr txBox="1">
            <a:spLocks/>
          </p:cNvSpPr>
          <p:nvPr/>
        </p:nvSpPr>
        <p:spPr>
          <a:xfrm>
            <a:off x="848855" y="1420448"/>
            <a:ext cx="9171445" cy="1876797"/>
          </a:xfrm>
          <a:prstGeom prst="rect">
            <a:avLst/>
          </a:prstGeom>
        </p:spPr>
        <p:txBody>
          <a:bodyPr vert="horz" wrap="square" lIns="0" tIns="17146" rIns="0" bIns="0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>
              <a:lnSpc>
                <a:spcPct val="100000"/>
              </a:lnSpc>
              <a:spcBef>
                <a:spcPts val="135"/>
              </a:spcBef>
            </a:pPr>
            <a:r>
              <a:rPr lang="en-US" sz="6000" b="1" dirty="0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Kubernetes</a:t>
            </a:r>
          </a:p>
          <a:p>
            <a:pPr marL="12701">
              <a:lnSpc>
                <a:spcPct val="100000"/>
              </a:lnSpc>
              <a:spcBef>
                <a:spcPts val="135"/>
              </a:spcBef>
            </a:pPr>
            <a:r>
              <a:rPr lang="en-US" sz="6000" b="1" dirty="0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Network </a:t>
            </a:r>
            <a:endParaRPr lang="en-US" sz="6000" b="1" dirty="0">
              <a:solidFill>
                <a:srgbClr val="95BCF0"/>
              </a:solidFill>
              <a:latin typeface="Univers LT Std 85 XBlk" panose="020B0904040702020204" pitchFamily="34" charset="0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244652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87950" y="3105835"/>
            <a:ext cx="6088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1. </a:t>
            </a:r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Calico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1447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Calico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1200" y="693238"/>
            <a:ext cx="109143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‘Calico’ </a:t>
            </a:r>
            <a:r>
              <a:rPr lang="en-US" altLang="ko-KR" sz="1400" dirty="0" err="1" smtClean="0"/>
              <a:t>Y</a:t>
            </a:r>
            <a:r>
              <a:rPr lang="en-US" altLang="ko-KR" sz="1400" dirty="0" err="1" smtClean="0"/>
              <a:t>aml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다운로드</a:t>
            </a:r>
            <a:endParaRPr lang="en-US" altLang="ko-KR" sz="1200" dirty="0"/>
          </a:p>
        </p:txBody>
      </p:sp>
      <p:sp>
        <p:nvSpPr>
          <p:cNvPr id="21" name="TextBox 3"/>
          <p:cNvSpPr txBox="1"/>
          <p:nvPr/>
        </p:nvSpPr>
        <p:spPr>
          <a:xfrm>
            <a:off x="774594" y="1024108"/>
            <a:ext cx="10793520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wget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https://</a:t>
            </a:r>
            <a:r>
              <a:rPr lang="en-US" altLang="ko-KR" sz="1200" dirty="0" smtClean="0">
                <a:solidFill>
                  <a:schemeClr val="bg1"/>
                </a:solidFill>
              </a:rPr>
              <a:t>raw.githubusercontent.com/projectcalico/calico/v3.25.0/manifests/calico.yaml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…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  </a:t>
            </a:r>
            <a:r>
              <a:rPr lang="en-US" altLang="ko-KR" sz="1200" dirty="0" smtClean="0">
                <a:solidFill>
                  <a:schemeClr val="bg1"/>
                </a:solidFill>
              </a:rPr>
              <a:t>2025-02-24 </a:t>
            </a:r>
            <a:r>
              <a:rPr lang="en-US" altLang="ko-KR" sz="1200" dirty="0">
                <a:solidFill>
                  <a:schemeClr val="bg1"/>
                </a:solidFill>
              </a:rPr>
              <a:t>01:10:01 (36.4 MB/s) - ‘</a:t>
            </a:r>
            <a:r>
              <a:rPr lang="en-US" altLang="ko-KR" sz="1200" dirty="0" err="1">
                <a:solidFill>
                  <a:schemeClr val="bg1"/>
                </a:solidFill>
              </a:rPr>
              <a:t>calico.yaml</a:t>
            </a:r>
            <a:r>
              <a:rPr lang="en-US" altLang="ko-KR" sz="1200" dirty="0">
                <a:solidFill>
                  <a:schemeClr val="bg1"/>
                </a:solidFill>
              </a:rPr>
              <a:t>’ saved [238089/238089</a:t>
            </a:r>
            <a:r>
              <a:rPr lang="en-US" altLang="ko-KR" sz="1200" dirty="0" smtClean="0">
                <a:solidFill>
                  <a:schemeClr val="bg1"/>
                </a:solidFill>
              </a:rPr>
              <a:t>]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03580" y="1736002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‘Calico’ </a:t>
            </a:r>
            <a:r>
              <a:rPr lang="en-US" altLang="ko-KR" sz="1400" dirty="0" err="1" smtClean="0"/>
              <a:t>Yaml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설정 </a:t>
            </a:r>
            <a:r>
              <a:rPr lang="en-US" altLang="ko-KR" sz="1400" dirty="0" smtClean="0"/>
              <a:t>– </a:t>
            </a:r>
            <a:r>
              <a:rPr lang="en-US" altLang="ko-KR" sz="1400" dirty="0" err="1" smtClean="0"/>
              <a:t>cidr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값에 따라</a:t>
            </a:r>
            <a:r>
              <a:rPr lang="en-US" altLang="ko-KR" sz="1400" dirty="0" smtClean="0"/>
              <a:t>, IP </a:t>
            </a:r>
            <a:r>
              <a:rPr lang="ko-KR" altLang="en-US" sz="1400" dirty="0" smtClean="0"/>
              <a:t>설정 변경</a:t>
            </a:r>
            <a:endParaRPr lang="en-US" altLang="ko-KR" sz="1200" dirty="0"/>
          </a:p>
        </p:txBody>
      </p:sp>
      <p:sp>
        <p:nvSpPr>
          <p:cNvPr id="32" name="TextBox 31"/>
          <p:cNvSpPr txBox="1"/>
          <p:nvPr/>
        </p:nvSpPr>
        <p:spPr>
          <a:xfrm>
            <a:off x="703580" y="3244067"/>
            <a:ext cx="109296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Yaml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적용</a:t>
            </a:r>
            <a:endParaRPr lang="en-US" altLang="ko-KR" sz="1200" dirty="0"/>
          </a:p>
        </p:txBody>
      </p:sp>
      <p:sp>
        <p:nvSpPr>
          <p:cNvPr id="33" name="TextBox 3"/>
          <p:cNvSpPr txBox="1"/>
          <p:nvPr/>
        </p:nvSpPr>
        <p:spPr>
          <a:xfrm>
            <a:off x="753029" y="3574937"/>
            <a:ext cx="1083834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apply -f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calico.yaml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774593" y="2067779"/>
            <a:ext cx="5363559" cy="1107996"/>
            <a:chOff x="783079" y="1349279"/>
            <a:chExt cx="5363559" cy="1107996"/>
          </a:xfrm>
        </p:grpSpPr>
        <p:sp>
          <p:nvSpPr>
            <p:cNvPr id="15" name="TextBox 3"/>
            <p:cNvSpPr txBox="1"/>
            <p:nvPr/>
          </p:nvSpPr>
          <p:spPr>
            <a:xfrm>
              <a:off x="783079" y="1626278"/>
              <a:ext cx="5363559" cy="830997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 smtClean="0"/>
                <a:t>…</a:t>
              </a:r>
            </a:p>
            <a:p>
              <a:r>
                <a:rPr lang="en-US" altLang="ko-KR" sz="1200" dirty="0" smtClean="0"/>
                <a:t>    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#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 name: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CALICO_IPV4POOL_CIDR   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# 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주석 제거 후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, IP 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변경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#   </a:t>
              </a:r>
              <a:r>
                <a:rPr lang="en-US" altLang="ko-KR" sz="1200" dirty="0">
                  <a:solidFill>
                    <a:srgbClr val="FF0000"/>
                  </a:solidFill>
                </a:rPr>
                <a:t>value: "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192.168.0.0/16“</a:t>
              </a:r>
              <a:endParaRPr lang="en-US" altLang="ko-KR" sz="1200" b="1" dirty="0" smtClean="0">
                <a:solidFill>
                  <a:srgbClr val="FF0000"/>
                </a:solidFill>
              </a:endParaRPr>
            </a:p>
            <a:p>
              <a:r>
                <a:rPr lang="en-US" altLang="ko-KR" sz="1200" b="1" dirty="0" smtClean="0"/>
                <a:t>…</a:t>
              </a:r>
              <a:r>
                <a:rPr lang="en-US" altLang="ko-KR" sz="1200" dirty="0" smtClean="0"/>
                <a:t> (</a:t>
              </a:r>
              <a:r>
                <a:rPr lang="ko-KR" altLang="en-US" sz="1200" dirty="0" smtClean="0"/>
                <a:t>생략</a:t>
              </a:r>
              <a:r>
                <a:rPr lang="en-US" altLang="ko-KR" sz="1200" dirty="0" smtClean="0"/>
                <a:t>)</a:t>
              </a:r>
              <a:endParaRPr lang="en-US" altLang="ko-KR" sz="1200" dirty="0"/>
            </a:p>
          </p:txBody>
        </p:sp>
        <p:sp>
          <p:nvSpPr>
            <p:cNvPr id="17" name="TextBox 3"/>
            <p:cNvSpPr txBox="1"/>
            <p:nvPr/>
          </p:nvSpPr>
          <p:spPr>
            <a:xfrm>
              <a:off x="783079" y="1349279"/>
              <a:ext cx="2445745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 err="1">
                  <a:solidFill>
                    <a:sysClr val="windowText" lastClr="000000"/>
                  </a:solidFill>
                </a:rPr>
                <a:t>c</a:t>
              </a:r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alico.yaml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704850" y="3931761"/>
            <a:ext cx="10962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Calico </a:t>
            </a:r>
            <a:r>
              <a:rPr lang="ko-KR" altLang="en-US" sz="1400" dirty="0" smtClean="0"/>
              <a:t>상태 확인</a:t>
            </a:r>
            <a:endParaRPr lang="en-US" altLang="ko-KR" sz="1200" dirty="0"/>
          </a:p>
        </p:txBody>
      </p:sp>
      <p:sp>
        <p:nvSpPr>
          <p:cNvPr id="19" name="TextBox 3"/>
          <p:cNvSpPr txBox="1"/>
          <p:nvPr/>
        </p:nvSpPr>
        <p:spPr>
          <a:xfrm>
            <a:off x="777714" y="4262631"/>
            <a:ext cx="10790399" cy="10156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get </a:t>
            </a:r>
            <a:r>
              <a:rPr lang="en-US" altLang="ko-KR" sz="1200" dirty="0" err="1">
                <a:solidFill>
                  <a:schemeClr val="bg1"/>
                </a:solidFill>
              </a:rPr>
              <a:t>po</a:t>
            </a:r>
            <a:r>
              <a:rPr lang="en-US" altLang="ko-KR" sz="1200" dirty="0">
                <a:solidFill>
                  <a:schemeClr val="bg1"/>
                </a:solidFill>
              </a:rPr>
              <a:t> -n </a:t>
            </a:r>
            <a:r>
              <a:rPr lang="en-US" altLang="ko-KR" sz="1200" dirty="0" err="1">
                <a:solidFill>
                  <a:schemeClr val="bg1"/>
                </a:solidFill>
              </a:rPr>
              <a:t>kube</a:t>
            </a:r>
            <a:r>
              <a:rPr lang="en-US" altLang="ko-KR" sz="1200" dirty="0">
                <a:solidFill>
                  <a:schemeClr val="bg1"/>
                </a:solidFill>
              </a:rPr>
              <a:t>-system | </a:t>
            </a:r>
            <a:r>
              <a:rPr lang="en-US" altLang="ko-KR" sz="1200" dirty="0" err="1">
                <a:solidFill>
                  <a:schemeClr val="bg1"/>
                </a:solidFill>
              </a:rPr>
              <a:t>grep</a:t>
            </a:r>
            <a:r>
              <a:rPr lang="en-US" altLang="ko-KR" sz="1200" dirty="0">
                <a:solidFill>
                  <a:schemeClr val="bg1"/>
                </a:solidFill>
              </a:rPr>
              <a:t> calico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calico-kube-controllers-7498b9bb4c-frws9   </a:t>
            </a:r>
            <a:r>
              <a:rPr lang="en-US" altLang="ko-KR" sz="1200" dirty="0">
                <a:solidFill>
                  <a:schemeClr val="bg1"/>
                </a:solidFill>
              </a:rPr>
              <a:t>1/1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>
                <a:solidFill>
                  <a:schemeClr val="bg1"/>
                </a:solidFill>
              </a:rPr>
              <a:t>Running  </a:t>
            </a:r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>
                <a:solidFill>
                  <a:schemeClr val="bg1"/>
                </a:solidFill>
              </a:rPr>
              <a:t>34 (8d ago) </a:t>
            </a:r>
            <a:r>
              <a:rPr lang="en-US" altLang="ko-KR" sz="1200" dirty="0" smtClean="0">
                <a:solidFill>
                  <a:schemeClr val="bg1"/>
                </a:solidFill>
              </a:rPr>
              <a:t>   29d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calico-node-4p22p                                 </a:t>
            </a:r>
            <a:r>
              <a:rPr lang="en-US" altLang="ko-KR" sz="1200" dirty="0">
                <a:solidFill>
                  <a:schemeClr val="bg1"/>
                </a:solidFill>
              </a:rPr>
              <a:t>1/1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dirty="0">
                <a:solidFill>
                  <a:schemeClr val="bg1"/>
                </a:solidFill>
              </a:rPr>
              <a:t>Running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0                 </a:t>
            </a:r>
            <a:r>
              <a:rPr lang="en-US" altLang="ko-KR" sz="1200" dirty="0">
                <a:solidFill>
                  <a:schemeClr val="bg1"/>
                </a:solidFill>
              </a:rPr>
              <a:t>29d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calico-node-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dsqjj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                           1/1      </a:t>
            </a:r>
            <a:r>
              <a:rPr lang="en-US" altLang="ko-KR" sz="1200" dirty="0">
                <a:solidFill>
                  <a:schemeClr val="bg1"/>
                </a:solidFill>
              </a:rPr>
              <a:t>Running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0                 29d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calico-node-lrr7v                                    </a:t>
            </a:r>
            <a:r>
              <a:rPr lang="en-US" altLang="ko-KR" sz="1200" dirty="0">
                <a:solidFill>
                  <a:schemeClr val="bg1"/>
                </a:solidFill>
              </a:rPr>
              <a:t>1/1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>
                <a:solidFill>
                  <a:schemeClr val="bg1"/>
                </a:solidFill>
              </a:rPr>
              <a:t>Running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0                 29d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2519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87950" y="3105835"/>
            <a:ext cx="6088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2</a:t>
            </a:r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. </a:t>
            </a:r>
            <a:r>
              <a:rPr lang="en-US" altLang="ko-KR" sz="3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Metal</a:t>
            </a:r>
            <a:r>
              <a:rPr lang="en-US" altLang="ko-KR" sz="3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LB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6174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MetalLB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3580" y="1017088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/>
              <a:t>Kubernetes Cluster strict ARP mode </a:t>
            </a:r>
            <a:r>
              <a:rPr lang="ko-KR" altLang="en-US" sz="1400" dirty="0"/>
              <a:t>활성화</a:t>
            </a:r>
            <a:endParaRPr lang="en-US" altLang="ko-KR" sz="1200" dirty="0"/>
          </a:p>
        </p:txBody>
      </p:sp>
      <p:sp>
        <p:nvSpPr>
          <p:cNvPr id="21" name="TextBox 3"/>
          <p:cNvSpPr txBox="1"/>
          <p:nvPr/>
        </p:nvSpPr>
        <p:spPr>
          <a:xfrm>
            <a:off x="774593" y="1347958"/>
            <a:ext cx="10838341" cy="156966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edit </a:t>
            </a:r>
            <a:r>
              <a:rPr lang="en-US" altLang="ko-KR" sz="1200" dirty="0" err="1">
                <a:solidFill>
                  <a:schemeClr val="bg1"/>
                </a:solidFill>
              </a:rPr>
              <a:t>configmap</a:t>
            </a:r>
            <a:r>
              <a:rPr lang="en-US" altLang="ko-KR" sz="1200" dirty="0">
                <a:solidFill>
                  <a:schemeClr val="bg1"/>
                </a:solidFill>
              </a:rPr>
              <a:t> -n </a:t>
            </a:r>
            <a:r>
              <a:rPr lang="en-US" altLang="ko-KR" sz="1200" dirty="0" err="1">
                <a:solidFill>
                  <a:schemeClr val="bg1"/>
                </a:solidFill>
              </a:rPr>
              <a:t>kube</a:t>
            </a:r>
            <a:r>
              <a:rPr lang="en-US" altLang="ko-KR" sz="1200" dirty="0">
                <a:solidFill>
                  <a:schemeClr val="bg1"/>
                </a:solidFill>
              </a:rPr>
              <a:t>-system </a:t>
            </a:r>
            <a:r>
              <a:rPr lang="en-US" altLang="ko-KR" sz="1200" dirty="0" err="1">
                <a:solidFill>
                  <a:schemeClr val="bg1"/>
                </a:solidFill>
              </a:rPr>
              <a:t>kube</a:t>
            </a:r>
            <a:r>
              <a:rPr lang="en-US" altLang="ko-KR" sz="1200" dirty="0">
                <a:solidFill>
                  <a:schemeClr val="bg1"/>
                </a:solidFill>
              </a:rPr>
              <a:t>-proxy 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 …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ipvs</a:t>
            </a:r>
            <a:r>
              <a:rPr lang="en-US" altLang="ko-KR" sz="1200" dirty="0">
                <a:solidFill>
                  <a:schemeClr val="bg1"/>
                </a:solidFill>
              </a:rPr>
              <a:t>: 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excludeCIDRs</a:t>
            </a:r>
            <a:r>
              <a:rPr lang="en-US" altLang="ko-KR" sz="1200" dirty="0">
                <a:solidFill>
                  <a:schemeClr val="bg1"/>
                </a:solidFill>
              </a:rPr>
              <a:t>: null 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minSyncPeriod</a:t>
            </a:r>
            <a:r>
              <a:rPr lang="en-US" altLang="ko-KR" sz="1200" dirty="0">
                <a:solidFill>
                  <a:schemeClr val="bg1"/>
                </a:solidFill>
              </a:rPr>
              <a:t>: 0s 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scheduler</a:t>
            </a:r>
            <a:r>
              <a:rPr lang="en-US" altLang="ko-KR" sz="1200" dirty="0">
                <a:solidFill>
                  <a:schemeClr val="bg1"/>
                </a:solidFill>
              </a:rPr>
              <a:t>: "" 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dirty="0" err="1" smtClean="0">
                <a:solidFill>
                  <a:srgbClr val="FF0000"/>
                </a:solidFill>
              </a:rPr>
              <a:t>strictARP</a:t>
            </a:r>
            <a:r>
              <a:rPr lang="en-US" altLang="ko-KR" sz="1200" dirty="0">
                <a:solidFill>
                  <a:srgbClr val="FF0000"/>
                </a:solidFill>
              </a:rPr>
              <a:t>: </a:t>
            </a:r>
            <a:r>
              <a:rPr lang="en-US" altLang="ko-KR" sz="1200" dirty="0" smtClean="0">
                <a:solidFill>
                  <a:srgbClr val="FF0000"/>
                </a:solidFill>
              </a:rPr>
              <a:t>true	</a:t>
            </a:r>
            <a:r>
              <a:rPr lang="en-US" altLang="ko-KR" sz="1200" dirty="0" smtClean="0">
                <a:solidFill>
                  <a:schemeClr val="bg1"/>
                </a:solidFill>
              </a:rPr>
              <a:t># </a:t>
            </a:r>
            <a:r>
              <a:rPr lang="ko-KR" altLang="en-US" sz="1200" dirty="0" smtClean="0">
                <a:solidFill>
                  <a:schemeClr val="bg1"/>
                </a:solidFill>
              </a:rPr>
              <a:t>설정 변경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…</a:t>
            </a:r>
            <a:r>
              <a:rPr lang="en-US" altLang="ko-KR" sz="1200" dirty="0" smtClean="0">
                <a:solidFill>
                  <a:schemeClr val="bg1"/>
                </a:solidFill>
              </a:rPr>
              <a:t> (</a:t>
            </a:r>
            <a:r>
              <a:rPr lang="ko-KR" altLang="en-US" sz="1200" dirty="0" smtClean="0">
                <a:solidFill>
                  <a:schemeClr val="bg1"/>
                </a:solidFill>
              </a:rPr>
              <a:t>생략</a:t>
            </a:r>
            <a:r>
              <a:rPr lang="en-US" altLang="ko-KR" sz="1200" dirty="0" smtClean="0">
                <a:solidFill>
                  <a:schemeClr val="bg1"/>
                </a:solidFill>
              </a:rPr>
              <a:t>)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03580" y="2977367"/>
            <a:ext cx="109296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‘</a:t>
            </a:r>
            <a:r>
              <a:rPr lang="en-US" altLang="ko-KR" sz="1400" dirty="0" err="1" smtClean="0"/>
              <a:t>MetalLB</a:t>
            </a:r>
            <a:r>
              <a:rPr lang="en-US" altLang="ko-KR" sz="1400" dirty="0" smtClean="0"/>
              <a:t>’ </a:t>
            </a:r>
            <a:r>
              <a:rPr lang="en-US" altLang="ko-KR" sz="1400" dirty="0" err="1"/>
              <a:t>Yaml</a:t>
            </a:r>
            <a:r>
              <a:rPr lang="en-US" altLang="ko-KR" sz="1400" dirty="0"/>
              <a:t> </a:t>
            </a:r>
            <a:r>
              <a:rPr lang="ko-KR" altLang="en-US" sz="1400" dirty="0"/>
              <a:t>다운로드</a:t>
            </a:r>
            <a:endParaRPr lang="en-US" altLang="ko-KR" sz="1200" dirty="0"/>
          </a:p>
        </p:txBody>
      </p:sp>
      <p:sp>
        <p:nvSpPr>
          <p:cNvPr id="33" name="TextBox 3"/>
          <p:cNvSpPr txBox="1"/>
          <p:nvPr/>
        </p:nvSpPr>
        <p:spPr>
          <a:xfrm>
            <a:off x="753029" y="3308237"/>
            <a:ext cx="10838341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wget</a:t>
            </a:r>
            <a:r>
              <a:rPr lang="en-US" altLang="ko-KR" sz="1200" dirty="0">
                <a:solidFill>
                  <a:schemeClr val="bg1"/>
                </a:solidFill>
              </a:rPr>
              <a:t> https://</a:t>
            </a:r>
            <a:r>
              <a:rPr lang="en-US" altLang="ko-KR" sz="1200" dirty="0" smtClean="0">
                <a:solidFill>
                  <a:schemeClr val="bg1"/>
                </a:solidFill>
              </a:rPr>
              <a:t>raw.githubusercontent.com/metallb/metallb/v0.13.7/config/manifests/metallb-native.yaml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 …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</a:t>
            </a:r>
            <a:r>
              <a:rPr lang="en-US" altLang="ko-KR" sz="1200" dirty="0" smtClean="0">
                <a:solidFill>
                  <a:schemeClr val="bg1"/>
                </a:solidFill>
              </a:rPr>
              <a:t>2025-02-24 </a:t>
            </a:r>
            <a:r>
              <a:rPr lang="en-US" altLang="ko-KR" sz="1200" dirty="0">
                <a:solidFill>
                  <a:schemeClr val="bg1"/>
                </a:solidFill>
              </a:rPr>
              <a:t>01:10:21 (25.3 MB/s) - ‘</a:t>
            </a:r>
            <a:r>
              <a:rPr lang="en-US" altLang="ko-KR" sz="1200" dirty="0" err="1">
                <a:solidFill>
                  <a:schemeClr val="bg1"/>
                </a:solidFill>
              </a:rPr>
              <a:t>metallb-native.yaml</a:t>
            </a:r>
            <a:r>
              <a:rPr lang="en-US" altLang="ko-KR" sz="1200" dirty="0">
                <a:solidFill>
                  <a:schemeClr val="bg1"/>
                </a:solidFill>
              </a:rPr>
              <a:t>’ saved [67376/67376</a:t>
            </a:r>
            <a:r>
              <a:rPr lang="en-US" altLang="ko-KR" sz="1200" dirty="0" smtClean="0">
                <a:solidFill>
                  <a:schemeClr val="bg1"/>
                </a:solidFill>
              </a:rPr>
              <a:t>]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4188" y="700071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Master Node</a:t>
            </a:r>
            <a:r>
              <a:rPr lang="ko-KR" altLang="en-US" sz="1400" dirty="0" smtClean="0"/>
              <a:t>에만 설치한다</a:t>
            </a:r>
            <a:r>
              <a:rPr lang="en-US" altLang="ko-KR" sz="1400" dirty="0" smtClean="0"/>
              <a:t>.</a:t>
            </a:r>
            <a:endParaRPr lang="en-US" altLang="ko-KR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703580" y="4025117"/>
            <a:ext cx="109296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Yaml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적용</a:t>
            </a:r>
            <a:endParaRPr lang="en-US" altLang="ko-KR" sz="1200" dirty="0"/>
          </a:p>
        </p:txBody>
      </p:sp>
      <p:sp>
        <p:nvSpPr>
          <p:cNvPr id="13" name="TextBox 3"/>
          <p:cNvSpPr txBox="1"/>
          <p:nvPr/>
        </p:nvSpPr>
        <p:spPr>
          <a:xfrm>
            <a:off x="753029" y="4355987"/>
            <a:ext cx="1083834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apply -f </a:t>
            </a:r>
            <a:r>
              <a:rPr lang="en-US" altLang="ko-KR" sz="1200" dirty="0" err="1">
                <a:solidFill>
                  <a:schemeClr val="bg1"/>
                </a:solidFill>
              </a:rPr>
              <a:t>metallb-native.yaml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3580" y="4712811"/>
            <a:ext cx="109543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MetalLB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상태 확인</a:t>
            </a:r>
            <a:endParaRPr lang="en-US" altLang="ko-KR" sz="1200" dirty="0"/>
          </a:p>
        </p:txBody>
      </p:sp>
      <p:sp>
        <p:nvSpPr>
          <p:cNvPr id="18" name="TextBox 3"/>
          <p:cNvSpPr txBox="1"/>
          <p:nvPr/>
        </p:nvSpPr>
        <p:spPr>
          <a:xfrm>
            <a:off x="777714" y="5043681"/>
            <a:ext cx="10790399" cy="120032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get -n </a:t>
            </a:r>
            <a:r>
              <a:rPr lang="en-US" altLang="ko-KR" sz="1200" dirty="0" err="1">
                <a:solidFill>
                  <a:schemeClr val="bg1"/>
                </a:solidFill>
              </a:rPr>
              <a:t>metallb</a:t>
            </a:r>
            <a:r>
              <a:rPr lang="en-US" altLang="ko-KR" sz="1200" dirty="0">
                <a:solidFill>
                  <a:schemeClr val="bg1"/>
                </a:solidFill>
              </a:rPr>
              <a:t>-system pod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NAME                               READY    </a:t>
            </a:r>
            <a:r>
              <a:rPr lang="en-US" altLang="ko-KR" sz="1200" dirty="0">
                <a:solidFill>
                  <a:schemeClr val="bg1"/>
                </a:solidFill>
              </a:rPr>
              <a:t>STATUS  </a:t>
            </a:r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>
                <a:solidFill>
                  <a:schemeClr val="bg1"/>
                </a:solidFill>
              </a:rPr>
              <a:t>RESTARTS   AGE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controller-5cbffbc46b-kqc9n   </a:t>
            </a:r>
            <a:r>
              <a:rPr lang="en-US" altLang="ko-KR" sz="1200" dirty="0">
                <a:solidFill>
                  <a:schemeClr val="bg1"/>
                </a:solidFill>
              </a:rPr>
              <a:t>1/1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</a:t>
            </a:r>
            <a:r>
              <a:rPr lang="en-US" altLang="ko-KR" sz="1200" dirty="0">
                <a:solidFill>
                  <a:schemeClr val="bg1"/>
                </a:solidFill>
              </a:rPr>
              <a:t>Running  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dirty="0">
                <a:solidFill>
                  <a:schemeClr val="bg1"/>
                </a:solidFill>
              </a:rPr>
              <a:t>0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 </a:t>
            </a:r>
            <a:r>
              <a:rPr lang="en-US" altLang="ko-KR" sz="1200" dirty="0">
                <a:solidFill>
                  <a:schemeClr val="bg1"/>
                </a:solidFill>
              </a:rPr>
              <a:t>29d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speaker-5w5kt                     1/1        </a:t>
            </a:r>
            <a:r>
              <a:rPr lang="en-US" altLang="ko-KR" sz="1200" dirty="0">
                <a:solidFill>
                  <a:schemeClr val="bg1"/>
                </a:solidFill>
              </a:rPr>
              <a:t>Running   </a:t>
            </a:r>
            <a:r>
              <a:rPr lang="en-US" altLang="ko-KR" sz="1200" dirty="0" smtClean="0">
                <a:solidFill>
                  <a:schemeClr val="bg1"/>
                </a:solidFill>
              </a:rPr>
              <a:t> 0              </a:t>
            </a:r>
            <a:r>
              <a:rPr lang="en-US" altLang="ko-KR" sz="1200" dirty="0">
                <a:solidFill>
                  <a:schemeClr val="bg1"/>
                </a:solidFill>
              </a:rPr>
              <a:t>29d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speaker-gcwt4                     1/1        Running    0              29d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speaker-n2lb6                     1/1        Running     0              29d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2360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9262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MetalLB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–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실행 오류 케이스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1" name="TextBox 3"/>
          <p:cNvSpPr txBox="1"/>
          <p:nvPr/>
        </p:nvSpPr>
        <p:spPr>
          <a:xfrm>
            <a:off x="774593" y="1071733"/>
            <a:ext cx="10838341" cy="175432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describe </a:t>
            </a:r>
            <a:r>
              <a:rPr lang="en-US" altLang="ko-KR" sz="1200" dirty="0" err="1">
                <a:solidFill>
                  <a:schemeClr val="bg1"/>
                </a:solidFill>
              </a:rPr>
              <a:t>po</a:t>
            </a:r>
            <a:r>
              <a:rPr lang="en-US" altLang="ko-KR" sz="1200" dirty="0">
                <a:solidFill>
                  <a:schemeClr val="bg1"/>
                </a:solidFill>
              </a:rPr>
              <a:t> speaker-5w5kt -n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metallb</a:t>
            </a:r>
            <a:r>
              <a:rPr lang="en-US" altLang="ko-KR" sz="1200" dirty="0" smtClean="0">
                <a:solidFill>
                  <a:schemeClr val="bg1"/>
                </a:solidFill>
              </a:rPr>
              <a:t>-system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…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Events</a:t>
            </a:r>
            <a:r>
              <a:rPr lang="en-US" altLang="ko-KR" sz="1200" dirty="0">
                <a:solidFill>
                  <a:schemeClr val="bg1"/>
                </a:solidFill>
              </a:rPr>
              <a:t>: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</a:t>
            </a:r>
            <a:r>
              <a:rPr lang="en-US" altLang="ko-KR" sz="1200" dirty="0" smtClean="0">
                <a:solidFill>
                  <a:schemeClr val="bg1"/>
                </a:solidFill>
              </a:rPr>
              <a:t> Type        </a:t>
            </a:r>
            <a:r>
              <a:rPr lang="en-US" altLang="ko-KR" sz="1200" dirty="0">
                <a:solidFill>
                  <a:schemeClr val="bg1"/>
                </a:solidFill>
              </a:rPr>
              <a:t>Reason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Age                     From                   Message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 </a:t>
            </a:r>
            <a:r>
              <a:rPr lang="en-US" altLang="ko-KR" sz="1200" dirty="0" smtClean="0">
                <a:solidFill>
                  <a:schemeClr val="bg1"/>
                </a:solidFill>
              </a:rPr>
              <a:t> ----         </a:t>
            </a:r>
            <a:r>
              <a:rPr lang="en-US" altLang="ko-KR" sz="1200" dirty="0">
                <a:solidFill>
                  <a:schemeClr val="bg1"/>
                </a:solidFill>
              </a:rPr>
              <a:t>------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----                     </a:t>
            </a:r>
            <a:r>
              <a:rPr lang="en-US" altLang="ko-KR" sz="1200" dirty="0">
                <a:solidFill>
                  <a:schemeClr val="bg1"/>
                </a:solidFill>
              </a:rPr>
              <a:t>----    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-------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 </a:t>
            </a:r>
            <a:r>
              <a:rPr lang="en-US" altLang="ko-KR" sz="1200" dirty="0" smtClean="0">
                <a:solidFill>
                  <a:schemeClr val="bg1"/>
                </a:solidFill>
              </a:rPr>
              <a:t> Normal    Scheduled    27s                     default-scheduler    Successfully </a:t>
            </a:r>
            <a:r>
              <a:rPr lang="en-US" altLang="ko-KR" sz="1200" dirty="0">
                <a:solidFill>
                  <a:schemeClr val="bg1"/>
                </a:solidFill>
              </a:rPr>
              <a:t>assigned </a:t>
            </a:r>
            <a:r>
              <a:rPr lang="en-US" altLang="ko-KR" sz="1200" dirty="0" err="1">
                <a:solidFill>
                  <a:schemeClr val="bg1"/>
                </a:solidFill>
              </a:rPr>
              <a:t>metallb</a:t>
            </a:r>
            <a:r>
              <a:rPr lang="en-US" altLang="ko-KR" sz="1200" dirty="0">
                <a:solidFill>
                  <a:schemeClr val="bg1"/>
                </a:solidFill>
              </a:rPr>
              <a:t>-system/speaker-5w5kt to k8sedu-node01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dirty="0">
                <a:solidFill>
                  <a:schemeClr val="bg1"/>
                </a:solidFill>
              </a:rPr>
              <a:t>Normal   </a:t>
            </a:r>
            <a:r>
              <a:rPr lang="en-US" altLang="ko-KR" sz="1200" dirty="0" smtClean="0">
                <a:solidFill>
                  <a:schemeClr val="bg1"/>
                </a:solidFill>
              </a:rPr>
              <a:t> Pulled         11s </a:t>
            </a:r>
            <a:r>
              <a:rPr lang="en-US" altLang="ko-KR" sz="1200" dirty="0">
                <a:solidFill>
                  <a:schemeClr val="bg1"/>
                </a:solidFill>
              </a:rPr>
              <a:t>(x3 over 26s)  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kubelet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         Container </a:t>
            </a:r>
            <a:r>
              <a:rPr lang="en-US" altLang="ko-KR" sz="1200" dirty="0">
                <a:solidFill>
                  <a:schemeClr val="bg1"/>
                </a:solidFill>
              </a:rPr>
              <a:t>image "quay.io/</a:t>
            </a:r>
            <a:r>
              <a:rPr lang="en-US" altLang="ko-KR" sz="1200" dirty="0" err="1">
                <a:solidFill>
                  <a:schemeClr val="bg1"/>
                </a:solidFill>
              </a:rPr>
              <a:t>metallb</a:t>
            </a:r>
            <a:r>
              <a:rPr lang="en-US" altLang="ko-KR" sz="1200" dirty="0">
                <a:solidFill>
                  <a:schemeClr val="bg1"/>
                </a:solidFill>
              </a:rPr>
              <a:t>/speaker:v0.13.7" already present on machine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dirty="0">
                <a:solidFill>
                  <a:schemeClr val="bg1"/>
                </a:solidFill>
              </a:rPr>
              <a:t>Warning 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dirty="0">
                <a:solidFill>
                  <a:schemeClr val="bg1"/>
                </a:solidFill>
              </a:rPr>
              <a:t>Failed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11s </a:t>
            </a:r>
            <a:r>
              <a:rPr lang="en-US" altLang="ko-KR" sz="1200" dirty="0">
                <a:solidFill>
                  <a:schemeClr val="bg1"/>
                </a:solidFill>
              </a:rPr>
              <a:t>(x3 over 26s)  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kubelet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         Error</a:t>
            </a:r>
            <a:r>
              <a:rPr lang="en-US" altLang="ko-KR" sz="1200" dirty="0">
                <a:solidFill>
                  <a:schemeClr val="bg1"/>
                </a:solidFill>
              </a:rPr>
              <a:t>: secret "</a:t>
            </a:r>
            <a:r>
              <a:rPr lang="en-US" altLang="ko-KR" sz="1200" dirty="0" err="1">
                <a:solidFill>
                  <a:schemeClr val="bg1"/>
                </a:solidFill>
              </a:rPr>
              <a:t>memberlist</a:t>
            </a:r>
            <a:r>
              <a:rPr lang="en-US" altLang="ko-KR" sz="1200" dirty="0">
                <a:solidFill>
                  <a:schemeClr val="bg1"/>
                </a:solidFill>
              </a:rPr>
              <a:t>" not </a:t>
            </a:r>
            <a:r>
              <a:rPr lang="en-US" altLang="ko-KR" sz="1200" dirty="0" smtClean="0">
                <a:solidFill>
                  <a:schemeClr val="bg1"/>
                </a:solidFill>
              </a:rPr>
              <a:t>found</a:t>
            </a:r>
            <a:r>
              <a:rPr lang="en-US" altLang="ko-KR" sz="1200" dirty="0" smtClean="0">
                <a:solidFill>
                  <a:srgbClr val="FF0000"/>
                </a:solidFill>
              </a:rPr>
              <a:t>	     </a:t>
            </a:r>
          </a:p>
          <a:p>
            <a:r>
              <a:rPr lang="en-US" altLang="ko-KR" sz="1200" dirty="0">
                <a:solidFill>
                  <a:srgbClr val="FF0000"/>
                </a:solidFill>
              </a:rPr>
              <a:t> </a:t>
            </a:r>
            <a:r>
              <a:rPr lang="en-US" altLang="ko-KR" sz="1200" dirty="0" smtClean="0">
                <a:solidFill>
                  <a:srgbClr val="FF0000"/>
                </a:solidFill>
              </a:rPr>
              <a:t>                                                                          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# </a:t>
            </a:r>
            <a:r>
              <a:rPr lang="ko-KR" altLang="en-US" sz="1200" dirty="0" smtClean="0">
                <a:solidFill>
                  <a:schemeClr val="bg1"/>
                </a:solidFill>
              </a:rPr>
              <a:t>오류 원인 확인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95325" y="2929742"/>
            <a:ext cx="10956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Secret </a:t>
            </a:r>
            <a:r>
              <a:rPr lang="ko-KR" altLang="en-US" sz="1400" dirty="0" smtClean="0"/>
              <a:t>생성으로 해결</a:t>
            </a:r>
            <a:endParaRPr lang="en-US" altLang="ko-KR" sz="1200" dirty="0"/>
          </a:p>
        </p:txBody>
      </p:sp>
      <p:sp>
        <p:nvSpPr>
          <p:cNvPr id="33" name="TextBox 3"/>
          <p:cNvSpPr txBox="1"/>
          <p:nvPr/>
        </p:nvSpPr>
        <p:spPr>
          <a:xfrm>
            <a:off x="753029" y="3260612"/>
            <a:ext cx="10838341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create secret generic </a:t>
            </a:r>
            <a:r>
              <a:rPr lang="en-US" altLang="ko-KR" sz="1200" dirty="0" err="1">
                <a:solidFill>
                  <a:schemeClr val="bg1"/>
                </a:solidFill>
              </a:rPr>
              <a:t>memberlist</a:t>
            </a:r>
            <a:r>
              <a:rPr lang="en-US" altLang="ko-KR" sz="1200" dirty="0">
                <a:solidFill>
                  <a:schemeClr val="bg1"/>
                </a:solidFill>
              </a:rPr>
              <a:t> -n </a:t>
            </a:r>
            <a:r>
              <a:rPr lang="en-US" altLang="ko-KR" sz="1200" dirty="0" err="1">
                <a:solidFill>
                  <a:schemeClr val="bg1"/>
                </a:solidFill>
              </a:rPr>
              <a:t>metallb</a:t>
            </a:r>
            <a:r>
              <a:rPr lang="en-US" altLang="ko-KR" sz="1200" dirty="0">
                <a:solidFill>
                  <a:schemeClr val="bg1"/>
                </a:solidFill>
              </a:rPr>
              <a:t>-system --from-literal=</a:t>
            </a:r>
            <a:r>
              <a:rPr lang="en-US" altLang="ko-KR" sz="1200" dirty="0" err="1">
                <a:solidFill>
                  <a:schemeClr val="bg1"/>
                </a:solidFill>
              </a:rPr>
              <a:t>secretkey</a:t>
            </a:r>
            <a:r>
              <a:rPr lang="en-US" altLang="ko-KR" sz="1200" dirty="0">
                <a:solidFill>
                  <a:schemeClr val="bg1"/>
                </a:solidFill>
              </a:rPr>
              <a:t>="$(</a:t>
            </a:r>
            <a:r>
              <a:rPr lang="en-US" altLang="ko-KR" sz="1200" dirty="0" err="1">
                <a:solidFill>
                  <a:schemeClr val="bg1"/>
                </a:solidFill>
              </a:rPr>
              <a:t>openssl</a:t>
            </a:r>
            <a:r>
              <a:rPr lang="en-US" altLang="ko-KR" sz="1200" dirty="0">
                <a:solidFill>
                  <a:schemeClr val="bg1"/>
                </a:solidFill>
              </a:rPr>
              <a:t> rand -base64 128</a:t>
            </a:r>
            <a:r>
              <a:rPr lang="en-US" altLang="ko-KR" sz="1200" dirty="0" smtClean="0">
                <a:solidFill>
                  <a:schemeClr val="bg1"/>
                </a:solidFill>
              </a:rPr>
              <a:t>)“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secret/</a:t>
            </a:r>
            <a:r>
              <a:rPr lang="en-US" altLang="ko-KR" sz="1200" dirty="0" err="1">
                <a:solidFill>
                  <a:schemeClr val="bg1"/>
                </a:solidFill>
              </a:rPr>
              <a:t>memberlist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created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5325" y="738171"/>
            <a:ext cx="109594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MetalLB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제대로 기동 안되는 경우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원인 파악</a:t>
            </a:r>
            <a:endParaRPr lang="en-US" altLang="ko-KR" sz="1400" dirty="0"/>
          </a:p>
        </p:txBody>
      </p:sp>
      <p:sp>
        <p:nvSpPr>
          <p:cNvPr id="14" name="직사각형 13"/>
          <p:cNvSpPr/>
          <p:nvPr/>
        </p:nvSpPr>
        <p:spPr>
          <a:xfrm>
            <a:off x="5467349" y="2400301"/>
            <a:ext cx="2581275" cy="1714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695325" y="3846850"/>
            <a:ext cx="10960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MetalLB</a:t>
            </a:r>
            <a:r>
              <a:rPr lang="en-US" altLang="ko-KR" sz="1400" dirty="0" smtClean="0"/>
              <a:t> </a:t>
            </a:r>
            <a:r>
              <a:rPr lang="ko-KR" altLang="en-US" sz="1400" dirty="0" err="1" smtClean="0"/>
              <a:t>재기동</a:t>
            </a:r>
            <a:endParaRPr lang="en-US" altLang="ko-KR" sz="1200" dirty="0"/>
          </a:p>
        </p:txBody>
      </p:sp>
      <p:sp>
        <p:nvSpPr>
          <p:cNvPr id="17" name="TextBox 3"/>
          <p:cNvSpPr txBox="1"/>
          <p:nvPr/>
        </p:nvSpPr>
        <p:spPr>
          <a:xfrm>
            <a:off x="753029" y="4175012"/>
            <a:ext cx="1083834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apply -f </a:t>
            </a:r>
            <a:r>
              <a:rPr lang="en-US" altLang="ko-KR" sz="1200" dirty="0" err="1">
                <a:solidFill>
                  <a:schemeClr val="bg1"/>
                </a:solidFill>
              </a:rPr>
              <a:t>metallb-native.yaml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9519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2524" y="2094660"/>
            <a:ext cx="4942186" cy="795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219"/>
              </a:lnSpc>
            </a:pPr>
            <a:r>
              <a:rPr sz="5400" spc="-104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WRTDIQ+SpoqaHanSans-Bold"/>
              </a:rPr>
              <a:t>감사합니다.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1464" y="4996703"/>
            <a:ext cx="5687935" cy="969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본사    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경기도 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성남시 분당구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황새울로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258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번길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29,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티맥스수내타워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R&amp;D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센터  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경기도 성남시 분당구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정자일로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45, </a:t>
            </a:r>
            <a:r>
              <a:rPr lang="ko-KR" altLang="en-US" sz="105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티맥스타워</a:t>
            </a:r>
            <a:endParaRPr lang="en-US" altLang="ko-KR" sz="1050" dirty="0" smtClean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BVOPUE+SpoqaHanSans-Bold"/>
            </a:endParaRPr>
          </a:p>
          <a:p>
            <a:pPr>
              <a:lnSpc>
                <a:spcPct val="150000"/>
              </a:lnSpc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홈페이지</a:t>
            </a: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www.tmaxsoft.com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대표번호</a:t>
            </a: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 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031-8018-1000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1464" y="4336547"/>
            <a:ext cx="2254733" cy="46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258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23854</TotalTime>
  <Words>526</Words>
  <Application>Microsoft Office PowerPoint</Application>
  <PresentationFormat>와이드스크린</PresentationFormat>
  <Paragraphs>102</Paragraphs>
  <Slides>7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7" baseType="lpstr">
      <vt:lpstr>BVOPUE+SpoqaHanSans-Bold</vt:lpstr>
      <vt:lpstr>Pretendard SemiBold</vt:lpstr>
      <vt:lpstr>Univers LT Std 85 XBlk</vt:lpstr>
      <vt:lpstr>WRTDIQ+SpoqaHanSans-Bold</vt:lpstr>
      <vt:lpstr>뉴티맥스고딕 CJK</vt:lpstr>
      <vt:lpstr>맑은 고딕</vt:lpstr>
      <vt:lpstr>Arial</vt:lpstr>
      <vt:lpstr>Arial Black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Tmax</dc:creator>
  <cp:lastModifiedBy>woojun_lee</cp:lastModifiedBy>
  <cp:revision>446</cp:revision>
  <dcterms:created xsi:type="dcterms:W3CDTF">2022-09-15T01:21:24Z</dcterms:created>
  <dcterms:modified xsi:type="dcterms:W3CDTF">2025-03-07T04:36:32Z</dcterms:modified>
</cp:coreProperties>
</file>