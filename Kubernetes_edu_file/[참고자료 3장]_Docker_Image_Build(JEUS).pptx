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0" r:id="rId2"/>
    <p:sldId id="271" r:id="rId3"/>
    <p:sldId id="272" r:id="rId4"/>
    <p:sldId id="280" r:id="rId5"/>
    <p:sldId id="365" r:id="rId6"/>
    <p:sldId id="366" r:id="rId7"/>
    <p:sldId id="367" r:id="rId8"/>
    <p:sldId id="368" r:id="rId9"/>
    <p:sldId id="369" r:id="rId10"/>
    <p:sldId id="372" r:id="rId11"/>
    <p:sldId id="370" r:id="rId12"/>
    <p:sldId id="373" r:id="rId13"/>
    <p:sldId id="371" r:id="rId14"/>
    <p:sldId id="27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39B65"/>
    <a:srgbClr val="09E6E1"/>
    <a:srgbClr val="E9F7FA"/>
    <a:srgbClr val="171C2C"/>
    <a:srgbClr val="12F6F6"/>
    <a:srgbClr val="2366EF"/>
    <a:srgbClr val="10B7CE"/>
    <a:srgbClr val="01F5BF"/>
    <a:srgbClr val="E8EB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11" autoAdjust="0"/>
    <p:restoredTop sz="85948" autoAdjust="0"/>
  </p:normalViewPr>
  <p:slideViewPr>
    <p:cSldViewPr snapToGrid="0">
      <p:cViewPr varScale="1">
        <p:scale>
          <a:sx n="98" d="100"/>
          <a:sy n="98" d="100"/>
        </p:scale>
        <p:origin x="7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2024-07-23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2024-07-23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259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890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088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958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1088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878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930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91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218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7378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314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962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195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ctrTitle"/>
          </p:nvPr>
        </p:nvSpPr>
        <p:spPr>
          <a:xfrm>
            <a:off x="1583499" y="2150997"/>
            <a:ext cx="9883147" cy="1085983"/>
          </a:xfrm>
        </p:spPr>
        <p:txBody>
          <a:bodyPr lIns="0" tIns="0" rIns="0" bIns="0">
            <a:normAutofit/>
          </a:bodyPr>
          <a:lstStyle>
            <a:lvl1pPr algn="l">
              <a:defRPr sz="5867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48332"/>
          <a:stretch>
            <a:fillRect/>
          </a:stretch>
        </p:blipFill>
        <p:spPr>
          <a:xfrm rot="10800000" flipV="1">
            <a:off x="3868" y="0"/>
            <a:ext cx="6295332" cy="6858000"/>
          </a:xfrm>
          <a:custGeom>
            <a:avLst/>
            <a:gdLst>
              <a:gd name="connsiteX0" fmla="*/ 6295332 w 6295332"/>
              <a:gd name="connsiteY0" fmla="*/ 0 h 6858000"/>
              <a:gd name="connsiteX1" fmla="*/ 0 w 6295332"/>
              <a:gd name="connsiteY1" fmla="*/ 0 h 6858000"/>
              <a:gd name="connsiteX2" fmla="*/ 0 w 6295332"/>
              <a:gd name="connsiteY2" fmla="*/ 6858000 h 6858000"/>
              <a:gd name="connsiteX3" fmla="*/ 6295332 w 629533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95332" h="6858000">
                <a:moveTo>
                  <a:pt x="6295332" y="0"/>
                </a:moveTo>
                <a:lnTo>
                  <a:pt x="0" y="0"/>
                </a:lnTo>
                <a:lnTo>
                  <a:pt x="0" y="6858000"/>
                </a:lnTo>
                <a:lnTo>
                  <a:pt x="6295332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9722"/>
          <a:stretch>
            <a:fillRect/>
          </a:stretch>
        </p:blipFill>
        <p:spPr>
          <a:xfrm>
            <a:off x="3868" y="0"/>
            <a:ext cx="12184264" cy="3448050"/>
          </a:xfrm>
          <a:custGeom>
            <a:avLst/>
            <a:gdLst>
              <a:gd name="connsiteX0" fmla="*/ 0 w 12184264"/>
              <a:gd name="connsiteY0" fmla="*/ 0 h 3448050"/>
              <a:gd name="connsiteX1" fmla="*/ 12184264 w 12184264"/>
              <a:gd name="connsiteY1" fmla="*/ 0 h 3448050"/>
              <a:gd name="connsiteX2" fmla="*/ 12184264 w 12184264"/>
              <a:gd name="connsiteY2" fmla="*/ 3448050 h 3448050"/>
              <a:gd name="connsiteX3" fmla="*/ 0 w 12184264"/>
              <a:gd name="connsiteY3" fmla="*/ 3448050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4264" h="3448050">
                <a:moveTo>
                  <a:pt x="0" y="0"/>
                </a:moveTo>
                <a:lnTo>
                  <a:pt x="12184264" y="0"/>
                </a:lnTo>
                <a:lnTo>
                  <a:pt x="12184264" y="3448050"/>
                </a:lnTo>
                <a:lnTo>
                  <a:pt x="0" y="34480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 txBox="1">
            <a:spLocks/>
          </p:cNvSpPr>
          <p:nvPr userDrawn="1"/>
        </p:nvSpPr>
        <p:spPr>
          <a:xfrm>
            <a:off x="11560552" y="6551051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68" y="0"/>
            <a:ext cx="12184264" cy="876300"/>
          </a:xfrm>
          <a:custGeom>
            <a:avLst/>
            <a:gdLst>
              <a:gd name="connsiteX0" fmla="*/ 0 w 12184264"/>
              <a:gd name="connsiteY0" fmla="*/ 0 h 876300"/>
              <a:gd name="connsiteX1" fmla="*/ 12184264 w 12184264"/>
              <a:gd name="connsiteY1" fmla="*/ 0 h 876300"/>
              <a:gd name="connsiteX2" fmla="*/ 12184264 w 12184264"/>
              <a:gd name="connsiteY2" fmla="*/ 876300 h 876300"/>
              <a:gd name="connsiteX3" fmla="*/ 0 w 12184264"/>
              <a:gd name="connsiteY3" fmla="*/ 876300 h 87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4264" h="876300">
                <a:moveTo>
                  <a:pt x="0" y="0"/>
                </a:moveTo>
                <a:lnTo>
                  <a:pt x="12184264" y="0"/>
                </a:lnTo>
                <a:lnTo>
                  <a:pt x="12184264" y="876300"/>
                </a:lnTo>
                <a:lnTo>
                  <a:pt x="0" y="8763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2024-07-23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632037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2024.07.23.</a:t>
            </a:r>
            <a:endParaRPr lang="en-US" altLang="ko-KR" sz="1400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FFFFFF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  <a:p>
            <a:pPr>
              <a:spcBef>
                <a:spcPts val="500"/>
              </a:spcBef>
            </a:pPr>
            <a:r>
              <a:rPr lang="ko-KR" altLang="en-US" sz="1400" dirty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bg1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</a:t>
            </a:r>
            <a:r>
              <a:rPr lang="en-US" altLang="ko-KR" sz="1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ⓒ 2024 </a:t>
            </a:r>
            <a:r>
              <a:rPr lang="en-US" altLang="ko-KR" sz="10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 txBox="1">
            <a:spLocks/>
          </p:cNvSpPr>
          <p:nvPr/>
        </p:nvSpPr>
        <p:spPr>
          <a:xfrm>
            <a:off x="848855" y="1904989"/>
            <a:ext cx="9141451" cy="1846659"/>
          </a:xfrm>
          <a:prstGeom prst="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rcRect/>
            <a:stretch>
              <a:fillRect b="500"/>
            </a:stretch>
          </a:blipFill>
        </p:spPr>
        <p:txBody>
          <a:bodyPr vert="horz" wrap="square" lIns="0" tIns="0" rIns="0" bIns="0" rtlCol="0" anchor="t" anchorCtr="0">
            <a:spAutoFit/>
          </a:bodyPr>
          <a:lstStyle>
            <a:lvl1pPr marL="270000" algn="l" defTabSz="121917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sz="6000" dirty="0" smtClean="0">
                <a:solidFill>
                  <a:schemeClr val="bg1"/>
                </a:solidFill>
              </a:rPr>
              <a:t>Docker Image Build </a:t>
            </a:r>
            <a:r>
              <a:rPr lang="en-US" altLang="ko-KR" sz="6000" dirty="0" smtClean="0">
                <a:solidFill>
                  <a:schemeClr val="bg1"/>
                </a:solidFill>
              </a:rPr>
              <a:t>JEUS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0033" y="6134805"/>
            <a:ext cx="2410968" cy="49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652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 txBox="1">
            <a:spLocks/>
          </p:cNvSpPr>
          <p:nvPr/>
        </p:nvSpPr>
        <p:spPr>
          <a:xfrm>
            <a:off x="7157782" y="827882"/>
            <a:ext cx="3884026" cy="4745908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457200" marR="0" lvl="0" indent="-457200" algn="l" defTabSz="1219170" rtl="0" eaLnBrk="0" fontAlgn="base" latinLnBrk="1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2000" kern="0" noProof="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 요</a:t>
            </a:r>
            <a:endParaRPr lang="en-US" altLang="ko-KR" sz="2000" kern="0" noProof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marR="0" lvl="0" indent="-457200" algn="l" defTabSz="1219170" rtl="0" eaLnBrk="0" fontAlgn="base" latinLnBrk="1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sz="2000" kern="0" dirty="0" err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DockerFile</a:t>
            </a:r>
            <a:endParaRPr kumimoji="1" lang="en-US" altLang="ko-KR" sz="2000" b="1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marR="0" lvl="0" indent="-457200" algn="l" defTabSz="1219170" rtl="0" eaLnBrk="0" fontAlgn="base" latinLnBrk="1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sz="2000" kern="0" noProof="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 Build</a:t>
            </a:r>
            <a:endParaRPr lang="en-US" altLang="ko-KR" sz="2000" kern="0" noProof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제목 6"/>
          <p:cNvSpPr txBox="1">
            <a:spLocks/>
          </p:cNvSpPr>
          <p:nvPr/>
        </p:nvSpPr>
        <p:spPr>
          <a:xfrm>
            <a:off x="1295401" y="1038225"/>
            <a:ext cx="4419600" cy="1085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5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5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6397944"/>
            <a:ext cx="1310640" cy="13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8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8300" y="3449520"/>
            <a:ext cx="17620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b="1" dirty="0" smtClean="0">
                <a:latin typeface="+mn-ea"/>
              </a:rPr>
              <a:t>개  요</a:t>
            </a:r>
            <a:endParaRPr lang="en-US" altLang="ko-KR" sz="2000" b="1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b="1" dirty="0" smtClean="0">
                <a:latin typeface="+mn-ea"/>
              </a:rPr>
              <a:t>준비 사항</a:t>
            </a:r>
            <a:endParaRPr lang="en-US" altLang="ko-KR" sz="2000" b="1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178005" y="1205477"/>
            <a:ext cx="7599867" cy="97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altLang="ko-KR" sz="4400" b="1" dirty="0">
                <a:solidFill>
                  <a:schemeClr val="bg1"/>
                </a:solidFill>
              </a:rPr>
              <a:t>1</a:t>
            </a:r>
            <a:r>
              <a:rPr lang="en-US" altLang="ko-KR" sz="4400" b="1" dirty="0" smtClean="0">
                <a:solidFill>
                  <a:schemeClr val="bg1"/>
                </a:solidFill>
              </a:rPr>
              <a:t>. </a:t>
            </a:r>
            <a:r>
              <a:rPr lang="ko-KR" altLang="en-US" sz="4400" b="1" dirty="0" smtClean="0">
                <a:solidFill>
                  <a:schemeClr val="bg1"/>
                </a:solidFill>
              </a:rPr>
              <a:t>개  요</a:t>
            </a:r>
            <a:endParaRPr lang="ko-KR" altLang="en-US" sz="44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6397944"/>
            <a:ext cx="1310640" cy="13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889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348" y="0"/>
            <a:ext cx="75998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3200" b="1" dirty="0">
                <a:solidFill>
                  <a:schemeClr val="bg1"/>
                </a:solidFill>
              </a:rPr>
              <a:t>1. 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개  요</a:t>
            </a:r>
            <a:endParaRPr lang="ko-KR" altLang="en-US" sz="32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367921"/>
            <a:ext cx="1310640" cy="134995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494348" y="1115171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 요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4347" y="1498936"/>
            <a:ext cx="11499178" cy="710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dirty="0" smtClean="0"/>
              <a:t>본 문서에서는 </a:t>
            </a:r>
            <a:r>
              <a:rPr lang="en-US" altLang="ko-KR" dirty="0" err="1" smtClean="0"/>
              <a:t>Dodcker</a:t>
            </a:r>
            <a:r>
              <a:rPr lang="en-US" altLang="ko-KR" dirty="0" err="1"/>
              <a:t>f</a:t>
            </a:r>
            <a:r>
              <a:rPr lang="en-US" altLang="ko-KR" dirty="0" err="1" smtClean="0"/>
              <a:t>ile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이용하여 </a:t>
            </a:r>
            <a:r>
              <a:rPr lang="en-US" altLang="ko-KR" dirty="0" smtClean="0"/>
              <a:t>JEUS8.5 </a:t>
            </a:r>
            <a:r>
              <a:rPr lang="en-US" altLang="ko-KR" dirty="0" smtClean="0"/>
              <a:t>Image Build </a:t>
            </a:r>
            <a:r>
              <a:rPr lang="ko-KR" altLang="en-US" dirty="0" smtClean="0"/>
              <a:t>방법을 설명합니다</a:t>
            </a:r>
            <a:r>
              <a:rPr lang="en-US" altLang="ko-KR" dirty="0" smtClean="0"/>
              <a:t>.</a:t>
            </a:r>
          </a:p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dirty="0" smtClean="0"/>
              <a:t>Image Build </a:t>
            </a:r>
            <a:r>
              <a:rPr lang="ko-KR" altLang="en-US" dirty="0" smtClean="0"/>
              <a:t>방법은 여러 가지가 있으나 본 문서에서는 </a:t>
            </a:r>
            <a:r>
              <a:rPr lang="en-US" altLang="ko-KR" dirty="0" smtClean="0"/>
              <a:t>JEUS </a:t>
            </a:r>
            <a:r>
              <a:rPr lang="en-US" altLang="ko-KR" dirty="0" smtClean="0"/>
              <a:t>tar</a:t>
            </a:r>
            <a:r>
              <a:rPr lang="ko-KR" altLang="en-US" dirty="0" smtClean="0"/>
              <a:t>파일 기준으로 작성 하였습니다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494348" y="2209387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준비 사항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4347" y="2593152"/>
            <a:ext cx="11499178" cy="710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dirty="0" smtClean="0"/>
              <a:t>Docker</a:t>
            </a:r>
          </a:p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dirty="0" smtClean="0"/>
              <a:t>JEUS</a:t>
            </a:r>
            <a:r>
              <a:rPr lang="en-US" altLang="ko-KR" dirty="0" smtClean="0"/>
              <a:t> </a:t>
            </a:r>
            <a:r>
              <a:rPr lang="en-US" altLang="ko-KR" dirty="0" smtClean="0"/>
              <a:t>tar File </a:t>
            </a:r>
            <a:r>
              <a:rPr lang="en-US" altLang="ko-KR" sz="1600" dirty="0" smtClean="0"/>
              <a:t>ex)</a:t>
            </a:r>
            <a:r>
              <a:rPr lang="en-US" altLang="ko-KR" sz="1600" dirty="0"/>
              <a:t> </a:t>
            </a:r>
            <a:r>
              <a:rPr lang="en-US" altLang="ko-KR" sz="1600" dirty="0"/>
              <a:t>jeus8_5-b266025.tar.gz </a:t>
            </a:r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868406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8300" y="3449520"/>
            <a:ext cx="24009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 err="1" smtClean="0">
                <a:latin typeface="+mn-ea"/>
              </a:rPr>
              <a:t>Dockerfile</a:t>
            </a:r>
            <a:endParaRPr lang="en-US" altLang="ko-KR" sz="2000" b="1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 err="1" smtClean="0">
                <a:latin typeface="+mn-ea"/>
              </a:rPr>
              <a:t>Dockerfile</a:t>
            </a:r>
            <a:r>
              <a:rPr lang="en-US" altLang="ko-KR" sz="2000" b="1" dirty="0" smtClean="0">
                <a:latin typeface="+mn-ea"/>
              </a:rPr>
              <a:t> Tag</a:t>
            </a:r>
            <a:endParaRPr lang="en-US" altLang="ko-KR" sz="2000" b="1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178005" y="1205477"/>
            <a:ext cx="759986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altLang="ko-KR" sz="4400" b="1" dirty="0">
                <a:solidFill>
                  <a:schemeClr val="bg1"/>
                </a:solidFill>
              </a:rPr>
              <a:t>2</a:t>
            </a:r>
            <a:r>
              <a:rPr lang="en-US" altLang="ko-KR" sz="4400" b="1" dirty="0" smtClean="0">
                <a:solidFill>
                  <a:schemeClr val="bg1"/>
                </a:solidFill>
              </a:rPr>
              <a:t>. </a:t>
            </a:r>
            <a:r>
              <a:rPr lang="en-US" altLang="ko-KR" sz="4400" b="1" dirty="0" err="1" smtClean="0">
                <a:solidFill>
                  <a:schemeClr val="bg1"/>
                </a:solidFill>
              </a:rPr>
              <a:t>Dockerfile</a:t>
            </a:r>
            <a:endParaRPr lang="ko-KR" altLang="en-US" sz="44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6397944"/>
            <a:ext cx="1310640" cy="13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94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348" y="0"/>
            <a:ext cx="75998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3200" b="1" dirty="0">
                <a:solidFill>
                  <a:schemeClr val="bg1"/>
                </a:solidFill>
              </a:rPr>
              <a:t>2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. </a:t>
            </a:r>
            <a:r>
              <a:rPr lang="en-US" altLang="ko-KR" sz="3200" b="1" dirty="0" err="1" smtClean="0">
                <a:solidFill>
                  <a:schemeClr val="bg1"/>
                </a:solidFill>
              </a:rPr>
              <a:t>Dockerfile</a:t>
            </a:r>
            <a:endParaRPr lang="ko-KR" altLang="en-US" sz="32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367921"/>
            <a:ext cx="1310640" cy="134995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494348" y="1115171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en-US" altLang="ko-KR" kern="0" spc="-150" dirty="0" err="1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Dockerfile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4347" y="1498936"/>
            <a:ext cx="11499178" cy="1392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dirty="0" err="1" smtClean="0"/>
              <a:t>Dockerfile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Docker Image</a:t>
            </a:r>
            <a:r>
              <a:rPr lang="ko-KR" altLang="en-US" dirty="0" smtClean="0"/>
              <a:t>를 생성 하기 위한 </a:t>
            </a:r>
            <a:r>
              <a:rPr lang="en-US" altLang="ko-KR" dirty="0" smtClean="0"/>
              <a:t>Script</a:t>
            </a:r>
          </a:p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dirty="0" smtClean="0"/>
              <a:t>여러가지 명령어를 토대로 </a:t>
            </a:r>
            <a:r>
              <a:rPr lang="en-US" altLang="ko-KR" dirty="0" err="1" smtClean="0"/>
              <a:t>Dockerfile</a:t>
            </a:r>
            <a:r>
              <a:rPr lang="en-US" altLang="ko-KR" dirty="0" smtClean="0"/>
              <a:t> </a:t>
            </a:r>
            <a:r>
              <a:rPr lang="ko-KR" altLang="en-US" dirty="0" smtClean="0"/>
              <a:t>작성 한 후 </a:t>
            </a:r>
            <a:r>
              <a:rPr lang="en-US" altLang="ko-KR" dirty="0" smtClean="0"/>
              <a:t>Build</a:t>
            </a:r>
          </a:p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dirty="0" smtClean="0"/>
              <a:t>Docker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Dockerfile</a:t>
            </a:r>
            <a:r>
              <a:rPr lang="ko-KR" altLang="en-US" dirty="0" smtClean="0"/>
              <a:t>에 나열된 명령문을 차례대로 수행하며 </a:t>
            </a:r>
            <a:r>
              <a:rPr lang="en-US" altLang="ko-KR" dirty="0" smtClean="0"/>
              <a:t>Docker Image</a:t>
            </a:r>
            <a:r>
              <a:rPr lang="ko-KR" altLang="en-US" dirty="0" smtClean="0"/>
              <a:t>를 생성</a:t>
            </a:r>
            <a:endParaRPr lang="en-US" altLang="ko-KR" dirty="0" smtClean="0"/>
          </a:p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dirty="0" err="1" smtClean="0"/>
              <a:t>Dockerfile</a:t>
            </a:r>
            <a:r>
              <a:rPr lang="ko-KR" altLang="en-US" dirty="0" smtClean="0"/>
              <a:t>로 이미지 구성을 확인 가능</a:t>
            </a:r>
            <a:endParaRPr lang="en-US" altLang="ko-KR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494346" y="2891623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en-US" altLang="ko-KR" kern="0" spc="-150" dirty="0" err="1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Dockerfile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Build </a:t>
            </a:r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명령어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494346" y="3282565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docker</a:t>
            </a:r>
            <a:r>
              <a:rPr lang="ko-KR" alt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onsolas" panose="020B0609020204030204" pitchFamily="49" charset="0"/>
              </a:rPr>
              <a:t>build</a:t>
            </a:r>
            <a:r>
              <a:rPr lang="ko-KR" alt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-f</a:t>
            </a:r>
            <a:r>
              <a:rPr lang="ko-KR" altLang="en-US" sz="1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Dockerfile</a:t>
            </a:r>
            <a:r>
              <a:rPr lang="en-US" altLang="ko-KR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명</a:t>
            </a:r>
            <a:r>
              <a:rPr lang="en-US" altLang="ko-KR" sz="1200" dirty="0">
                <a:solidFill>
                  <a:schemeClr val="bg1"/>
                </a:solidFill>
                <a:latin typeface="Consolas" panose="020B0609020204030204" pitchFamily="49" charset="0"/>
              </a:rPr>
              <a:t>] -</a:t>
            </a:r>
            <a:r>
              <a:rPr lang="en-US" altLang="ko-KR" sz="1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t </a:t>
            </a:r>
            <a:r>
              <a:rPr lang="en-US" altLang="ko-KR" sz="1200" dirty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ko-KR" alt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이미지이름</a:t>
            </a:r>
            <a:r>
              <a:rPr lang="en-US" altLang="ko-KR" sz="12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  <a:r>
              <a:rPr lang="ko-KR" alt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이미지버전</a:t>
            </a:r>
            <a:r>
              <a:rPr lang="en-US" altLang="ko-KR" sz="1200" dirty="0">
                <a:solidFill>
                  <a:schemeClr val="bg1"/>
                </a:solidFill>
                <a:latin typeface="Consolas" panose="020B0609020204030204" pitchFamily="49" charset="0"/>
              </a:rPr>
              <a:t>] [</a:t>
            </a:r>
            <a:r>
              <a:rPr lang="en-US" altLang="ko-KR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Dockerfile</a:t>
            </a:r>
            <a:r>
              <a:rPr lang="ko-KR" alt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의 경로</a:t>
            </a:r>
            <a:r>
              <a:rPr lang="en-US" altLang="ko-KR" sz="1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</a:t>
            </a:r>
            <a:endParaRPr lang="en-US" altLang="ko-K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4347" y="3559562"/>
            <a:ext cx="11499178" cy="710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dirty="0" smtClean="0"/>
              <a:t>Docker Image build </a:t>
            </a:r>
            <a:r>
              <a:rPr lang="ko-KR" altLang="en-US" dirty="0" smtClean="0"/>
              <a:t>참고 </a:t>
            </a:r>
            <a:r>
              <a:rPr lang="en-US" altLang="ko-KR" dirty="0" smtClean="0"/>
              <a:t>URL</a:t>
            </a:r>
          </a:p>
          <a:p>
            <a:pPr marL="180000">
              <a:spcBef>
                <a:spcPts val="500"/>
              </a:spcBef>
            </a:pPr>
            <a:r>
              <a:rPr lang="en-US" altLang="ko-KR" dirty="0"/>
              <a:t>  https://docs.docker.com/reference/cli/docker/image/build/</a:t>
            </a:r>
          </a:p>
        </p:txBody>
      </p:sp>
    </p:spTree>
    <p:extLst>
      <p:ext uri="{BB962C8B-B14F-4D97-AF65-F5344CB8AC3E}">
        <p14:creationId xmlns:p14="http://schemas.microsoft.com/office/powerpoint/2010/main" val="94694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348" y="0"/>
            <a:ext cx="75998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3200" b="1" dirty="0">
                <a:solidFill>
                  <a:schemeClr val="bg1"/>
                </a:solidFill>
              </a:rPr>
              <a:t>2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. </a:t>
            </a:r>
            <a:r>
              <a:rPr lang="en-US" altLang="ko-KR" sz="3200" b="1" dirty="0" err="1" smtClean="0">
                <a:solidFill>
                  <a:schemeClr val="bg1"/>
                </a:solidFill>
              </a:rPr>
              <a:t>Dockerfile</a:t>
            </a:r>
            <a:endParaRPr lang="ko-KR" altLang="en-US" sz="32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367921"/>
            <a:ext cx="1310640" cy="134995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494348" y="1115171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en-US" altLang="ko-KR" kern="0" spc="-150" dirty="0" err="1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Dockerfile</a:t>
            </a:r>
            <a:r>
              <a:rPr lang="en-US" altLang="ko-KR" kern="0" spc="-150" dirty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Tag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997612"/>
              </p:ext>
            </p:extLst>
          </p:nvPr>
        </p:nvGraphicFramePr>
        <p:xfrm>
          <a:off x="494348" y="1498938"/>
          <a:ext cx="10637153" cy="3306317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807652">
                  <a:extLst>
                    <a:ext uri="{9D8B030D-6E8A-4147-A177-3AD203B41FA5}">
                      <a16:colId xmlns:a16="http://schemas.microsoft.com/office/drawing/2014/main" val="3346232985"/>
                    </a:ext>
                  </a:extLst>
                </a:gridCol>
                <a:gridCol w="7829501">
                  <a:extLst>
                    <a:ext uri="{9D8B030D-6E8A-4147-A177-3AD203B41FA5}">
                      <a16:colId xmlns:a16="http://schemas.microsoft.com/office/drawing/2014/main" val="740863177"/>
                    </a:ext>
                  </a:extLst>
                </a:gridCol>
              </a:tblGrid>
              <a:tr h="2705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항목명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2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2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 용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2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2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049965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From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2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dirty="0" smtClean="0"/>
                        <a:t>Build</a:t>
                      </a:r>
                      <a:r>
                        <a:rPr lang="ko-KR" altLang="en-US" sz="1050" dirty="0" smtClean="0"/>
                        <a:t>에 사용할 </a:t>
                      </a:r>
                      <a:r>
                        <a:rPr lang="en-US" altLang="ko-KR" sz="1050" dirty="0" smtClean="0"/>
                        <a:t>BASE Image</a:t>
                      </a:r>
                      <a:r>
                        <a:rPr lang="en-US" altLang="ko-KR" sz="1050" baseline="0" dirty="0" smtClean="0"/>
                        <a:t> </a:t>
                      </a:r>
                      <a:r>
                        <a:rPr lang="ko-KR" altLang="en-US" sz="1050" baseline="0" dirty="0" smtClean="0"/>
                        <a:t>지정</a:t>
                      </a:r>
                      <a:endParaRPr lang="en-US" altLang="ko-KR" sz="1050" dirty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2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669871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LABEL description=“string”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dirty="0" smtClean="0"/>
                        <a:t>이미지에 대한 설명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896816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MAINTAINER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dirty="0" smtClean="0"/>
                        <a:t>이니셜 </a:t>
                      </a:r>
                      <a:r>
                        <a:rPr lang="en-US" altLang="ko-KR" sz="1050" dirty="0" smtClean="0"/>
                        <a:t>&lt;mail&gt;</a:t>
                      </a:r>
                      <a:r>
                        <a:rPr lang="en-US" altLang="ko-KR" sz="1050" baseline="0" dirty="0" smtClean="0"/>
                        <a:t> </a:t>
                      </a:r>
                      <a:r>
                        <a:rPr lang="ko-KR" altLang="en-US" sz="1050" baseline="0" dirty="0" smtClean="0"/>
                        <a:t>작성자 표시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77599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WORKDIR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dirty="0" smtClean="0"/>
                        <a:t>Build</a:t>
                      </a:r>
                      <a:r>
                        <a:rPr lang="ko-KR" altLang="en-US" sz="1050" dirty="0" smtClean="0"/>
                        <a:t>에 사용할 작업 디렉터리를 변경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793100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COPY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dirty="0" smtClean="0"/>
                        <a:t>파일이나 디렉터리 복사하는 경우 사용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663237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ADD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dirty="0" smtClean="0"/>
                        <a:t>원격에서 파일을 내려 받기</a:t>
                      </a:r>
                      <a:r>
                        <a:rPr lang="en-US" altLang="ko-KR" sz="1050" dirty="0" smtClean="0"/>
                        <a:t>, </a:t>
                      </a:r>
                      <a:r>
                        <a:rPr lang="ko-KR" altLang="en-US" sz="1050" dirty="0" smtClean="0"/>
                        <a:t>복사하는 경우 사용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01160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RUN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dirty="0" smtClean="0"/>
                        <a:t>특정 명령어를 일시적으로 실행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214675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EXPOSE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dirty="0" smtClean="0"/>
                        <a:t>컨테이너 실행 시 특정 포트를 호스트에 노출하기 위해서 사용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257471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CMD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dirty="0" err="1" smtClean="0"/>
                        <a:t>docker</a:t>
                      </a:r>
                      <a:r>
                        <a:rPr lang="en-US" altLang="ko-KR" sz="1050" dirty="0" smtClean="0"/>
                        <a:t> run </a:t>
                      </a:r>
                      <a:r>
                        <a:rPr lang="ko-KR" altLang="en-US" sz="1050" dirty="0" smtClean="0"/>
                        <a:t>실행 시</a:t>
                      </a:r>
                      <a:r>
                        <a:rPr lang="en-US" altLang="ko-KR" sz="1050" dirty="0" smtClean="0"/>
                        <a:t>, </a:t>
                      </a:r>
                      <a:r>
                        <a:rPr lang="ko-KR" altLang="en-US" sz="1050" dirty="0" smtClean="0"/>
                        <a:t>추가적인 명령어에 따라 설정한 명령어를 수정하고자 할 때 사용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652065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ENTRYPOINT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dirty="0" err="1" smtClean="0"/>
                        <a:t>docker</a:t>
                      </a:r>
                      <a:r>
                        <a:rPr lang="en-US" altLang="ko-KR" sz="1050" dirty="0" smtClean="0"/>
                        <a:t> run </a:t>
                      </a:r>
                      <a:r>
                        <a:rPr lang="ko-KR" altLang="en-US" sz="1050" dirty="0" smtClean="0"/>
                        <a:t>실행 시</a:t>
                      </a:r>
                      <a:r>
                        <a:rPr lang="en-US" altLang="ko-KR" sz="1050" dirty="0" smtClean="0"/>
                        <a:t>, </a:t>
                      </a:r>
                      <a:r>
                        <a:rPr lang="ko-KR" altLang="en-US" sz="1050" dirty="0" smtClean="0"/>
                        <a:t>추가적인 명령어의 존재 여부와 상관없이 무조건 실행되는 명령어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982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637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178005" y="1205477"/>
            <a:ext cx="7599867" cy="97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altLang="ko-KR" sz="4400" b="1" dirty="0">
                <a:solidFill>
                  <a:schemeClr val="bg1"/>
                </a:solidFill>
              </a:rPr>
              <a:t>3</a:t>
            </a:r>
            <a:r>
              <a:rPr lang="en-US" altLang="ko-KR" sz="4400" b="1" dirty="0" smtClean="0">
                <a:solidFill>
                  <a:schemeClr val="bg1"/>
                </a:solidFill>
              </a:rPr>
              <a:t>. Image Build</a:t>
            </a:r>
            <a:endParaRPr lang="ko-KR" altLang="en-US" sz="44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6397944"/>
            <a:ext cx="1310640" cy="13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063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348" y="0"/>
            <a:ext cx="75998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3200" b="1" dirty="0">
                <a:solidFill>
                  <a:schemeClr val="bg1"/>
                </a:solidFill>
              </a:rPr>
              <a:t>3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. Image Build</a:t>
            </a:r>
            <a:endParaRPr lang="ko-KR" altLang="en-US" sz="32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367921"/>
            <a:ext cx="1310640" cy="134995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494348" y="1115171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 Build </a:t>
            </a:r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디렉터리 구성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EABAA9-903B-E199-113E-BF4B35312609}"/>
              </a:ext>
            </a:extLst>
          </p:cNvPr>
          <p:cNvSpPr txBox="1"/>
          <p:nvPr/>
        </p:nvSpPr>
        <p:spPr>
          <a:xfrm>
            <a:off x="3273549" y="5695257"/>
            <a:ext cx="4891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 smtClean="0"/>
              <a:t>JEUS </a:t>
            </a:r>
            <a:r>
              <a:rPr lang="ko-KR" altLang="en-US" sz="1200" dirty="0" smtClean="0"/>
              <a:t>설치 </a:t>
            </a:r>
            <a:r>
              <a:rPr lang="en-US" altLang="ko-KR" sz="1200" dirty="0" smtClean="0"/>
              <a:t>tar </a:t>
            </a:r>
            <a:r>
              <a:rPr lang="ko-KR" altLang="en-US" sz="1200" dirty="0" smtClean="0"/>
              <a:t>파일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0B0E26-FC6F-E2A3-BFEE-FC7F981CEEA8}"/>
              </a:ext>
            </a:extLst>
          </p:cNvPr>
          <p:cNvSpPr txBox="1"/>
          <p:nvPr/>
        </p:nvSpPr>
        <p:spPr>
          <a:xfrm>
            <a:off x="1684582" y="2005284"/>
            <a:ext cx="3772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Image Build </a:t>
            </a:r>
            <a:r>
              <a:rPr lang="ko-KR" altLang="en-US" sz="1200" dirty="0" smtClean="0"/>
              <a:t>업무를 수행할 디렉터리 </a:t>
            </a:r>
            <a:r>
              <a:rPr lang="en-US" altLang="ko-KR" sz="1200" dirty="0" smtClean="0"/>
              <a:t>(ex </a:t>
            </a:r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jeus</a:t>
            </a:r>
            <a:r>
              <a:rPr lang="en-US" altLang="ko-KR" sz="1200" dirty="0" smtClean="0"/>
              <a:t>)</a:t>
            </a:r>
            <a:r>
              <a:rPr lang="ko-KR" altLang="en-US" sz="1200" dirty="0" smtClean="0"/>
              <a:t> </a:t>
            </a:r>
            <a:endParaRPr lang="ko-KR" altLang="en-US" sz="1200" dirty="0"/>
          </a:p>
        </p:txBody>
      </p:sp>
      <p:sp>
        <p:nvSpPr>
          <p:cNvPr id="15" name="사각형: 둥근 모서리 9">
            <a:extLst>
              <a:ext uri="{FF2B5EF4-FFF2-40B4-BE49-F238E27FC236}">
                <a16:creationId xmlns:a16="http://schemas.microsoft.com/office/drawing/2014/main" id="{4F3B2A9A-D03E-D874-A270-41CA85B128C5}"/>
              </a:ext>
            </a:extLst>
          </p:cNvPr>
          <p:cNvSpPr/>
          <p:nvPr/>
        </p:nvSpPr>
        <p:spPr bwMode="auto">
          <a:xfrm>
            <a:off x="494348" y="1936677"/>
            <a:ext cx="1190235" cy="45811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FFFF"/>
            </a:solidFill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b="1" dirty="0" err="1" smtClean="0"/>
              <a:t>jeus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0273FE8-458A-3965-4CC6-6D7D753D780C}"/>
              </a:ext>
            </a:extLst>
          </p:cNvPr>
          <p:cNvCxnSpPr>
            <a:cxnSpLocks/>
          </p:cNvCxnSpPr>
          <p:nvPr/>
        </p:nvCxnSpPr>
        <p:spPr bwMode="auto">
          <a:xfrm flipH="1">
            <a:off x="998904" y="2394788"/>
            <a:ext cx="10528" cy="389900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6280607-2E09-9119-33FD-0BA216DE6115}"/>
              </a:ext>
            </a:extLst>
          </p:cNvPr>
          <p:cNvCxnSpPr/>
          <p:nvPr/>
        </p:nvCxnSpPr>
        <p:spPr bwMode="auto">
          <a:xfrm>
            <a:off x="1000312" y="2823411"/>
            <a:ext cx="267898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E391650-BDA1-71AC-DC02-B2D6C0AE9F56}"/>
              </a:ext>
            </a:extLst>
          </p:cNvPr>
          <p:cNvSpPr txBox="1"/>
          <p:nvPr/>
        </p:nvSpPr>
        <p:spPr>
          <a:xfrm>
            <a:off x="2467565" y="2697442"/>
            <a:ext cx="4072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 smtClean="0"/>
              <a:t>JEUS Patch File </a:t>
            </a:r>
            <a:r>
              <a:rPr lang="ko-KR" altLang="en-US" sz="1200" dirty="0" smtClean="0"/>
              <a:t>위치</a:t>
            </a:r>
            <a:endParaRPr lang="ko-KR" altLang="en-US" sz="1200" dirty="0"/>
          </a:p>
        </p:txBody>
      </p:sp>
      <p:sp>
        <p:nvSpPr>
          <p:cNvPr id="20" name="사각형: 둥근 모서리 15">
            <a:extLst>
              <a:ext uri="{FF2B5EF4-FFF2-40B4-BE49-F238E27FC236}">
                <a16:creationId xmlns:a16="http://schemas.microsoft.com/office/drawing/2014/main" id="{E2E70C5A-25D6-B6D1-A51A-AED8EAD6D563}"/>
              </a:ext>
            </a:extLst>
          </p:cNvPr>
          <p:cNvSpPr/>
          <p:nvPr/>
        </p:nvSpPr>
        <p:spPr bwMode="auto">
          <a:xfrm>
            <a:off x="1277330" y="2604453"/>
            <a:ext cx="1190235" cy="5036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dirty="0" smtClean="0">
                <a:latin typeface="맑은 고딕" pitchFamily="50" charset="-127"/>
                <a:ea typeface="맑은 고딕" pitchFamily="50" charset="-127"/>
              </a:rPr>
              <a:t>patch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615DFFB-D8AD-0049-0978-D7E285373782}"/>
              </a:ext>
            </a:extLst>
          </p:cNvPr>
          <p:cNvCxnSpPr/>
          <p:nvPr/>
        </p:nvCxnSpPr>
        <p:spPr bwMode="auto">
          <a:xfrm>
            <a:off x="1002007" y="3427321"/>
            <a:ext cx="267898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BE3ECF4-9112-FC6B-475F-9B697C39D435}"/>
              </a:ext>
            </a:extLst>
          </p:cNvPr>
          <p:cNvSpPr txBox="1"/>
          <p:nvPr/>
        </p:nvSpPr>
        <p:spPr>
          <a:xfrm>
            <a:off x="2469259" y="3271037"/>
            <a:ext cx="4072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 smtClean="0"/>
              <a:t>domain.xml, </a:t>
            </a:r>
            <a:r>
              <a:rPr lang="en-US" altLang="ko-KR" sz="1200" dirty="0" err="1" smtClean="0"/>
              <a:t>cloudserver.properties</a:t>
            </a:r>
            <a:r>
              <a:rPr lang="en-US" altLang="ko-KR" sz="1200" dirty="0" smtClean="0"/>
              <a:t>, env.sh, start.sh, stop.sh, policies.xml, </a:t>
            </a:r>
            <a:r>
              <a:rPr lang="en-US" altLang="ko-KR" sz="1200" dirty="0" err="1" smtClean="0"/>
              <a:t>postgresql</a:t>
            </a:r>
            <a:r>
              <a:rPr lang="en-US" altLang="ko-KR" sz="1200" dirty="0" smtClean="0"/>
              <a:t>, </a:t>
            </a:r>
            <a:r>
              <a:rPr lang="en-US" altLang="ko-KR" sz="1200" dirty="0" err="1" smtClean="0"/>
              <a:t>mariadb</a:t>
            </a:r>
            <a:r>
              <a:rPr lang="en-US" altLang="ko-KR" sz="1200" dirty="0" smtClean="0"/>
              <a:t> driver</a:t>
            </a:r>
            <a:endParaRPr lang="ko-KR" altLang="en-US" sz="1200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:a16="http://schemas.microsoft.com/office/drawing/2014/main" id="{FE025FF9-D2DD-C748-1C94-4A9139DEE016}"/>
              </a:ext>
            </a:extLst>
          </p:cNvPr>
          <p:cNvSpPr/>
          <p:nvPr/>
        </p:nvSpPr>
        <p:spPr bwMode="auto">
          <a:xfrm>
            <a:off x="1279025" y="3208363"/>
            <a:ext cx="1190235" cy="5036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config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2F7455C-EF8E-9318-8AB9-2085E24B55BA}"/>
              </a:ext>
            </a:extLst>
          </p:cNvPr>
          <p:cNvCxnSpPr/>
          <p:nvPr/>
        </p:nvCxnSpPr>
        <p:spPr bwMode="auto">
          <a:xfrm>
            <a:off x="1000312" y="4026336"/>
            <a:ext cx="267898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580C3D-B120-2833-C957-4FC71DB71588}"/>
              </a:ext>
            </a:extLst>
          </p:cNvPr>
          <p:cNvSpPr txBox="1"/>
          <p:nvPr/>
        </p:nvSpPr>
        <p:spPr>
          <a:xfrm>
            <a:off x="2467565" y="3880156"/>
            <a:ext cx="4072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 smtClean="0"/>
              <a:t>JEUS </a:t>
            </a:r>
            <a:r>
              <a:rPr lang="en-US" altLang="ko-KR" sz="1200" dirty="0" smtClean="0"/>
              <a:t>License file </a:t>
            </a:r>
            <a:r>
              <a:rPr lang="ko-KR" altLang="en-US" sz="1200" dirty="0" smtClean="0"/>
              <a:t>위치</a:t>
            </a:r>
            <a:endParaRPr lang="ko-KR" altLang="en-US" sz="1200" dirty="0"/>
          </a:p>
        </p:txBody>
      </p:sp>
      <p:sp>
        <p:nvSpPr>
          <p:cNvPr id="26" name="사각형: 둥근 모서리 26">
            <a:extLst>
              <a:ext uri="{FF2B5EF4-FFF2-40B4-BE49-F238E27FC236}">
                <a16:creationId xmlns:a16="http://schemas.microsoft.com/office/drawing/2014/main" id="{91E97935-0A0F-932E-8163-11F29247493F}"/>
              </a:ext>
            </a:extLst>
          </p:cNvPr>
          <p:cNvSpPr/>
          <p:nvPr/>
        </p:nvSpPr>
        <p:spPr bwMode="auto">
          <a:xfrm>
            <a:off x="1277330" y="3807378"/>
            <a:ext cx="1190235" cy="5036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license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37EFF7B-9B26-93BF-0290-E631317894AC}"/>
              </a:ext>
            </a:extLst>
          </p:cNvPr>
          <p:cNvCxnSpPr/>
          <p:nvPr/>
        </p:nvCxnSpPr>
        <p:spPr bwMode="auto">
          <a:xfrm>
            <a:off x="998904" y="4630244"/>
            <a:ext cx="267898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1D1F38-B76B-F5D1-512E-ED9E6182D812}"/>
              </a:ext>
            </a:extLst>
          </p:cNvPr>
          <p:cNvSpPr txBox="1"/>
          <p:nvPr/>
        </p:nvSpPr>
        <p:spPr>
          <a:xfrm>
            <a:off x="2466155" y="4504275"/>
            <a:ext cx="459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 smtClean="0"/>
              <a:t>Docker build </a:t>
            </a:r>
            <a:r>
              <a:rPr lang="ko-KR" altLang="en-US" sz="1200" dirty="0" smtClean="0"/>
              <a:t>명령을 수행하는 스크립트 </a:t>
            </a:r>
            <a:endParaRPr lang="ko-KR" altLang="en-US" sz="1200" dirty="0"/>
          </a:p>
        </p:txBody>
      </p: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id="{6088E25E-65B6-30D6-F359-B3844C439E6C}"/>
              </a:ext>
            </a:extLst>
          </p:cNvPr>
          <p:cNvSpPr/>
          <p:nvPr/>
        </p:nvSpPr>
        <p:spPr bwMode="auto">
          <a:xfrm>
            <a:off x="1275921" y="4411286"/>
            <a:ext cx="1190235" cy="5036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dirty="0" smtClean="0">
                <a:latin typeface="맑은 고딕" pitchFamily="50" charset="-127"/>
                <a:ea typeface="맑은 고딕" pitchFamily="50" charset="-127"/>
              </a:rPr>
              <a:t>build.sh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CC5FA94-7F31-49CF-F419-397DE2153DB5}"/>
              </a:ext>
            </a:extLst>
          </p:cNvPr>
          <p:cNvCxnSpPr/>
          <p:nvPr/>
        </p:nvCxnSpPr>
        <p:spPr bwMode="auto">
          <a:xfrm>
            <a:off x="989784" y="5241937"/>
            <a:ext cx="267898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A08DD53-8BA7-EE24-C490-AD3EE649C90E}"/>
              </a:ext>
            </a:extLst>
          </p:cNvPr>
          <p:cNvSpPr txBox="1"/>
          <p:nvPr/>
        </p:nvSpPr>
        <p:spPr>
          <a:xfrm>
            <a:off x="2457035" y="5095758"/>
            <a:ext cx="4386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 err="1" smtClean="0"/>
              <a:t>Dockerfile</a:t>
            </a:r>
            <a:r>
              <a:rPr lang="ko-KR" altLang="en-US" sz="1200" dirty="0" smtClean="0"/>
              <a:t> </a:t>
            </a:r>
            <a:endParaRPr lang="ko-KR" altLang="en-US" sz="1200" dirty="0"/>
          </a:p>
        </p:txBody>
      </p:sp>
      <p:sp>
        <p:nvSpPr>
          <p:cNvPr id="32" name="사각형: 둥근 모서리 32">
            <a:extLst>
              <a:ext uri="{FF2B5EF4-FFF2-40B4-BE49-F238E27FC236}">
                <a16:creationId xmlns:a16="http://schemas.microsoft.com/office/drawing/2014/main" id="{36CD3A98-863A-668F-65CA-599E16AA6EC3}"/>
              </a:ext>
            </a:extLst>
          </p:cNvPr>
          <p:cNvSpPr/>
          <p:nvPr/>
        </p:nvSpPr>
        <p:spPr bwMode="auto">
          <a:xfrm>
            <a:off x="1266801" y="5022979"/>
            <a:ext cx="1190235" cy="5036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dirty="0" err="1" smtClean="0">
                <a:latin typeface="맑은 고딕" pitchFamily="50" charset="-127"/>
                <a:ea typeface="맑은 고딕" pitchFamily="50" charset="-127"/>
              </a:rPr>
              <a:t>Dockerfile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CBF22C6-3919-CDB0-2B05-53764D6DF3B4}"/>
              </a:ext>
            </a:extLst>
          </p:cNvPr>
          <p:cNvCxnSpPr/>
          <p:nvPr/>
        </p:nvCxnSpPr>
        <p:spPr bwMode="auto">
          <a:xfrm>
            <a:off x="998904" y="5841436"/>
            <a:ext cx="267898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사각형: 둥근 모서리 35">
            <a:extLst>
              <a:ext uri="{FF2B5EF4-FFF2-40B4-BE49-F238E27FC236}">
                <a16:creationId xmlns:a16="http://schemas.microsoft.com/office/drawing/2014/main" id="{93230086-347D-1D6E-D88B-ACA90ECA72B1}"/>
              </a:ext>
            </a:extLst>
          </p:cNvPr>
          <p:cNvSpPr/>
          <p:nvPr/>
        </p:nvSpPr>
        <p:spPr bwMode="auto">
          <a:xfrm>
            <a:off x="1275921" y="5622478"/>
            <a:ext cx="1992573" cy="5036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dirty="0">
                <a:latin typeface="맑은 고딕" pitchFamily="50" charset="-127"/>
              </a:rPr>
              <a:t>jeus8_5-b266025.tar.gz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94347" y="1498936"/>
            <a:ext cx="11499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dirty="0" smtClean="0"/>
              <a:t>본 문서에서는 </a:t>
            </a:r>
            <a:r>
              <a:rPr lang="en-US" altLang="ko-KR" dirty="0" smtClean="0"/>
              <a:t>Image Build </a:t>
            </a:r>
            <a:r>
              <a:rPr lang="ko-KR" altLang="en-US" dirty="0" smtClean="0"/>
              <a:t>작업을 수행할 디렉터리 구성을 아래와 같이 설정 하였습니다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389868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348" y="0"/>
            <a:ext cx="75998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3200" b="1" dirty="0">
                <a:solidFill>
                  <a:schemeClr val="bg1"/>
                </a:solidFill>
              </a:rPr>
              <a:t>3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. Image Build</a:t>
            </a:r>
            <a:endParaRPr lang="ko-KR" altLang="en-US" sz="32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367921"/>
            <a:ext cx="1310640" cy="134995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494348" y="1115171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en-US" altLang="ko-KR" kern="0" spc="-150" dirty="0" err="1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Config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디렉터리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EABAA9-903B-E199-113E-BF4B35312609}"/>
              </a:ext>
            </a:extLst>
          </p:cNvPr>
          <p:cNvSpPr txBox="1"/>
          <p:nvPr/>
        </p:nvSpPr>
        <p:spPr>
          <a:xfrm>
            <a:off x="3273549" y="5695257"/>
            <a:ext cx="4891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 err="1" smtClean="0"/>
              <a:t>CloudServer</a:t>
            </a:r>
            <a:r>
              <a:rPr lang="en-US" altLang="ko-KR" sz="1200" dirty="0" smtClean="0"/>
              <a:t> Properties </a:t>
            </a:r>
            <a:r>
              <a:rPr lang="ko-KR" altLang="en-US" sz="1200" dirty="0" smtClean="0"/>
              <a:t>설정 파일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0B0E26-FC6F-E2A3-BFEE-FC7F981CEEA8}"/>
              </a:ext>
            </a:extLst>
          </p:cNvPr>
          <p:cNvSpPr txBox="1"/>
          <p:nvPr/>
        </p:nvSpPr>
        <p:spPr>
          <a:xfrm>
            <a:off x="1684582" y="2005284"/>
            <a:ext cx="3772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jeus</a:t>
            </a:r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config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디렉터리 </a:t>
            </a:r>
            <a:endParaRPr lang="ko-KR" altLang="en-US" sz="1200" dirty="0"/>
          </a:p>
        </p:txBody>
      </p:sp>
      <p:sp>
        <p:nvSpPr>
          <p:cNvPr id="15" name="사각형: 둥근 모서리 9">
            <a:extLst>
              <a:ext uri="{FF2B5EF4-FFF2-40B4-BE49-F238E27FC236}">
                <a16:creationId xmlns:a16="http://schemas.microsoft.com/office/drawing/2014/main" id="{4F3B2A9A-D03E-D874-A270-41CA85B128C5}"/>
              </a:ext>
            </a:extLst>
          </p:cNvPr>
          <p:cNvSpPr/>
          <p:nvPr/>
        </p:nvSpPr>
        <p:spPr bwMode="auto">
          <a:xfrm>
            <a:off x="494348" y="1936677"/>
            <a:ext cx="1190235" cy="45811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FFFF"/>
            </a:solidFill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b="1" dirty="0" err="1" smtClean="0"/>
              <a:t>config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0273FE8-458A-3965-4CC6-6D7D753D780C}"/>
              </a:ext>
            </a:extLst>
          </p:cNvPr>
          <p:cNvCxnSpPr>
            <a:cxnSpLocks/>
          </p:cNvCxnSpPr>
          <p:nvPr/>
        </p:nvCxnSpPr>
        <p:spPr bwMode="auto">
          <a:xfrm flipH="1">
            <a:off x="998904" y="2394788"/>
            <a:ext cx="10528" cy="418111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6280607-2E09-9119-33FD-0BA216DE6115}"/>
              </a:ext>
            </a:extLst>
          </p:cNvPr>
          <p:cNvCxnSpPr/>
          <p:nvPr/>
        </p:nvCxnSpPr>
        <p:spPr bwMode="auto">
          <a:xfrm>
            <a:off x="1000312" y="2823411"/>
            <a:ext cx="267898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E391650-BDA1-71AC-DC02-B2D6C0AE9F56}"/>
              </a:ext>
            </a:extLst>
          </p:cNvPr>
          <p:cNvSpPr txBox="1"/>
          <p:nvPr/>
        </p:nvSpPr>
        <p:spPr>
          <a:xfrm>
            <a:off x="2467565" y="2697442"/>
            <a:ext cx="4072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 smtClean="0"/>
              <a:t>JEUS </a:t>
            </a:r>
            <a:r>
              <a:rPr lang="ko-KR" altLang="en-US" sz="1200" dirty="0" smtClean="0"/>
              <a:t>기동 스크립트</a:t>
            </a:r>
            <a:endParaRPr lang="ko-KR" altLang="en-US" sz="1200" dirty="0"/>
          </a:p>
        </p:txBody>
      </p:sp>
      <p:sp>
        <p:nvSpPr>
          <p:cNvPr id="20" name="사각형: 둥근 모서리 15">
            <a:extLst>
              <a:ext uri="{FF2B5EF4-FFF2-40B4-BE49-F238E27FC236}">
                <a16:creationId xmlns:a16="http://schemas.microsoft.com/office/drawing/2014/main" id="{E2E70C5A-25D6-B6D1-A51A-AED8EAD6D563}"/>
              </a:ext>
            </a:extLst>
          </p:cNvPr>
          <p:cNvSpPr/>
          <p:nvPr/>
        </p:nvSpPr>
        <p:spPr bwMode="auto">
          <a:xfrm>
            <a:off x="1277330" y="2604453"/>
            <a:ext cx="1190235" cy="5036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dirty="0">
                <a:latin typeface="맑은 고딕" pitchFamily="50" charset="-127"/>
                <a:ea typeface="맑은 고딕" pitchFamily="50" charset="-127"/>
              </a:rPr>
              <a:t>s</a:t>
            </a:r>
            <a:r>
              <a:rPr kumimoji="1" lang="en-US" altLang="ko-KR" sz="1200" b="1" dirty="0" smtClean="0">
                <a:latin typeface="맑은 고딕" pitchFamily="50" charset="-127"/>
                <a:ea typeface="맑은 고딕" pitchFamily="50" charset="-127"/>
              </a:rPr>
              <a:t>tart.sh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615DFFB-D8AD-0049-0978-D7E285373782}"/>
              </a:ext>
            </a:extLst>
          </p:cNvPr>
          <p:cNvCxnSpPr/>
          <p:nvPr/>
        </p:nvCxnSpPr>
        <p:spPr bwMode="auto">
          <a:xfrm>
            <a:off x="1002007" y="3427321"/>
            <a:ext cx="267898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BE3ECF4-9112-FC6B-475F-9B697C39D435}"/>
              </a:ext>
            </a:extLst>
          </p:cNvPr>
          <p:cNvSpPr txBox="1"/>
          <p:nvPr/>
        </p:nvSpPr>
        <p:spPr>
          <a:xfrm>
            <a:off x="2469259" y="3271037"/>
            <a:ext cx="4072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 smtClean="0"/>
              <a:t>JEUS </a:t>
            </a:r>
            <a:r>
              <a:rPr lang="ko-KR" altLang="en-US" sz="1200" dirty="0" smtClean="0"/>
              <a:t>중지 스크립트</a:t>
            </a:r>
            <a:endParaRPr lang="ko-KR" altLang="en-US" sz="1200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:a16="http://schemas.microsoft.com/office/drawing/2014/main" id="{FE025FF9-D2DD-C748-1C94-4A9139DEE016}"/>
              </a:ext>
            </a:extLst>
          </p:cNvPr>
          <p:cNvSpPr/>
          <p:nvPr/>
        </p:nvSpPr>
        <p:spPr bwMode="auto">
          <a:xfrm>
            <a:off x="1279025" y="3208363"/>
            <a:ext cx="1190235" cy="5036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dirty="0">
                <a:latin typeface="맑은 고딕" pitchFamily="50" charset="-127"/>
                <a:ea typeface="맑은 고딕" pitchFamily="50" charset="-127"/>
              </a:rPr>
              <a:t>s</a:t>
            </a: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top.sh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2F7455C-EF8E-9318-8AB9-2085E24B55BA}"/>
              </a:ext>
            </a:extLst>
          </p:cNvPr>
          <p:cNvCxnSpPr/>
          <p:nvPr/>
        </p:nvCxnSpPr>
        <p:spPr bwMode="auto">
          <a:xfrm>
            <a:off x="1000312" y="4026336"/>
            <a:ext cx="267898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580C3D-B120-2833-C957-4FC71DB71588}"/>
              </a:ext>
            </a:extLst>
          </p:cNvPr>
          <p:cNvSpPr txBox="1"/>
          <p:nvPr/>
        </p:nvSpPr>
        <p:spPr>
          <a:xfrm>
            <a:off x="2467565" y="3880156"/>
            <a:ext cx="4072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 smtClean="0"/>
              <a:t>JEUS </a:t>
            </a:r>
            <a:r>
              <a:rPr lang="ko-KR" altLang="en-US" sz="1200" dirty="0" smtClean="0"/>
              <a:t>설정 파일</a:t>
            </a:r>
            <a:endParaRPr lang="ko-KR" altLang="en-US" sz="1200" dirty="0"/>
          </a:p>
        </p:txBody>
      </p:sp>
      <p:sp>
        <p:nvSpPr>
          <p:cNvPr id="26" name="사각형: 둥근 모서리 26">
            <a:extLst>
              <a:ext uri="{FF2B5EF4-FFF2-40B4-BE49-F238E27FC236}">
                <a16:creationId xmlns:a16="http://schemas.microsoft.com/office/drawing/2014/main" id="{91E97935-0A0F-932E-8163-11F29247493F}"/>
              </a:ext>
            </a:extLst>
          </p:cNvPr>
          <p:cNvSpPr/>
          <p:nvPr/>
        </p:nvSpPr>
        <p:spPr bwMode="auto">
          <a:xfrm>
            <a:off x="1277330" y="3807378"/>
            <a:ext cx="1190235" cy="5036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dirty="0">
                <a:latin typeface="맑은 고딕" pitchFamily="50" charset="-127"/>
                <a:ea typeface="맑은 고딕" pitchFamily="50" charset="-127"/>
              </a:rPr>
              <a:t>d</a:t>
            </a:r>
            <a:r>
              <a:rPr kumimoji="1" lang="en-US" altLang="ko-KR" sz="1200" b="1" dirty="0" smtClean="0">
                <a:latin typeface="맑은 고딕" pitchFamily="50" charset="-127"/>
                <a:ea typeface="맑은 고딕" pitchFamily="50" charset="-127"/>
              </a:rPr>
              <a:t>omain.xml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37EFF7B-9B26-93BF-0290-E631317894AC}"/>
              </a:ext>
            </a:extLst>
          </p:cNvPr>
          <p:cNvCxnSpPr/>
          <p:nvPr/>
        </p:nvCxnSpPr>
        <p:spPr bwMode="auto">
          <a:xfrm>
            <a:off x="998904" y="4630244"/>
            <a:ext cx="267898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1D1F38-B76B-F5D1-512E-ED9E6182D812}"/>
              </a:ext>
            </a:extLst>
          </p:cNvPr>
          <p:cNvSpPr txBox="1"/>
          <p:nvPr/>
        </p:nvSpPr>
        <p:spPr>
          <a:xfrm>
            <a:off x="2466155" y="4504275"/>
            <a:ext cx="459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 smtClean="0"/>
              <a:t>JEUS </a:t>
            </a:r>
            <a:r>
              <a:rPr lang="ko-KR" altLang="en-US" sz="1200" dirty="0" smtClean="0"/>
              <a:t>계정 정책 파일 </a:t>
            </a:r>
            <a:endParaRPr lang="ko-KR" altLang="en-US" sz="1200" dirty="0"/>
          </a:p>
        </p:txBody>
      </p: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id="{6088E25E-65B6-30D6-F359-B3844C439E6C}"/>
              </a:ext>
            </a:extLst>
          </p:cNvPr>
          <p:cNvSpPr/>
          <p:nvPr/>
        </p:nvSpPr>
        <p:spPr bwMode="auto">
          <a:xfrm>
            <a:off x="1275921" y="4411286"/>
            <a:ext cx="1190235" cy="5036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dirty="0">
                <a:latin typeface="맑은 고딕" pitchFamily="50" charset="-127"/>
                <a:ea typeface="맑은 고딕" pitchFamily="50" charset="-127"/>
              </a:rPr>
              <a:t>p</a:t>
            </a:r>
            <a:r>
              <a:rPr kumimoji="1" lang="en-US" altLang="ko-KR" sz="1200" b="1" dirty="0" smtClean="0">
                <a:latin typeface="맑은 고딕" pitchFamily="50" charset="-127"/>
                <a:ea typeface="맑은 고딕" pitchFamily="50" charset="-127"/>
              </a:rPr>
              <a:t>olicies.xml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CC5FA94-7F31-49CF-F419-397DE2153DB5}"/>
              </a:ext>
            </a:extLst>
          </p:cNvPr>
          <p:cNvCxnSpPr/>
          <p:nvPr/>
        </p:nvCxnSpPr>
        <p:spPr bwMode="auto">
          <a:xfrm>
            <a:off x="989784" y="5241937"/>
            <a:ext cx="267898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A08DD53-8BA7-EE24-C490-AD3EE649C90E}"/>
              </a:ext>
            </a:extLst>
          </p:cNvPr>
          <p:cNvSpPr txBox="1"/>
          <p:nvPr/>
        </p:nvSpPr>
        <p:spPr>
          <a:xfrm>
            <a:off x="2457035" y="5095758"/>
            <a:ext cx="4386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 smtClean="0"/>
              <a:t>PostgreSQL, </a:t>
            </a:r>
            <a:r>
              <a:rPr lang="en-US" altLang="ko-KR" sz="1200" dirty="0" err="1" smtClean="0"/>
              <a:t>MariaDB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드라이버</a:t>
            </a:r>
            <a:r>
              <a:rPr lang="ko-KR" altLang="en-US" sz="1200" dirty="0" smtClean="0"/>
              <a:t> </a:t>
            </a:r>
            <a:endParaRPr lang="ko-KR" altLang="en-US" sz="1200" dirty="0"/>
          </a:p>
        </p:txBody>
      </p:sp>
      <p:sp>
        <p:nvSpPr>
          <p:cNvPr id="32" name="사각형: 둥근 모서리 32">
            <a:extLst>
              <a:ext uri="{FF2B5EF4-FFF2-40B4-BE49-F238E27FC236}">
                <a16:creationId xmlns:a16="http://schemas.microsoft.com/office/drawing/2014/main" id="{36CD3A98-863A-668F-65CA-599E16AA6EC3}"/>
              </a:ext>
            </a:extLst>
          </p:cNvPr>
          <p:cNvSpPr/>
          <p:nvPr/>
        </p:nvSpPr>
        <p:spPr bwMode="auto">
          <a:xfrm>
            <a:off x="1266801" y="5022979"/>
            <a:ext cx="1190235" cy="5036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dirty="0" smtClean="0">
                <a:latin typeface="맑은 고딕" pitchFamily="50" charset="-127"/>
                <a:ea typeface="맑은 고딕" pitchFamily="50" charset="-127"/>
              </a:rPr>
              <a:t>JDBC Driver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CBF22C6-3919-CDB0-2B05-53764D6DF3B4}"/>
              </a:ext>
            </a:extLst>
          </p:cNvPr>
          <p:cNvCxnSpPr/>
          <p:nvPr/>
        </p:nvCxnSpPr>
        <p:spPr bwMode="auto">
          <a:xfrm>
            <a:off x="998904" y="5841436"/>
            <a:ext cx="267898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사각형: 둥근 모서리 35">
            <a:extLst>
              <a:ext uri="{FF2B5EF4-FFF2-40B4-BE49-F238E27FC236}">
                <a16:creationId xmlns:a16="http://schemas.microsoft.com/office/drawing/2014/main" id="{93230086-347D-1D6E-D88B-ACA90ECA72B1}"/>
              </a:ext>
            </a:extLst>
          </p:cNvPr>
          <p:cNvSpPr/>
          <p:nvPr/>
        </p:nvSpPr>
        <p:spPr bwMode="auto">
          <a:xfrm>
            <a:off x="1275921" y="5622478"/>
            <a:ext cx="1992573" cy="5036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dirty="0" err="1">
                <a:latin typeface="맑은 고딕" pitchFamily="50" charset="-127"/>
              </a:rPr>
              <a:t>c</a:t>
            </a:r>
            <a:r>
              <a:rPr kumimoji="1" lang="en-US" altLang="ko-KR" sz="1200" b="1" dirty="0" err="1" smtClean="0">
                <a:latin typeface="맑은 고딕" pitchFamily="50" charset="-127"/>
              </a:rPr>
              <a:t>loudserver.properties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94347" y="1498936"/>
            <a:ext cx="11499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dirty="0" err="1" smtClean="0"/>
              <a:t>Config</a:t>
            </a:r>
            <a:r>
              <a:rPr lang="en-US" altLang="ko-KR" dirty="0" smtClean="0"/>
              <a:t> </a:t>
            </a:r>
            <a:r>
              <a:rPr lang="ko-KR" altLang="en-US" dirty="0" smtClean="0"/>
              <a:t>디렉터리에는 설정 파일 및 스크립트를 아래와 같이 설정 하였습니다</a:t>
            </a:r>
            <a:r>
              <a:rPr lang="en-US" altLang="ko-KR" dirty="0" smtClean="0"/>
              <a:t>.</a:t>
            </a:r>
            <a:endParaRPr lang="en-US" altLang="ko-KR" dirty="0" smtClean="0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7CBF22C6-3919-CDB0-2B05-53764D6DF3B4}"/>
              </a:ext>
            </a:extLst>
          </p:cNvPr>
          <p:cNvCxnSpPr/>
          <p:nvPr/>
        </p:nvCxnSpPr>
        <p:spPr bwMode="auto">
          <a:xfrm>
            <a:off x="989784" y="6437076"/>
            <a:ext cx="267898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사각형: 둥근 모서리 32">
            <a:extLst>
              <a:ext uri="{FF2B5EF4-FFF2-40B4-BE49-F238E27FC236}">
                <a16:creationId xmlns:a16="http://schemas.microsoft.com/office/drawing/2014/main" id="{36CD3A98-863A-668F-65CA-599E16AA6EC3}"/>
              </a:ext>
            </a:extLst>
          </p:cNvPr>
          <p:cNvSpPr/>
          <p:nvPr/>
        </p:nvSpPr>
        <p:spPr bwMode="auto">
          <a:xfrm>
            <a:off x="1266801" y="6218119"/>
            <a:ext cx="1190235" cy="5036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dirty="0">
                <a:latin typeface="맑은 고딕" pitchFamily="50" charset="-127"/>
                <a:ea typeface="맑은 고딕" pitchFamily="50" charset="-127"/>
              </a:rPr>
              <a:t>e</a:t>
            </a: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nv.sh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1D1F38-B76B-F5D1-512E-ED9E6182D812}"/>
              </a:ext>
            </a:extLst>
          </p:cNvPr>
          <p:cNvSpPr txBox="1"/>
          <p:nvPr/>
        </p:nvSpPr>
        <p:spPr>
          <a:xfrm>
            <a:off x="2466155" y="6327481"/>
            <a:ext cx="4597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/>
              <a:t>d</a:t>
            </a:r>
            <a:r>
              <a:rPr lang="en-US" altLang="ko-KR" sz="1200" dirty="0" smtClean="0"/>
              <a:t>omain.xml </a:t>
            </a:r>
            <a:r>
              <a:rPr lang="ko-KR" altLang="en-US" sz="1200" dirty="0" smtClean="0"/>
              <a:t>파일 복사 및 </a:t>
            </a:r>
            <a:r>
              <a:rPr lang="en-US" altLang="ko-KR" sz="1200" dirty="0" smtClean="0"/>
              <a:t>JEUS </a:t>
            </a:r>
            <a:r>
              <a:rPr lang="ko-KR" altLang="en-US" sz="1200" dirty="0" smtClean="0"/>
              <a:t>계정 설정을 위한 쉘 스크립트</a:t>
            </a:r>
            <a:r>
              <a:rPr lang="ko-KR" altLang="en-US" sz="1200" dirty="0" smtClean="0"/>
              <a:t>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30495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348" y="0"/>
            <a:ext cx="75998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3200" b="1" dirty="0">
                <a:solidFill>
                  <a:schemeClr val="bg1"/>
                </a:solidFill>
              </a:rPr>
              <a:t>3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. Image Build</a:t>
            </a:r>
            <a:endParaRPr lang="ko-KR" altLang="en-US" sz="32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367921"/>
            <a:ext cx="1310640" cy="134995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494348" y="1115171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en-US" altLang="ko-KR" kern="0" spc="-150" dirty="0" err="1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Dockerfile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"/>
          <p:cNvSpPr txBox="1"/>
          <p:nvPr/>
        </p:nvSpPr>
        <p:spPr>
          <a:xfrm>
            <a:off x="494348" y="1506113"/>
            <a:ext cx="10838341" cy="526297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#</a:t>
            </a:r>
            <a:r>
              <a:rPr lang="ko-KR" altLang="en-US" sz="1200" dirty="0">
                <a:solidFill>
                  <a:schemeClr val="bg1"/>
                </a:solidFill>
              </a:rPr>
              <a:t>이미지 경량화를 위한 </a:t>
            </a:r>
            <a:r>
              <a:rPr lang="en-US" altLang="ko-KR" sz="1200" dirty="0">
                <a:solidFill>
                  <a:schemeClr val="bg1"/>
                </a:solidFill>
              </a:rPr>
              <a:t>alpine </a:t>
            </a:r>
            <a:r>
              <a:rPr lang="ko-KR" altLang="en-US" sz="1200" dirty="0">
                <a:solidFill>
                  <a:schemeClr val="bg1"/>
                </a:solidFill>
              </a:rPr>
              <a:t>리눅스 사용 </a:t>
            </a:r>
            <a:r>
              <a:rPr lang="en-US" altLang="ko-KR" sz="1200" dirty="0">
                <a:solidFill>
                  <a:schemeClr val="bg1"/>
                </a:solidFill>
              </a:rPr>
              <a:t>(openjdk8 </a:t>
            </a:r>
            <a:r>
              <a:rPr lang="ko-KR" altLang="en-US" sz="1200" dirty="0">
                <a:solidFill>
                  <a:schemeClr val="bg1"/>
                </a:solidFill>
              </a:rPr>
              <a:t>포함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FROM openjdk:8-alpine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# JEUS Version ARG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ARG </a:t>
            </a:r>
            <a:r>
              <a:rPr lang="en-US" altLang="ko-KR" sz="1200" dirty="0" err="1">
                <a:solidFill>
                  <a:schemeClr val="bg1"/>
                </a:solidFill>
              </a:rPr>
              <a:t>build_version</a:t>
            </a:r>
            <a:r>
              <a:rPr lang="en-US" altLang="ko-KR" sz="1200" dirty="0">
                <a:solidFill>
                  <a:schemeClr val="bg1"/>
                </a:solidFill>
              </a:rPr>
              <a:t>="jeus8_5-b266025"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#Set </a:t>
            </a:r>
            <a:r>
              <a:rPr lang="en-US" altLang="ko-KR" sz="1200" dirty="0" err="1">
                <a:solidFill>
                  <a:schemeClr val="bg1"/>
                </a:solidFill>
              </a:rPr>
              <a:t>Timezone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ENV TZ=Asia/Seoul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RUN \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</a:t>
            </a:r>
            <a:r>
              <a:rPr lang="en-US" altLang="ko-KR" sz="1200" dirty="0" err="1">
                <a:solidFill>
                  <a:schemeClr val="bg1"/>
                </a:solidFill>
              </a:rPr>
              <a:t>apk</a:t>
            </a:r>
            <a:r>
              <a:rPr lang="en-US" altLang="ko-KR" sz="1200" dirty="0">
                <a:solidFill>
                  <a:schemeClr val="bg1"/>
                </a:solidFill>
              </a:rPr>
              <a:t> add --no-cache </a:t>
            </a:r>
            <a:r>
              <a:rPr lang="en-US" altLang="ko-KR" sz="1200" dirty="0" err="1">
                <a:solidFill>
                  <a:schemeClr val="bg1"/>
                </a:solidFill>
              </a:rPr>
              <a:t>tzdata</a:t>
            </a:r>
            <a:r>
              <a:rPr lang="en-US" altLang="ko-KR" sz="1200" dirty="0">
                <a:solidFill>
                  <a:schemeClr val="bg1"/>
                </a:solidFill>
              </a:rPr>
              <a:t> &amp;&amp; \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</a:t>
            </a:r>
            <a:r>
              <a:rPr lang="en-US" altLang="ko-KR" sz="1200" dirty="0" err="1">
                <a:solidFill>
                  <a:schemeClr val="bg1"/>
                </a:solidFill>
              </a:rPr>
              <a:t>cp</a:t>
            </a:r>
            <a:r>
              <a:rPr lang="en-US" altLang="ko-KR" sz="1200" dirty="0">
                <a:solidFill>
                  <a:schemeClr val="bg1"/>
                </a:solidFill>
              </a:rPr>
              <a:t> /</a:t>
            </a:r>
            <a:r>
              <a:rPr lang="en-US" altLang="ko-KR" sz="1200" dirty="0" err="1">
                <a:solidFill>
                  <a:schemeClr val="bg1"/>
                </a:solidFill>
              </a:rPr>
              <a:t>usr</a:t>
            </a:r>
            <a:r>
              <a:rPr lang="en-US" altLang="ko-KR" sz="1200" dirty="0">
                <a:solidFill>
                  <a:schemeClr val="bg1"/>
                </a:solidFill>
              </a:rPr>
              <a:t>/share/</a:t>
            </a:r>
            <a:r>
              <a:rPr lang="en-US" altLang="ko-KR" sz="1200" dirty="0" err="1">
                <a:solidFill>
                  <a:schemeClr val="bg1"/>
                </a:solidFill>
              </a:rPr>
              <a:t>zoneinfo</a:t>
            </a:r>
            <a:r>
              <a:rPr lang="en-US" altLang="ko-KR" sz="1200" dirty="0">
                <a:solidFill>
                  <a:schemeClr val="bg1"/>
                </a:solidFill>
              </a:rPr>
              <a:t>/$TZ /</a:t>
            </a:r>
            <a:r>
              <a:rPr lang="en-US" altLang="ko-KR" sz="1200" dirty="0" err="1">
                <a:solidFill>
                  <a:schemeClr val="bg1"/>
                </a:solidFill>
              </a:rPr>
              <a:t>etc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localtime</a:t>
            </a:r>
            <a:r>
              <a:rPr lang="en-US" altLang="ko-KR" sz="1200" dirty="0">
                <a:solidFill>
                  <a:schemeClr val="bg1"/>
                </a:solidFill>
              </a:rPr>
              <a:t> &amp;&amp; \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echo $TZ &gt; /</a:t>
            </a:r>
            <a:r>
              <a:rPr lang="en-US" altLang="ko-KR" sz="1200" dirty="0" err="1">
                <a:solidFill>
                  <a:schemeClr val="bg1"/>
                </a:solidFill>
              </a:rPr>
              <a:t>etc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timezone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RUN \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</a:t>
            </a:r>
            <a:r>
              <a:rPr lang="en-US" altLang="ko-KR" sz="1200" dirty="0" err="1">
                <a:solidFill>
                  <a:schemeClr val="bg1"/>
                </a:solidFill>
              </a:rPr>
              <a:t>mkdir</a:t>
            </a:r>
            <a:r>
              <a:rPr lang="en-US" altLang="ko-KR" sz="1200" dirty="0">
                <a:solidFill>
                  <a:schemeClr val="bg1"/>
                </a:solidFill>
              </a:rPr>
              <a:t> -p /home/app \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</a:t>
            </a:r>
            <a:r>
              <a:rPr lang="en-US" altLang="ko-KR" sz="1200" dirty="0" err="1">
                <a:solidFill>
                  <a:schemeClr val="bg1"/>
                </a:solidFill>
              </a:rPr>
              <a:t>mkdir</a:t>
            </a:r>
            <a:r>
              <a:rPr lang="en-US" altLang="ko-KR" sz="1200" dirty="0">
                <a:solidFill>
                  <a:schemeClr val="bg1"/>
                </a:solidFill>
              </a:rPr>
              <a:t> -p /home/script \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</a:t>
            </a:r>
            <a:r>
              <a:rPr lang="en-US" altLang="ko-KR" sz="1200" dirty="0" err="1">
                <a:solidFill>
                  <a:schemeClr val="bg1"/>
                </a:solidFill>
              </a:rPr>
              <a:t>mkdir</a:t>
            </a:r>
            <a:r>
              <a:rPr lang="en-US" altLang="ko-KR" sz="1200" dirty="0">
                <a:solidFill>
                  <a:schemeClr val="bg1"/>
                </a:solidFill>
              </a:rPr>
              <a:t> -p /home/jeus8_5/lib/</a:t>
            </a:r>
            <a:r>
              <a:rPr lang="en-US" altLang="ko-KR" sz="1200" dirty="0" err="1">
                <a:solidFill>
                  <a:schemeClr val="bg1"/>
                </a:solidFill>
              </a:rPr>
              <a:t>datasource</a:t>
            </a:r>
            <a:endParaRPr lang="en-US" altLang="ko-KR" sz="1200" dirty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WORKDIR /</a:t>
            </a:r>
            <a:r>
              <a:rPr lang="en-US" altLang="ko-KR" sz="1200" dirty="0" smtClean="0">
                <a:solidFill>
                  <a:schemeClr val="bg1"/>
                </a:solidFill>
              </a:rPr>
              <a:t>home/jeus8_5 # </a:t>
            </a:r>
            <a:r>
              <a:rPr lang="ko-KR" altLang="en-US" sz="1200" dirty="0" smtClean="0">
                <a:solidFill>
                  <a:schemeClr val="bg1"/>
                </a:solidFill>
              </a:rPr>
              <a:t>작업 디렉터리 설정</a:t>
            </a:r>
            <a:endParaRPr lang="en-US" altLang="ko-KR" sz="1200" dirty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ADD jeus8_5-b266025.tar.gz ./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# JEUS </a:t>
            </a:r>
            <a:r>
              <a:rPr lang="ko-KR" altLang="en-US" sz="1200" dirty="0" smtClean="0">
                <a:solidFill>
                  <a:schemeClr val="bg1"/>
                </a:solidFill>
              </a:rPr>
              <a:t>환경 변수 설정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ENV JEUS_VERSION=${</a:t>
            </a:r>
            <a:r>
              <a:rPr lang="en-US" altLang="ko-KR" sz="1200" dirty="0" err="1">
                <a:solidFill>
                  <a:schemeClr val="bg1"/>
                </a:solidFill>
              </a:rPr>
              <a:t>build_version</a:t>
            </a:r>
            <a:r>
              <a:rPr lang="en-US" altLang="ko-KR" sz="1200" dirty="0">
                <a:solidFill>
                  <a:schemeClr val="bg1"/>
                </a:solidFill>
              </a:rPr>
              <a:t>}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ENV JEUS_HOME=/home/jeus8_5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ENV DOMAIN_HOME=/home/jeus8_5/domains/domain1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ENV SCRIPT_HOME=/home/script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ENV PATH=$JEUS_HOME/bin:$JEUS_HOME/lib:$</a:t>
            </a:r>
            <a:r>
              <a:rPr lang="en-US" altLang="ko-KR" sz="1200" dirty="0" smtClean="0">
                <a:solidFill>
                  <a:schemeClr val="bg1"/>
                </a:solidFill>
              </a:rPr>
              <a:t>PATH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964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348" y="0"/>
            <a:ext cx="75998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3200" b="1" dirty="0">
                <a:solidFill>
                  <a:schemeClr val="bg1"/>
                </a:solidFill>
              </a:rPr>
              <a:t>3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. Image Build</a:t>
            </a:r>
            <a:endParaRPr lang="ko-KR" altLang="en-US" sz="32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367921"/>
            <a:ext cx="1310640" cy="134995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494348" y="1115171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en-US" altLang="ko-KR" kern="0" spc="-150" dirty="0" err="1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Dockerfile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"/>
          <p:cNvSpPr txBox="1"/>
          <p:nvPr/>
        </p:nvSpPr>
        <p:spPr>
          <a:xfrm>
            <a:off x="494348" y="1506113"/>
            <a:ext cx="10838341" cy="489364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USER root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RUN </a:t>
            </a:r>
            <a:r>
              <a:rPr lang="en-US" altLang="ko-KR" sz="1200" dirty="0" err="1">
                <a:solidFill>
                  <a:schemeClr val="bg1"/>
                </a:solidFill>
              </a:rPr>
              <a:t>chmod</a:t>
            </a:r>
            <a:r>
              <a:rPr lang="en-US" altLang="ko-KR" sz="1200" dirty="0">
                <a:solidFill>
                  <a:schemeClr val="bg1"/>
                </a:solidFill>
              </a:rPr>
              <a:t> -R +x ${JEUS_HOME}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COPY config/env.sh ${SCRIPT_HOME}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COPY config/start.sh ${SCRIPT_HOME}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COPY config/stop.sh ${SCRIPT_HOME}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COPY 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/policies.xml ${DOMAIN_HOME}/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/security/SYSTEM_DOMAIN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COPY 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/domain.xml ${DOMAIN_HOME}/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COPY 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cloudserver.properties</a:t>
            </a:r>
            <a:r>
              <a:rPr lang="en-US" altLang="ko-KR" sz="1200" dirty="0">
                <a:solidFill>
                  <a:schemeClr val="bg1"/>
                </a:solidFill>
              </a:rPr>
              <a:t> ${JEUS_HOME}/bin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COPY 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/postgresql-42.6.0.jar ${JEUS_HOME}/lib/</a:t>
            </a:r>
            <a:r>
              <a:rPr lang="en-US" altLang="ko-KR" sz="1200" dirty="0" err="1">
                <a:solidFill>
                  <a:schemeClr val="bg1"/>
                </a:solidFill>
              </a:rPr>
              <a:t>datasource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COPY 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/mariadb-java-client-3.0.8.jar ${JEUS_HOME}/lib/</a:t>
            </a:r>
            <a:r>
              <a:rPr lang="en-US" altLang="ko-KR" sz="1200" dirty="0" err="1">
                <a:solidFill>
                  <a:schemeClr val="bg1"/>
                </a:solidFill>
              </a:rPr>
              <a:t>datasource</a:t>
            </a:r>
            <a:endParaRPr lang="en-US" altLang="ko-KR" sz="1200" dirty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# copy license file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COPY license/license ${JEUS_HOME}/license/license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# copy patch file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COPY patch/</a:t>
            </a:r>
            <a:r>
              <a:rPr lang="en-US" altLang="ko-KR" sz="1200" dirty="0" err="1">
                <a:solidFill>
                  <a:schemeClr val="bg1"/>
                </a:solidFill>
              </a:rPr>
              <a:t>jext</a:t>
            </a:r>
            <a:r>
              <a:rPr lang="en-US" altLang="ko-KR" sz="1200" dirty="0">
                <a:solidFill>
                  <a:schemeClr val="bg1"/>
                </a:solidFill>
              </a:rPr>
              <a:t> ${JEUS_HOME}/lib/</a:t>
            </a:r>
            <a:r>
              <a:rPr lang="en-US" altLang="ko-KR" sz="1200" dirty="0" err="1">
                <a:solidFill>
                  <a:schemeClr val="bg1"/>
                </a:solidFill>
              </a:rPr>
              <a:t>jext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COPY patch/</a:t>
            </a:r>
            <a:r>
              <a:rPr lang="en-US" altLang="ko-KR" sz="1200" dirty="0" err="1">
                <a:solidFill>
                  <a:schemeClr val="bg1"/>
                </a:solidFill>
              </a:rPr>
              <a:t>jlext</a:t>
            </a:r>
            <a:r>
              <a:rPr lang="en-US" altLang="ko-KR" sz="1200" dirty="0">
                <a:solidFill>
                  <a:schemeClr val="bg1"/>
                </a:solidFill>
              </a:rPr>
              <a:t> ${JEUS_HOME}/lib/</a:t>
            </a:r>
            <a:r>
              <a:rPr lang="en-US" altLang="ko-KR" sz="1200" dirty="0" err="1">
                <a:solidFill>
                  <a:schemeClr val="bg1"/>
                </a:solidFill>
              </a:rPr>
              <a:t>jlext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COPY patch/</a:t>
            </a:r>
            <a:r>
              <a:rPr lang="en-US" altLang="ko-KR" sz="1200" dirty="0" err="1">
                <a:solidFill>
                  <a:schemeClr val="bg1"/>
                </a:solidFill>
              </a:rPr>
              <a:t>jnext</a:t>
            </a:r>
            <a:r>
              <a:rPr lang="en-US" altLang="ko-KR" sz="1200" dirty="0">
                <a:solidFill>
                  <a:schemeClr val="bg1"/>
                </a:solidFill>
              </a:rPr>
              <a:t> ${JEUS_HOME}/lib/</a:t>
            </a:r>
            <a:r>
              <a:rPr lang="en-US" altLang="ko-KR" sz="1200" dirty="0" err="1">
                <a:solidFill>
                  <a:schemeClr val="bg1"/>
                </a:solidFill>
              </a:rPr>
              <a:t>jnext</a:t>
            </a:r>
            <a:endParaRPr lang="en-US" altLang="ko-KR" sz="1200" dirty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# script permission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RUN \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</a:t>
            </a:r>
            <a:r>
              <a:rPr lang="en-US" altLang="ko-KR" sz="1200" dirty="0" err="1">
                <a:solidFill>
                  <a:schemeClr val="bg1"/>
                </a:solidFill>
              </a:rPr>
              <a:t>chmod</a:t>
            </a:r>
            <a:r>
              <a:rPr lang="en-US" altLang="ko-KR" sz="1200" dirty="0">
                <a:solidFill>
                  <a:schemeClr val="bg1"/>
                </a:solidFill>
              </a:rPr>
              <a:t> +x /home/script/*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#ENTRYPOINT ["/home/</a:t>
            </a:r>
            <a:r>
              <a:rPr lang="en-US" altLang="ko-KR" sz="1200" dirty="0" err="1">
                <a:solidFill>
                  <a:schemeClr val="bg1"/>
                </a:solidFill>
              </a:rPr>
              <a:t>tmax</a:t>
            </a:r>
            <a:r>
              <a:rPr lang="en-US" altLang="ko-KR" sz="1200" dirty="0">
                <a:solidFill>
                  <a:schemeClr val="bg1"/>
                </a:solidFill>
              </a:rPr>
              <a:t>/script/start.sh"]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CMD ["/home/script/start.sh"]</a:t>
            </a:r>
          </a:p>
        </p:txBody>
      </p:sp>
    </p:spTree>
    <p:extLst>
      <p:ext uri="{BB962C8B-B14F-4D97-AF65-F5344CB8AC3E}">
        <p14:creationId xmlns:p14="http://schemas.microsoft.com/office/powerpoint/2010/main" val="2048996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348" y="0"/>
            <a:ext cx="75998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3200" b="1" dirty="0">
                <a:solidFill>
                  <a:schemeClr val="bg1"/>
                </a:solidFill>
              </a:rPr>
              <a:t>3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. Image Build</a:t>
            </a:r>
            <a:endParaRPr lang="ko-KR" altLang="en-US" sz="32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367921"/>
            <a:ext cx="1310640" cy="134995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494348" y="1115171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 Build </a:t>
            </a:r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진행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"/>
          <p:cNvSpPr txBox="1"/>
          <p:nvPr/>
        </p:nvSpPr>
        <p:spPr>
          <a:xfrm>
            <a:off x="494348" y="1506113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cd 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webtob</a:t>
            </a:r>
            <a:r>
              <a:rPr lang="en-US" altLang="ko-KR" sz="1200" dirty="0" smtClean="0">
                <a:solidFill>
                  <a:schemeClr val="bg1"/>
                </a:solidFill>
              </a:rPr>
              <a:t> #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Dockerfile</a:t>
            </a:r>
            <a:r>
              <a:rPr lang="ko-KR" altLang="en-US" sz="1200" dirty="0" smtClean="0">
                <a:solidFill>
                  <a:schemeClr val="bg1"/>
                </a:solidFill>
              </a:rPr>
              <a:t>이 있는 경로에서 실행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./build.sh</a:t>
            </a:r>
            <a:endParaRPr lang="en-US" altLang="ko-K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내용 개체 틀 2"/>
          <p:cNvSpPr txBox="1">
            <a:spLocks/>
          </p:cNvSpPr>
          <p:nvPr/>
        </p:nvSpPr>
        <p:spPr>
          <a:xfrm>
            <a:off x="494348" y="2009264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 </a:t>
            </a:r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 확인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"/>
          <p:cNvSpPr txBox="1"/>
          <p:nvPr/>
        </p:nvSpPr>
        <p:spPr>
          <a:xfrm>
            <a:off x="494347" y="2393031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docker</a:t>
            </a:r>
            <a:r>
              <a:rPr lang="en-US" altLang="ko-KR" sz="1200" dirty="0" smtClean="0">
                <a:solidFill>
                  <a:schemeClr val="bg1"/>
                </a:solidFill>
              </a:rPr>
              <a:t> images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REPOSITORY   TAG       IMAGE ID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CREATED           SIZE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jeus8.5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v20       </a:t>
            </a:r>
            <a:r>
              <a:rPr lang="en-US" altLang="ko-KR" sz="1200" dirty="0">
                <a:solidFill>
                  <a:schemeClr val="bg1"/>
                </a:solidFill>
              </a:rPr>
              <a:t>4b7e660b605a   19 minutes ago   228MB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9" name="내용 개체 틀 2"/>
          <p:cNvSpPr txBox="1">
            <a:spLocks/>
          </p:cNvSpPr>
          <p:nvPr/>
        </p:nvSpPr>
        <p:spPr>
          <a:xfrm>
            <a:off x="494348" y="3095240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생성한 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 </a:t>
            </a:r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3"/>
          <p:cNvSpPr txBox="1"/>
          <p:nvPr/>
        </p:nvSpPr>
        <p:spPr>
          <a:xfrm>
            <a:off x="494346" y="3848654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altLang="ko-KR" sz="1200" dirty="0">
                <a:solidFill>
                  <a:schemeClr val="bg1"/>
                </a:solidFill>
              </a:rPr>
              <a:t>docker run -id -p 8080:8080 jeus8.5:v20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94346" y="3464615"/>
            <a:ext cx="11499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dirty="0" smtClean="0"/>
              <a:t>Container </a:t>
            </a:r>
            <a:r>
              <a:rPr lang="ko-KR" altLang="en-US" dirty="0" smtClean="0"/>
              <a:t>내부 포트 </a:t>
            </a:r>
            <a:r>
              <a:rPr lang="en-US" altLang="ko-KR" dirty="0" smtClean="0"/>
              <a:t>8080</a:t>
            </a:r>
            <a:r>
              <a:rPr lang="ko-KR" altLang="en-US" dirty="0" smtClean="0"/>
              <a:t>을 </a:t>
            </a:r>
            <a:r>
              <a:rPr lang="ko-KR" altLang="en-US" dirty="0" smtClean="0"/>
              <a:t>외부 </a:t>
            </a:r>
            <a:r>
              <a:rPr lang="en-US" altLang="ko-KR" dirty="0" smtClean="0"/>
              <a:t>8080</a:t>
            </a:r>
            <a:r>
              <a:rPr lang="ko-KR" altLang="en-US" dirty="0" smtClean="0"/>
              <a:t>포트를 통해 연결</a:t>
            </a:r>
            <a:endParaRPr lang="en-US" altLang="ko-KR" dirty="0" smtClean="0"/>
          </a:p>
        </p:txBody>
      </p:sp>
      <p:sp>
        <p:nvSpPr>
          <p:cNvPr id="43" name="내용 개체 틀 2"/>
          <p:cNvSpPr txBox="1">
            <a:spLocks/>
          </p:cNvSpPr>
          <p:nvPr/>
        </p:nvSpPr>
        <p:spPr>
          <a:xfrm>
            <a:off x="494346" y="4203322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컨테이너 실행 확인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3"/>
          <p:cNvSpPr txBox="1"/>
          <p:nvPr/>
        </p:nvSpPr>
        <p:spPr>
          <a:xfrm>
            <a:off x="494346" y="4601396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docker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ps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CONTAINER ID   IMAGE         COMMAND                  CREATED          STATUS          PORTS                                       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46ec5f848274   jeus8.5:v20   "/home/script/start.…"   20 minutes ago   Up 20 minutes   0.0.0.0:8080-&gt;8080/</a:t>
            </a:r>
            <a:r>
              <a:rPr lang="en-US" altLang="ko-KR" sz="1200" dirty="0" err="1">
                <a:solidFill>
                  <a:schemeClr val="bg1"/>
                </a:solidFill>
              </a:rPr>
              <a:t>tcp</a:t>
            </a:r>
            <a:r>
              <a:rPr lang="en-US" altLang="ko-KR" sz="1200" dirty="0">
                <a:solidFill>
                  <a:schemeClr val="bg1"/>
                </a:solidFill>
              </a:rPr>
              <a:t>, :::8080-&gt;8080/</a:t>
            </a:r>
            <a:r>
              <a:rPr lang="en-US" altLang="ko-KR" sz="1200" dirty="0" err="1">
                <a:solidFill>
                  <a:schemeClr val="bg1"/>
                </a:solidFill>
              </a:rPr>
              <a:t>tcp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5" name="내용 개체 틀 2"/>
          <p:cNvSpPr txBox="1">
            <a:spLocks/>
          </p:cNvSpPr>
          <p:nvPr/>
        </p:nvSpPr>
        <p:spPr>
          <a:xfrm>
            <a:off x="494346" y="5330784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Page </a:t>
            </a:r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복사 후 호출 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3"/>
          <p:cNvSpPr txBox="1"/>
          <p:nvPr/>
        </p:nvSpPr>
        <p:spPr>
          <a:xfrm>
            <a:off x="494346" y="5710377"/>
            <a:ext cx="10838341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docker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cp</a:t>
            </a:r>
            <a:r>
              <a:rPr lang="en-US" altLang="ko-KR" sz="1200" dirty="0">
                <a:solidFill>
                  <a:schemeClr val="bg1"/>
                </a:solidFill>
              </a:rPr>
              <a:t> ./</a:t>
            </a:r>
            <a:r>
              <a:rPr lang="en-US" altLang="ko-KR" sz="1200" dirty="0" err="1">
                <a:solidFill>
                  <a:schemeClr val="bg1"/>
                </a:solidFill>
              </a:rPr>
              <a:t>test.jsp</a:t>
            </a:r>
            <a:r>
              <a:rPr lang="en-US" altLang="ko-KR" sz="1200" dirty="0">
                <a:solidFill>
                  <a:schemeClr val="bg1"/>
                </a:solidFill>
              </a:rPr>
              <a:t> 46ec5f848274:/home/app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Successfully copied 2.05kB to 46ec5f848274:/home/app</a:t>
            </a:r>
          </a:p>
          <a:p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curl </a:t>
            </a:r>
            <a:r>
              <a:rPr lang="en-US" altLang="ko-KR" sz="1200" dirty="0">
                <a:solidFill>
                  <a:schemeClr val="bg1"/>
                </a:solidFill>
              </a:rPr>
              <a:t>localhost:8080/</a:t>
            </a:r>
            <a:r>
              <a:rPr lang="en-US" altLang="ko-KR" sz="1200" dirty="0" err="1">
                <a:solidFill>
                  <a:schemeClr val="bg1"/>
                </a:solidFill>
              </a:rPr>
              <a:t>test.jsp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test page </a:t>
            </a:r>
            <a:r>
              <a:rPr lang="en-US" altLang="ko-KR" sz="1200" dirty="0" err="1">
                <a:solidFill>
                  <a:schemeClr val="bg1"/>
                </a:solidFill>
              </a:rPr>
              <a:t>dockerfile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439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2524" y="2094660"/>
            <a:ext cx="4942186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19"/>
              </a:lnSpc>
            </a:pPr>
            <a:r>
              <a:rPr sz="5400" spc="-104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WRTDIQ+SpoqaHanSans-Bold"/>
              </a:rPr>
              <a:t>감사합니다.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64" y="4996703"/>
            <a:ext cx="568793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본사        </a:t>
            </a:r>
            <a:r>
              <a:rPr lang="ko-KR" altLang="en-US" sz="105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황새울로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258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번길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29,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티맥스수내타워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R&amp;D</a:t>
            </a:r>
            <a:r>
              <a:rPr lang="ko-KR" altLang="en-US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센터 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정자일로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45</a:t>
            </a:r>
            <a:r>
              <a:rPr lang="en-US" altLang="ko-KR" sz="105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, </a:t>
            </a:r>
            <a:r>
              <a:rPr lang="ko-KR" altLang="en-US" sz="105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티맥스타워</a:t>
            </a:r>
            <a:endParaRPr lang="en-US" altLang="ko-KR" sz="105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BVOPUE+SpoqaHanSans-Bold"/>
            </a:endParaRPr>
          </a:p>
          <a:p>
            <a:pPr>
              <a:lnSpc>
                <a:spcPct val="150000"/>
              </a:lnSpc>
            </a:pPr>
            <a:r>
              <a:rPr lang="ko-KR" altLang="en-US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홈페이지</a:t>
            </a:r>
            <a:r>
              <a:rPr lang="en-US" altLang="ko-KR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ko-KR" altLang="en-US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www.tmaxsoft.com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대표번호</a:t>
            </a:r>
            <a:r>
              <a:rPr lang="en-US" altLang="ko-KR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ko-KR" altLang="en-US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en-US" altLang="ko-KR" sz="105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031-8018-1000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464" y="4336547"/>
            <a:ext cx="2254733" cy="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234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4252</TotalTime>
  <Words>773</Words>
  <Application>Microsoft Office PowerPoint</Application>
  <PresentationFormat>와이드스크린</PresentationFormat>
  <Paragraphs>188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4" baseType="lpstr">
      <vt:lpstr>BVOPUE+SpoqaHanSans-Bold</vt:lpstr>
      <vt:lpstr>Noto Sans KR Black</vt:lpstr>
      <vt:lpstr>WRTDIQ+SpoqaHanSans-Bold</vt:lpstr>
      <vt:lpstr>나눔스퀘어</vt:lpstr>
      <vt:lpstr>뉴티맥스고딕 CJK</vt:lpstr>
      <vt:lpstr>맑은 고딕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258</cp:revision>
  <dcterms:created xsi:type="dcterms:W3CDTF">2022-09-15T01:21:24Z</dcterms:created>
  <dcterms:modified xsi:type="dcterms:W3CDTF">2024-07-23T05:05:10Z</dcterms:modified>
</cp:coreProperties>
</file>