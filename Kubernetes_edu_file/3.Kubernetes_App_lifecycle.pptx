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70" r:id="rId2"/>
    <p:sldId id="271" r:id="rId3"/>
    <p:sldId id="360" r:id="rId4"/>
    <p:sldId id="362" r:id="rId5"/>
    <p:sldId id="412" r:id="rId6"/>
    <p:sldId id="413" r:id="rId7"/>
    <p:sldId id="415" r:id="rId8"/>
    <p:sldId id="416" r:id="rId9"/>
    <p:sldId id="411" r:id="rId10"/>
    <p:sldId id="414" r:id="rId11"/>
    <p:sldId id="366" r:id="rId12"/>
    <p:sldId id="417" r:id="rId13"/>
    <p:sldId id="395" r:id="rId14"/>
    <p:sldId id="418" r:id="rId15"/>
    <p:sldId id="419" r:id="rId16"/>
    <p:sldId id="420" r:id="rId17"/>
    <p:sldId id="421" r:id="rId18"/>
    <p:sldId id="422" r:id="rId19"/>
    <p:sldId id="423" r:id="rId20"/>
    <p:sldId id="424" r:id="rId21"/>
    <p:sldId id="425" r:id="rId22"/>
    <p:sldId id="295" r:id="rId23"/>
    <p:sldId id="426" r:id="rId24"/>
    <p:sldId id="427" r:id="rId25"/>
    <p:sldId id="308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271"/>
            <p14:sldId id="360"/>
            <p14:sldId id="362"/>
            <p14:sldId id="412"/>
            <p14:sldId id="413"/>
            <p14:sldId id="415"/>
            <p14:sldId id="416"/>
            <p14:sldId id="411"/>
            <p14:sldId id="414"/>
            <p14:sldId id="366"/>
            <p14:sldId id="417"/>
            <p14:sldId id="395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295"/>
            <p14:sldId id="426"/>
            <p14:sldId id="42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85C8CD"/>
    <a:srgbClr val="BBE0E3"/>
    <a:srgbClr val="2366EF"/>
    <a:srgbClr val="7D9EBB"/>
    <a:srgbClr val="171C2C"/>
    <a:srgbClr val="0232AE"/>
    <a:srgbClr val="BACDFE"/>
    <a:srgbClr val="333333"/>
    <a:srgbClr val="95B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898" autoAdjust="0"/>
  </p:normalViewPr>
  <p:slideViewPr>
    <p:cSldViewPr snapToGrid="0">
      <p:cViewPr varScale="1">
        <p:scale>
          <a:sx n="90" d="100"/>
          <a:sy n="90" d="100"/>
        </p:scale>
        <p:origin x="13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9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99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Rolling</a:t>
            </a:r>
            <a:r>
              <a:rPr lang="en-US" altLang="ko-KR" sz="1200" baseline="0" dirty="0" smtClean="0"/>
              <a:t> Update</a:t>
            </a:r>
            <a:r>
              <a:rPr lang="ko-KR" altLang="en-US" sz="1200" baseline="0" dirty="0" smtClean="0"/>
              <a:t>가 </a:t>
            </a:r>
            <a:r>
              <a:rPr lang="en-US" altLang="ko-KR" sz="1200" baseline="0" dirty="0" smtClean="0"/>
              <a:t>Default Value</a:t>
            </a:r>
            <a:r>
              <a:rPr lang="ko-KR" altLang="en-US" sz="1200" baseline="0" dirty="0" smtClean="0"/>
              <a:t>이다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82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Application Service</a:t>
            </a:r>
            <a:r>
              <a:rPr lang="ko-KR" altLang="en-US" sz="1200" dirty="0" smtClean="0"/>
              <a:t>의 이미지 버전이 업그레이드 되거나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변경된 경우 아래</a:t>
            </a:r>
            <a:r>
              <a:rPr lang="ko-KR" altLang="en-US" sz="1200" baseline="0" dirty="0" smtClean="0"/>
              <a:t> 명령어를 통해 변경할 수 있다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80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Rollout</a:t>
            </a:r>
            <a:r>
              <a:rPr lang="en-US" altLang="ko-KR" baseline="0" dirty="0" smtClean="0"/>
              <a:t> restart</a:t>
            </a:r>
            <a:r>
              <a:rPr lang="ko-KR" altLang="en-US" baseline="0" dirty="0" smtClean="0"/>
              <a:t>가 일어나게 되면 </a:t>
            </a:r>
            <a:r>
              <a:rPr lang="en-US" altLang="ko-KR" baseline="0" dirty="0" err="1" smtClean="0"/>
              <a:t>replicasets</a:t>
            </a:r>
            <a:r>
              <a:rPr lang="ko-KR" altLang="en-US" baseline="0" dirty="0" smtClean="0"/>
              <a:t>가 새로 만들어지게 된다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이미지가 변경되는 경우 </a:t>
            </a:r>
            <a:r>
              <a:rPr lang="en-US" altLang="ko-KR" baseline="0" dirty="0" smtClean="0"/>
              <a:t>upgrade</a:t>
            </a:r>
            <a:r>
              <a:rPr lang="ko-KR" altLang="en-US" baseline="0" dirty="0" smtClean="0"/>
              <a:t>가 발생하게 된다</a:t>
            </a:r>
            <a:r>
              <a:rPr lang="en-US" altLang="ko-KR" baseline="0" dirty="0" smtClean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52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Rollout</a:t>
            </a:r>
            <a:r>
              <a:rPr lang="en-US" altLang="ko-KR" baseline="0" dirty="0" smtClean="0"/>
              <a:t> restart</a:t>
            </a:r>
            <a:r>
              <a:rPr lang="ko-KR" altLang="en-US" baseline="0" dirty="0" smtClean="0"/>
              <a:t>가 일어나게 되면 </a:t>
            </a:r>
            <a:r>
              <a:rPr lang="en-US" altLang="ko-KR" baseline="0" dirty="0" err="1" smtClean="0"/>
              <a:t>replicasets</a:t>
            </a:r>
            <a:r>
              <a:rPr lang="ko-KR" altLang="en-US" baseline="0" dirty="0" smtClean="0"/>
              <a:t>가 새로 만들어지게 된다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이미지가 변경되는 경우 </a:t>
            </a:r>
            <a:r>
              <a:rPr lang="en-US" altLang="ko-KR" baseline="0" dirty="0" smtClean="0"/>
              <a:t>upgrade</a:t>
            </a:r>
            <a:r>
              <a:rPr lang="ko-KR" altLang="en-US" baseline="0" dirty="0" smtClean="0"/>
              <a:t>가 발생하게 된다</a:t>
            </a:r>
            <a:r>
              <a:rPr lang="en-US" altLang="ko-KR" baseline="0" dirty="0" smtClean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701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kubectl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rollout undo deployment 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-deploy --to-revision=2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명령어를 사용해서 특정 버전 부분으로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rollback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할 수 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Kubectl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rollout restart deployment</a:t>
            </a:r>
            <a:r>
              <a:rPr lang="en-US" altLang="ko-K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</a:t>
            </a:r>
            <a:r>
              <a:rPr lang="en-US" altLang="ko-K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-deploy --record=</a:t>
            </a:r>
            <a:r>
              <a:rPr lang="ko-KR" altLang="en-US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변경이유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289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328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Command</a:t>
            </a:r>
            <a:r>
              <a:rPr lang="ko-KR" altLang="en-US" sz="1200" dirty="0" smtClean="0"/>
              <a:t>는 </a:t>
            </a:r>
            <a:r>
              <a:rPr lang="en-US" altLang="ko-KR" sz="1200" dirty="0" err="1" smtClean="0"/>
              <a:t>Dockerfile</a:t>
            </a:r>
            <a:r>
              <a:rPr lang="ko-KR" altLang="en-US" sz="1200" dirty="0" smtClean="0"/>
              <a:t>에서 </a:t>
            </a:r>
            <a:r>
              <a:rPr lang="en-US" altLang="ko-KR" sz="1200" dirty="0" err="1" smtClean="0"/>
              <a:t>EntryPoint</a:t>
            </a:r>
            <a:r>
              <a:rPr lang="ko-KR" altLang="en-US" sz="1200" dirty="0" smtClean="0"/>
              <a:t>에 해당된다</a:t>
            </a:r>
            <a:r>
              <a:rPr lang="en-US" altLang="ko-KR" sz="1200" dirty="0" smtClean="0"/>
              <a:t>.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실행할 명령어를 정의하는 부분</a:t>
            </a:r>
            <a:endParaRPr lang="en-US" altLang="ko-KR" sz="1200" baseline="0" dirty="0" smtClean="0"/>
          </a:p>
          <a:p>
            <a:r>
              <a:rPr lang="en-US" altLang="ko-KR" sz="1200" baseline="0" dirty="0" smtClean="0"/>
              <a:t>Argument</a:t>
            </a:r>
            <a:r>
              <a:rPr lang="ko-KR" altLang="en-US" sz="1200" baseline="0" dirty="0" smtClean="0"/>
              <a:t>는 명령어에 실행될 </a:t>
            </a:r>
            <a:r>
              <a:rPr lang="ko-KR" altLang="en-US" sz="1200" baseline="0" dirty="0" err="1" smtClean="0"/>
              <a:t>파라메터를</a:t>
            </a:r>
            <a:r>
              <a:rPr lang="ko-KR" altLang="en-US" sz="1200" baseline="0" dirty="0" smtClean="0"/>
              <a:t> 정의하는 부분이다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ko-KR" altLang="en-US" sz="1200" baseline="0" dirty="0" smtClean="0"/>
              <a:t>보통 프로세스를 실행 시킬 때는 </a:t>
            </a:r>
            <a:r>
              <a:rPr lang="en-US" altLang="ko-KR" sz="1200" baseline="0" dirty="0" err="1" smtClean="0"/>
              <a:t>nginx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err="1" smtClean="0"/>
              <a:t>nginx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바이너리 실행 파일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WebtoB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err="1" smtClean="0"/>
              <a:t>wsboot</a:t>
            </a:r>
            <a:r>
              <a:rPr lang="ko-KR" altLang="en-US" sz="1200" baseline="0" dirty="0" smtClean="0"/>
              <a:t>를 사용한다</a:t>
            </a:r>
            <a:r>
              <a:rPr lang="en-US" altLang="ko-KR" sz="1200" baseline="0" dirty="0" smtClean="0"/>
              <a:t>.</a:t>
            </a:r>
          </a:p>
          <a:p>
            <a:r>
              <a:rPr lang="ko-KR" altLang="en-US" sz="1200" baseline="0" dirty="0" smtClean="0"/>
              <a:t>이미지를 만들 때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Dockerfile</a:t>
            </a:r>
            <a:r>
              <a:rPr lang="ko-KR" altLang="en-US" sz="1200" baseline="0" dirty="0" smtClean="0"/>
              <a:t>에서는 마지막에 프로세스를 기동 하는 </a:t>
            </a:r>
            <a:r>
              <a:rPr lang="en-US" altLang="ko-KR" sz="1200" baseline="0" dirty="0" err="1" smtClean="0"/>
              <a:t>nginx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wsboot</a:t>
            </a:r>
            <a:r>
              <a:rPr lang="ko-KR" altLang="en-US" sz="1200" baseline="0" dirty="0" smtClean="0"/>
              <a:t>같은 명령어를 입력한다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ko-KR" altLang="en-US" sz="1200" baseline="0" dirty="0" smtClean="0"/>
              <a:t>간단한 예제를 들면 아래 </a:t>
            </a:r>
            <a:r>
              <a:rPr lang="en-US" altLang="ko-KR" sz="1200" baseline="0" dirty="0" err="1" smtClean="0"/>
              <a:t>Dockerfile</a:t>
            </a:r>
            <a:r>
              <a:rPr lang="ko-KR" altLang="en-US" sz="1200" baseline="0" dirty="0" smtClean="0"/>
              <a:t>은 </a:t>
            </a:r>
            <a:r>
              <a:rPr lang="en-US" altLang="ko-KR" sz="1200" baseline="0" dirty="0" smtClean="0"/>
              <a:t>sleep </a:t>
            </a:r>
            <a:r>
              <a:rPr lang="ko-KR" altLang="en-US" sz="1200" baseline="0" dirty="0" smtClean="0"/>
              <a:t>명령어를 실행하는 예시이다</a:t>
            </a:r>
            <a:r>
              <a:rPr lang="en-US" altLang="ko-KR" sz="1200" baseline="0" dirty="0" smtClean="0"/>
              <a:t>.</a:t>
            </a:r>
          </a:p>
          <a:p>
            <a:r>
              <a:rPr lang="en-US" altLang="ko-KR" sz="1200" baseline="0" dirty="0" err="1" smtClean="0"/>
              <a:t>Entrypoint</a:t>
            </a:r>
            <a:r>
              <a:rPr lang="ko-KR" altLang="en-US" sz="1200" baseline="0" dirty="0" smtClean="0"/>
              <a:t>없이 </a:t>
            </a:r>
            <a:r>
              <a:rPr lang="en-US" altLang="ko-KR" sz="1200" baseline="0" dirty="0" smtClean="0"/>
              <a:t>CMD</a:t>
            </a:r>
            <a:r>
              <a:rPr lang="ko-KR" altLang="en-US" sz="1200" baseline="0" dirty="0" smtClean="0"/>
              <a:t>만 </a:t>
            </a:r>
            <a:r>
              <a:rPr lang="ko-KR" altLang="en-US" sz="1200" baseline="0" dirty="0" err="1" smtClean="0"/>
              <a:t>쓸경우</a:t>
            </a:r>
            <a:r>
              <a:rPr lang="ko-KR" altLang="en-US" sz="1200" baseline="0" dirty="0" smtClean="0"/>
              <a:t> 아래와 같이 작성할 수도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ko-KR" altLang="en-US" sz="1200" baseline="0" dirty="0" err="1" smtClean="0"/>
              <a:t>도커</a:t>
            </a:r>
            <a:r>
              <a:rPr lang="ko-KR" altLang="en-US" sz="1200" baseline="0" dirty="0" smtClean="0"/>
              <a:t> 파일에서 엔트리포인트는 </a:t>
            </a:r>
            <a:r>
              <a:rPr lang="en-US" altLang="ko-KR" sz="1200" baseline="0" dirty="0" err="1" smtClean="0"/>
              <a:t>yaml</a:t>
            </a:r>
            <a:r>
              <a:rPr lang="ko-KR" altLang="en-US" sz="1200" baseline="0" dirty="0" smtClean="0"/>
              <a:t>에서 </a:t>
            </a:r>
            <a:r>
              <a:rPr lang="en-US" altLang="ko-KR" sz="1200" baseline="0" dirty="0" smtClean="0"/>
              <a:t>command, </a:t>
            </a:r>
            <a:r>
              <a:rPr lang="en-US" altLang="ko-KR" sz="1200" baseline="0" dirty="0" err="1" smtClean="0"/>
              <a:t>cmd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err="1" smtClean="0"/>
              <a:t>args</a:t>
            </a:r>
            <a:r>
              <a:rPr lang="ko-KR" altLang="en-US" sz="1200" baseline="0" dirty="0" smtClean="0"/>
              <a:t>에 해당된다</a:t>
            </a:r>
            <a:r>
              <a:rPr lang="en-US" altLang="ko-KR" sz="1200" baseline="0" dirty="0" smtClean="0"/>
              <a:t>.</a:t>
            </a:r>
          </a:p>
          <a:p>
            <a:r>
              <a:rPr lang="ko-KR" altLang="en-US" sz="1200" baseline="0" dirty="0" smtClean="0"/>
              <a:t>엔트리포인트 없이 사용하는 경우 </a:t>
            </a:r>
            <a:r>
              <a:rPr lang="en-US" altLang="ko-KR" sz="1200" baseline="0" dirty="0" smtClean="0"/>
              <a:t>CMD</a:t>
            </a:r>
            <a:r>
              <a:rPr lang="ko-KR" altLang="en-US" sz="1200" baseline="0" dirty="0" smtClean="0"/>
              <a:t>에서 다 명령어를 날릴 수도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076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602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Application</a:t>
            </a:r>
            <a:r>
              <a:rPr lang="ko-KR" altLang="en-US" sz="1200" dirty="0" smtClean="0"/>
              <a:t>에서 </a:t>
            </a:r>
            <a:r>
              <a:rPr lang="en-US" altLang="ko-KR" sz="1200" dirty="0" smtClean="0"/>
              <a:t>ENV</a:t>
            </a:r>
            <a:r>
              <a:rPr lang="ko-KR" altLang="en-US" sz="1200" dirty="0" smtClean="0"/>
              <a:t>를 이용하는 경우가 있다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이런 경우 </a:t>
            </a:r>
            <a:r>
              <a:rPr lang="en-US" altLang="ko-KR" sz="1200" dirty="0" smtClean="0"/>
              <a:t>ENV Plan, </a:t>
            </a:r>
            <a:r>
              <a:rPr lang="en-US" altLang="ko-KR" sz="1200" dirty="0" err="1" smtClean="0"/>
              <a:t>ConfigMap</a:t>
            </a:r>
            <a:r>
              <a:rPr lang="en-US" altLang="ko-KR" sz="1200" dirty="0" smtClean="0"/>
              <a:t>, Secret 3</a:t>
            </a:r>
            <a:r>
              <a:rPr lang="ko-KR" altLang="en-US" sz="1200" dirty="0" smtClean="0"/>
              <a:t>가지 방법이 존재한다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다음</a:t>
            </a:r>
            <a:r>
              <a:rPr lang="ko-KR" altLang="en-US" sz="1200" baseline="0" dirty="0" smtClean="0"/>
              <a:t> 예시 파일에서 </a:t>
            </a:r>
            <a:r>
              <a:rPr lang="en-US" altLang="ko-KR" sz="1200" baseline="0" dirty="0" smtClean="0"/>
              <a:t>OS </a:t>
            </a:r>
            <a:r>
              <a:rPr lang="ko-KR" altLang="en-US" sz="1200" baseline="0" dirty="0" smtClean="0"/>
              <a:t>환경 변수를 이용하는 경우를 생각해보자</a:t>
            </a:r>
            <a:r>
              <a:rPr lang="en-US" altLang="ko-KR" sz="1200" baseline="0" dirty="0" smtClean="0"/>
              <a:t>.</a:t>
            </a:r>
          </a:p>
          <a:p>
            <a:r>
              <a:rPr lang="ko-KR" altLang="en-US" sz="1200" dirty="0" smtClean="0"/>
              <a:t>생성하는 </a:t>
            </a:r>
            <a:r>
              <a:rPr lang="en-US" altLang="ko-KR" sz="1200" dirty="0" smtClean="0"/>
              <a:t>Pod </a:t>
            </a:r>
            <a:r>
              <a:rPr lang="ko-KR" altLang="en-US" sz="1200" dirty="0" smtClean="0"/>
              <a:t>컨테이너에서 </a:t>
            </a:r>
            <a:r>
              <a:rPr lang="en-US" altLang="ko-KR" sz="1200" dirty="0" smtClean="0"/>
              <a:t>SAMPLE </a:t>
            </a:r>
            <a:r>
              <a:rPr lang="ko-KR" altLang="en-US" sz="1200" dirty="0" smtClean="0"/>
              <a:t>값을 변경하여 적용할 수 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381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ConfigMap</a:t>
            </a:r>
            <a:r>
              <a:rPr lang="ko-KR" altLang="en-US" sz="1200" dirty="0" smtClean="0"/>
              <a:t>은 </a:t>
            </a:r>
            <a:r>
              <a:rPr lang="en-US" altLang="ko-KR" sz="1200" dirty="0" smtClean="0"/>
              <a:t>Application </a:t>
            </a:r>
            <a:r>
              <a:rPr lang="ko-KR" altLang="en-US" sz="1200" dirty="0" smtClean="0"/>
              <a:t>설정 파일 및 </a:t>
            </a:r>
            <a:r>
              <a:rPr lang="en-US" altLang="ko-KR" sz="1200" dirty="0" smtClean="0"/>
              <a:t>ENV </a:t>
            </a:r>
            <a:r>
              <a:rPr lang="ko-KR" altLang="en-US" sz="1200" dirty="0" smtClean="0"/>
              <a:t>값을 설정하는 </a:t>
            </a:r>
            <a:r>
              <a:rPr lang="en-US" altLang="ko-KR" sz="1200" dirty="0" smtClean="0"/>
              <a:t>Object</a:t>
            </a:r>
            <a:r>
              <a:rPr lang="ko-KR" altLang="en-US" sz="1200" dirty="0" smtClean="0"/>
              <a:t>이다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  <a:p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단순한 </a:t>
            </a:r>
            <a:r>
              <a:rPr lang="en-US" altLang="ko-KR" sz="1200" baseline="0" dirty="0" err="1" smtClean="0"/>
              <a:t>enviornment</a:t>
            </a:r>
            <a:r>
              <a:rPr lang="ko-KR" altLang="en-US" sz="1200" baseline="0" dirty="0" smtClean="0"/>
              <a:t> 뿐만 아니라 설정 파일도 </a:t>
            </a:r>
            <a:r>
              <a:rPr lang="en-US" altLang="ko-KR" sz="1200" baseline="0" dirty="0" err="1" smtClean="0"/>
              <a:t>configmap</a:t>
            </a:r>
            <a:r>
              <a:rPr lang="ko-KR" altLang="en-US" sz="1200" baseline="0" dirty="0" smtClean="0"/>
              <a:t>으로 설정 가능하다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716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6781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ConfigMap</a:t>
            </a:r>
            <a:r>
              <a:rPr lang="ko-KR" altLang="en-US" sz="1200" dirty="0" smtClean="0"/>
              <a:t>에서 지정된 특정 </a:t>
            </a:r>
            <a:r>
              <a:rPr lang="en-US" altLang="ko-KR" sz="1200" dirty="0" smtClean="0"/>
              <a:t>ENV</a:t>
            </a:r>
            <a:r>
              <a:rPr lang="ko-KR" altLang="en-US" sz="1200" dirty="0" smtClean="0"/>
              <a:t>만 사용하도록 설정 할 수 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29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WebtoB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err="1" smtClean="0"/>
              <a:t>설정파일인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err="1" smtClean="0"/>
              <a:t>http.m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파일을 </a:t>
            </a:r>
            <a:r>
              <a:rPr lang="en-US" altLang="ko-KR" sz="1200" baseline="0" dirty="0" err="1" smtClean="0"/>
              <a:t>configmap</a:t>
            </a:r>
            <a:r>
              <a:rPr lang="ko-KR" altLang="en-US" sz="1200" baseline="0" dirty="0" smtClean="0"/>
              <a:t>으로 등록하여</a:t>
            </a:r>
            <a:endParaRPr lang="en-US" altLang="ko-KR" sz="1200" baseline="0" dirty="0" smtClean="0"/>
          </a:p>
          <a:p>
            <a:r>
              <a:rPr lang="ko-KR" altLang="en-US" sz="1200" baseline="0" dirty="0" smtClean="0"/>
              <a:t>이미지내 </a:t>
            </a:r>
            <a:r>
              <a:rPr lang="en-US" altLang="ko-KR" sz="1200" baseline="0" dirty="0" err="1" smtClean="0"/>
              <a:t>WebtoB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설정 파일에 생성 할 수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964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smtClean="0"/>
              <a:t>예를 들면</a:t>
            </a:r>
            <a:r>
              <a:rPr lang="en-US" altLang="ko-KR" sz="1200" dirty="0" smtClean="0"/>
              <a:t>, DB ID, PASSWORD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같은 경우나 인증서 또한 </a:t>
            </a:r>
            <a:r>
              <a:rPr lang="en-US" altLang="ko-KR" sz="1200" baseline="0" dirty="0" smtClean="0"/>
              <a:t>Secret</a:t>
            </a:r>
            <a:r>
              <a:rPr lang="ko-KR" altLang="en-US" sz="1200" baseline="0" dirty="0" smtClean="0"/>
              <a:t>으로 작성할 수 있다</a:t>
            </a:r>
            <a:r>
              <a:rPr lang="en-US" altLang="ko-KR" sz="1200" baseline="0" dirty="0" smtClean="0"/>
              <a:t>.</a:t>
            </a:r>
          </a:p>
          <a:p>
            <a:r>
              <a:rPr lang="en-US" altLang="ko-KR" sz="1200" dirty="0" err="1" smtClean="0"/>
              <a:t>kubectl</a:t>
            </a:r>
            <a:r>
              <a:rPr lang="en-US" altLang="ko-KR" sz="1200" dirty="0" smtClean="0"/>
              <a:t> create secret </a:t>
            </a:r>
            <a:r>
              <a:rPr lang="en-US" altLang="ko-KR" sz="1200" dirty="0" err="1" smtClean="0"/>
              <a:t>tls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tmaxsoft</a:t>
            </a:r>
            <a:r>
              <a:rPr lang="en-US" altLang="ko-KR" sz="1200" dirty="0" smtClean="0"/>
              <a:t>-secret   --cert=a.crt   --key=</a:t>
            </a:r>
            <a:r>
              <a:rPr lang="en-US" altLang="ko-KR" sz="1200" dirty="0" err="1" smtClean="0"/>
              <a:t>a.key</a:t>
            </a:r>
            <a:r>
              <a:rPr lang="en-US" altLang="ko-KR" sz="1200" dirty="0" smtClean="0"/>
              <a:t>   -n </a:t>
            </a:r>
            <a:r>
              <a:rPr lang="en-US" altLang="ko-KR" sz="1200" dirty="0" err="1" smtClean="0"/>
              <a:t>gitlab</a:t>
            </a:r>
            <a:r>
              <a:rPr lang="en-US" altLang="ko-KR" sz="1200" dirty="0" smtClean="0"/>
              <a:t> -o </a:t>
            </a:r>
            <a:r>
              <a:rPr lang="en-US" altLang="ko-KR" sz="1200" dirty="0" err="1" smtClean="0"/>
              <a:t>yaml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5397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7139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  <a:p>
            <a:endParaRPr lang="en-US" altLang="ko-KR" sz="1200" dirty="0" smtClean="0"/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7512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08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89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한</a:t>
            </a:r>
            <a:r>
              <a:rPr lang="en-US" altLang="ko-KR" dirty="0" smtClean="0"/>
              <a:t> Pod </a:t>
            </a:r>
            <a:r>
              <a:rPr lang="ko-KR" altLang="en-US" dirty="0" smtClean="0"/>
              <a:t>내에서 </a:t>
            </a:r>
            <a:r>
              <a:rPr lang="en-US" altLang="ko-KR" dirty="0" smtClean="0"/>
              <a:t>Container </a:t>
            </a:r>
            <a:r>
              <a:rPr lang="ko-KR" altLang="en-US" dirty="0" smtClean="0"/>
              <a:t>사용 </a:t>
            </a:r>
            <a:r>
              <a:rPr lang="en-US" altLang="ko-KR" dirty="0" smtClean="0"/>
              <a:t>Port</a:t>
            </a:r>
            <a:r>
              <a:rPr lang="ko-KR" altLang="en-US" dirty="0" smtClean="0"/>
              <a:t>는 중복으로 사용할 수 없다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멀티 컨테이너같은 경우 여러 컨테이너 관리가 필요하고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복잡하다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사이드 컨테이너같은 경우 주 컨테이너와 함께 배포 및 유지 관리가 가능하다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한 </a:t>
            </a:r>
            <a:r>
              <a:rPr lang="en-US" altLang="ko-KR" dirty="0" smtClean="0"/>
              <a:t>Pod </a:t>
            </a:r>
            <a:r>
              <a:rPr lang="ko-KR" altLang="en-US" dirty="0" smtClean="0"/>
              <a:t>내에서는 로컬 호스트로 </a:t>
            </a:r>
            <a:r>
              <a:rPr lang="ko-KR" altLang="en-US" dirty="0" err="1" smtClean="0"/>
              <a:t>컨테이너간</a:t>
            </a:r>
            <a:r>
              <a:rPr lang="ko-KR" altLang="en-US" dirty="0" smtClean="0"/>
              <a:t> 서로 호출이 가능하다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멀티 컨테이너와 </a:t>
            </a:r>
            <a:r>
              <a:rPr lang="ko-KR" altLang="en-US" dirty="0" err="1" smtClean="0"/>
              <a:t>사이카</a:t>
            </a:r>
            <a:r>
              <a:rPr lang="ko-KR" altLang="en-US" dirty="0" smtClean="0"/>
              <a:t> 컨테이너는 추가적으로 사용하는 컨테이너의 용도에 따라 명칭이 다른 것이다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8168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Init</a:t>
            </a:r>
            <a:r>
              <a:rPr lang="en-US" altLang="ko-KR" dirty="0" smtClean="0"/>
              <a:t> Container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Pod</a:t>
            </a:r>
            <a:r>
              <a:rPr lang="ko-KR" altLang="en-US" dirty="0" smtClean="0"/>
              <a:t>가 시작하기 전에 실행이 되는 컨테이너다</a:t>
            </a:r>
            <a:endParaRPr lang="en-US" altLang="ko-KR" dirty="0" smtClean="0"/>
          </a:p>
          <a:p>
            <a:r>
              <a:rPr lang="en-US" altLang="ko-KR" dirty="0" err="1" smtClean="0"/>
              <a:t>Init</a:t>
            </a:r>
            <a:r>
              <a:rPr lang="en-US" altLang="ko-KR" dirty="0" smtClean="0"/>
              <a:t> Container</a:t>
            </a:r>
            <a:r>
              <a:rPr lang="ko-KR" altLang="en-US" baseline="0" dirty="0" smtClean="0"/>
              <a:t> 예제는 아래와 같다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err="1" smtClean="0"/>
              <a:t>WebtoB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설정 파일인 </a:t>
            </a:r>
            <a:r>
              <a:rPr lang="en-US" altLang="ko-KR" baseline="0" dirty="0" err="1" smtClean="0"/>
              <a:t>http.m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파일을 </a:t>
            </a:r>
            <a:r>
              <a:rPr lang="en-US" altLang="ko-KR" baseline="0" dirty="0" err="1" smtClean="0"/>
              <a:t>ConfigMap</a:t>
            </a:r>
            <a:r>
              <a:rPr lang="ko-KR" altLang="en-US" baseline="0" dirty="0" smtClean="0"/>
              <a:t>으로 읽어드린 다음 </a:t>
            </a:r>
            <a:r>
              <a:rPr lang="en-US" altLang="ko-KR" baseline="0" dirty="0" err="1" smtClean="0"/>
              <a:t>WebtoB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이미지 내 </a:t>
            </a:r>
            <a:r>
              <a:rPr lang="en-US" altLang="ko-KR" baseline="0" dirty="0" err="1" smtClean="0"/>
              <a:t>Config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경로로 파일을 옮겨주는 작업을 한 예제이다</a:t>
            </a:r>
            <a:r>
              <a:rPr lang="en-US" altLang="ko-KR" baseline="0" dirty="0" smtClean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051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2025.02.26.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 Application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Lifecycle &amp; Management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6162121" y="3254174"/>
            <a:ext cx="2120641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sz="1200" b="1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Rolling Updates &amp; Rollbacks</a:t>
            </a:r>
            <a:endParaRPr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162122" y="3863373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Command &amp; Argument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6162121" y="4472572"/>
            <a:ext cx="1557115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Environment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9217147" y="3276656"/>
            <a:ext cx="21622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03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9217147" y="3902770"/>
            <a:ext cx="22369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10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6" name="object 11"/>
          <p:cNvSpPr txBox="1"/>
          <p:nvPr/>
        </p:nvSpPr>
        <p:spPr>
          <a:xfrm>
            <a:off x="9217147" y="452888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12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2" name="object 17"/>
          <p:cNvSpPr/>
          <p:nvPr/>
        </p:nvSpPr>
        <p:spPr>
          <a:xfrm>
            <a:off x="6173663" y="3636263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6173663" y="4245462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7950" y="1974133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7" name="object 4"/>
          <p:cNvSpPr txBox="1"/>
          <p:nvPr/>
        </p:nvSpPr>
        <p:spPr>
          <a:xfrm>
            <a:off x="6173663" y="5081772"/>
            <a:ext cx="1385652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Multi Container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8" name="object 11"/>
          <p:cNvSpPr txBox="1"/>
          <p:nvPr/>
        </p:nvSpPr>
        <p:spPr>
          <a:xfrm>
            <a:off x="9228688" y="510425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22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6185204" y="4854661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0" name="object 18"/>
          <p:cNvSpPr/>
          <p:nvPr/>
        </p:nvSpPr>
        <p:spPr>
          <a:xfrm>
            <a:off x="6185204" y="5428774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Rolling Updates &amp; Rollbacks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Rollout and Versioning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Controller</a:t>
            </a:r>
            <a:r>
              <a:rPr lang="ko-KR" altLang="en-US" sz="1400" dirty="0" smtClean="0"/>
              <a:t>의 모든 배포 및 롤링업데이트를 </a:t>
            </a:r>
            <a:r>
              <a:rPr lang="en-US" altLang="ko-KR" sz="1400" dirty="0" smtClean="0"/>
              <a:t>Rollout</a:t>
            </a:r>
            <a:r>
              <a:rPr lang="ko-KR" altLang="en-US" sz="1400" dirty="0" smtClean="0"/>
              <a:t>이라고 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Rollout</a:t>
            </a:r>
            <a:r>
              <a:rPr lang="ko-KR" altLang="en-US" sz="1400" dirty="0" smtClean="0"/>
              <a:t>이 발생하면</a:t>
            </a:r>
            <a:r>
              <a:rPr lang="en-US" altLang="ko-KR" sz="1400" dirty="0" smtClean="0"/>
              <a:t>, Kubernetes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Version</a:t>
            </a:r>
            <a:r>
              <a:rPr lang="ko-KR" altLang="en-US" sz="1400" dirty="0" smtClean="0"/>
              <a:t>을 지정한다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5" name="원형 화살표 4"/>
          <p:cNvSpPr/>
          <p:nvPr/>
        </p:nvSpPr>
        <p:spPr>
          <a:xfrm>
            <a:off x="4858766" y="1760856"/>
            <a:ext cx="540000" cy="54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342285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TextBox 5"/>
          <p:cNvSpPr txBox="1"/>
          <p:nvPr/>
        </p:nvSpPr>
        <p:spPr>
          <a:xfrm>
            <a:off x="5387555" y="1910017"/>
            <a:ext cx="1233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Rollout</a:t>
            </a:r>
            <a:endParaRPr lang="ko-KR" altLang="en-US" sz="1400" dirty="0"/>
          </a:p>
        </p:txBody>
      </p:sp>
      <p:grpSp>
        <p:nvGrpSpPr>
          <p:cNvPr id="9" name="그룹 8"/>
          <p:cNvGrpSpPr/>
          <p:nvPr/>
        </p:nvGrpSpPr>
        <p:grpSpPr>
          <a:xfrm>
            <a:off x="735856" y="2644374"/>
            <a:ext cx="8422069" cy="1015255"/>
            <a:chOff x="735856" y="2644374"/>
            <a:chExt cx="8422069" cy="1015255"/>
          </a:xfrm>
        </p:grpSpPr>
        <p:grpSp>
          <p:nvGrpSpPr>
            <p:cNvPr id="27" name="그룹 26"/>
            <p:cNvGrpSpPr/>
            <p:nvPr/>
          </p:nvGrpSpPr>
          <p:grpSpPr>
            <a:xfrm>
              <a:off x="2475526" y="2811852"/>
              <a:ext cx="1233889" cy="847777"/>
              <a:chOff x="2883616" y="3060669"/>
              <a:chExt cx="1233889" cy="847777"/>
            </a:xfrm>
          </p:grpSpPr>
          <p:pic>
            <p:nvPicPr>
              <p:cNvPr id="81" name="그림 80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82" name="TextBox 7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grpSp>
          <p:nvGrpSpPr>
            <p:cNvPr id="28" name="그룹 27"/>
            <p:cNvGrpSpPr/>
            <p:nvPr/>
          </p:nvGrpSpPr>
          <p:grpSpPr>
            <a:xfrm>
              <a:off x="3555179" y="2811852"/>
              <a:ext cx="1233889" cy="847777"/>
              <a:chOff x="2883616" y="3060669"/>
              <a:chExt cx="1233889" cy="847777"/>
            </a:xfrm>
          </p:grpSpPr>
          <p:pic>
            <p:nvPicPr>
              <p:cNvPr id="79" name="그림 78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80" name="TextBox 11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4593566" y="2800274"/>
              <a:ext cx="1233889" cy="847777"/>
              <a:chOff x="2883616" y="3060669"/>
              <a:chExt cx="1233889" cy="847777"/>
            </a:xfrm>
          </p:grpSpPr>
          <p:pic>
            <p:nvPicPr>
              <p:cNvPr id="77" name="그림 76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78" name="TextBox 14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5706793" y="2800274"/>
              <a:ext cx="1233889" cy="847777"/>
              <a:chOff x="2883616" y="3060669"/>
              <a:chExt cx="1233889" cy="847777"/>
            </a:xfrm>
          </p:grpSpPr>
          <p:pic>
            <p:nvPicPr>
              <p:cNvPr id="75" name="그림 74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76" name="TextBox 17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grpSp>
          <p:nvGrpSpPr>
            <p:cNvPr id="31" name="그룹 30"/>
            <p:cNvGrpSpPr/>
            <p:nvPr/>
          </p:nvGrpSpPr>
          <p:grpSpPr>
            <a:xfrm>
              <a:off x="6786446" y="2811852"/>
              <a:ext cx="1233889" cy="847777"/>
              <a:chOff x="2883616" y="3060669"/>
              <a:chExt cx="1233889" cy="847777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74" name="TextBox 20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grpSp>
          <p:nvGrpSpPr>
            <p:cNvPr id="32" name="그룹 31"/>
            <p:cNvGrpSpPr/>
            <p:nvPr/>
          </p:nvGrpSpPr>
          <p:grpSpPr>
            <a:xfrm>
              <a:off x="7924036" y="2800274"/>
              <a:ext cx="1233889" cy="847777"/>
              <a:chOff x="2883616" y="3060669"/>
              <a:chExt cx="1233889" cy="847777"/>
            </a:xfrm>
          </p:grpSpPr>
          <p:pic>
            <p:nvPicPr>
              <p:cNvPr id="71" name="그림 70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72" name="TextBox 23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sp>
          <p:nvSpPr>
            <p:cNvPr id="40" name="모서리가 둥근 직사각형 39"/>
            <p:cNvSpPr/>
            <p:nvPr/>
          </p:nvSpPr>
          <p:spPr>
            <a:xfrm>
              <a:off x="2322285" y="2644374"/>
              <a:ext cx="6835640" cy="1015255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2" name="TextBox 45"/>
            <p:cNvSpPr txBox="1"/>
            <p:nvPr/>
          </p:nvSpPr>
          <p:spPr>
            <a:xfrm>
              <a:off x="735856" y="3042998"/>
              <a:ext cx="1443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solidFill>
                    <a:srgbClr val="00B050"/>
                  </a:solidFill>
                </a:rPr>
                <a:t>Revision 1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711199" y="3836323"/>
            <a:ext cx="8446726" cy="1015255"/>
            <a:chOff x="711199" y="3836323"/>
            <a:chExt cx="8446726" cy="1015255"/>
          </a:xfrm>
        </p:grpSpPr>
        <p:grpSp>
          <p:nvGrpSpPr>
            <p:cNvPr id="33" name="그룹 32"/>
            <p:cNvGrpSpPr/>
            <p:nvPr/>
          </p:nvGrpSpPr>
          <p:grpSpPr>
            <a:xfrm>
              <a:off x="2475526" y="3894181"/>
              <a:ext cx="1233889" cy="847777"/>
              <a:chOff x="2883616" y="3060669"/>
              <a:chExt cx="1233889" cy="847777"/>
            </a:xfrm>
          </p:grpSpPr>
          <p:pic>
            <p:nvPicPr>
              <p:cNvPr id="69" name="그림 68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70" name="TextBox 27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grpSp>
          <p:nvGrpSpPr>
            <p:cNvPr id="34" name="그룹 33"/>
            <p:cNvGrpSpPr/>
            <p:nvPr/>
          </p:nvGrpSpPr>
          <p:grpSpPr>
            <a:xfrm>
              <a:off x="3555179" y="3894181"/>
              <a:ext cx="1233889" cy="847777"/>
              <a:chOff x="2883616" y="3060669"/>
              <a:chExt cx="1233889" cy="847777"/>
            </a:xfrm>
          </p:grpSpPr>
          <p:pic>
            <p:nvPicPr>
              <p:cNvPr id="67" name="그림 66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68" name="TextBox 30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grpSp>
          <p:nvGrpSpPr>
            <p:cNvPr id="35" name="그룹 34"/>
            <p:cNvGrpSpPr/>
            <p:nvPr/>
          </p:nvGrpSpPr>
          <p:grpSpPr>
            <a:xfrm>
              <a:off x="4593566" y="3882603"/>
              <a:ext cx="1233889" cy="847777"/>
              <a:chOff x="2883616" y="3060669"/>
              <a:chExt cx="1233889" cy="847777"/>
            </a:xfrm>
          </p:grpSpPr>
          <p:pic>
            <p:nvPicPr>
              <p:cNvPr id="65" name="그림 64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66" name="TextBox 33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grpSp>
          <p:nvGrpSpPr>
            <p:cNvPr id="36" name="그룹 35"/>
            <p:cNvGrpSpPr/>
            <p:nvPr/>
          </p:nvGrpSpPr>
          <p:grpSpPr>
            <a:xfrm>
              <a:off x="5706793" y="3882603"/>
              <a:ext cx="1233889" cy="847777"/>
              <a:chOff x="2883616" y="3060669"/>
              <a:chExt cx="1233889" cy="847777"/>
            </a:xfrm>
          </p:grpSpPr>
          <p:pic>
            <p:nvPicPr>
              <p:cNvPr id="63" name="그림 62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64" name="TextBox 36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grpSp>
          <p:nvGrpSpPr>
            <p:cNvPr id="38" name="그룹 37"/>
            <p:cNvGrpSpPr/>
            <p:nvPr/>
          </p:nvGrpSpPr>
          <p:grpSpPr>
            <a:xfrm>
              <a:off x="6786446" y="3894181"/>
              <a:ext cx="1233889" cy="847777"/>
              <a:chOff x="2883616" y="3060669"/>
              <a:chExt cx="1233889" cy="847777"/>
            </a:xfrm>
          </p:grpSpPr>
          <p:pic>
            <p:nvPicPr>
              <p:cNvPr id="51" name="그림 50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52" name="TextBox 39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grpSp>
          <p:nvGrpSpPr>
            <p:cNvPr id="39" name="그룹 38"/>
            <p:cNvGrpSpPr/>
            <p:nvPr/>
          </p:nvGrpSpPr>
          <p:grpSpPr>
            <a:xfrm>
              <a:off x="7924036" y="3882603"/>
              <a:ext cx="1233889" cy="847777"/>
              <a:chOff x="2883616" y="3060669"/>
              <a:chExt cx="1233889" cy="847777"/>
            </a:xfrm>
          </p:grpSpPr>
          <p:pic>
            <p:nvPicPr>
              <p:cNvPr id="45" name="그림 44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46" name="TextBox 42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sp>
          <p:nvSpPr>
            <p:cNvPr id="41" name="모서리가 둥근 직사각형 40"/>
            <p:cNvSpPr/>
            <p:nvPr/>
          </p:nvSpPr>
          <p:spPr>
            <a:xfrm>
              <a:off x="2322285" y="3836323"/>
              <a:ext cx="6835640" cy="1015255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44" name="TextBox 46"/>
            <p:cNvSpPr txBox="1"/>
            <p:nvPr/>
          </p:nvSpPr>
          <p:spPr>
            <a:xfrm>
              <a:off x="711199" y="4164181"/>
              <a:ext cx="1443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solidFill>
                    <a:srgbClr val="00B050"/>
                  </a:solidFill>
                </a:rPr>
                <a:t>Revision 2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02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Deployment Strategy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Recreate : </a:t>
            </a:r>
            <a:r>
              <a:rPr lang="ko-KR" altLang="en-US" sz="1400" dirty="0" smtClean="0"/>
              <a:t>모든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삭제 한 다음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새로운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생성한다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Rolling Update : Pod 1</a:t>
            </a:r>
            <a:r>
              <a:rPr lang="ko-KR" altLang="en-US" sz="1400" dirty="0" smtClean="0"/>
              <a:t>개 씩 순차적으로 다운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기동을 반복한다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62" name="TextBox 45"/>
          <p:cNvSpPr txBox="1"/>
          <p:nvPr/>
        </p:nvSpPr>
        <p:spPr>
          <a:xfrm>
            <a:off x="768907" y="2078010"/>
            <a:ext cx="144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rgbClr val="00B050"/>
                </a:solidFill>
              </a:rPr>
              <a:t>Recreate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83" name="TextBox 46"/>
          <p:cNvSpPr txBox="1"/>
          <p:nvPr/>
        </p:nvSpPr>
        <p:spPr>
          <a:xfrm>
            <a:off x="711199" y="4025458"/>
            <a:ext cx="1730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rgbClr val="00B050"/>
                </a:solidFill>
              </a:rPr>
              <a:t>Rolling Update</a:t>
            </a:r>
            <a:endParaRPr lang="ko-KR" altLang="en-US" dirty="0">
              <a:solidFill>
                <a:srgbClr val="00B050"/>
              </a:solidFill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2508577" y="1835286"/>
            <a:ext cx="3351929" cy="1276401"/>
            <a:chOff x="2508577" y="1835286"/>
            <a:chExt cx="3351929" cy="1276401"/>
          </a:xfrm>
        </p:grpSpPr>
        <p:grpSp>
          <p:nvGrpSpPr>
            <p:cNvPr id="48" name="그룹 47"/>
            <p:cNvGrpSpPr/>
            <p:nvPr/>
          </p:nvGrpSpPr>
          <p:grpSpPr>
            <a:xfrm>
              <a:off x="2508577" y="1846864"/>
              <a:ext cx="1233889" cy="847777"/>
              <a:chOff x="2883616" y="3060669"/>
              <a:chExt cx="1233889" cy="847777"/>
            </a:xfrm>
          </p:grpSpPr>
          <p:pic>
            <p:nvPicPr>
              <p:cNvPr id="119" name="그림 118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20" name="TextBox 7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grpSp>
          <p:nvGrpSpPr>
            <p:cNvPr id="49" name="그룹 48"/>
            <p:cNvGrpSpPr/>
            <p:nvPr/>
          </p:nvGrpSpPr>
          <p:grpSpPr>
            <a:xfrm>
              <a:off x="3588230" y="1846864"/>
              <a:ext cx="1233889" cy="847777"/>
              <a:chOff x="2883616" y="3060669"/>
              <a:chExt cx="1233889" cy="847777"/>
            </a:xfrm>
          </p:grpSpPr>
          <p:pic>
            <p:nvPicPr>
              <p:cNvPr id="117" name="그림 116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18" name="TextBox 11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grpSp>
          <p:nvGrpSpPr>
            <p:cNvPr id="50" name="그룹 49"/>
            <p:cNvGrpSpPr/>
            <p:nvPr/>
          </p:nvGrpSpPr>
          <p:grpSpPr>
            <a:xfrm>
              <a:off x="4626617" y="1835286"/>
              <a:ext cx="1233889" cy="847777"/>
              <a:chOff x="2883616" y="3060669"/>
              <a:chExt cx="1233889" cy="847777"/>
            </a:xfrm>
          </p:grpSpPr>
          <p:pic>
            <p:nvPicPr>
              <p:cNvPr id="115" name="그림 114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16" name="TextBox 14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sp>
          <p:nvSpPr>
            <p:cNvPr id="84" name="아래쪽 화살표 83"/>
            <p:cNvSpPr/>
            <p:nvPr/>
          </p:nvSpPr>
          <p:spPr>
            <a:xfrm>
              <a:off x="2987810" y="2694641"/>
              <a:ext cx="275421" cy="41704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아래쪽 화살표 84"/>
            <p:cNvSpPr/>
            <p:nvPr/>
          </p:nvSpPr>
          <p:spPr>
            <a:xfrm>
              <a:off x="4067463" y="2694641"/>
              <a:ext cx="275421" cy="41704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6" name="아래쪽 화살표 85"/>
            <p:cNvSpPr/>
            <p:nvPr/>
          </p:nvSpPr>
          <p:spPr>
            <a:xfrm>
              <a:off x="5105850" y="2694641"/>
              <a:ext cx="275421" cy="41704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2508577" y="3755458"/>
            <a:ext cx="1233889" cy="1253245"/>
            <a:chOff x="2508577" y="3755458"/>
            <a:chExt cx="1233889" cy="1253245"/>
          </a:xfrm>
        </p:grpSpPr>
        <p:grpSp>
          <p:nvGrpSpPr>
            <p:cNvPr id="56" name="그룹 55"/>
            <p:cNvGrpSpPr/>
            <p:nvPr/>
          </p:nvGrpSpPr>
          <p:grpSpPr>
            <a:xfrm>
              <a:off x="2508577" y="3755458"/>
              <a:ext cx="1233889" cy="847777"/>
              <a:chOff x="2883616" y="3060669"/>
              <a:chExt cx="1233889" cy="847777"/>
            </a:xfrm>
          </p:grpSpPr>
          <p:pic>
            <p:nvPicPr>
              <p:cNvPr id="107" name="그림 106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08" name="TextBox 27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sp>
          <p:nvSpPr>
            <p:cNvPr id="87" name="아래쪽 화살표 86"/>
            <p:cNvSpPr/>
            <p:nvPr/>
          </p:nvSpPr>
          <p:spPr>
            <a:xfrm>
              <a:off x="2987810" y="4591657"/>
              <a:ext cx="275421" cy="41704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4626617" y="3743880"/>
            <a:ext cx="1233889" cy="1288523"/>
            <a:chOff x="4626617" y="3743880"/>
            <a:chExt cx="1233889" cy="1288523"/>
          </a:xfrm>
        </p:grpSpPr>
        <p:grpSp>
          <p:nvGrpSpPr>
            <p:cNvPr id="58" name="그룹 57"/>
            <p:cNvGrpSpPr/>
            <p:nvPr/>
          </p:nvGrpSpPr>
          <p:grpSpPr>
            <a:xfrm>
              <a:off x="4626617" y="3743880"/>
              <a:ext cx="1233889" cy="847777"/>
              <a:chOff x="2883616" y="3060669"/>
              <a:chExt cx="1233889" cy="847777"/>
            </a:xfrm>
          </p:grpSpPr>
          <p:pic>
            <p:nvPicPr>
              <p:cNvPr id="103" name="그림 102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04" name="TextBox 33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sp>
          <p:nvSpPr>
            <p:cNvPr id="88" name="아래쪽 화살표 87"/>
            <p:cNvSpPr/>
            <p:nvPr/>
          </p:nvSpPr>
          <p:spPr>
            <a:xfrm>
              <a:off x="5104854" y="4615357"/>
              <a:ext cx="275421" cy="41704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6819497" y="3755458"/>
            <a:ext cx="1233889" cy="1288523"/>
            <a:chOff x="6819497" y="3755458"/>
            <a:chExt cx="1233889" cy="1288523"/>
          </a:xfrm>
        </p:grpSpPr>
        <p:grpSp>
          <p:nvGrpSpPr>
            <p:cNvPr id="60" name="그룹 59"/>
            <p:cNvGrpSpPr/>
            <p:nvPr/>
          </p:nvGrpSpPr>
          <p:grpSpPr>
            <a:xfrm>
              <a:off x="6819497" y="3755458"/>
              <a:ext cx="1233889" cy="847777"/>
              <a:chOff x="2883616" y="3060669"/>
              <a:chExt cx="1233889" cy="847777"/>
            </a:xfrm>
          </p:grpSpPr>
          <p:pic>
            <p:nvPicPr>
              <p:cNvPr id="99" name="그림 98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00" name="TextBox 39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sp>
          <p:nvSpPr>
            <p:cNvPr id="89" name="아래쪽 화살표 88"/>
            <p:cNvSpPr/>
            <p:nvPr/>
          </p:nvSpPr>
          <p:spPr>
            <a:xfrm>
              <a:off x="7298730" y="4626935"/>
              <a:ext cx="275421" cy="417046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6522045" y="1835286"/>
            <a:ext cx="3451132" cy="1276401"/>
            <a:chOff x="6522045" y="1835286"/>
            <a:chExt cx="3451132" cy="1276401"/>
          </a:xfrm>
        </p:grpSpPr>
        <p:grpSp>
          <p:nvGrpSpPr>
            <p:cNvPr id="53" name="그룹 52"/>
            <p:cNvGrpSpPr/>
            <p:nvPr/>
          </p:nvGrpSpPr>
          <p:grpSpPr>
            <a:xfrm>
              <a:off x="6522045" y="1835286"/>
              <a:ext cx="1233889" cy="847777"/>
              <a:chOff x="2883616" y="3060669"/>
              <a:chExt cx="1233889" cy="847777"/>
            </a:xfrm>
          </p:grpSpPr>
          <p:pic>
            <p:nvPicPr>
              <p:cNvPr id="113" name="그림 112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14" name="TextBox 17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grpSp>
          <p:nvGrpSpPr>
            <p:cNvPr id="54" name="그룹 53"/>
            <p:cNvGrpSpPr/>
            <p:nvPr/>
          </p:nvGrpSpPr>
          <p:grpSpPr>
            <a:xfrm>
              <a:off x="7601698" y="1846864"/>
              <a:ext cx="1233889" cy="847777"/>
              <a:chOff x="2883616" y="3060669"/>
              <a:chExt cx="1233889" cy="847777"/>
            </a:xfrm>
          </p:grpSpPr>
          <p:pic>
            <p:nvPicPr>
              <p:cNvPr id="111" name="그림 110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12" name="TextBox 20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>
              <a:off x="8739288" y="1835286"/>
              <a:ext cx="1233889" cy="847777"/>
              <a:chOff x="2883616" y="3060669"/>
              <a:chExt cx="1233889" cy="847777"/>
            </a:xfrm>
          </p:grpSpPr>
          <p:pic>
            <p:nvPicPr>
              <p:cNvPr id="109" name="그림 108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10" name="TextBox 23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Nginx:1.7.0</a:t>
                </a:r>
                <a:endParaRPr lang="ko-KR" altLang="en-US" sz="1400" dirty="0"/>
              </a:p>
            </p:txBody>
          </p:sp>
        </p:grpSp>
        <p:sp>
          <p:nvSpPr>
            <p:cNvPr id="90" name="아래쪽 화살표 89"/>
            <p:cNvSpPr/>
            <p:nvPr/>
          </p:nvSpPr>
          <p:spPr>
            <a:xfrm rot="10800000">
              <a:off x="6995507" y="2683063"/>
              <a:ext cx="275421" cy="417046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91" name="아래쪽 화살표 90"/>
            <p:cNvSpPr/>
            <p:nvPr/>
          </p:nvSpPr>
          <p:spPr>
            <a:xfrm rot="10800000">
              <a:off x="8080931" y="2694641"/>
              <a:ext cx="275421" cy="417046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92" name="아래쪽 화살표 91"/>
            <p:cNvSpPr/>
            <p:nvPr/>
          </p:nvSpPr>
          <p:spPr>
            <a:xfrm rot="10800000">
              <a:off x="9218521" y="2672979"/>
              <a:ext cx="275421" cy="417046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588230" y="3755458"/>
            <a:ext cx="1233889" cy="1253245"/>
            <a:chOff x="3588230" y="3755458"/>
            <a:chExt cx="1233889" cy="1253245"/>
          </a:xfrm>
        </p:grpSpPr>
        <p:grpSp>
          <p:nvGrpSpPr>
            <p:cNvPr id="57" name="그룹 56"/>
            <p:cNvGrpSpPr/>
            <p:nvPr/>
          </p:nvGrpSpPr>
          <p:grpSpPr>
            <a:xfrm>
              <a:off x="3588230" y="3755458"/>
              <a:ext cx="1233889" cy="847777"/>
              <a:chOff x="2883616" y="3060669"/>
              <a:chExt cx="1233889" cy="847777"/>
            </a:xfrm>
          </p:grpSpPr>
          <p:pic>
            <p:nvPicPr>
              <p:cNvPr id="105" name="그림 104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06" name="TextBox 30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sp>
          <p:nvSpPr>
            <p:cNvPr id="93" name="아래쪽 화살표 92"/>
            <p:cNvSpPr/>
            <p:nvPr/>
          </p:nvSpPr>
          <p:spPr>
            <a:xfrm rot="10800000">
              <a:off x="4063618" y="4591657"/>
              <a:ext cx="275421" cy="417046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739844" y="3743880"/>
            <a:ext cx="1233889" cy="1276401"/>
            <a:chOff x="5739844" y="3743880"/>
            <a:chExt cx="1233889" cy="1276401"/>
          </a:xfrm>
        </p:grpSpPr>
        <p:grpSp>
          <p:nvGrpSpPr>
            <p:cNvPr id="59" name="그룹 58"/>
            <p:cNvGrpSpPr/>
            <p:nvPr/>
          </p:nvGrpSpPr>
          <p:grpSpPr>
            <a:xfrm>
              <a:off x="5739844" y="3743880"/>
              <a:ext cx="1233889" cy="847777"/>
              <a:chOff x="2883616" y="3060669"/>
              <a:chExt cx="1233889" cy="847777"/>
            </a:xfrm>
          </p:grpSpPr>
          <p:pic>
            <p:nvPicPr>
              <p:cNvPr id="101" name="그림 100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102" name="TextBox 36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sp>
          <p:nvSpPr>
            <p:cNvPr id="94" name="아래쪽 화살표 93"/>
            <p:cNvSpPr/>
            <p:nvPr/>
          </p:nvSpPr>
          <p:spPr>
            <a:xfrm rot="10800000">
              <a:off x="6201792" y="4603235"/>
              <a:ext cx="275421" cy="417046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957087" y="3743880"/>
            <a:ext cx="1233889" cy="1276401"/>
            <a:chOff x="7957087" y="3743880"/>
            <a:chExt cx="1233889" cy="1276401"/>
          </a:xfrm>
        </p:grpSpPr>
        <p:grpSp>
          <p:nvGrpSpPr>
            <p:cNvPr id="61" name="그룹 60"/>
            <p:cNvGrpSpPr/>
            <p:nvPr/>
          </p:nvGrpSpPr>
          <p:grpSpPr>
            <a:xfrm>
              <a:off x="7957087" y="3743880"/>
              <a:ext cx="1233889" cy="847777"/>
              <a:chOff x="2883616" y="3060669"/>
              <a:chExt cx="1233889" cy="847777"/>
            </a:xfrm>
          </p:grpSpPr>
          <p:pic>
            <p:nvPicPr>
              <p:cNvPr id="97" name="그림 96"/>
              <p:cNvPicPr>
                <a:picLocks noChangeAspect="1"/>
              </p:cNvPicPr>
              <p:nvPr/>
            </p:nvPicPr>
            <p:blipFill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9370" y="3060669"/>
                <a:ext cx="562383" cy="540000"/>
              </a:xfrm>
              <a:prstGeom prst="rect">
                <a:avLst/>
              </a:prstGeom>
            </p:spPr>
          </p:pic>
          <p:sp>
            <p:nvSpPr>
              <p:cNvPr id="98" name="TextBox 42"/>
              <p:cNvSpPr txBox="1"/>
              <p:nvPr/>
            </p:nvSpPr>
            <p:spPr>
              <a:xfrm>
                <a:off x="2883616" y="3600669"/>
                <a:ext cx="123388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400" dirty="0"/>
                  <a:t>Nginx:1.7.1</a:t>
                </a:r>
                <a:endParaRPr lang="ko-KR" altLang="en-US" sz="1400" dirty="0"/>
              </a:p>
            </p:txBody>
          </p:sp>
        </p:grpSp>
        <p:sp>
          <p:nvSpPr>
            <p:cNvPr id="95" name="아래쪽 화살표 94"/>
            <p:cNvSpPr/>
            <p:nvPr/>
          </p:nvSpPr>
          <p:spPr>
            <a:xfrm rot="10800000">
              <a:off x="8436320" y="4603235"/>
              <a:ext cx="275421" cy="417046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96" name="직사각형 95"/>
          <p:cNvSpPr/>
          <p:nvPr/>
        </p:nvSpPr>
        <p:spPr>
          <a:xfrm>
            <a:off x="5739844" y="1846864"/>
            <a:ext cx="898137" cy="12648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App</a:t>
            </a:r>
          </a:p>
          <a:p>
            <a:pPr algn="ctr"/>
            <a:r>
              <a:rPr lang="en-US" altLang="ko-KR" dirty="0" smtClean="0"/>
              <a:t>Down</a:t>
            </a:r>
            <a:endParaRPr lang="en-US" altLang="ko-KR" dirty="0"/>
          </a:p>
          <a:p>
            <a:pPr algn="ctr"/>
            <a:r>
              <a:rPr lang="en-US" altLang="ko-KR" dirty="0" smtClean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86044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이미지 변경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k</a:t>
            </a:r>
            <a:r>
              <a:rPr lang="en-US" altLang="ko-KR" sz="1400" dirty="0" err="1" smtClean="0"/>
              <a:t>ubectl</a:t>
            </a:r>
            <a:r>
              <a:rPr lang="en-US" altLang="ko-KR" sz="1400" dirty="0" smtClean="0"/>
              <a:t> apply</a:t>
            </a:r>
            <a:endParaRPr lang="en-US" altLang="ko-KR" sz="1200" dirty="0"/>
          </a:p>
        </p:txBody>
      </p:sp>
      <p:sp>
        <p:nvSpPr>
          <p:cNvPr id="48" name="TextBox 5"/>
          <p:cNvSpPr txBox="1"/>
          <p:nvPr/>
        </p:nvSpPr>
        <p:spPr>
          <a:xfrm>
            <a:off x="956044" y="1023227"/>
            <a:ext cx="613587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smtClean="0">
                <a:solidFill>
                  <a:schemeClr val="bg1"/>
                </a:solidFill>
              </a:rPr>
              <a:t>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deployments.yaml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11199" y="13310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Set </a:t>
            </a:r>
            <a:r>
              <a:rPr lang="ko-KR" altLang="en-US" sz="1400" dirty="0" smtClean="0"/>
              <a:t>명령어 사용</a:t>
            </a:r>
            <a:endParaRPr lang="en-US" altLang="ko-KR" sz="1200" dirty="0"/>
          </a:p>
        </p:txBody>
      </p:sp>
      <p:sp>
        <p:nvSpPr>
          <p:cNvPr id="50" name="TextBox 5"/>
          <p:cNvSpPr txBox="1"/>
          <p:nvPr/>
        </p:nvSpPr>
        <p:spPr>
          <a:xfrm>
            <a:off x="956044" y="1638781"/>
            <a:ext cx="613587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set image deployments/[DEPLOYMENT_NAME] [</a:t>
            </a:r>
            <a:r>
              <a:rPr lang="ko-KR" altLang="en-US" sz="1200" dirty="0" smtClean="0">
                <a:solidFill>
                  <a:schemeClr val="bg1"/>
                </a:solidFill>
              </a:rPr>
              <a:t>컨테이너이름</a:t>
            </a:r>
            <a:r>
              <a:rPr lang="en-US" altLang="ko-KR" sz="1200" dirty="0" smtClean="0">
                <a:solidFill>
                  <a:schemeClr val="bg1"/>
                </a:solidFill>
              </a:rPr>
              <a:t>]=lotto:v1_1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600397" y="1003344"/>
            <a:ext cx="4350599" cy="4985980"/>
            <a:chOff x="7600397" y="1003344"/>
            <a:chExt cx="4350599" cy="4985980"/>
          </a:xfrm>
        </p:grpSpPr>
        <p:sp>
          <p:nvSpPr>
            <p:cNvPr id="9" name="TextBox 3"/>
            <p:cNvSpPr txBox="1"/>
            <p:nvPr/>
          </p:nvSpPr>
          <p:spPr>
            <a:xfrm>
              <a:off x="7600397" y="1280343"/>
              <a:ext cx="4350599" cy="4708981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apps/v1</a:t>
              </a:r>
            </a:p>
            <a:p>
              <a:r>
                <a:rPr lang="en-US" altLang="ko-KR" sz="1200" dirty="0"/>
                <a:t>kind: Deployment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deployment-lotto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selector: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matchLabels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app: lotto</a:t>
              </a:r>
            </a:p>
            <a:p>
              <a:r>
                <a:rPr lang="en-US" altLang="ko-KR" sz="1200" dirty="0"/>
                <a:t>  replicas: </a:t>
              </a:r>
              <a:r>
                <a:rPr lang="en-US" altLang="ko-KR" sz="1200" dirty="0" smtClean="0"/>
                <a:t>2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 Pod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수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strategy</a:t>
              </a:r>
              <a:r>
                <a:rPr lang="en-US" altLang="ko-KR" sz="1200" dirty="0" smtClean="0"/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 Update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전략 설정 부분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type: </a:t>
              </a:r>
              <a:r>
                <a:rPr lang="en-US" altLang="ko-KR" sz="1200" dirty="0" err="1" smtClean="0"/>
                <a:t>RollingUpdate</a:t>
              </a:r>
              <a:r>
                <a:rPr lang="en-US" altLang="ko-KR" sz="1200" dirty="0" smtClean="0"/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# Recreate or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RollingUpdate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설정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minReadySeconds</a:t>
              </a:r>
              <a:r>
                <a:rPr lang="en-US" altLang="ko-KR" sz="1200" dirty="0"/>
                <a:t>: 10</a:t>
              </a:r>
            </a:p>
            <a:p>
              <a:r>
                <a:rPr lang="en-US" altLang="ko-KR" sz="1200" dirty="0"/>
                <a:t>  template:</a:t>
              </a:r>
            </a:p>
            <a:p>
              <a:r>
                <a:rPr lang="en-US" altLang="ko-KR" sz="1200" dirty="0"/>
                <a:t>    metadata:</a:t>
              </a:r>
            </a:p>
            <a:p>
              <a:r>
                <a:rPr lang="en-US" altLang="ko-KR" sz="1200" dirty="0"/>
                <a:t>      labels:</a:t>
              </a:r>
            </a:p>
            <a:p>
              <a:r>
                <a:rPr lang="en-US" altLang="ko-KR" sz="1200" dirty="0"/>
                <a:t>        app: lotto</a:t>
              </a:r>
            </a:p>
            <a:p>
              <a:r>
                <a:rPr lang="en-US" altLang="ko-KR" sz="1200" dirty="0"/>
                <a:t>    spec:</a:t>
              </a:r>
            </a:p>
            <a:p>
              <a:r>
                <a:rPr lang="en-US" altLang="ko-KR" sz="1200" dirty="0"/>
                <a:t>      containers:</a:t>
              </a:r>
            </a:p>
            <a:p>
              <a:r>
                <a:rPr lang="en-US" altLang="ko-KR" sz="1200" dirty="0"/>
                <a:t>      - name: lotto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image: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www.harbor.co.kr/tsp/lotto:v1_1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imagePullPolicy</a:t>
              </a:r>
              <a:r>
                <a:rPr lang="en-US" altLang="ko-KR" sz="1200" dirty="0"/>
                <a:t>: Always</a:t>
              </a:r>
            </a:p>
            <a:p>
              <a:r>
                <a:rPr lang="en-US" altLang="ko-KR" sz="1200" dirty="0"/>
                <a:t>        ports:</a:t>
              </a:r>
            </a:p>
            <a:p>
              <a:r>
                <a:rPr lang="en-US" altLang="ko-KR" sz="1200" dirty="0"/>
                <a:t>       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7071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imagePullSecrets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- name: harbor</a:t>
              </a:r>
            </a:p>
          </p:txBody>
        </p:sp>
        <p:sp>
          <p:nvSpPr>
            <p:cNvPr id="11" name="TextBox 3"/>
            <p:cNvSpPr txBox="1"/>
            <p:nvPr/>
          </p:nvSpPr>
          <p:spPr>
            <a:xfrm>
              <a:off x="7600397" y="1003344"/>
              <a:ext cx="152233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deployments.yaml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11199" y="1959677"/>
            <a:ext cx="6889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리소스 수정하는 방법</a:t>
            </a:r>
            <a:endParaRPr lang="en-US" altLang="ko-KR" sz="1200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006513"/>
              </p:ext>
            </p:extLst>
          </p:nvPr>
        </p:nvGraphicFramePr>
        <p:xfrm>
          <a:off x="956044" y="2267454"/>
          <a:ext cx="6135872" cy="2504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72762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5263110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명령어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edit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편집기를 이용해 직접 실행중인 리소스의 </a:t>
                      </a:r>
                      <a:r>
                        <a:rPr lang="en-US" altLang="ko-KR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yaml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baseline="0" dirty="0" smtClean="0"/>
                        <a:t>patch</a:t>
                      </a:r>
                      <a:endParaRPr lang="en-US" altLang="ko-KR" sz="1100" b="1" baseline="0" dirty="0"/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리소스의 개별 속성 수정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baseline="0" dirty="0" smtClean="0"/>
                        <a:t>replace</a:t>
                      </a:r>
                      <a:endParaRPr lang="en-US" altLang="ko-KR" sz="1100" b="1" baseline="0" dirty="0"/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리소스를 새로운 오브젝트로 변경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baseline="0" dirty="0" smtClean="0"/>
                        <a:t>apply</a:t>
                      </a:r>
                      <a:endParaRPr lang="en-US" altLang="ko-KR" sz="1100" b="1" baseline="0" dirty="0"/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리소스 생성 및 변경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48776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baseline="0" dirty="0" smtClean="0"/>
                        <a:t>set image</a:t>
                      </a:r>
                      <a:endParaRPr lang="en-US" altLang="ko-KR" sz="1100" b="1" baseline="0" dirty="0"/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리소스의 이미지만 변경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648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40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11199" y="863950"/>
            <a:ext cx="10474251" cy="2644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25575" y="1013828"/>
            <a:ext cx="242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Deployments</a:t>
            </a:r>
            <a:endParaRPr lang="ko-KR" altLang="en-US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1425576" y="1736818"/>
            <a:ext cx="4188416" cy="1483334"/>
            <a:chOff x="1425576" y="1736818"/>
            <a:chExt cx="4188416" cy="1483334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1425576" y="1736818"/>
              <a:ext cx="4188416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41058" y="1954804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ReplicaSet-1</a:t>
              </a:r>
              <a:endParaRPr lang="ko-KR" altLang="en-US" b="1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1730522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3610563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22" y="2574299"/>
              <a:ext cx="299811" cy="284441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971" y="2576182"/>
              <a:ext cx="299811" cy="284441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18" b="99482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626" y="1768651"/>
              <a:ext cx="544707" cy="523027"/>
            </a:xfrm>
            <a:prstGeom prst="rect">
              <a:avLst/>
            </a:prstGeom>
          </p:spPr>
        </p:pic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9482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02" y="894508"/>
            <a:ext cx="633172" cy="607971"/>
          </a:xfrm>
          <a:prstGeom prst="rect">
            <a:avLst/>
          </a:prstGeom>
        </p:spPr>
      </p:pic>
      <p:grpSp>
        <p:nvGrpSpPr>
          <p:cNvPr id="41" name="그룹 40"/>
          <p:cNvGrpSpPr/>
          <p:nvPr/>
        </p:nvGrpSpPr>
        <p:grpSpPr>
          <a:xfrm>
            <a:off x="6252759" y="1736818"/>
            <a:ext cx="4188416" cy="1483334"/>
            <a:chOff x="1425576" y="1736818"/>
            <a:chExt cx="4188416" cy="1483334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1425576" y="1736818"/>
              <a:ext cx="4188416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141058" y="1954804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ReplicaSet-2</a:t>
              </a:r>
              <a:endParaRPr lang="ko-KR" altLang="en-US" b="1" dirty="0"/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1730522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3610563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7" name="그림 46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22" y="2574299"/>
              <a:ext cx="299811" cy="284441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971" y="2576182"/>
              <a:ext cx="299811" cy="284441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18" b="99482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626" y="1768651"/>
              <a:ext cx="544707" cy="523027"/>
            </a:xfrm>
            <a:prstGeom prst="rect">
              <a:avLst/>
            </a:prstGeom>
          </p:spPr>
        </p:pic>
      </p:grpSp>
      <p:grpSp>
        <p:nvGrpSpPr>
          <p:cNvPr id="22" name="그룹 21"/>
          <p:cNvGrpSpPr/>
          <p:nvPr/>
        </p:nvGrpSpPr>
        <p:grpSpPr>
          <a:xfrm>
            <a:off x="708993" y="3789326"/>
            <a:ext cx="6981825" cy="1028700"/>
            <a:chOff x="708993" y="3789326"/>
            <a:chExt cx="6981825" cy="1028700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8993" y="3789326"/>
              <a:ext cx="6981825" cy="1028700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708993" y="4061398"/>
              <a:ext cx="1741871" cy="75662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684186" y="5018263"/>
            <a:ext cx="7191376" cy="771525"/>
            <a:chOff x="684186" y="5018263"/>
            <a:chExt cx="7191376" cy="771525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4186" y="5018263"/>
              <a:ext cx="7191375" cy="771525"/>
            </a:xfrm>
            <a:prstGeom prst="rect">
              <a:avLst/>
            </a:prstGeom>
          </p:spPr>
        </p:pic>
        <p:sp>
          <p:nvSpPr>
            <p:cNvPr id="50" name="직사각형 49"/>
            <p:cNvSpPr/>
            <p:nvPr/>
          </p:nvSpPr>
          <p:spPr>
            <a:xfrm>
              <a:off x="708994" y="5300690"/>
              <a:ext cx="7166568" cy="2069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52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Rollback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11199" y="863950"/>
            <a:ext cx="10474251" cy="2644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25575" y="1013828"/>
            <a:ext cx="242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Deployments</a:t>
            </a:r>
            <a:endParaRPr lang="ko-KR" altLang="en-US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1425576" y="1736818"/>
            <a:ext cx="4188416" cy="1483334"/>
            <a:chOff x="1425576" y="1736818"/>
            <a:chExt cx="4188416" cy="1483334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1425576" y="1736818"/>
              <a:ext cx="4188416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41058" y="1954804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ReplicaSet-1</a:t>
              </a:r>
              <a:endParaRPr lang="ko-KR" altLang="en-US" b="1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1730522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3610563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22" y="2574299"/>
              <a:ext cx="299811" cy="284441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971" y="2576182"/>
              <a:ext cx="299811" cy="284441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18" b="99482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626" y="1768651"/>
              <a:ext cx="544707" cy="523027"/>
            </a:xfrm>
            <a:prstGeom prst="rect">
              <a:avLst/>
            </a:prstGeom>
          </p:spPr>
        </p:pic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9482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02" y="894508"/>
            <a:ext cx="633172" cy="607971"/>
          </a:xfrm>
          <a:prstGeom prst="rect">
            <a:avLst/>
          </a:prstGeom>
        </p:spPr>
      </p:pic>
      <p:grpSp>
        <p:nvGrpSpPr>
          <p:cNvPr id="41" name="그룹 40"/>
          <p:cNvGrpSpPr/>
          <p:nvPr/>
        </p:nvGrpSpPr>
        <p:grpSpPr>
          <a:xfrm>
            <a:off x="6252759" y="1736818"/>
            <a:ext cx="4188416" cy="1483334"/>
            <a:chOff x="1425576" y="1736818"/>
            <a:chExt cx="4188416" cy="1483334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1425576" y="1736818"/>
              <a:ext cx="4188416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141058" y="1954804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ReplicaSet-2</a:t>
              </a:r>
              <a:endParaRPr lang="ko-KR" altLang="en-US" b="1" dirty="0"/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1730522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3610563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7" name="그림 46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22" y="2574299"/>
              <a:ext cx="299811" cy="284441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971" y="2576182"/>
              <a:ext cx="299811" cy="284441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18" b="99482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626" y="1768651"/>
              <a:ext cx="544707" cy="523027"/>
            </a:xfrm>
            <a:prstGeom prst="rect">
              <a:avLst/>
            </a:prstGeom>
          </p:spPr>
        </p:pic>
      </p:grpSp>
      <p:grpSp>
        <p:nvGrpSpPr>
          <p:cNvPr id="6" name="그룹 5"/>
          <p:cNvGrpSpPr/>
          <p:nvPr/>
        </p:nvGrpSpPr>
        <p:grpSpPr>
          <a:xfrm>
            <a:off x="711199" y="3971804"/>
            <a:ext cx="7210425" cy="1476375"/>
            <a:chOff x="870054" y="3695357"/>
            <a:chExt cx="7210425" cy="147637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70054" y="3695357"/>
              <a:ext cx="7210425" cy="1476375"/>
            </a:xfrm>
            <a:prstGeom prst="rect">
              <a:avLst/>
            </a:prstGeom>
          </p:spPr>
        </p:pic>
        <p:sp>
          <p:nvSpPr>
            <p:cNvPr id="50" name="직사각형 49"/>
            <p:cNvSpPr/>
            <p:nvPr/>
          </p:nvSpPr>
          <p:spPr>
            <a:xfrm>
              <a:off x="870054" y="3954145"/>
              <a:ext cx="7166568" cy="5221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870054" y="4997282"/>
              <a:ext cx="7166568" cy="1744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514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Command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Controller </a:t>
            </a:r>
            <a:r>
              <a:rPr lang="ko-KR" altLang="en-US" sz="1400" dirty="0" smtClean="0"/>
              <a:t>재 시작</a:t>
            </a:r>
            <a:endParaRPr lang="en-US" altLang="ko-KR" sz="1200" dirty="0"/>
          </a:p>
        </p:txBody>
      </p:sp>
      <p:sp>
        <p:nvSpPr>
          <p:cNvPr id="48" name="TextBox 5"/>
          <p:cNvSpPr txBox="1"/>
          <p:nvPr/>
        </p:nvSpPr>
        <p:spPr>
          <a:xfrm>
            <a:off x="956044" y="1023227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restart deployment [DEPLOYMENT_NAME]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11199" y="13310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Rollout </a:t>
            </a:r>
            <a:r>
              <a:rPr lang="ko-KR" altLang="en-US" sz="1400" dirty="0" smtClean="0"/>
              <a:t>상태 확인</a:t>
            </a:r>
            <a:endParaRPr lang="en-US" altLang="ko-KR" sz="1200" dirty="0"/>
          </a:p>
        </p:txBody>
      </p:sp>
      <p:sp>
        <p:nvSpPr>
          <p:cNvPr id="50" name="TextBox 5"/>
          <p:cNvSpPr txBox="1"/>
          <p:nvPr/>
        </p:nvSpPr>
        <p:spPr>
          <a:xfrm>
            <a:off x="956044" y="1638781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status </a:t>
            </a:r>
            <a:r>
              <a:rPr lang="en-US" altLang="ko-KR" sz="1200" dirty="0" smtClean="0">
                <a:solidFill>
                  <a:schemeClr val="bg1"/>
                </a:solidFill>
              </a:rPr>
              <a:t>deployment </a:t>
            </a:r>
            <a:r>
              <a:rPr lang="en-US" altLang="ko-KR" sz="1200" dirty="0">
                <a:solidFill>
                  <a:schemeClr val="bg1"/>
                </a:solidFill>
              </a:rPr>
              <a:t>[DEPLOYMENT_NAME]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199" y="197733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Rollout </a:t>
            </a:r>
            <a:r>
              <a:rPr lang="ko-KR" altLang="en-US" sz="1400" dirty="0" smtClean="0"/>
              <a:t>이력 확인</a:t>
            </a:r>
            <a:endParaRPr lang="en-US" altLang="ko-KR" sz="1200" dirty="0"/>
          </a:p>
        </p:txBody>
      </p:sp>
      <p:sp>
        <p:nvSpPr>
          <p:cNvPr id="54" name="TextBox 5"/>
          <p:cNvSpPr txBox="1"/>
          <p:nvPr/>
        </p:nvSpPr>
        <p:spPr>
          <a:xfrm>
            <a:off x="956044" y="2285113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history deployment </a:t>
            </a:r>
            <a:r>
              <a:rPr lang="en-US" altLang="ko-KR" sz="1200" dirty="0">
                <a:solidFill>
                  <a:schemeClr val="bg1"/>
                </a:solidFill>
              </a:rPr>
              <a:t>[DEPLOYMENT_NAME]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1199" y="262366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Rollback</a:t>
            </a:r>
            <a:endParaRPr lang="en-US" altLang="ko-KR" sz="1200" dirty="0"/>
          </a:p>
        </p:txBody>
      </p:sp>
      <p:sp>
        <p:nvSpPr>
          <p:cNvPr id="56" name="TextBox 5"/>
          <p:cNvSpPr txBox="1"/>
          <p:nvPr/>
        </p:nvSpPr>
        <p:spPr>
          <a:xfrm>
            <a:off x="956044" y="2931445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undo deployment </a:t>
            </a:r>
            <a:r>
              <a:rPr lang="en-US" altLang="ko-KR" sz="1200" dirty="0">
                <a:solidFill>
                  <a:schemeClr val="bg1"/>
                </a:solidFill>
              </a:rPr>
              <a:t>[DEPLOYMENT_NAME]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199" y="326629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Update</a:t>
            </a:r>
            <a:endParaRPr lang="en-US" altLang="ko-KR" sz="1200" dirty="0"/>
          </a:p>
        </p:txBody>
      </p:sp>
      <p:sp>
        <p:nvSpPr>
          <p:cNvPr id="58" name="TextBox 5"/>
          <p:cNvSpPr txBox="1"/>
          <p:nvPr/>
        </p:nvSpPr>
        <p:spPr>
          <a:xfrm>
            <a:off x="956044" y="3574069"/>
            <a:ext cx="10803566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deployments.yaml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set image deployments/[DEPLOYMENT_NAME] [</a:t>
            </a:r>
            <a:r>
              <a:rPr lang="ko-KR" altLang="en-US" sz="1200" dirty="0">
                <a:solidFill>
                  <a:schemeClr val="bg1"/>
                </a:solidFill>
              </a:rPr>
              <a:t>컨테이너이름</a:t>
            </a:r>
            <a:r>
              <a:rPr lang="en-US" altLang="ko-KR" sz="1200" dirty="0" smtClean="0">
                <a:solidFill>
                  <a:schemeClr val="bg1"/>
                </a:solidFill>
              </a:rPr>
              <a:t>]=[</a:t>
            </a:r>
            <a:r>
              <a:rPr lang="ko-KR" altLang="en-US" sz="1200" dirty="0" smtClean="0">
                <a:solidFill>
                  <a:schemeClr val="bg1"/>
                </a:solidFill>
              </a:rPr>
              <a:t>새로운 이미지 이름</a:t>
            </a:r>
            <a:r>
              <a:rPr lang="en-US" altLang="ko-KR" sz="1200" dirty="0" smtClean="0">
                <a:solidFill>
                  <a:schemeClr val="bg1"/>
                </a:solidFill>
              </a:rPr>
              <a:t>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89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Command &amp; Argument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70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Command &amp; Argument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이미지가 실행될 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실행하는 명령어를 설정할 수 있다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711198" y="1903674"/>
            <a:ext cx="4664150" cy="1292662"/>
            <a:chOff x="711198" y="1903674"/>
            <a:chExt cx="4664150" cy="1292662"/>
          </a:xfrm>
        </p:grpSpPr>
        <p:sp>
          <p:nvSpPr>
            <p:cNvPr id="5" name="TextBox 3"/>
            <p:cNvSpPr txBox="1"/>
            <p:nvPr/>
          </p:nvSpPr>
          <p:spPr>
            <a:xfrm>
              <a:off x="711199" y="2180673"/>
              <a:ext cx="4664149" cy="1015663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dirty="0" smtClean="0"/>
                <a:t>FROM Ubuntu</a:t>
              </a:r>
            </a:p>
            <a:p>
              <a:pPr algn="l"/>
              <a:endParaRPr lang="en-US" altLang="ko-KR" sz="1200" dirty="0"/>
            </a:p>
            <a:p>
              <a:pPr algn="l"/>
              <a:r>
                <a:rPr lang="en-US" altLang="ko-KR" sz="1200" dirty="0" smtClean="0"/>
                <a:t>ENTRYPOINT [“bin/</a:t>
              </a:r>
              <a:r>
                <a:rPr lang="en-US" altLang="ko-KR" sz="1200" dirty="0" err="1" smtClean="0"/>
                <a:t>sh</a:t>
              </a:r>
              <a:r>
                <a:rPr lang="en-US" altLang="ko-KR" sz="1200" dirty="0" smtClean="0"/>
                <a:t>”, “-c”]</a:t>
              </a:r>
            </a:p>
            <a:p>
              <a:pPr algn="l"/>
              <a:endParaRPr lang="en-US" altLang="ko-KR" sz="1200" dirty="0"/>
            </a:p>
            <a:p>
              <a:pPr algn="l"/>
              <a:r>
                <a:rPr lang="en-US" altLang="ko-KR" sz="1200" dirty="0" smtClean="0"/>
                <a:t>CMD [“sleep 5”]</a:t>
              </a:r>
            </a:p>
          </p:txBody>
        </p:sp>
        <p:sp>
          <p:nvSpPr>
            <p:cNvPr id="6" name="TextBox 3"/>
            <p:cNvSpPr txBox="1"/>
            <p:nvPr/>
          </p:nvSpPr>
          <p:spPr>
            <a:xfrm>
              <a:off x="711198" y="1903674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Dockerfile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711198" y="4739642"/>
            <a:ext cx="4664150" cy="1107996"/>
            <a:chOff x="711198" y="3636781"/>
            <a:chExt cx="4664150" cy="1107996"/>
          </a:xfrm>
        </p:grpSpPr>
        <p:sp>
          <p:nvSpPr>
            <p:cNvPr id="12" name="TextBox 3"/>
            <p:cNvSpPr txBox="1"/>
            <p:nvPr/>
          </p:nvSpPr>
          <p:spPr>
            <a:xfrm>
              <a:off x="711199" y="3913780"/>
              <a:ext cx="4664149" cy="830997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dirty="0" smtClean="0"/>
                <a:t>FROM Ubuntu</a:t>
              </a:r>
            </a:p>
            <a:p>
              <a:pPr algn="l"/>
              <a:endParaRPr lang="en-US" altLang="ko-KR" sz="1200" dirty="0" smtClean="0"/>
            </a:p>
            <a:p>
              <a:pPr algn="l"/>
              <a:r>
                <a:rPr lang="en-US" altLang="ko-KR" sz="1200" dirty="0" smtClean="0"/>
                <a:t># CMD [“command”, “param1”]</a:t>
              </a:r>
              <a:endParaRPr lang="en-US" altLang="ko-KR" sz="1200" dirty="0"/>
            </a:p>
            <a:p>
              <a:pPr algn="l"/>
              <a:r>
                <a:rPr lang="en-US" altLang="ko-KR" sz="1200" dirty="0" smtClean="0"/>
                <a:t>CMD [“sleep”, “5”]</a:t>
              </a:r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711198" y="3636781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Dockerfile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711198" y="1069516"/>
            <a:ext cx="5486399" cy="496795"/>
            <a:chOff x="711198" y="1069516"/>
            <a:chExt cx="5486399" cy="496795"/>
          </a:xfrm>
        </p:grpSpPr>
        <p:sp>
          <p:nvSpPr>
            <p:cNvPr id="9" name="직사각형 8"/>
            <p:cNvSpPr/>
            <p:nvPr/>
          </p:nvSpPr>
          <p:spPr>
            <a:xfrm>
              <a:off x="711198" y="1069516"/>
              <a:ext cx="5486399" cy="21979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CMD</a:t>
              </a:r>
              <a:endParaRPr lang="ko-KR" altLang="en-US" sz="12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711198" y="1289312"/>
              <a:ext cx="5486399" cy="27699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100" b="1" dirty="0" smtClean="0">
                  <a:solidFill>
                    <a:schemeClr val="bg1"/>
                  </a:solidFill>
                </a:rPr>
                <a:t>$ /bin/</a:t>
              </a:r>
              <a:r>
                <a:rPr lang="en-US" altLang="ko-KR" sz="1100" b="1" dirty="0" err="1" smtClean="0">
                  <a:solidFill>
                    <a:schemeClr val="bg1"/>
                  </a:solidFill>
                </a:rPr>
                <a:t>sh</a:t>
              </a:r>
              <a:r>
                <a:rPr lang="en-US" altLang="ko-KR" sz="1100" b="1" dirty="0" smtClean="0">
                  <a:solidFill>
                    <a:schemeClr val="bg1"/>
                  </a:solidFill>
                </a:rPr>
                <a:t> –c “sleep 5”</a:t>
              </a:r>
              <a:endParaRPr lang="en-US" altLang="ko-KR" sz="1100" b="1" dirty="0">
                <a:solidFill>
                  <a:schemeClr val="bg1"/>
                </a:solidFill>
              </a:endParaRPr>
            </a:p>
            <a:p>
              <a:endParaRPr lang="en-US" altLang="ko-KR" sz="1100" b="1" dirty="0" smtClean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6889898" y="1020092"/>
            <a:ext cx="4882226" cy="2208212"/>
            <a:chOff x="6889898" y="1020092"/>
            <a:chExt cx="4882226" cy="2208212"/>
          </a:xfrm>
        </p:grpSpPr>
        <p:sp>
          <p:nvSpPr>
            <p:cNvPr id="16" name="TextBox 3"/>
            <p:cNvSpPr txBox="1"/>
            <p:nvPr/>
          </p:nvSpPr>
          <p:spPr>
            <a:xfrm>
              <a:off x="6889898" y="1289312"/>
              <a:ext cx="4882226" cy="193899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</a:t>
              </a:r>
              <a:r>
                <a:rPr lang="en-US" altLang="ko-KR" sz="1200" dirty="0" smtClean="0"/>
                <a:t>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kind: </a:t>
              </a:r>
              <a:r>
                <a:rPr lang="en-US" altLang="ko-KR" sz="1200" dirty="0" smtClean="0"/>
                <a:t>Pod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metadata</a:t>
              </a:r>
              <a:r>
                <a:rPr lang="en-US" altLang="ko-KR" sz="1200" dirty="0" smtClean="0"/>
                <a:t>: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pPr algn="l"/>
              <a:r>
                <a:rPr lang="en-US" altLang="ko-KR" sz="1200" dirty="0" smtClean="0"/>
                <a:t>spec</a:t>
              </a:r>
              <a:r>
                <a:rPr lang="en-US" altLang="ko-KR" sz="1200" dirty="0"/>
                <a:t>: 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 smtClean="0"/>
                <a:t>  containers:</a:t>
              </a:r>
            </a:p>
            <a:p>
              <a:pPr algn="l"/>
              <a:r>
                <a:rPr lang="en-US" altLang="ko-KR" sz="1200" dirty="0" smtClean="0"/>
                <a:t>    </a:t>
              </a:r>
              <a:r>
                <a:rPr lang="en-US" altLang="ko-KR" sz="1200" dirty="0"/>
                <a:t>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pPr algn="l"/>
              <a:r>
                <a:rPr lang="en-US" altLang="ko-KR" sz="1200" dirty="0"/>
                <a:t>      image: </a:t>
              </a:r>
              <a:r>
                <a:rPr lang="en-US" altLang="ko-KR" sz="1200" dirty="0" err="1" smtClean="0"/>
                <a:t>nignx</a:t>
              </a:r>
              <a:endParaRPr lang="en-US" altLang="ko-KR" sz="1200" dirty="0" smtClean="0"/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    command: [“bin/</a:t>
              </a:r>
              <a:r>
                <a:rPr lang="en-US" altLang="ko-KR" sz="1200" dirty="0" err="1" smtClean="0"/>
                <a:t>sh</a:t>
              </a:r>
              <a:r>
                <a:rPr lang="en-US" altLang="ko-KR" sz="1200" dirty="0" smtClean="0"/>
                <a:t>”, “-c”]</a:t>
              </a:r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    </a:t>
              </a:r>
              <a:r>
                <a:rPr lang="en-US" altLang="ko-KR" sz="1200" dirty="0" err="1" smtClean="0"/>
                <a:t>args</a:t>
              </a:r>
              <a:r>
                <a:rPr lang="en-US" altLang="ko-KR" sz="1200" dirty="0" smtClean="0"/>
                <a:t>: [“sleep 5”]</a:t>
              </a:r>
              <a:endParaRPr lang="en-US" altLang="ko-KR" sz="1200" dirty="0"/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889898" y="1020092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0" name="직선 화살표 연결선 19"/>
          <p:cNvCxnSpPr/>
          <p:nvPr/>
        </p:nvCxnSpPr>
        <p:spPr>
          <a:xfrm>
            <a:off x="2785730" y="2679405"/>
            <a:ext cx="4455042" cy="2232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1956391" y="3094074"/>
            <a:ext cx="5284381" cy="341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/>
          <p:cNvGrpSpPr/>
          <p:nvPr/>
        </p:nvGrpSpPr>
        <p:grpSpPr>
          <a:xfrm>
            <a:off x="6889898" y="3454760"/>
            <a:ext cx="4882226" cy="2392878"/>
            <a:chOff x="6889898" y="1020092"/>
            <a:chExt cx="4882226" cy="2392878"/>
          </a:xfrm>
        </p:grpSpPr>
        <p:sp>
          <p:nvSpPr>
            <p:cNvPr id="25" name="TextBox 3"/>
            <p:cNvSpPr txBox="1"/>
            <p:nvPr/>
          </p:nvSpPr>
          <p:spPr>
            <a:xfrm>
              <a:off x="6889898" y="1289312"/>
              <a:ext cx="4882226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</a:t>
              </a:r>
              <a:r>
                <a:rPr lang="en-US" altLang="ko-KR" sz="1200" dirty="0" smtClean="0"/>
                <a:t>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kind: </a:t>
              </a:r>
              <a:r>
                <a:rPr lang="en-US" altLang="ko-KR" sz="1200" dirty="0" smtClean="0"/>
                <a:t>Pod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metadata</a:t>
              </a:r>
              <a:r>
                <a:rPr lang="en-US" altLang="ko-KR" sz="1200" dirty="0" smtClean="0"/>
                <a:t>: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  name : </a:t>
              </a:r>
              <a:r>
                <a:rPr lang="en-US" altLang="ko-KR" sz="1200" dirty="0" err="1"/>
                <a:t>myapp</a:t>
              </a:r>
              <a:endParaRPr lang="en-US" altLang="ko-KR" sz="1200" dirty="0"/>
            </a:p>
            <a:p>
              <a:pPr algn="l"/>
              <a:r>
                <a:rPr lang="en-US" altLang="ko-KR" sz="1200" dirty="0" smtClean="0"/>
                <a:t>spec</a:t>
              </a:r>
              <a:r>
                <a:rPr lang="en-US" altLang="ko-KR" sz="1200" dirty="0"/>
                <a:t>: 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 smtClean="0"/>
                <a:t>  containers:</a:t>
              </a:r>
            </a:p>
            <a:p>
              <a:pPr algn="l"/>
              <a:r>
                <a:rPr lang="en-US" altLang="ko-KR" sz="1200" dirty="0" smtClean="0"/>
                <a:t>    </a:t>
              </a:r>
              <a:r>
                <a:rPr lang="en-US" altLang="ko-KR" sz="1200" dirty="0"/>
                <a:t>-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-controller</a:t>
              </a:r>
            </a:p>
            <a:p>
              <a:pPr algn="l"/>
              <a:r>
                <a:rPr lang="en-US" altLang="ko-KR" sz="1200" dirty="0"/>
                <a:t>      image: </a:t>
              </a:r>
              <a:r>
                <a:rPr lang="en-US" altLang="ko-KR" sz="1200" dirty="0" err="1" smtClean="0"/>
                <a:t>nignx</a:t>
              </a:r>
              <a:endParaRPr lang="en-US" altLang="ko-KR" sz="1200" dirty="0" smtClean="0"/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    command:</a:t>
              </a:r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    - sleep</a:t>
              </a:r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    - “5” </a:t>
              </a:r>
              <a:endParaRPr lang="en-US" altLang="ko-KR" sz="1200" dirty="0"/>
            </a:p>
          </p:txBody>
        </p:sp>
        <p:sp>
          <p:nvSpPr>
            <p:cNvPr id="26" name="TextBox 3"/>
            <p:cNvSpPr txBox="1"/>
            <p:nvPr/>
          </p:nvSpPr>
          <p:spPr>
            <a:xfrm>
              <a:off x="6889898" y="1020092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7" name="직선 화살표 연결선 26"/>
          <p:cNvCxnSpPr/>
          <p:nvPr/>
        </p:nvCxnSpPr>
        <p:spPr>
          <a:xfrm flipV="1">
            <a:off x="2082798" y="5552064"/>
            <a:ext cx="5157974" cy="2107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83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Enviornment</a:t>
            </a:r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In Application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555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Plain Key Value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200" dirty="0" smtClean="0"/>
              <a:t>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파일에서 </a:t>
            </a:r>
            <a:r>
              <a:rPr lang="en-US" altLang="ko-KR" sz="1400" dirty="0" smtClean="0"/>
              <a:t>ENV</a:t>
            </a:r>
            <a:r>
              <a:rPr lang="ko-KR" altLang="en-US" sz="1400" dirty="0" smtClean="0"/>
              <a:t>를 설정할 수 있다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4" name="그룹 3"/>
          <p:cNvGrpSpPr/>
          <p:nvPr/>
        </p:nvGrpSpPr>
        <p:grpSpPr>
          <a:xfrm>
            <a:off x="711199" y="1173154"/>
            <a:ext cx="4753936" cy="2954655"/>
            <a:chOff x="6368902" y="1495806"/>
            <a:chExt cx="4753936" cy="2954655"/>
          </a:xfrm>
        </p:grpSpPr>
        <p:sp>
          <p:nvSpPr>
            <p:cNvPr id="5" name="TextBox 3"/>
            <p:cNvSpPr txBox="1"/>
            <p:nvPr/>
          </p:nvSpPr>
          <p:spPr>
            <a:xfrm>
              <a:off x="6368903" y="1772805"/>
              <a:ext cx="4753935" cy="267765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/>
                <a:t>public class </a:t>
              </a:r>
              <a:r>
                <a:rPr lang="en-US" altLang="ko-KR" sz="1200" dirty="0" err="1"/>
                <a:t>EnvSample</a:t>
              </a:r>
              <a:r>
                <a:rPr lang="en-US" altLang="ko-KR" sz="1200" dirty="0"/>
                <a:t> {</a:t>
              </a:r>
            </a:p>
            <a:p>
              <a:r>
                <a:rPr lang="en-US" altLang="ko-KR" sz="1200" dirty="0"/>
                <a:t>  public static void main(String[] </a:t>
              </a:r>
              <a:r>
                <a:rPr lang="en-US" altLang="ko-KR" sz="1200" dirty="0" err="1"/>
                <a:t>args</a:t>
              </a:r>
              <a:r>
                <a:rPr lang="en-US" altLang="ko-KR" sz="1200" dirty="0"/>
                <a:t>){</a:t>
              </a:r>
            </a:p>
            <a:p>
              <a:endParaRPr lang="en-US" altLang="ko-KR" sz="1200" dirty="0"/>
            </a:p>
            <a:p>
              <a:r>
                <a:rPr lang="en-US" altLang="ko-KR" sz="1200" dirty="0"/>
                <a:t>   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String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sample_env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 =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System.getenv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("SAMPLE");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System.out.println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(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sample_env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);</a:t>
              </a:r>
            </a:p>
            <a:p>
              <a:r>
                <a:rPr lang="en-US" altLang="ko-KR" sz="1200" dirty="0"/>
                <a:t>        try {</a:t>
              </a:r>
            </a:p>
            <a:p>
              <a:r>
                <a:rPr lang="en-US" altLang="ko-KR" sz="1200" dirty="0"/>
                <a:t>            // 60</a:t>
              </a:r>
              <a:r>
                <a:rPr lang="ko-KR" altLang="en-US" sz="1200" dirty="0"/>
                <a:t>초</a:t>
              </a:r>
              <a:r>
                <a:rPr lang="en-US" altLang="ko-KR" sz="1200" dirty="0"/>
                <a:t>(60000ms) </a:t>
              </a:r>
              <a:r>
                <a:rPr lang="ko-KR" altLang="en-US" sz="1200" dirty="0"/>
                <a:t>동안 대기</a:t>
              </a:r>
            </a:p>
            <a:p>
              <a:r>
                <a:rPr lang="ko-KR" altLang="en-US" sz="1200" dirty="0"/>
                <a:t>            </a:t>
              </a:r>
              <a:r>
                <a:rPr lang="en-US" altLang="ko-KR" sz="1200" dirty="0" err="1"/>
                <a:t>Thread.sleep</a:t>
              </a:r>
              <a:r>
                <a:rPr lang="en-US" altLang="ko-KR" sz="1200" dirty="0"/>
                <a:t>(60000);</a:t>
              </a:r>
            </a:p>
            <a:p>
              <a:r>
                <a:rPr lang="en-US" altLang="ko-KR" sz="1200" dirty="0"/>
                <a:t>        } catch (</a:t>
              </a:r>
              <a:r>
                <a:rPr lang="en-US" altLang="ko-KR" sz="1200" dirty="0" err="1"/>
                <a:t>InterruptedException</a:t>
              </a:r>
              <a:r>
                <a:rPr lang="en-US" altLang="ko-KR" sz="1200" dirty="0"/>
                <a:t> e) {</a:t>
              </a:r>
            </a:p>
            <a:p>
              <a:r>
                <a:rPr lang="en-US" altLang="ko-KR" sz="1200" dirty="0"/>
                <a:t>            </a:t>
              </a:r>
              <a:r>
                <a:rPr lang="en-US" altLang="ko-KR" sz="1200" dirty="0" err="1"/>
                <a:t>e.printStackTrace</a:t>
              </a:r>
              <a:r>
                <a:rPr lang="en-US" altLang="ko-KR" sz="1200" dirty="0"/>
                <a:t>();</a:t>
              </a:r>
            </a:p>
            <a:p>
              <a:r>
                <a:rPr lang="en-US" altLang="ko-KR" sz="1200" dirty="0"/>
                <a:t>        }</a:t>
              </a:r>
            </a:p>
            <a:p>
              <a:endParaRPr lang="en-US" altLang="ko-KR" sz="1200" dirty="0"/>
            </a:p>
            <a:p>
              <a:r>
                <a:rPr lang="en-US" altLang="ko-KR" sz="1200" dirty="0"/>
                <a:t>  }</a:t>
              </a:r>
            </a:p>
            <a:p>
              <a:r>
                <a:rPr lang="en-US" altLang="ko-KR" sz="1200" dirty="0" smtClean="0"/>
                <a:t>}</a:t>
              </a:r>
              <a:endParaRPr lang="en-US" altLang="ko-KR" sz="1200" dirty="0"/>
            </a:p>
          </p:txBody>
        </p:sp>
        <p:sp>
          <p:nvSpPr>
            <p:cNvPr id="6" name="TextBox 3"/>
            <p:cNvSpPr txBox="1"/>
            <p:nvPr/>
          </p:nvSpPr>
          <p:spPr>
            <a:xfrm>
              <a:off x="6368902" y="1495806"/>
              <a:ext cx="137160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>
                  <a:solidFill>
                    <a:sysClr val="windowText" lastClr="000000"/>
                  </a:solidFill>
                </a:rPr>
                <a:t>e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nv_sample.java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6569739" y="1173154"/>
            <a:ext cx="4753936" cy="3693319"/>
            <a:chOff x="6368902" y="1495806"/>
            <a:chExt cx="4753936" cy="3693319"/>
          </a:xfrm>
        </p:grpSpPr>
        <p:sp>
          <p:nvSpPr>
            <p:cNvPr id="27" name="TextBox 3"/>
            <p:cNvSpPr txBox="1"/>
            <p:nvPr/>
          </p:nvSpPr>
          <p:spPr>
            <a:xfrm>
              <a:off x="6368903" y="1772805"/>
              <a:ext cx="4753935" cy="341632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env-smaple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env</a:t>
              </a:r>
              <a:r>
                <a:rPr lang="en-US" altLang="ko-KR" sz="1200" dirty="0"/>
                <a:t>-sample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www.harbor.co.kr/common/env_sample:v1</a:t>
              </a:r>
            </a:p>
            <a:p>
              <a:r>
                <a:rPr lang="en-US" altLang="ko-KR" sz="1200" dirty="0"/>
                <a:t>    name: test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env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- name: SAMPLE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  value: sample test value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dnsPolicy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ClusterFirst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restartPolicy</a:t>
              </a:r>
              <a:r>
                <a:rPr lang="en-US" altLang="ko-KR" sz="1200" dirty="0"/>
                <a:t>: Never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imagePullSecrets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harbor</a:t>
              </a: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6368902" y="1495806"/>
              <a:ext cx="144721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env_sample.yaml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99" y="5147460"/>
            <a:ext cx="4849629" cy="51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ConfigMap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Application </a:t>
            </a:r>
            <a:r>
              <a:rPr lang="ko-KR" altLang="en-US" sz="1400" dirty="0" smtClean="0"/>
              <a:t>설정 파일 및 </a:t>
            </a:r>
            <a:r>
              <a:rPr lang="en-US" altLang="ko-KR" sz="1400" dirty="0" smtClean="0"/>
              <a:t>ENV </a:t>
            </a:r>
            <a:r>
              <a:rPr lang="ko-KR" altLang="en-US" sz="1400" dirty="0" smtClean="0"/>
              <a:t>값을 설정하는 </a:t>
            </a:r>
            <a:r>
              <a:rPr lang="en-US" altLang="ko-KR" sz="1400" dirty="0" smtClean="0"/>
              <a:t>Object</a:t>
            </a:r>
            <a:r>
              <a:rPr lang="ko-KR" altLang="en-US" sz="1400" dirty="0" smtClean="0"/>
              <a:t>이다</a:t>
            </a:r>
            <a:r>
              <a:rPr lang="en-US" altLang="ko-KR" sz="1400" dirty="0" smtClean="0"/>
              <a:t>.</a:t>
            </a:r>
            <a:endParaRPr lang="en-US" altLang="ko-KR" sz="1400" dirty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ConfigMap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400" dirty="0" smtClean="0"/>
          </a:p>
        </p:txBody>
      </p:sp>
      <p:grpSp>
        <p:nvGrpSpPr>
          <p:cNvPr id="2" name="그룹 1"/>
          <p:cNvGrpSpPr/>
          <p:nvPr/>
        </p:nvGrpSpPr>
        <p:grpSpPr>
          <a:xfrm>
            <a:off x="966677" y="1811108"/>
            <a:ext cx="4753936" cy="1661994"/>
            <a:chOff x="6569739" y="1173154"/>
            <a:chExt cx="4753936" cy="1661994"/>
          </a:xfrm>
        </p:grpSpPr>
        <p:sp>
          <p:nvSpPr>
            <p:cNvPr id="27" name="TextBox 3"/>
            <p:cNvSpPr txBox="1"/>
            <p:nvPr/>
          </p:nvSpPr>
          <p:spPr>
            <a:xfrm>
              <a:off x="6569740" y="1450153"/>
              <a:ext cx="4753935" cy="1384995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env</a:t>
              </a:r>
              <a:r>
                <a:rPr lang="en-US" altLang="ko-KR" sz="1200" dirty="0" smtClean="0"/>
                <a:t>-sample-</a:t>
              </a:r>
              <a:r>
                <a:rPr lang="en-US" altLang="ko-KR" sz="1200" dirty="0" err="1" smtClean="0"/>
                <a:t>config</a:t>
              </a:r>
              <a:endParaRPr lang="en-US" altLang="ko-KR" sz="1200" dirty="0"/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smtClean="0"/>
                <a:t>SAMPLE: sample test value</a:t>
              </a:r>
              <a:endParaRPr lang="en-US" altLang="ko-KR" sz="1200" dirty="0"/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/>
                <a:t>APP_MODE: prod</a:t>
              </a: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env_sample_config.yaml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TextBox 5"/>
          <p:cNvSpPr txBox="1"/>
          <p:nvPr/>
        </p:nvSpPr>
        <p:spPr>
          <a:xfrm>
            <a:off x="966677" y="1302790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configmap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</a:t>
            </a:r>
            <a:r>
              <a:rPr lang="en-US" altLang="ko-KR" sz="1200" dirty="0" smtClean="0">
                <a:solidFill>
                  <a:schemeClr val="bg1"/>
                </a:solidFill>
              </a:rPr>
              <a:t>-sample-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</a:t>
            </a:r>
            <a:r>
              <a:rPr lang="en-US" altLang="ko-KR" sz="1200" dirty="0" smtClean="0">
                <a:solidFill>
                  <a:schemeClr val="bg1"/>
                </a:solidFill>
              </a:rPr>
              <a:t> --from-literal=SAMPLE=sample test value --from-literal=APP_MODE=prod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966677" y="3473102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env_sample_config.yaml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384142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ConfigMap</a:t>
            </a:r>
            <a:r>
              <a:rPr lang="ko-KR" altLang="en-US" sz="1400" dirty="0" smtClean="0"/>
              <a:t>에서 </a:t>
            </a:r>
            <a:r>
              <a:rPr lang="en-US" altLang="ko-KR" sz="1400" dirty="0" err="1" smtClean="0"/>
              <a:t>Config</a:t>
            </a:r>
            <a:r>
              <a:rPr lang="en-US" altLang="ko-KR" sz="1400" dirty="0" smtClean="0"/>
              <a:t> File </a:t>
            </a:r>
            <a:r>
              <a:rPr lang="ko-KR" altLang="en-US" sz="1400" dirty="0" smtClean="0"/>
              <a:t>설정</a:t>
            </a:r>
            <a:endParaRPr lang="en-US" altLang="ko-KR" sz="14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966677" y="4240520"/>
            <a:ext cx="4753936" cy="2031325"/>
            <a:chOff x="6569739" y="1173154"/>
            <a:chExt cx="4753936" cy="2031325"/>
          </a:xfrm>
        </p:grpSpPr>
        <p:sp>
          <p:nvSpPr>
            <p:cNvPr id="16" name="TextBox 3"/>
            <p:cNvSpPr txBox="1"/>
            <p:nvPr/>
          </p:nvSpPr>
          <p:spPr>
            <a:xfrm>
              <a:off x="6569740" y="1450153"/>
              <a:ext cx="4753935" cy="175432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cm-</a:t>
              </a:r>
              <a:r>
                <a:rPr lang="en-US" altLang="ko-KR" sz="1200" dirty="0" err="1"/>
                <a:t>webtob</a:t>
              </a:r>
              <a:endParaRPr lang="en-US" altLang="ko-KR" sz="1200" dirty="0"/>
            </a:p>
            <a:p>
              <a:r>
                <a:rPr lang="en-US" altLang="ko-KR" sz="1200" dirty="0" smtClean="0"/>
                <a:t>data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http.m</a:t>
              </a:r>
              <a:r>
                <a:rPr lang="en-US" altLang="ko-KR" sz="1200" dirty="0"/>
                <a:t>: |-</a:t>
              </a:r>
            </a:p>
            <a:p>
              <a:r>
                <a:rPr lang="en-US" altLang="ko-KR" sz="1200" dirty="0"/>
                <a:t>    *DOMAIN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 smtClean="0"/>
                <a:t>webtob</a:t>
              </a:r>
              <a:endParaRPr lang="en-US" altLang="ko-KR" sz="1200" dirty="0" smtClean="0"/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w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ebtob_config.yaml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8323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ConfigMap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in Pods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ConfigMap</a:t>
            </a:r>
            <a:r>
              <a:rPr lang="ko-KR" altLang="en-US" sz="1400" dirty="0" smtClean="0"/>
              <a:t>에 설정된 모든 </a:t>
            </a:r>
            <a:r>
              <a:rPr lang="en-US" altLang="ko-KR" sz="1400" dirty="0" smtClean="0"/>
              <a:t>ENV </a:t>
            </a:r>
            <a:r>
              <a:rPr lang="ko-KR" altLang="en-US" sz="1400" dirty="0" smtClean="0"/>
              <a:t>사용</a:t>
            </a:r>
            <a:endParaRPr lang="en-US" altLang="ko-KR" sz="14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069766" y="1061699"/>
            <a:ext cx="4753936" cy="1661994"/>
            <a:chOff x="6569739" y="1173154"/>
            <a:chExt cx="4753936" cy="1661994"/>
          </a:xfrm>
        </p:grpSpPr>
        <p:sp>
          <p:nvSpPr>
            <p:cNvPr id="27" name="TextBox 3"/>
            <p:cNvSpPr txBox="1"/>
            <p:nvPr/>
          </p:nvSpPr>
          <p:spPr>
            <a:xfrm>
              <a:off x="6569740" y="1450153"/>
              <a:ext cx="4753935" cy="1384995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env</a:t>
              </a:r>
              <a:r>
                <a:rPr lang="en-US" altLang="ko-KR" sz="1200" dirty="0" smtClean="0"/>
                <a:t>-sample-</a:t>
              </a:r>
              <a:r>
                <a:rPr lang="en-US" altLang="ko-KR" sz="1200" dirty="0" err="1" smtClean="0"/>
                <a:t>config</a:t>
              </a:r>
              <a:endParaRPr lang="en-US" altLang="ko-KR" sz="1200" dirty="0"/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smtClean="0"/>
                <a:t>SAMPLE: sample test value</a:t>
              </a:r>
              <a:endParaRPr lang="en-US" altLang="ko-KR" sz="1200" dirty="0"/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/>
                <a:t>APP_MODE: prod</a:t>
              </a: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env_sample_config.yaml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998575" y="1023227"/>
            <a:ext cx="4753936" cy="3693319"/>
            <a:chOff x="6569739" y="1173154"/>
            <a:chExt cx="4753936" cy="3693319"/>
          </a:xfrm>
        </p:grpSpPr>
        <p:sp>
          <p:nvSpPr>
            <p:cNvPr id="16" name="TextBox 3"/>
            <p:cNvSpPr txBox="1"/>
            <p:nvPr/>
          </p:nvSpPr>
          <p:spPr>
            <a:xfrm>
              <a:off x="6569740" y="1450153"/>
              <a:ext cx="4753935" cy="341632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env-smaple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env</a:t>
              </a:r>
              <a:r>
                <a:rPr lang="en-US" altLang="ko-KR" sz="1200" dirty="0"/>
                <a:t>-sample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www.harbor.co.kr/common/env_sample:v1</a:t>
              </a:r>
            </a:p>
            <a:p>
              <a:r>
                <a:rPr lang="en-US" altLang="ko-KR" sz="1200" dirty="0"/>
                <a:t>    name: test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envFrom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-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configMapRef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name: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env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-sample-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config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dnsPolicy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ClusterFirst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restartPolicy</a:t>
              </a:r>
              <a:r>
                <a:rPr lang="en-US" altLang="ko-KR" sz="1200" dirty="0"/>
                <a:t>: Never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imagePullSecrets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harbor</a:t>
              </a:r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e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nv_sample.yaml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1403499" y="3732030"/>
            <a:ext cx="1892594" cy="223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7198540" y="1919554"/>
            <a:ext cx="1892594" cy="223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>
            <a:stCxn id="4" idx="3"/>
            <a:endCxn id="18" idx="1"/>
          </p:cNvCxnSpPr>
          <p:nvPr/>
        </p:nvCxnSpPr>
        <p:spPr>
          <a:xfrm flipV="1">
            <a:off x="3296093" y="2031195"/>
            <a:ext cx="3902447" cy="181247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70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ConfigMap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in Pods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ConfigMap</a:t>
            </a:r>
            <a:r>
              <a:rPr lang="ko-KR" altLang="en-US" sz="1400" dirty="0" smtClean="0"/>
              <a:t>에 설정된 특정 </a:t>
            </a:r>
            <a:r>
              <a:rPr lang="en-US" altLang="ko-KR" sz="1400" dirty="0" smtClean="0"/>
              <a:t>ENV </a:t>
            </a:r>
            <a:r>
              <a:rPr lang="ko-KR" altLang="en-US" sz="1400" dirty="0" smtClean="0"/>
              <a:t>사용</a:t>
            </a:r>
            <a:endParaRPr lang="en-US" altLang="ko-KR" sz="14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069766" y="1061699"/>
            <a:ext cx="4753936" cy="1661994"/>
            <a:chOff x="6569739" y="1173154"/>
            <a:chExt cx="4753936" cy="1661994"/>
          </a:xfrm>
        </p:grpSpPr>
        <p:sp>
          <p:nvSpPr>
            <p:cNvPr id="27" name="TextBox 3"/>
            <p:cNvSpPr txBox="1"/>
            <p:nvPr/>
          </p:nvSpPr>
          <p:spPr>
            <a:xfrm>
              <a:off x="6569740" y="1450153"/>
              <a:ext cx="4753935" cy="1384995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env</a:t>
              </a:r>
              <a:r>
                <a:rPr lang="en-US" altLang="ko-KR" sz="1200" dirty="0" smtClean="0"/>
                <a:t>-sample-</a:t>
              </a:r>
              <a:r>
                <a:rPr lang="en-US" altLang="ko-KR" sz="1200" dirty="0" err="1" smtClean="0"/>
                <a:t>config</a:t>
              </a:r>
              <a:endParaRPr lang="en-US" altLang="ko-KR" sz="1200" dirty="0"/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smtClean="0"/>
                <a:t>SAMPLE: sample test value</a:t>
              </a:r>
              <a:endParaRPr lang="en-US" altLang="ko-KR" sz="1200" dirty="0"/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/>
                <a:t>APP_MODE: prod</a:t>
              </a: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env_sample_config.yaml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998575" y="1023227"/>
            <a:ext cx="4753936" cy="4247317"/>
            <a:chOff x="6569739" y="1173154"/>
            <a:chExt cx="4753936" cy="4247317"/>
          </a:xfrm>
        </p:grpSpPr>
        <p:sp>
          <p:nvSpPr>
            <p:cNvPr id="16" name="TextBox 3"/>
            <p:cNvSpPr txBox="1"/>
            <p:nvPr/>
          </p:nvSpPr>
          <p:spPr>
            <a:xfrm>
              <a:off x="6569740" y="1450153"/>
              <a:ext cx="4753935" cy="3970318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env-smaple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env</a:t>
              </a:r>
              <a:r>
                <a:rPr lang="en-US" altLang="ko-KR" sz="1200" dirty="0"/>
                <a:t>-sample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www.harbor.co.kr/common/env_sample:v1</a:t>
              </a:r>
            </a:p>
            <a:p>
              <a:r>
                <a:rPr lang="en-US" altLang="ko-KR" sz="1200" dirty="0"/>
                <a:t>    name: test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env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-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name: SAMPLE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valueFrom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configMapKeyRef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    name: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env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-sample-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config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    key: SAMPLE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dnsPolicy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ClusterFirst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restartPolicy</a:t>
              </a:r>
              <a:r>
                <a:rPr lang="en-US" altLang="ko-KR" sz="1200" dirty="0"/>
                <a:t>: Never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imagePullSecrets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harbor</a:t>
              </a:r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e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nv_sample.yaml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직사각형 17"/>
          <p:cNvSpPr/>
          <p:nvPr/>
        </p:nvSpPr>
        <p:spPr>
          <a:xfrm>
            <a:off x="7198540" y="1919554"/>
            <a:ext cx="1892594" cy="223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>
            <a:stCxn id="14" idx="3"/>
            <a:endCxn id="18" idx="1"/>
          </p:cNvCxnSpPr>
          <p:nvPr/>
        </p:nvCxnSpPr>
        <p:spPr>
          <a:xfrm flipV="1">
            <a:off x="3551273" y="2031195"/>
            <a:ext cx="3647267" cy="226435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504510" y="4093534"/>
            <a:ext cx="2046763" cy="40403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339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ConfigMap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in Pods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ConfigMap</a:t>
            </a:r>
            <a:r>
              <a:rPr lang="ko-KR" altLang="en-US" sz="1400" dirty="0" smtClean="0"/>
              <a:t>에 설정된 파일 사용</a:t>
            </a:r>
            <a:endParaRPr lang="en-US" altLang="ko-KR" sz="14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998575" y="1023227"/>
            <a:ext cx="4753936" cy="4062651"/>
            <a:chOff x="6569739" y="1173154"/>
            <a:chExt cx="4753936" cy="4062651"/>
          </a:xfrm>
        </p:grpSpPr>
        <p:sp>
          <p:nvSpPr>
            <p:cNvPr id="16" name="TextBox 3"/>
            <p:cNvSpPr txBox="1"/>
            <p:nvPr/>
          </p:nvSpPr>
          <p:spPr>
            <a:xfrm>
              <a:off x="6569740" y="1450153"/>
              <a:ext cx="4753935" cy="3785652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env-smaple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env</a:t>
              </a:r>
              <a:r>
                <a:rPr lang="en-US" altLang="ko-KR" sz="1200" dirty="0"/>
                <a:t>-sample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smtClean="0"/>
                <a:t>www.harbor.co.kr/web/webtob:v1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smtClean="0"/>
                <a:t>test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volumeMounts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-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name: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webtob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config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-path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mountPath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/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home/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webtob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/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config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 smtClean="0"/>
                <a:t>imagePullSecrets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smtClean="0"/>
                <a:t>harbor</a:t>
              </a:r>
            </a:p>
            <a:p>
              <a:r>
                <a:rPr lang="en-US" altLang="ko-KR" sz="1200" dirty="0"/>
                <a:t> </a:t>
              </a:r>
              <a:r>
                <a:rPr lang="en-US" altLang="ko-KR" sz="1200" dirty="0" smtClean="0"/>
                <a:t> volumes: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- name: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webtob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-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config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-path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configMap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name: cm-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webtob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e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nv_sample.yaml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7039051" y="1023227"/>
            <a:ext cx="4753936" cy="2031325"/>
            <a:chOff x="6569739" y="1173154"/>
            <a:chExt cx="4753936" cy="2031325"/>
          </a:xfrm>
        </p:grpSpPr>
        <p:sp>
          <p:nvSpPr>
            <p:cNvPr id="20" name="TextBox 3"/>
            <p:cNvSpPr txBox="1"/>
            <p:nvPr/>
          </p:nvSpPr>
          <p:spPr>
            <a:xfrm>
              <a:off x="6569740" y="1450153"/>
              <a:ext cx="4753935" cy="175432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cm-</a:t>
              </a:r>
              <a:r>
                <a:rPr lang="en-US" altLang="ko-KR" sz="1200" dirty="0" err="1"/>
                <a:t>webtob</a:t>
              </a:r>
              <a:endParaRPr lang="en-US" altLang="ko-KR" sz="1200" dirty="0"/>
            </a:p>
            <a:p>
              <a:r>
                <a:rPr lang="en-US" altLang="ko-KR" sz="1200" dirty="0" smtClean="0"/>
                <a:t>data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http.m</a:t>
              </a:r>
              <a:r>
                <a:rPr lang="en-US" altLang="ko-KR" sz="1200" dirty="0"/>
                <a:t>: |-</a:t>
              </a:r>
            </a:p>
            <a:p>
              <a:r>
                <a:rPr lang="en-US" altLang="ko-KR" sz="1200" dirty="0"/>
                <a:t>    *DOMAIN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 smtClean="0"/>
                <a:t>webtob</a:t>
              </a:r>
              <a:endParaRPr lang="en-US" altLang="ko-KR" sz="1200" dirty="0" smtClean="0"/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21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w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ebtob_config.yaml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직사각형 17"/>
          <p:cNvSpPr/>
          <p:nvPr/>
        </p:nvSpPr>
        <p:spPr>
          <a:xfrm>
            <a:off x="7167825" y="1897231"/>
            <a:ext cx="1892594" cy="223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>
            <a:stCxn id="14" idx="3"/>
            <a:endCxn id="18" idx="1"/>
          </p:cNvCxnSpPr>
          <p:nvPr/>
        </p:nvCxnSpPr>
        <p:spPr>
          <a:xfrm flipV="1">
            <a:off x="3338623" y="2008872"/>
            <a:ext cx="3829202" cy="266905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111105" y="4269978"/>
            <a:ext cx="2227518" cy="8159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5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Secret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암호화가 필요한 </a:t>
            </a:r>
            <a:r>
              <a:rPr lang="en-US" altLang="ko-KR" sz="1400" dirty="0" smtClean="0"/>
              <a:t>ENV</a:t>
            </a:r>
            <a:r>
              <a:rPr lang="ko-KR" altLang="en-US" sz="1400" dirty="0" smtClean="0"/>
              <a:t>값은 </a:t>
            </a:r>
            <a:r>
              <a:rPr lang="en-US" altLang="ko-KR" sz="1400" dirty="0" smtClean="0"/>
              <a:t>Secret</a:t>
            </a:r>
            <a:r>
              <a:rPr lang="ko-KR" altLang="en-US" sz="1400" dirty="0" smtClean="0"/>
              <a:t>으로 설정 한다</a:t>
            </a:r>
            <a:r>
              <a:rPr lang="en-US" altLang="ko-KR" sz="1400" dirty="0" smtClean="0"/>
              <a:t>.</a:t>
            </a:r>
            <a:endParaRPr lang="en-US" altLang="ko-KR" sz="1400" dirty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Secret </a:t>
            </a:r>
            <a:r>
              <a:rPr lang="ko-KR" altLang="en-US" sz="1400" dirty="0" smtClean="0"/>
              <a:t>생성</a:t>
            </a:r>
            <a:endParaRPr lang="en-US" altLang="ko-KR" sz="1400" dirty="0" smtClean="0"/>
          </a:p>
        </p:txBody>
      </p:sp>
      <p:grpSp>
        <p:nvGrpSpPr>
          <p:cNvPr id="2" name="그룹 1"/>
          <p:cNvGrpSpPr/>
          <p:nvPr/>
        </p:nvGrpSpPr>
        <p:grpSpPr>
          <a:xfrm>
            <a:off x="966677" y="1811108"/>
            <a:ext cx="4753936" cy="1661994"/>
            <a:chOff x="6569739" y="1173154"/>
            <a:chExt cx="4753936" cy="1661994"/>
          </a:xfrm>
        </p:grpSpPr>
        <p:sp>
          <p:nvSpPr>
            <p:cNvPr id="27" name="TextBox 3"/>
            <p:cNvSpPr txBox="1"/>
            <p:nvPr/>
          </p:nvSpPr>
          <p:spPr>
            <a:xfrm>
              <a:off x="6569740" y="1450153"/>
              <a:ext cx="4753935" cy="1384995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smtClean="0"/>
                <a:t>Secret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sample-secret</a:t>
              </a:r>
              <a:endParaRPr lang="en-US" altLang="ko-KR" sz="1200" dirty="0"/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smtClean="0"/>
                <a:t>DB_NAME: sample</a:t>
              </a:r>
              <a:endParaRPr lang="en-US" altLang="ko-KR" sz="1200" dirty="0"/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 smtClean="0"/>
                <a:t>DB_PASSWORD: password</a:t>
              </a:r>
              <a:endParaRPr lang="en-US" altLang="ko-KR" sz="1200" dirty="0"/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sample_secret.yaml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TextBox 5"/>
          <p:cNvSpPr txBox="1"/>
          <p:nvPr/>
        </p:nvSpPr>
        <p:spPr>
          <a:xfrm>
            <a:off x="966677" y="1302790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 secret generic sample-secret --from-literal=DB_NAME=sample --from-literal=DB_PASSWORD=password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3" name="TextBox 5"/>
          <p:cNvSpPr txBox="1"/>
          <p:nvPr/>
        </p:nvSpPr>
        <p:spPr>
          <a:xfrm>
            <a:off x="966677" y="3473102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sample_secret.yaml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384142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Secret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Secret File </a:t>
            </a:r>
            <a:r>
              <a:rPr lang="ko-KR" altLang="en-US" sz="1400" dirty="0" smtClean="0"/>
              <a:t>설정</a:t>
            </a:r>
            <a:endParaRPr lang="en-US" altLang="ko-KR" sz="14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966677" y="4240520"/>
            <a:ext cx="4753936" cy="2031325"/>
            <a:chOff x="6569739" y="1173154"/>
            <a:chExt cx="4753936" cy="2031325"/>
          </a:xfrm>
        </p:grpSpPr>
        <p:sp>
          <p:nvSpPr>
            <p:cNvPr id="16" name="TextBox 3"/>
            <p:cNvSpPr txBox="1"/>
            <p:nvPr/>
          </p:nvSpPr>
          <p:spPr>
            <a:xfrm>
              <a:off x="6569740" y="1450153"/>
              <a:ext cx="4753935" cy="175432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smtClean="0"/>
                <a:t>Secret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secret-sample</a:t>
              </a:r>
              <a:endParaRPr lang="en-US" altLang="ko-KR" sz="1200" dirty="0"/>
            </a:p>
            <a:p>
              <a:r>
                <a:rPr lang="en-US" altLang="ko-KR" sz="1200" dirty="0" smtClean="0"/>
                <a:t>data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smtClean="0"/>
                <a:t>secret-file: </a:t>
              </a:r>
              <a:r>
                <a:rPr lang="en-US" altLang="ko-KR" sz="1200" dirty="0"/>
                <a:t>|-</a:t>
              </a:r>
            </a:p>
            <a:p>
              <a:r>
                <a:rPr lang="en-US" altLang="ko-KR" sz="1200" dirty="0"/>
                <a:t>    DB_NAME: sample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 smtClean="0"/>
                <a:t>DB_PASSWORD</a:t>
              </a:r>
              <a:r>
                <a:rPr lang="en-US" altLang="ko-KR" sz="1200" dirty="0"/>
                <a:t>: password</a:t>
              </a:r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sample_secret.yaml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209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Secret in Pods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Secret</a:t>
            </a:r>
            <a:r>
              <a:rPr lang="ko-KR" altLang="en-US" sz="1400" dirty="0" smtClean="0"/>
              <a:t>에 설정된 모든 </a:t>
            </a:r>
            <a:r>
              <a:rPr lang="en-US" altLang="ko-KR" sz="1400" dirty="0" smtClean="0"/>
              <a:t>Secret </a:t>
            </a:r>
            <a:r>
              <a:rPr lang="ko-KR" altLang="en-US" sz="1400" dirty="0" smtClean="0"/>
              <a:t>사용</a:t>
            </a:r>
            <a:endParaRPr lang="en-US" altLang="ko-KR" sz="14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069766" y="1061699"/>
            <a:ext cx="4753936" cy="1661994"/>
            <a:chOff x="6569739" y="1173154"/>
            <a:chExt cx="4753936" cy="1661994"/>
          </a:xfrm>
        </p:grpSpPr>
        <p:sp>
          <p:nvSpPr>
            <p:cNvPr id="27" name="TextBox 3"/>
            <p:cNvSpPr txBox="1"/>
            <p:nvPr/>
          </p:nvSpPr>
          <p:spPr>
            <a:xfrm>
              <a:off x="6569740" y="1450153"/>
              <a:ext cx="4753935" cy="1384995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smtClean="0"/>
                <a:t>secret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sample-secret</a:t>
              </a:r>
              <a:endParaRPr lang="en-US" altLang="ko-KR" sz="1200" dirty="0"/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 smtClean="0"/>
                <a:t>  DB_NAME</a:t>
              </a:r>
              <a:r>
                <a:rPr lang="en-US" altLang="ko-KR" sz="1200" dirty="0"/>
                <a:t>: sample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/>
                <a:t>DB_PASSWORD: password</a:t>
              </a: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sample_secret.yaml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998575" y="1023227"/>
            <a:ext cx="4753936" cy="3693319"/>
            <a:chOff x="6569739" y="1173154"/>
            <a:chExt cx="4753936" cy="3693319"/>
          </a:xfrm>
        </p:grpSpPr>
        <p:sp>
          <p:nvSpPr>
            <p:cNvPr id="16" name="TextBox 3"/>
            <p:cNvSpPr txBox="1"/>
            <p:nvPr/>
          </p:nvSpPr>
          <p:spPr>
            <a:xfrm>
              <a:off x="6569740" y="1450153"/>
              <a:ext cx="4753935" cy="341632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env-smaple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env</a:t>
              </a:r>
              <a:r>
                <a:rPr lang="en-US" altLang="ko-KR" sz="1200" dirty="0"/>
                <a:t>-sample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www.harbor.co.kr/common/env_sample:v1</a:t>
              </a:r>
            </a:p>
            <a:p>
              <a:r>
                <a:rPr lang="en-US" altLang="ko-KR" sz="1200" dirty="0"/>
                <a:t>    name: test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envFrom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-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secretRef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name: secret-sample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dnsPolicy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ClusterFirst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restartPolicy</a:t>
              </a:r>
              <a:r>
                <a:rPr lang="en-US" altLang="ko-KR" sz="1200" dirty="0"/>
                <a:t>: Never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imagePullSecrets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harbor</a:t>
              </a:r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sample_secret_pod.yaml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1403499" y="3732030"/>
            <a:ext cx="1892594" cy="223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7198540" y="1919554"/>
            <a:ext cx="1892594" cy="223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>
            <a:stCxn id="4" idx="3"/>
            <a:endCxn id="18" idx="1"/>
          </p:cNvCxnSpPr>
          <p:nvPr/>
        </p:nvCxnSpPr>
        <p:spPr>
          <a:xfrm flipV="1">
            <a:off x="3296093" y="2031195"/>
            <a:ext cx="3902447" cy="181247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62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Secret in Pods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Secret</a:t>
            </a:r>
            <a:r>
              <a:rPr lang="ko-KR" altLang="en-US" sz="1400" dirty="0" smtClean="0"/>
              <a:t>에 설정된 특정 </a:t>
            </a:r>
            <a:r>
              <a:rPr lang="en-US" altLang="ko-KR" sz="1400" dirty="0" smtClean="0"/>
              <a:t>Secret </a:t>
            </a:r>
            <a:r>
              <a:rPr lang="ko-KR" altLang="en-US" sz="1400" dirty="0" smtClean="0"/>
              <a:t>값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사용</a:t>
            </a:r>
            <a:endParaRPr lang="en-US" altLang="ko-KR" sz="14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069766" y="1061699"/>
            <a:ext cx="4753936" cy="1661994"/>
            <a:chOff x="6569739" y="1173154"/>
            <a:chExt cx="4753936" cy="1661994"/>
          </a:xfrm>
        </p:grpSpPr>
        <p:sp>
          <p:nvSpPr>
            <p:cNvPr id="27" name="TextBox 3"/>
            <p:cNvSpPr txBox="1"/>
            <p:nvPr/>
          </p:nvSpPr>
          <p:spPr>
            <a:xfrm>
              <a:off x="6569740" y="1450153"/>
              <a:ext cx="4753935" cy="1384995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smtClean="0"/>
                <a:t>secret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sample-secret</a:t>
              </a:r>
              <a:endParaRPr lang="en-US" altLang="ko-KR" sz="1200" dirty="0"/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 smtClean="0"/>
                <a:t>  DB_NAME</a:t>
              </a:r>
              <a:r>
                <a:rPr lang="en-US" altLang="ko-KR" sz="1200" dirty="0"/>
                <a:t>: sample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/>
                <a:t>DB_PASSWORD: password</a:t>
              </a: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sample_secret.yaml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998575" y="1023227"/>
            <a:ext cx="4753936" cy="4247317"/>
            <a:chOff x="6569739" y="1173154"/>
            <a:chExt cx="4753936" cy="4247317"/>
          </a:xfrm>
        </p:grpSpPr>
        <p:sp>
          <p:nvSpPr>
            <p:cNvPr id="16" name="TextBox 3"/>
            <p:cNvSpPr txBox="1"/>
            <p:nvPr/>
          </p:nvSpPr>
          <p:spPr>
            <a:xfrm>
              <a:off x="6569740" y="1450153"/>
              <a:ext cx="4753935" cy="3970318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env-smaple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env</a:t>
              </a:r>
              <a:r>
                <a:rPr lang="en-US" altLang="ko-KR" sz="1200" dirty="0"/>
                <a:t>-sample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www.harbor.co.kr/common/env_sample:v1</a:t>
              </a:r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smtClean="0"/>
                <a:t>test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env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-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name: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DB_Password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valueFrom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secretKeyRef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    name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sample-secret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    key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DB_PASSWORD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 smtClean="0"/>
                <a:t>dnsPolicy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ClusterFirst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restartPolicy</a:t>
              </a:r>
              <a:r>
                <a:rPr lang="en-US" altLang="ko-KR" sz="1200" dirty="0"/>
                <a:t>: Never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imagePullSecrets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harbor</a:t>
              </a:r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sample_secret_pod.yaml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1482949" y="3912784"/>
            <a:ext cx="1892594" cy="542257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7198540" y="1919554"/>
            <a:ext cx="1892594" cy="223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>
            <a:stCxn id="4" idx="3"/>
            <a:endCxn id="18" idx="1"/>
          </p:cNvCxnSpPr>
          <p:nvPr/>
        </p:nvCxnSpPr>
        <p:spPr>
          <a:xfrm flipV="1">
            <a:off x="3375543" y="2031195"/>
            <a:ext cx="3822997" cy="215271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38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Secret in Pods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Secret</a:t>
            </a:r>
            <a:r>
              <a:rPr lang="ko-KR" altLang="en-US" sz="1400" dirty="0" smtClean="0"/>
              <a:t>에 설정된 파일 사용</a:t>
            </a:r>
            <a:endParaRPr lang="en-US" altLang="ko-KR" sz="14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998575" y="1023227"/>
            <a:ext cx="4753936" cy="4062651"/>
            <a:chOff x="6569739" y="1173154"/>
            <a:chExt cx="4753936" cy="4062651"/>
          </a:xfrm>
        </p:grpSpPr>
        <p:sp>
          <p:nvSpPr>
            <p:cNvPr id="16" name="TextBox 3"/>
            <p:cNvSpPr txBox="1"/>
            <p:nvPr/>
          </p:nvSpPr>
          <p:spPr>
            <a:xfrm>
              <a:off x="6569740" y="1450153"/>
              <a:ext cx="4753935" cy="3785652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env-smaple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env</a:t>
              </a:r>
              <a:r>
                <a:rPr lang="en-US" altLang="ko-KR" sz="1200" dirty="0"/>
                <a:t>-sample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smtClean="0"/>
                <a:t>www.harbor.co.kr/web/webtob:v1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smtClean="0"/>
                <a:t>test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volumeMounts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-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name: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secret-path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mountPath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/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home/secret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  </a:t>
              </a:r>
              <a:r>
                <a:rPr lang="en-US" altLang="ko-KR" sz="1200" dirty="0" err="1" smtClean="0"/>
                <a:t>imagePullSecrets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smtClean="0"/>
                <a:t>harbor</a:t>
              </a:r>
            </a:p>
            <a:p>
              <a:r>
                <a:rPr lang="en-US" altLang="ko-KR" sz="1200" dirty="0"/>
                <a:t> </a:t>
              </a:r>
              <a:r>
                <a:rPr lang="en-US" altLang="ko-KR" sz="1200" dirty="0" smtClean="0"/>
                <a:t> volumes: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- name: secret-path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secret: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secretName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 sample-secret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sample_secret_pod.yaml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7039051" y="1023227"/>
            <a:ext cx="4753936" cy="1846659"/>
            <a:chOff x="6569739" y="1173154"/>
            <a:chExt cx="4753936" cy="1846659"/>
          </a:xfrm>
        </p:grpSpPr>
        <p:sp>
          <p:nvSpPr>
            <p:cNvPr id="20" name="TextBox 3"/>
            <p:cNvSpPr txBox="1"/>
            <p:nvPr/>
          </p:nvSpPr>
          <p:spPr>
            <a:xfrm>
              <a:off x="6569740" y="1450153"/>
              <a:ext cx="4753935" cy="156966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ConfigMap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 smtClean="0"/>
                <a:t>  name</a:t>
              </a:r>
              <a:r>
                <a:rPr lang="en-US" altLang="ko-KR" sz="1200" dirty="0"/>
                <a:t>: secret-sample</a:t>
              </a:r>
            </a:p>
            <a:p>
              <a:r>
                <a:rPr lang="en-US" altLang="ko-KR" sz="1200" dirty="0"/>
                <a:t>data:</a:t>
              </a:r>
            </a:p>
            <a:p>
              <a:r>
                <a:rPr lang="en-US" altLang="ko-KR" sz="1200" dirty="0"/>
                <a:t>  secret-file: |-</a:t>
              </a:r>
            </a:p>
            <a:p>
              <a:r>
                <a:rPr lang="en-US" altLang="ko-KR" sz="1200" dirty="0"/>
                <a:t>    DB_NAME: sample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/>
                <a:t>DB_PASSWORD: password</a:t>
              </a:r>
            </a:p>
          </p:txBody>
        </p:sp>
        <p:sp>
          <p:nvSpPr>
            <p:cNvPr id="21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sample_secret.yaml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직사각형 17"/>
          <p:cNvSpPr/>
          <p:nvPr/>
        </p:nvSpPr>
        <p:spPr>
          <a:xfrm>
            <a:off x="7167825" y="1897231"/>
            <a:ext cx="1892594" cy="223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>
            <a:stCxn id="14" idx="3"/>
            <a:endCxn id="18" idx="1"/>
          </p:cNvCxnSpPr>
          <p:nvPr/>
        </p:nvCxnSpPr>
        <p:spPr>
          <a:xfrm flipV="1">
            <a:off x="3444949" y="2008872"/>
            <a:ext cx="3722876" cy="2669056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111105" y="4269978"/>
            <a:ext cx="2333844" cy="8159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25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Multi Container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280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Multi Container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1</a:t>
            </a:r>
            <a:r>
              <a:rPr lang="ko-KR" altLang="en-US" sz="1400" dirty="0" smtClean="0"/>
              <a:t>개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안에 여러 </a:t>
            </a:r>
            <a:r>
              <a:rPr lang="en-US" altLang="ko-KR" sz="1400" dirty="0" smtClean="0"/>
              <a:t>Container</a:t>
            </a:r>
            <a:r>
              <a:rPr lang="ko-KR" altLang="en-US" sz="1400" dirty="0" smtClean="0"/>
              <a:t>를 정의할 수 있다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형태에 따라 </a:t>
            </a:r>
            <a:r>
              <a:rPr lang="en-US" altLang="ko-KR" sz="1400" dirty="0" smtClean="0"/>
              <a:t>Multi Container, Sidecar Container, </a:t>
            </a:r>
            <a:r>
              <a:rPr lang="en-US" altLang="ko-KR" sz="1400" dirty="0" err="1" smtClean="0"/>
              <a:t>init</a:t>
            </a:r>
            <a:r>
              <a:rPr lang="en-US" altLang="ko-KR" sz="1400" dirty="0" smtClean="0"/>
              <a:t> Container</a:t>
            </a:r>
            <a:r>
              <a:rPr lang="ko-KR" altLang="en-US" sz="1400" dirty="0" smtClean="0"/>
              <a:t>가 존재한다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647478"/>
              </p:ext>
            </p:extLst>
          </p:nvPr>
        </p:nvGraphicFramePr>
        <p:xfrm>
          <a:off x="711199" y="1106777"/>
          <a:ext cx="10922000" cy="16231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0424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3200525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  <a:gridCol w="3200526">
                  <a:extLst>
                    <a:ext uri="{9D8B030D-6E8A-4147-A177-3AD203B41FA5}">
                      <a16:colId xmlns:a16="http://schemas.microsoft.com/office/drawing/2014/main" val="3214807342"/>
                    </a:ext>
                  </a:extLst>
                </a:gridCol>
                <a:gridCol w="3200525">
                  <a:extLst>
                    <a:ext uri="{9D8B030D-6E8A-4147-A177-3AD203B41FA5}">
                      <a16:colId xmlns:a16="http://schemas.microsoft.com/office/drawing/2014/main" val="2716990408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항목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Multi</a:t>
                      </a:r>
                      <a:r>
                        <a:rPr lang="en-US" altLang="ko-KR" sz="14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Container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Sidecar Container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Init</a:t>
                      </a:r>
                      <a:r>
                        <a:rPr lang="en-US" altLang="ko-K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Container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하나의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Pod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여러 개의 컨테이너를 실행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컨테이너와 보조 컨테이너를 실행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Pod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시작 전에 실행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목적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서로 독립적인 기능을 가진 컨테이너 실행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컨테이너의 기능을 확장 또는 보완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및 환경 준비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예제 사용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백엔드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캐싱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서비스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API + DB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 수집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프록시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 스캐닝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파일 다운로드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</a:tbl>
          </a:graphicData>
        </a:graphic>
      </p:graphicFrame>
      <p:grpSp>
        <p:nvGrpSpPr>
          <p:cNvPr id="18" name="그룹 17"/>
          <p:cNvGrpSpPr/>
          <p:nvPr/>
        </p:nvGrpSpPr>
        <p:grpSpPr>
          <a:xfrm>
            <a:off x="711199" y="2882765"/>
            <a:ext cx="4753936" cy="2954655"/>
            <a:chOff x="6569739" y="1173154"/>
            <a:chExt cx="4753936" cy="2954655"/>
          </a:xfrm>
        </p:grpSpPr>
        <p:sp>
          <p:nvSpPr>
            <p:cNvPr id="19" name="TextBox 3"/>
            <p:cNvSpPr txBox="1"/>
            <p:nvPr/>
          </p:nvSpPr>
          <p:spPr>
            <a:xfrm>
              <a:off x="6569740" y="1450153"/>
              <a:ext cx="4753935" cy="2677656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 smtClean="0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 smtClean="0"/>
                <a:t>kind</a:t>
              </a:r>
              <a:r>
                <a:rPr lang="en-US" altLang="ko-KR" sz="1200" dirty="0"/>
                <a:t>: Pod</a:t>
              </a:r>
            </a:p>
            <a:p>
              <a:r>
                <a:rPr lang="en-US" altLang="ko-KR" sz="1200" dirty="0" smtClean="0"/>
                <a:t>metadata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 smtClean="0"/>
                <a:t>  name</a:t>
              </a:r>
              <a:r>
                <a:rPr lang="en-US" altLang="ko-KR" sz="1200" dirty="0"/>
                <a:t>: simple-</a:t>
              </a:r>
              <a:r>
                <a:rPr lang="en-US" altLang="ko-KR" sz="1200" dirty="0" err="1"/>
                <a:t>webapp</a:t>
              </a:r>
              <a:endParaRPr lang="en-US" altLang="ko-KR" sz="1200" dirty="0"/>
            </a:p>
            <a:p>
              <a:r>
                <a:rPr lang="en-US" altLang="ko-KR" sz="1200" dirty="0" smtClean="0"/>
                <a:t>  labels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 smtClean="0"/>
                <a:t>    name</a:t>
              </a:r>
              <a:r>
                <a:rPr lang="en-US" altLang="ko-KR" sz="1200" dirty="0"/>
                <a:t>: simple-</a:t>
              </a:r>
              <a:r>
                <a:rPr lang="en-US" altLang="ko-KR" sz="1200" dirty="0" err="1"/>
                <a:t>webapp</a:t>
              </a:r>
              <a:endParaRPr lang="en-US" altLang="ko-KR" sz="1200" dirty="0"/>
            </a:p>
            <a:p>
              <a:r>
                <a:rPr lang="en-US" altLang="ko-KR" sz="1200" dirty="0" smtClean="0"/>
                <a:t>spec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 smtClean="0"/>
                <a:t>  containers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 smtClean="0"/>
                <a:t>  - </a:t>
              </a:r>
              <a:r>
                <a:rPr lang="en-US" altLang="ko-KR" sz="1200" dirty="0"/>
                <a:t>name: simple-</a:t>
              </a:r>
              <a:r>
                <a:rPr lang="en-US" altLang="ko-KR" sz="1200" dirty="0" err="1"/>
                <a:t>webapp</a:t>
              </a:r>
              <a:endParaRPr lang="en-US" altLang="ko-KR" sz="1200" dirty="0"/>
            </a:p>
            <a:p>
              <a:r>
                <a:rPr lang="en-US" altLang="ko-KR" sz="1200" dirty="0"/>
                <a:t>   </a:t>
              </a:r>
              <a:r>
                <a:rPr lang="en-US" altLang="ko-KR" sz="1200" dirty="0" smtClean="0"/>
                <a:t> image</a:t>
              </a:r>
              <a:r>
                <a:rPr lang="en-US" altLang="ko-KR" sz="1200" dirty="0"/>
                <a:t>: simple-</a:t>
              </a:r>
              <a:r>
                <a:rPr lang="en-US" altLang="ko-KR" sz="1200" dirty="0" err="1"/>
                <a:t>webapp</a:t>
              </a:r>
              <a:endParaRPr lang="en-US" altLang="ko-KR" sz="1200" dirty="0"/>
            </a:p>
            <a:p>
              <a:r>
                <a:rPr lang="en-US" altLang="ko-KR" sz="1200" dirty="0"/>
                <a:t>   </a:t>
              </a:r>
              <a:r>
                <a:rPr lang="en-US" altLang="ko-KR" sz="1200" dirty="0" smtClean="0"/>
                <a:t> ports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</a:t>
              </a:r>
              <a:r>
                <a:rPr lang="en-US" altLang="ko-KR" sz="1200" dirty="0" smtClean="0"/>
                <a:t> - </a:t>
              </a:r>
              <a:r>
                <a:rPr lang="en-US" altLang="ko-KR" sz="1200" dirty="0" err="1"/>
                <a:t>containerPort</a:t>
              </a:r>
              <a:r>
                <a:rPr lang="en-US" altLang="ko-KR" sz="1200" dirty="0"/>
                <a:t>: 8080</a:t>
              </a:r>
            </a:p>
            <a:p>
              <a:r>
                <a:rPr lang="en-US" altLang="ko-KR" sz="1200" dirty="0"/>
                <a:t> </a:t>
              </a:r>
              <a:r>
                <a:rPr lang="en-US" altLang="ko-KR" sz="1200" dirty="0" smtClean="0"/>
                <a:t> - </a:t>
              </a:r>
              <a:r>
                <a:rPr lang="en-US" altLang="ko-KR" sz="1200" dirty="0"/>
                <a:t>name: log-agent</a:t>
              </a:r>
            </a:p>
            <a:p>
              <a:r>
                <a:rPr lang="en-US" altLang="ko-KR" sz="1200" dirty="0"/>
                <a:t>   </a:t>
              </a:r>
              <a:r>
                <a:rPr lang="en-US" altLang="ko-KR" sz="1200" dirty="0" smtClean="0"/>
                <a:t> image</a:t>
              </a:r>
              <a:r>
                <a:rPr lang="en-US" altLang="ko-KR" sz="1200" dirty="0"/>
                <a:t>: log-agent</a:t>
              </a:r>
            </a:p>
          </p:txBody>
        </p:sp>
        <p:sp>
          <p:nvSpPr>
            <p:cNvPr id="20" name="TextBox 3"/>
            <p:cNvSpPr txBox="1"/>
            <p:nvPr/>
          </p:nvSpPr>
          <p:spPr>
            <a:xfrm>
              <a:off x="6569739" y="1173154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multi_container.yaml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590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Init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Container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200" y="7154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s</a:t>
            </a:r>
            <a:r>
              <a:rPr lang="en-US" altLang="ko-KR" sz="1400" dirty="0" err="1" smtClean="0"/>
              <a:t>pec.initContainers</a:t>
            </a:r>
            <a:r>
              <a:rPr lang="ko-KR" altLang="en-US" sz="1400" dirty="0" smtClean="0"/>
              <a:t>가 따로 존재한다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11200" y="1061699"/>
            <a:ext cx="5753395" cy="5170646"/>
            <a:chOff x="711200" y="1149658"/>
            <a:chExt cx="5753395" cy="5170646"/>
          </a:xfrm>
        </p:grpSpPr>
        <p:sp>
          <p:nvSpPr>
            <p:cNvPr id="19" name="TextBox 3"/>
            <p:cNvSpPr txBox="1"/>
            <p:nvPr/>
          </p:nvSpPr>
          <p:spPr>
            <a:xfrm>
              <a:off x="711201" y="1426657"/>
              <a:ext cx="5753394" cy="4893647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initContainers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/>
                <a:t>  - name: </a:t>
              </a:r>
              <a:r>
                <a:rPr lang="en-US" altLang="ko-KR" sz="1200" dirty="0" err="1"/>
                <a:t>init</a:t>
              </a:r>
              <a:r>
                <a:rPr lang="en-US" altLang="ko-KR" sz="1200" dirty="0"/>
                <a:t>-container</a:t>
              </a:r>
            </a:p>
            <a:p>
              <a:r>
                <a:rPr lang="en-US" altLang="ko-KR" sz="1200" dirty="0"/>
                <a:t>    image: harbor.hf-tmax.co.kr/common/busybox:v1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imagePullPolicy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IfNotPresent</a:t>
              </a:r>
              <a:endParaRPr lang="en-US" altLang="ko-KR" sz="1200" dirty="0"/>
            </a:p>
            <a:p>
              <a:r>
                <a:rPr lang="en-US" altLang="ko-KR" sz="1200" dirty="0"/>
                <a:t>    command: ["bin/</a:t>
              </a:r>
              <a:r>
                <a:rPr lang="en-US" altLang="ko-KR" sz="1200" dirty="0" err="1"/>
                <a:t>sh</a:t>
              </a:r>
              <a:r>
                <a:rPr lang="en-US" altLang="ko-KR" sz="1200" dirty="0"/>
                <a:t>", "-c"]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args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- </a:t>
              </a:r>
              <a:r>
                <a:rPr lang="en-US" altLang="ko-KR" sz="1200" dirty="0" err="1"/>
                <a:t>cp</a:t>
              </a:r>
              <a:r>
                <a:rPr lang="en-US" altLang="ko-KR" sz="1200" dirty="0"/>
                <a:t> /home/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/config2/</a:t>
              </a:r>
              <a:r>
                <a:rPr lang="en-US" altLang="ko-KR" sz="1200" dirty="0" err="1"/>
                <a:t>http.m</a:t>
              </a:r>
              <a:r>
                <a:rPr lang="en-US" altLang="ko-KR" sz="1200" dirty="0"/>
                <a:t> /home/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config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http.m</a:t>
              </a:r>
              <a:r>
                <a:rPr lang="en-US" altLang="ko-KR" sz="1200" dirty="0"/>
                <a:t>;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volumeMounts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- name: 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-</a:t>
              </a:r>
              <a:r>
                <a:rPr lang="en-US" altLang="ko-KR" sz="1200" dirty="0" err="1"/>
                <a:t>config</a:t>
              </a:r>
              <a:r>
                <a:rPr lang="en-US" altLang="ko-KR" sz="1200" dirty="0"/>
                <a:t>-path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/home/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config</a:t>
              </a:r>
              <a:endParaRPr lang="en-US" altLang="ko-KR" sz="1200" dirty="0"/>
            </a:p>
            <a:p>
              <a:r>
                <a:rPr lang="en-US" altLang="ko-KR" sz="1200" dirty="0"/>
                <a:t>      - name: 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-</a:t>
              </a:r>
              <a:r>
                <a:rPr lang="en-US" altLang="ko-KR" sz="1200" dirty="0" err="1"/>
                <a:t>config</a:t>
              </a:r>
              <a:r>
                <a:rPr lang="en-US" altLang="ko-KR" sz="1200" dirty="0"/>
                <a:t>-source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dirty="0" err="1"/>
                <a:t>mountPath</a:t>
              </a:r>
              <a:r>
                <a:rPr lang="en-US" altLang="ko-KR" sz="1200" dirty="0"/>
                <a:t>: /</a:t>
              </a:r>
              <a:r>
                <a:rPr lang="en-US" altLang="ko-KR" sz="1200" dirty="0" smtClean="0"/>
                <a:t>home/</a:t>
              </a:r>
              <a:r>
                <a:rPr lang="en-US" altLang="ko-KR" sz="1200" dirty="0" err="1" smtClean="0"/>
                <a:t>webtob</a:t>
              </a:r>
              <a:r>
                <a:rPr lang="en-US" altLang="ko-KR" sz="1200" dirty="0" smtClean="0"/>
                <a:t>/config2</a:t>
              </a:r>
            </a:p>
            <a:p>
              <a:r>
                <a:rPr lang="en-US" altLang="ko-KR" sz="1200" dirty="0"/>
                <a:t> </a:t>
              </a:r>
              <a:r>
                <a:rPr lang="en-US" altLang="ko-KR" sz="1200" dirty="0" smtClean="0"/>
                <a:t>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containers:</a:t>
              </a:r>
            </a:p>
            <a:p>
              <a:r>
                <a:rPr lang="en-US" altLang="ko-KR" sz="1200" dirty="0"/>
                <a:t> </a:t>
              </a:r>
              <a:r>
                <a:rPr lang="en-US" altLang="ko-KR" sz="1200" dirty="0" smtClean="0"/>
                <a:t> - name: </a:t>
              </a:r>
              <a:r>
                <a:rPr lang="en-US" altLang="ko-KR" sz="1200" dirty="0" err="1" smtClean="0"/>
                <a:t>webtob</a:t>
              </a:r>
              <a:endParaRPr lang="en-US" altLang="ko-KR" sz="1200" dirty="0" smtClean="0"/>
            </a:p>
            <a:p>
              <a:r>
                <a:rPr lang="en-US" altLang="ko-KR" sz="1200" dirty="0"/>
                <a:t> </a:t>
              </a:r>
              <a:r>
                <a:rPr lang="en-US" altLang="ko-KR" sz="1200" dirty="0" smtClean="0"/>
                <a:t> 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  <a:p>
              <a:r>
                <a:rPr lang="en-US" altLang="ko-KR" sz="1200" dirty="0"/>
                <a:t>  volumes: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-</a:t>
              </a:r>
              <a:r>
                <a:rPr lang="en-US" altLang="ko-KR" sz="1200" dirty="0" err="1"/>
                <a:t>config</a:t>
              </a:r>
              <a:r>
                <a:rPr lang="en-US" altLang="ko-KR" sz="1200" dirty="0"/>
                <a:t>-path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emptyDir</a:t>
              </a:r>
              <a:r>
                <a:rPr lang="en-US" altLang="ko-KR" sz="1200" dirty="0"/>
                <a:t>: {}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webtob</a:t>
              </a:r>
              <a:r>
                <a:rPr lang="en-US" altLang="ko-KR" sz="1200" dirty="0"/>
                <a:t>-</a:t>
              </a:r>
              <a:r>
                <a:rPr lang="en-US" altLang="ko-KR" sz="1200" dirty="0" err="1"/>
                <a:t>config</a:t>
              </a:r>
              <a:r>
                <a:rPr lang="en-US" altLang="ko-KR" sz="1200" dirty="0"/>
                <a:t>-source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dirty="0" err="1"/>
                <a:t>configMap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  name: cm-</a:t>
              </a:r>
              <a:r>
                <a:rPr lang="en-US" altLang="ko-KR" sz="1200" dirty="0" err="1"/>
                <a:t>webtob</a:t>
              </a:r>
              <a:endParaRPr lang="en-US" altLang="ko-KR" sz="1200" dirty="0"/>
            </a:p>
          </p:txBody>
        </p:sp>
        <p:sp>
          <p:nvSpPr>
            <p:cNvPr id="20" name="TextBox 3"/>
            <p:cNvSpPr txBox="1"/>
            <p:nvPr/>
          </p:nvSpPr>
          <p:spPr>
            <a:xfrm>
              <a:off x="711200" y="1149658"/>
              <a:ext cx="202136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init_container.yaml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408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18586</TotalTime>
  <Words>2165</Words>
  <Application>Microsoft Office PowerPoint</Application>
  <PresentationFormat>와이드스크린</PresentationFormat>
  <Paragraphs>574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6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Lucida Sans Unicode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408</cp:revision>
  <dcterms:created xsi:type="dcterms:W3CDTF">2022-09-15T01:21:24Z</dcterms:created>
  <dcterms:modified xsi:type="dcterms:W3CDTF">2025-03-05T00:09:04Z</dcterms:modified>
</cp:coreProperties>
</file>