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0" r:id="rId2"/>
    <p:sldId id="271" r:id="rId3"/>
    <p:sldId id="360" r:id="rId4"/>
    <p:sldId id="362" r:id="rId5"/>
    <p:sldId id="366" r:id="rId6"/>
    <p:sldId id="395" r:id="rId7"/>
    <p:sldId id="400" r:id="rId8"/>
    <p:sldId id="397" r:id="rId9"/>
    <p:sldId id="398" r:id="rId10"/>
    <p:sldId id="399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30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366"/>
            <p14:sldId id="395"/>
            <p14:sldId id="400"/>
            <p14:sldId id="397"/>
            <p14:sldId id="398"/>
            <p14:sldId id="399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898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Pod</a:t>
            </a:r>
            <a:r>
              <a:rPr lang="ko-KR" altLang="en-US" sz="1200" baseline="0" dirty="0" smtClean="0"/>
              <a:t>가 생성될 때 </a:t>
            </a:r>
            <a:r>
              <a:rPr lang="en-US" altLang="ko-KR" sz="1200" baseline="0" dirty="0" err="1" smtClean="0"/>
              <a:t>nodeName</a:t>
            </a:r>
            <a:r>
              <a:rPr lang="ko-KR" altLang="en-US" sz="1200" baseline="0" dirty="0" smtClean="0"/>
              <a:t>이 임의로 설정되어 해당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로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스케줄링 된다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Yaml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 내에서 </a:t>
            </a:r>
            <a:r>
              <a:rPr lang="en-US" altLang="ko-KR" sz="1200" baseline="0" dirty="0" err="1" smtClean="0"/>
              <a:t>nodeName</a:t>
            </a:r>
            <a:r>
              <a:rPr lang="ko-KR" altLang="en-US" sz="1200" baseline="0" dirty="0" smtClean="0"/>
              <a:t>을 설정하여 해당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특정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에 스케줄링 되게 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이미 실행중인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다른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로 옮길 수 없다</a:t>
            </a:r>
            <a:r>
              <a:rPr lang="en-US" altLang="ko-KR" sz="1200" baseline="0" dirty="0" smtClean="0"/>
              <a:t>. </a:t>
            </a:r>
            <a:r>
              <a:rPr lang="ko-KR" altLang="en-US" sz="1200" baseline="0" dirty="0" smtClean="0"/>
              <a:t>이 경우 삭제하고 다시 만들어야 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Node01, node02 </a:t>
            </a:r>
            <a:r>
              <a:rPr lang="ko-KR" altLang="en-US" sz="1200" baseline="0" dirty="0" smtClean="0"/>
              <a:t>가 있는 경우 옆에 </a:t>
            </a:r>
            <a:r>
              <a:rPr lang="en-US" altLang="ko-KR" sz="1200" baseline="0" dirty="0" err="1" smtClean="0"/>
              <a:t>yaml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 </a:t>
            </a:r>
            <a:r>
              <a:rPr lang="ko-KR" altLang="en-US" sz="1200" baseline="0" dirty="0" err="1" smtClean="0"/>
              <a:t>적용시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err="1" smtClean="0"/>
              <a:t>myapp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node01</a:t>
            </a:r>
            <a:r>
              <a:rPr lang="ko-KR" altLang="en-US" sz="1200" baseline="0" dirty="0" smtClean="0"/>
              <a:t>에만 뜨게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-- </a:t>
            </a:r>
            <a:r>
              <a:rPr lang="ko-KR" altLang="en-US" sz="1200" baseline="0" dirty="0" smtClean="0"/>
              <a:t>실습 시나리오</a:t>
            </a:r>
            <a:endParaRPr lang="en-US" altLang="ko-KR" sz="1200" baseline="0" dirty="0" smtClean="0"/>
          </a:p>
          <a:p>
            <a:pPr marL="228600" indent="-228600">
              <a:buFontTx/>
              <a:buAutoNum type="arabicPeriod"/>
            </a:pPr>
            <a:r>
              <a:rPr lang="en-US" altLang="ko-KR" sz="1200" baseline="0" dirty="0" smtClean="0"/>
              <a:t>Nginx-</a:t>
            </a:r>
            <a:r>
              <a:rPr lang="en-US" altLang="ko-KR" sz="1200" baseline="0" dirty="0" err="1" smtClean="0"/>
              <a:t>pod.yaml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err="1" smtClean="0"/>
              <a:t>nodeName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지정하여 생성 </a:t>
            </a:r>
            <a:r>
              <a:rPr lang="ko-KR" altLang="en-US" sz="1200" baseline="0" dirty="0" err="1" smtClean="0"/>
              <a:t>한뒤</a:t>
            </a:r>
            <a:r>
              <a:rPr lang="ko-KR" altLang="en-US" sz="1200" baseline="0" dirty="0" smtClean="0"/>
              <a:t> 해당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지정된 노드에서 잘 기동 되었는지 확인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Label</a:t>
            </a:r>
            <a:r>
              <a:rPr lang="ko-KR" altLang="en-US" sz="1200" dirty="0" smtClean="0"/>
              <a:t>을 이용하여 </a:t>
            </a: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에서 사용되는 </a:t>
            </a:r>
            <a:r>
              <a:rPr lang="en-US" altLang="ko-KR" sz="1200" dirty="0" smtClean="0"/>
              <a:t>pod, node,</a:t>
            </a:r>
            <a:r>
              <a:rPr lang="en-US" altLang="ko-KR" sz="1200" baseline="0" dirty="0" smtClean="0"/>
              <a:t> svc</a:t>
            </a:r>
            <a:r>
              <a:rPr lang="ko-KR" altLang="en-US" sz="1200" baseline="0" dirty="0" smtClean="0"/>
              <a:t>등에 이름을 붙여 줄 수 있다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예를 들어</a:t>
            </a:r>
            <a:r>
              <a:rPr lang="en-US" altLang="ko-KR" sz="1200" baseline="0" dirty="0" smtClean="0"/>
              <a:t>, A Service</a:t>
            </a:r>
            <a:r>
              <a:rPr lang="ko-KR" altLang="en-US" sz="1200" baseline="0" dirty="0" smtClean="0"/>
              <a:t>를 하는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err="1" smtClean="0"/>
              <a:t>끼리는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app: </a:t>
            </a:r>
            <a:r>
              <a:rPr lang="en-US" altLang="ko-KR" sz="1200" baseline="0" dirty="0" err="1" smtClean="0"/>
              <a:t>Aapp</a:t>
            </a:r>
            <a:r>
              <a:rPr lang="en-US" altLang="ko-KR" sz="1200" baseline="0" dirty="0" smtClean="0"/>
              <a:t>, B Service</a:t>
            </a:r>
            <a:r>
              <a:rPr lang="ko-KR" altLang="en-US" sz="1200" baseline="0" dirty="0" smtClean="0"/>
              <a:t>를 하는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err="1" smtClean="0"/>
              <a:t>끼리는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app: </a:t>
            </a:r>
            <a:r>
              <a:rPr lang="en-US" altLang="ko-KR" sz="1200" baseline="0" dirty="0" err="1" smtClean="0"/>
              <a:t>Bapp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err="1" smtClean="0"/>
              <a:t>이런식으로</a:t>
            </a:r>
            <a:r>
              <a:rPr lang="ko-KR" altLang="en-US" sz="1200" baseline="0" dirty="0" smtClean="0"/>
              <a:t> 붙여 줄 수가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명령어 </a:t>
            </a:r>
            <a:r>
              <a:rPr lang="en-US" altLang="ko-KR" sz="1200" baseline="0" dirty="0" smtClean="0"/>
              <a:t>selector </a:t>
            </a:r>
            <a:r>
              <a:rPr lang="ko-KR" altLang="en-US" sz="1200" baseline="0" dirty="0" smtClean="0"/>
              <a:t>옵션을 통해 지정된 </a:t>
            </a:r>
            <a:r>
              <a:rPr lang="en-US" altLang="ko-KR" sz="1200" baseline="0" dirty="0" smtClean="0"/>
              <a:t>Label</a:t>
            </a:r>
            <a:r>
              <a:rPr lang="ko-KR" altLang="en-US" sz="1200" baseline="0" dirty="0" smtClean="0"/>
              <a:t>에 실행중인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들 조회가 가능하다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-- </a:t>
            </a:r>
            <a:r>
              <a:rPr lang="ko-KR" altLang="en-US" sz="1200" baseline="0" dirty="0" smtClean="0"/>
              <a:t>실습 시나리오</a:t>
            </a:r>
            <a:endParaRPr lang="en-US" altLang="ko-KR" sz="1200" baseline="0" dirty="0" smtClean="0"/>
          </a:p>
          <a:p>
            <a:r>
              <a:rPr lang="en-US" altLang="ko-KR" sz="1200" baseline="0" dirty="0" smtClean="0"/>
              <a:t>1. Pod</a:t>
            </a:r>
            <a:r>
              <a:rPr lang="ko-KR" altLang="en-US" sz="1200" baseline="0" dirty="0" smtClean="0"/>
              <a:t>에서 라벨 지정 후 </a:t>
            </a:r>
            <a:r>
              <a:rPr lang="en-US" altLang="ko-KR" sz="1200" baseline="0" dirty="0" smtClean="0"/>
              <a:t>selector </a:t>
            </a:r>
            <a:r>
              <a:rPr lang="ko-KR" altLang="en-US" sz="1200" baseline="0" dirty="0" smtClean="0"/>
              <a:t>옵션으로 </a:t>
            </a:r>
            <a:r>
              <a:rPr lang="ko-KR" altLang="en-US" sz="1200" baseline="0" dirty="0" err="1" smtClean="0"/>
              <a:t>조회해보기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Conteroller</a:t>
            </a:r>
            <a:r>
              <a:rPr lang="ko-KR" altLang="en-US" sz="1200" dirty="0" smtClean="0"/>
              <a:t>에서 라벨과 </a:t>
            </a:r>
            <a:r>
              <a:rPr lang="ko-KR" altLang="en-US" sz="1200" dirty="0" err="1" smtClean="0"/>
              <a:t>셀렉터를</a:t>
            </a:r>
            <a:r>
              <a:rPr lang="ko-KR" altLang="en-US" sz="1200" dirty="0" smtClean="0"/>
              <a:t> 이용하여 관리하는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지정할 수 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381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Pod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의 관계에 대해서 알아보자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Pod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어떻게 배치되는지 해보자</a:t>
            </a:r>
            <a:endParaRPr lang="en-US" altLang="ko-KR" sz="1200" dirty="0" smtClean="0"/>
          </a:p>
          <a:p>
            <a:r>
              <a:rPr lang="en-US" altLang="ko-KR" sz="1200" dirty="0" smtClean="0"/>
              <a:t>Taints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tolerations</a:t>
            </a:r>
            <a:r>
              <a:rPr lang="ko-KR" altLang="en-US" sz="1200" dirty="0" smtClean="0"/>
              <a:t>를 사용하여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배치될 때 컨트롤할 수 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에는 </a:t>
            </a:r>
            <a:r>
              <a:rPr lang="en-US" altLang="ko-KR" sz="1200" dirty="0" smtClean="0"/>
              <a:t>taints </a:t>
            </a:r>
            <a:r>
              <a:rPr lang="ko-KR" altLang="en-US" sz="1200" dirty="0" smtClean="0"/>
              <a:t>설정이 기본적으로 설정되어 있어 </a:t>
            </a:r>
            <a:r>
              <a:rPr lang="en-US" altLang="ko-KR" sz="1200" dirty="0" err="1" smtClean="0"/>
              <a:t>Serivce</a:t>
            </a:r>
            <a:r>
              <a:rPr lang="en-US" altLang="ko-KR" sz="1200" dirty="0" smtClean="0"/>
              <a:t> pod</a:t>
            </a:r>
            <a:r>
              <a:rPr lang="ko-KR" altLang="en-US" sz="1200" dirty="0" smtClean="0"/>
              <a:t>가 배치되지 않는다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확인 명령어 </a:t>
            </a:r>
            <a:r>
              <a:rPr lang="en-US" altLang="ko-KR" sz="1200" dirty="0" err="1" smtClean="0"/>
              <a:t>kubectl</a:t>
            </a:r>
            <a:r>
              <a:rPr lang="en-US" altLang="ko-KR" sz="1200" baseline="0" dirty="0" smtClean="0"/>
              <a:t> describe node master | </a:t>
            </a:r>
            <a:r>
              <a:rPr lang="en-US" altLang="ko-KR" sz="1200" baseline="0" dirty="0" err="1" smtClean="0"/>
              <a:t>grep</a:t>
            </a:r>
            <a:r>
              <a:rPr lang="en-US" altLang="ko-KR" sz="1200" baseline="0" dirty="0" smtClean="0"/>
              <a:t> -</a:t>
            </a:r>
            <a:r>
              <a:rPr lang="en-US" altLang="ko-KR" sz="1200" baseline="0" dirty="0" err="1" smtClean="0"/>
              <a:t>i</a:t>
            </a:r>
            <a:r>
              <a:rPr lang="en-US" altLang="ko-KR" sz="1200" baseline="0" dirty="0" smtClean="0"/>
              <a:t> taints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참고 </a:t>
            </a:r>
            <a:r>
              <a:rPr lang="en-US" altLang="ko-KR" dirty="0" smtClean="0"/>
              <a:t>URL : https://kubernetes.io/ko/docs/concepts/scheduling-eviction/taint-and-toleration/</a:t>
            </a:r>
            <a:endParaRPr lang="ko-KR" altLang="en-US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111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Pod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의 관계에 대해서 알아보자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Pod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어떻게 배치되는지 해보자</a:t>
            </a:r>
            <a:endParaRPr lang="en-US" altLang="ko-KR" sz="1200" dirty="0" smtClean="0"/>
          </a:p>
          <a:p>
            <a:r>
              <a:rPr lang="en-US" altLang="ko-KR" sz="1200" dirty="0" smtClean="0"/>
              <a:t>Taints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tolerations</a:t>
            </a:r>
            <a:r>
              <a:rPr lang="ko-KR" altLang="en-US" sz="1200" dirty="0" smtClean="0"/>
              <a:t>를 사용하여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배치될 때 컨트롤할 수 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에는 </a:t>
            </a:r>
            <a:r>
              <a:rPr lang="en-US" altLang="ko-KR" sz="1200" dirty="0" smtClean="0"/>
              <a:t>taints </a:t>
            </a:r>
            <a:r>
              <a:rPr lang="ko-KR" altLang="en-US" sz="1200" dirty="0" smtClean="0"/>
              <a:t>설정이 기본적으로 설정되어 있어 </a:t>
            </a:r>
            <a:r>
              <a:rPr lang="en-US" altLang="ko-KR" sz="1200" dirty="0" err="1" smtClean="0"/>
              <a:t>Serivce</a:t>
            </a:r>
            <a:r>
              <a:rPr lang="en-US" altLang="ko-KR" sz="1200" dirty="0" smtClean="0"/>
              <a:t> pod</a:t>
            </a:r>
            <a:r>
              <a:rPr lang="ko-KR" altLang="en-US" sz="1200" dirty="0" smtClean="0"/>
              <a:t>가 배치되지 않는다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확인 명령어 </a:t>
            </a:r>
            <a:r>
              <a:rPr lang="en-US" altLang="ko-KR" sz="1200" dirty="0" err="1" smtClean="0"/>
              <a:t>kubectl</a:t>
            </a:r>
            <a:r>
              <a:rPr lang="en-US" altLang="ko-KR" sz="1200" baseline="0" dirty="0" smtClean="0"/>
              <a:t> describe node master | </a:t>
            </a:r>
            <a:r>
              <a:rPr lang="en-US" altLang="ko-KR" sz="1200" baseline="0" dirty="0" err="1" smtClean="0"/>
              <a:t>grep</a:t>
            </a:r>
            <a:r>
              <a:rPr lang="en-US" altLang="ko-KR" sz="1200" baseline="0" dirty="0" smtClean="0"/>
              <a:t> -</a:t>
            </a:r>
            <a:r>
              <a:rPr lang="en-US" altLang="ko-KR" sz="1200" baseline="0" dirty="0" err="1" smtClean="0"/>
              <a:t>i</a:t>
            </a:r>
            <a:r>
              <a:rPr lang="en-US" altLang="ko-KR" sz="1200" baseline="0" dirty="0" smtClean="0"/>
              <a:t> taints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dirty="0" err="1" smtClean="0"/>
              <a:t>ㅇ</a:t>
            </a:r>
            <a:r>
              <a:rPr lang="ko-KR" altLang="en-US" dirty="0" smtClean="0"/>
              <a:t> </a:t>
            </a:r>
            <a:r>
              <a:rPr lang="en-US" altLang="ko-KR" dirty="0" smtClean="0"/>
              <a:t>taint</a:t>
            </a:r>
          </a:p>
          <a:p>
            <a:r>
              <a:rPr lang="en-US" altLang="ko-KR" dirty="0" smtClean="0"/>
              <a:t>  - </a:t>
            </a:r>
            <a:r>
              <a:rPr lang="en-US" altLang="ko-KR" dirty="0" err="1" smtClean="0"/>
              <a:t>NoSchedule</a:t>
            </a:r>
            <a:r>
              <a:rPr lang="en-US" altLang="ko-KR" baseline="0" dirty="0" smtClean="0"/>
              <a:t> : Taint</a:t>
            </a:r>
            <a:r>
              <a:rPr lang="ko-KR" altLang="en-US" baseline="0" dirty="0" smtClean="0"/>
              <a:t>가 하나 이상 있으면 일치하는 </a:t>
            </a:r>
            <a:r>
              <a:rPr lang="en-US" altLang="ko-KR" baseline="0" dirty="0" smtClean="0"/>
              <a:t>Toleration</a:t>
            </a:r>
            <a:r>
              <a:rPr lang="ko-KR" altLang="en-US" baseline="0" dirty="0" smtClean="0"/>
              <a:t>이 없으면 </a:t>
            </a:r>
            <a:r>
              <a:rPr lang="en-US" altLang="ko-KR" baseline="0" dirty="0" smtClean="0"/>
              <a:t>node</a:t>
            </a:r>
            <a:r>
              <a:rPr lang="ko-KR" altLang="en-US" baseline="0" dirty="0" smtClean="0"/>
              <a:t>에 스케줄 할 수 없다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  - </a:t>
            </a:r>
            <a:r>
              <a:rPr lang="en-US" altLang="ko-KR" baseline="0" dirty="0" err="1" smtClean="0"/>
              <a:t>PreferNoSchedule</a:t>
            </a:r>
            <a:r>
              <a:rPr lang="en-US" altLang="ko-KR" baseline="0" dirty="0" smtClean="0"/>
              <a:t> : Taint</a:t>
            </a:r>
            <a:r>
              <a:rPr lang="ko-KR" altLang="en-US" baseline="0" dirty="0" smtClean="0"/>
              <a:t>가 하나 </a:t>
            </a:r>
            <a:r>
              <a:rPr lang="ko-KR" altLang="en-US" baseline="0" dirty="0" err="1" smtClean="0"/>
              <a:t>이상있고</a:t>
            </a:r>
            <a:r>
              <a:rPr lang="ko-KR" altLang="en-US" baseline="0" dirty="0" smtClean="0"/>
              <a:t> 일치하는 </a:t>
            </a:r>
            <a:r>
              <a:rPr lang="en-US" altLang="ko-KR" baseline="0" dirty="0" smtClean="0"/>
              <a:t>Toleration</a:t>
            </a:r>
            <a:r>
              <a:rPr lang="ko-KR" altLang="en-US" baseline="0" dirty="0" smtClean="0"/>
              <a:t>이 없으면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를 </a:t>
            </a:r>
            <a:r>
              <a:rPr lang="en-US" altLang="ko-KR" baseline="0" dirty="0" smtClean="0"/>
              <a:t>node</a:t>
            </a:r>
            <a:r>
              <a:rPr lang="ko-KR" altLang="en-US" baseline="0" dirty="0" smtClean="0"/>
              <a:t>에 스케줄링 안하려고 하지만 필수는 아니다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  - </a:t>
            </a:r>
            <a:r>
              <a:rPr lang="en-US" altLang="ko-KR" baseline="0" dirty="0" err="1" smtClean="0"/>
              <a:t>NoExcute</a:t>
            </a:r>
            <a:r>
              <a:rPr lang="en-US" altLang="ko-KR" baseline="0" dirty="0" smtClean="0"/>
              <a:t> : taint</a:t>
            </a:r>
            <a:r>
              <a:rPr lang="ko-KR" altLang="en-US" baseline="0" dirty="0" smtClean="0"/>
              <a:t>가 하나 이상 있으면 </a:t>
            </a:r>
            <a:r>
              <a:rPr lang="en-US" altLang="ko-KR" baseline="0" dirty="0" smtClean="0"/>
              <a:t>Toleration</a:t>
            </a:r>
            <a:r>
              <a:rPr lang="ko-KR" altLang="en-US" baseline="0" dirty="0" smtClean="0"/>
              <a:t>이 없는 실행중인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는 해당 노드에 축출되고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실행전인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는 스케줄링 되지 않는다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참고 </a:t>
            </a:r>
            <a:r>
              <a:rPr lang="en-US" altLang="ko-KR" dirty="0" smtClean="0"/>
              <a:t>URL : https://kubernetes.io/ko/docs/concepts/scheduling-eviction/taint-and-toleration/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--TEST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시나리오</a:t>
            </a:r>
            <a:endParaRPr lang="en-US" altLang="ko-KR" baseline="0" dirty="0" smtClean="0"/>
          </a:p>
          <a:p>
            <a:pPr marL="228600" marR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aseline="0" dirty="0" smtClean="0"/>
              <a:t>Taints toleration </a:t>
            </a:r>
            <a:r>
              <a:rPr lang="ko-KR" altLang="en-US" baseline="0" dirty="0" smtClean="0"/>
              <a:t>설정하여 </a:t>
            </a:r>
            <a:r>
              <a:rPr lang="en-US" altLang="ko-KR" baseline="0" dirty="0" smtClean="0"/>
              <a:t>pod </a:t>
            </a:r>
            <a:r>
              <a:rPr lang="ko-KR" altLang="en-US" baseline="0" dirty="0" smtClean="0"/>
              <a:t>배치 시나리오 작성 </a:t>
            </a:r>
            <a:endParaRPr lang="ko-KR" altLang="en-US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02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/>
              <a:t>만약</a:t>
            </a:r>
            <a:r>
              <a:rPr lang="en-US" altLang="ko-KR" sz="1200" dirty="0" smtClean="0"/>
              <a:t>, Node</a:t>
            </a:r>
            <a:r>
              <a:rPr lang="ko-KR" altLang="en-US" sz="1200" dirty="0" smtClean="0"/>
              <a:t>에 </a:t>
            </a:r>
            <a:r>
              <a:rPr lang="en-US" altLang="ko-KR" sz="1200" dirty="0" err="1" smtClean="0"/>
              <a:t>Reource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번 노드가 크고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번</a:t>
            </a:r>
            <a:r>
              <a:rPr lang="en-US" altLang="ko-KR" sz="1200" dirty="0" smtClean="0"/>
              <a:t>, 3</a:t>
            </a:r>
            <a:r>
              <a:rPr lang="ko-KR" altLang="en-US" sz="1200" dirty="0" smtClean="0"/>
              <a:t>번 노드가 작은 경우에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많은 리소스 사용을 요구하는 서비스는 </a:t>
            </a:r>
            <a:r>
              <a:rPr lang="en-US" altLang="ko-KR" sz="1200" baseline="0" dirty="0" smtClean="0"/>
              <a:t>Node 1</a:t>
            </a:r>
            <a:r>
              <a:rPr lang="ko-KR" altLang="en-US" sz="1200" baseline="0" dirty="0" smtClean="0"/>
              <a:t>번에 배치되게 해야한다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혹은 노드에 역할 </a:t>
            </a:r>
            <a:r>
              <a:rPr lang="en-US" altLang="ko-KR" sz="1200" baseline="0" dirty="0" smtClean="0"/>
              <a:t>business, infra</a:t>
            </a:r>
            <a:r>
              <a:rPr lang="ko-KR" altLang="en-US" sz="1200" baseline="0" dirty="0" smtClean="0"/>
              <a:t>로 나누어서 역할별 맞는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서비스를 배치할 수도 있다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04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NodeSelect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가지 조건을 만족하게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배치 </a:t>
            </a:r>
            <a:r>
              <a:rPr lang="ko-KR" altLang="en-US" sz="1200" dirty="0" err="1" smtClean="0"/>
              <a:t>시킬수는</a:t>
            </a:r>
            <a:r>
              <a:rPr lang="ko-KR" altLang="en-US" sz="1200" dirty="0" smtClean="0"/>
              <a:t> 없다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예를 들면</a:t>
            </a:r>
            <a:r>
              <a:rPr lang="en-US" altLang="ko-KR" sz="1200" dirty="0" smtClean="0"/>
              <a:t>, business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infra</a:t>
            </a:r>
            <a:r>
              <a:rPr lang="en-US" altLang="ko-KR" sz="1200" baseline="0" dirty="0" smtClean="0"/>
              <a:t> node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2</a:t>
            </a:r>
            <a:r>
              <a:rPr lang="ko-KR" altLang="en-US" sz="1200" baseline="0" dirty="0" smtClean="0"/>
              <a:t>개다 배치하고 </a:t>
            </a:r>
            <a:r>
              <a:rPr lang="ko-KR" altLang="en-US" sz="1200" baseline="0" dirty="0" err="1" smtClean="0"/>
              <a:t>싶다고하는</a:t>
            </a:r>
            <a:r>
              <a:rPr lang="ko-KR" altLang="en-US" sz="1200" baseline="0" dirty="0" smtClean="0"/>
              <a:t> 경우 </a:t>
            </a:r>
            <a:r>
              <a:rPr lang="en-US" altLang="ko-KR" sz="1200" baseline="0" dirty="0" err="1" smtClean="0"/>
              <a:t>nodeSelector</a:t>
            </a:r>
            <a:r>
              <a:rPr lang="ko-KR" altLang="en-US" sz="1200" baseline="0" dirty="0" smtClean="0"/>
              <a:t>를 사용해서 배치 </a:t>
            </a:r>
            <a:r>
              <a:rPr lang="ko-KR" altLang="en-US" sz="1200" baseline="0" dirty="0" err="1" smtClean="0"/>
              <a:t>시킬수</a:t>
            </a:r>
            <a:r>
              <a:rPr lang="ko-KR" altLang="en-US" sz="1200" baseline="0" dirty="0" smtClean="0"/>
              <a:t> 있는 방법은 없다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2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여러 조건을 일치 시켜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서비스를 배치할 수 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Business</a:t>
            </a:r>
            <a:r>
              <a:rPr lang="ko-KR" altLang="en-US" sz="1200" baseline="0" dirty="0" smtClean="0"/>
              <a:t>와 </a:t>
            </a:r>
            <a:r>
              <a:rPr lang="en-US" altLang="ko-KR" sz="1200" baseline="0" dirty="0" smtClean="0"/>
              <a:t>Common Node</a:t>
            </a:r>
            <a:r>
              <a:rPr lang="ko-KR" altLang="en-US" sz="1200" baseline="0" dirty="0" smtClean="0"/>
              <a:t>에 배치해야하는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서비스가 있다면</a:t>
            </a:r>
            <a:r>
              <a:rPr lang="en-US" altLang="ko-KR" sz="1200" baseline="0" dirty="0" smtClean="0"/>
              <a:t>? </a:t>
            </a:r>
            <a:r>
              <a:rPr lang="en-US" altLang="ko-KR" sz="1200" baseline="0" dirty="0" err="1" smtClean="0"/>
              <a:t>NodeAffinity</a:t>
            </a:r>
            <a:r>
              <a:rPr lang="ko-KR" altLang="en-US" sz="1200" baseline="0" dirty="0" smtClean="0"/>
              <a:t>를 </a:t>
            </a:r>
            <a:r>
              <a:rPr lang="ko-KR" altLang="en-US" sz="1200" baseline="0" dirty="0" err="1" smtClean="0"/>
              <a:t>사용하면된다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444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/>
              <a:t>예시 파일은 </a:t>
            </a:r>
            <a:r>
              <a:rPr lang="en-US" altLang="ko-KR" sz="1200" dirty="0" smtClean="0"/>
              <a:t>role: business</a:t>
            </a:r>
            <a:r>
              <a:rPr lang="en-US" altLang="ko-KR" sz="1200" baseline="0" dirty="0" smtClean="0"/>
              <a:t>, role: infra label</a:t>
            </a:r>
            <a:r>
              <a:rPr lang="ko-KR" altLang="en-US" sz="1200" baseline="0" dirty="0" smtClean="0"/>
              <a:t>을 가진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로 해당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배치 될 수 있다라는 의미이다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76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Resource Request</a:t>
            </a:r>
            <a:r>
              <a:rPr lang="ko-KR" altLang="en-US" sz="1200" dirty="0" smtClean="0"/>
              <a:t>를 사용 하여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처음 배치 될 때 요구되는 </a:t>
            </a:r>
            <a:r>
              <a:rPr lang="en-US" altLang="ko-KR" sz="1200" dirty="0" smtClean="0"/>
              <a:t>CPU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및 </a:t>
            </a:r>
            <a:r>
              <a:rPr lang="en-US" altLang="ko-KR" sz="1200" baseline="0" dirty="0" smtClean="0"/>
              <a:t>Memory</a:t>
            </a:r>
            <a:r>
              <a:rPr lang="ko-KR" altLang="en-US" sz="1200" baseline="0" dirty="0" smtClean="0"/>
              <a:t>를 설정할 수 있다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sz="1200" baseline="0" dirty="0" smtClean="0"/>
              <a:t>Resource Limit</a:t>
            </a:r>
            <a:r>
              <a:rPr lang="ko-KR" altLang="en-US" sz="1200" baseline="0" dirty="0" smtClean="0"/>
              <a:t>를 사용하여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사용하는 </a:t>
            </a:r>
            <a:r>
              <a:rPr lang="en-US" altLang="ko-KR" sz="1200" baseline="0" dirty="0" smtClean="0"/>
              <a:t>Resource</a:t>
            </a:r>
            <a:r>
              <a:rPr lang="ko-KR" altLang="en-US" sz="1200" baseline="0" dirty="0" smtClean="0"/>
              <a:t>를 제한할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기본적으로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에 배치될 때 </a:t>
            </a:r>
            <a:r>
              <a:rPr lang="en-US" altLang="ko-KR" sz="1200" baseline="0" dirty="0" smtClean="0"/>
              <a:t>Resource </a:t>
            </a:r>
            <a:r>
              <a:rPr lang="ko-KR" altLang="en-US" sz="1200" baseline="0" dirty="0" smtClean="0"/>
              <a:t>제한이 없다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57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/>
              <a:t>만약</a:t>
            </a:r>
            <a:r>
              <a:rPr lang="en-US" altLang="ko-KR" sz="1200" dirty="0" smtClean="0"/>
              <a:t>, Node01</a:t>
            </a:r>
            <a:r>
              <a:rPr lang="ko-KR" altLang="en-US" sz="1200" dirty="0" smtClean="0"/>
              <a:t>에 사용 가능한 </a:t>
            </a:r>
            <a:r>
              <a:rPr lang="en-US" altLang="ko-KR" sz="1200" dirty="0" err="1" smtClean="0"/>
              <a:t>Reource</a:t>
            </a:r>
            <a:r>
              <a:rPr lang="ko-KR" altLang="en-US" sz="1200" dirty="0" smtClean="0"/>
              <a:t>가 없는 경우 사용 가능한 </a:t>
            </a:r>
            <a:r>
              <a:rPr lang="en-US" altLang="ko-KR" sz="1200" dirty="0" smtClean="0"/>
              <a:t>Resource</a:t>
            </a:r>
            <a:r>
              <a:rPr lang="ko-KR" altLang="en-US" sz="1200" dirty="0" smtClean="0"/>
              <a:t>가 있는 곳으로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는 배치가 된다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883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CPU </a:t>
            </a:r>
            <a:r>
              <a:rPr lang="ko-KR" altLang="en-US" sz="1200" dirty="0" smtClean="0"/>
              <a:t>및 </a:t>
            </a:r>
            <a:r>
              <a:rPr lang="en-US" altLang="ko-KR" sz="1200" dirty="0" smtClean="0"/>
              <a:t>Memory</a:t>
            </a:r>
            <a:r>
              <a:rPr lang="ko-KR" altLang="en-US" sz="1200" dirty="0" smtClean="0"/>
              <a:t>가 </a:t>
            </a:r>
            <a:r>
              <a:rPr lang="en-US" altLang="ko-KR" sz="1200" dirty="0" err="1" smtClean="0"/>
              <a:t>Rquest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및 </a:t>
            </a:r>
            <a:r>
              <a:rPr lang="en-US" altLang="ko-KR" sz="1200" dirty="0" smtClean="0"/>
              <a:t>Resource</a:t>
            </a:r>
            <a:r>
              <a:rPr lang="ko-KR" altLang="en-US" sz="1200" dirty="0" smtClean="0"/>
              <a:t>가 설정이 있는 경우 없는 </a:t>
            </a:r>
            <a:r>
              <a:rPr lang="en-US" altLang="ko-KR" sz="1200" dirty="0" smtClean="0"/>
              <a:t>CASE</a:t>
            </a:r>
            <a:r>
              <a:rPr lang="ko-KR" altLang="en-US" sz="1200" dirty="0" smtClean="0"/>
              <a:t>별 동작은</a:t>
            </a:r>
            <a:r>
              <a:rPr lang="ko-KR" altLang="en-US" sz="1200" baseline="0" dirty="0" smtClean="0"/>
              <a:t> 다음과 같습니다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Requests, Limits</a:t>
            </a:r>
            <a:r>
              <a:rPr lang="ko-KR" altLang="en-US" sz="1200" baseline="0" dirty="0" smtClean="0"/>
              <a:t>가 없는 경우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Node Resource</a:t>
            </a:r>
            <a:r>
              <a:rPr lang="ko-KR" altLang="en-US" sz="1200" baseline="0" dirty="0" smtClean="0"/>
              <a:t>가 있는 만큼 모든 자원을 제한 없이 사용이 가능합니다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Limits</a:t>
            </a:r>
            <a:r>
              <a:rPr lang="ko-KR" altLang="en-US" sz="1200" baseline="0" dirty="0" smtClean="0"/>
              <a:t>가 있는 경우 제한된 값 까지만 자원을 사용합니다</a:t>
            </a:r>
            <a:r>
              <a:rPr lang="en-US" altLang="ko-KR" sz="1200" baseline="0" dirty="0" smtClean="0"/>
              <a:t>. Request</a:t>
            </a:r>
            <a:r>
              <a:rPr lang="ko-KR" altLang="en-US" sz="1200" baseline="0" dirty="0" smtClean="0"/>
              <a:t>가 따로 설정되어 있지 않다면 </a:t>
            </a:r>
            <a:r>
              <a:rPr lang="en-US" altLang="ko-KR" sz="1200" baseline="0" dirty="0" smtClean="0"/>
              <a:t>Limits </a:t>
            </a:r>
            <a:r>
              <a:rPr lang="ko-KR" altLang="en-US" sz="1200" baseline="0" dirty="0" smtClean="0"/>
              <a:t>값과 </a:t>
            </a:r>
            <a:r>
              <a:rPr lang="en-US" altLang="ko-KR" sz="1200" baseline="0" dirty="0" smtClean="0"/>
              <a:t>Requests </a:t>
            </a:r>
            <a:r>
              <a:rPr lang="ko-KR" altLang="en-US" sz="1200" baseline="0" dirty="0" smtClean="0"/>
              <a:t>값은 동일하게 동작합니다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Limits, Requests </a:t>
            </a:r>
            <a:r>
              <a:rPr lang="ko-KR" altLang="en-US" sz="1200" baseline="0" dirty="0" smtClean="0"/>
              <a:t>값이 있는 경우 처음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생성될 요구되는 자원과 해당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사용할 수 있는 </a:t>
            </a:r>
            <a:r>
              <a:rPr lang="en-US" altLang="ko-KR" sz="1200" baseline="0" dirty="0" smtClean="0"/>
              <a:t>Resource</a:t>
            </a:r>
            <a:r>
              <a:rPr lang="ko-KR" altLang="en-US" sz="1200" baseline="0" dirty="0" smtClean="0"/>
              <a:t>를 제한하게 됩니다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Requests</a:t>
            </a:r>
            <a:r>
              <a:rPr lang="ko-KR" altLang="en-US" sz="1200" baseline="0" dirty="0" smtClean="0"/>
              <a:t>값이 있는 경우 처음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배치될 때 사용되는 리소스가 배치되고 노드에 최대 리소스만큼 사용은 가능합니다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62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674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DaemonSet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컨트롤러 사용시 각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</a:t>
            </a:r>
            <a:r>
              <a:rPr lang="en-US" altLang="ko-KR" sz="1200" baseline="0" dirty="0" smtClean="0"/>
              <a:t>1</a:t>
            </a:r>
            <a:r>
              <a:rPr lang="ko-KR" altLang="en-US" sz="1200" baseline="0" dirty="0" smtClean="0"/>
              <a:t>개씩 배치한다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노드 </a:t>
            </a:r>
            <a:r>
              <a:rPr lang="ko-KR" altLang="en-US" sz="1200" baseline="0" dirty="0" err="1" smtClean="0"/>
              <a:t>셀렉터와</a:t>
            </a:r>
            <a:r>
              <a:rPr lang="ko-KR" altLang="en-US" sz="1200" baseline="0" dirty="0" smtClean="0"/>
              <a:t> 같이 사용 한다면 특정 노드에는 배치를 제외 시킬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42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957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1</a:t>
            </a:r>
            <a:r>
              <a:rPr lang="ko-KR" altLang="en-US" sz="1200" dirty="0" smtClean="0"/>
              <a:t>장에서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생성될 때 동작 과정을 다시 보면 아래 그림과 같습니다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err="1" smtClean="0"/>
              <a:t>Kubectl</a:t>
            </a:r>
            <a:r>
              <a:rPr lang="ko-KR" altLang="en-US" sz="1200" dirty="0" smtClean="0"/>
              <a:t>을 통해 생성 명령어를 입력하게 되면 </a:t>
            </a:r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에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가 받아 </a:t>
            </a:r>
            <a:r>
              <a:rPr lang="en-US" altLang="ko-KR" sz="1200" dirty="0" smtClean="0"/>
              <a:t>Worker Node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에 전달하고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이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생성합니다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만약 </a:t>
            </a:r>
            <a:r>
              <a:rPr lang="en-US" altLang="ko-KR" sz="1200" baseline="0" dirty="0" smtClean="0"/>
              <a:t>Master node</a:t>
            </a:r>
            <a:r>
              <a:rPr lang="ko-KR" altLang="en-US" sz="1200" baseline="0" dirty="0" smtClean="0"/>
              <a:t>가 없다면 독립된 </a:t>
            </a: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만들 수 있을까요</a:t>
            </a:r>
            <a:r>
              <a:rPr lang="en-US" altLang="ko-KR" sz="1200" baseline="0" dirty="0" smtClean="0"/>
              <a:t>?</a:t>
            </a:r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  <a:p>
            <a:endParaRPr lang="en-US" altLang="ko-KR" sz="1200" dirty="0" smtClean="0"/>
          </a:p>
          <a:p>
            <a:endParaRPr lang="en-US" altLang="ko-KR" sz="1200" baseline="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Static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는 지정된 경로에 </a:t>
            </a:r>
            <a:r>
              <a:rPr lang="en-US" altLang="ko-KR" sz="1200" baseline="0" dirty="0" err="1" smtClean="0"/>
              <a:t>yaml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파일을 </a:t>
            </a:r>
            <a:r>
              <a:rPr lang="ko-KR" altLang="en-US" sz="1200" baseline="0" dirty="0" err="1" smtClean="0"/>
              <a:t>업로드시</a:t>
            </a:r>
            <a:r>
              <a:rPr lang="ko-KR" altLang="en-US" sz="1200" baseline="0" dirty="0" smtClean="0"/>
              <a:t> 자동으로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이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만들어준다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40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Kubernetes</a:t>
            </a:r>
            <a:r>
              <a:rPr lang="en-US" altLang="ko-KR" sz="1200" baseline="0" dirty="0" smtClean="0"/>
              <a:t> master</a:t>
            </a:r>
            <a:r>
              <a:rPr lang="ko-KR" altLang="en-US" sz="1200" baseline="0" dirty="0" smtClean="0"/>
              <a:t>가 없어도 </a:t>
            </a: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에서 독자적으로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를 올릴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에 설정된 </a:t>
            </a:r>
            <a:r>
              <a:rPr lang="en-US" altLang="ko-KR" sz="1200" baseline="0" dirty="0" err="1" smtClean="0"/>
              <a:t>staticpodpath</a:t>
            </a:r>
            <a:r>
              <a:rPr lang="ko-KR" altLang="en-US" sz="1200" baseline="0" dirty="0" smtClean="0"/>
              <a:t>에 파일을 올리면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은 자동으로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만들어준다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는 만들 수 있으나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그 외에 </a:t>
            </a:r>
            <a:r>
              <a:rPr lang="en-US" altLang="ko-KR" sz="1200" baseline="0" dirty="0" smtClean="0"/>
              <a:t>Object</a:t>
            </a:r>
            <a:r>
              <a:rPr lang="ko-KR" altLang="en-US" sz="1200" baseline="0" dirty="0" smtClean="0"/>
              <a:t>는 만들 수가 없다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Manifest</a:t>
            </a:r>
            <a:r>
              <a:rPr lang="ko-KR" altLang="en-US" sz="1200" baseline="0" dirty="0" smtClean="0"/>
              <a:t>안에 파일을 지우면 </a:t>
            </a:r>
            <a:r>
              <a:rPr lang="ko-KR" altLang="en-US" sz="1200" baseline="0" dirty="0" err="1" smtClean="0"/>
              <a:t>파드도</a:t>
            </a:r>
            <a:r>
              <a:rPr lang="ko-KR" altLang="en-US" sz="1200" baseline="0" dirty="0" smtClean="0"/>
              <a:t> 지워지게 된다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Kubernetes Cluster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etcd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kube-apiserver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-controller-manager,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-scheduler</a:t>
            </a:r>
            <a:r>
              <a:rPr lang="ko-KR" altLang="en-US" sz="1200" baseline="0" dirty="0" smtClean="0"/>
              <a:t>가 기본적으로 </a:t>
            </a:r>
            <a:r>
              <a:rPr lang="en-US" altLang="ko-KR" sz="1200" baseline="0" dirty="0" smtClean="0"/>
              <a:t>static pod</a:t>
            </a:r>
            <a:r>
              <a:rPr lang="ko-KR" altLang="en-US" sz="1200" baseline="0" dirty="0" smtClean="0"/>
              <a:t>로 띄워진다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baseline="0" dirty="0" smtClean="0"/>
              <a:t>Static pod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Scheduler</a:t>
            </a:r>
            <a:r>
              <a:rPr lang="ko-KR" altLang="en-US" baseline="0" dirty="0" smtClean="0"/>
              <a:t>를 타지않는다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Static pod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 이름 뒤에 </a:t>
            </a:r>
            <a:r>
              <a:rPr lang="en-US" altLang="ko-KR" baseline="0" dirty="0" err="1" smtClean="0"/>
              <a:t>nodeName</a:t>
            </a:r>
            <a:r>
              <a:rPr lang="ko-KR" altLang="en-US" baseline="0" dirty="0" smtClean="0"/>
              <a:t>이 붙는다</a:t>
            </a:r>
            <a:r>
              <a:rPr lang="en-US" altLang="ko-KR" baseline="0" dirty="0" smtClean="0"/>
              <a:t>.</a:t>
            </a:r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07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microsoft.com/office/2007/relationships/hdphoto" Target="../media/hdphoto1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Scheduling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2" y="3254174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Scheduling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8" name="object 18"/>
          <p:cNvSpPr/>
          <p:nvPr/>
        </p:nvSpPr>
        <p:spPr>
          <a:xfrm>
            <a:off x="6162122" y="3597528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Scheduling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Manual Scheduling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nodeName</a:t>
            </a:r>
            <a:r>
              <a:rPr lang="ko-KR" altLang="en-US" sz="1400" dirty="0" smtClean="0"/>
              <a:t>을 따로 지정하지 않은 경우 </a:t>
            </a:r>
            <a:r>
              <a:rPr lang="en-US" altLang="ko-KR" sz="1400" dirty="0" smtClean="0"/>
              <a:t>Scheduler</a:t>
            </a:r>
            <a:r>
              <a:rPr lang="ko-KR" altLang="en-US" sz="1400" dirty="0" smtClean="0"/>
              <a:t>가 임의로 </a:t>
            </a:r>
            <a:r>
              <a:rPr lang="en-US" altLang="ko-KR" sz="1400" dirty="0" err="1" smtClean="0"/>
              <a:t>nodeName</a:t>
            </a:r>
            <a:r>
              <a:rPr lang="ko-KR" altLang="en-US" sz="1400" dirty="0" smtClean="0"/>
              <a:t>을 설정 하여 해당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배치 시킨다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실행중인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다른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옮길 수 없다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다른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옮길 경우 삭제하고 다시 만들어야 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6" name="그룹 5"/>
          <p:cNvGrpSpPr/>
          <p:nvPr/>
        </p:nvGrpSpPr>
        <p:grpSpPr>
          <a:xfrm>
            <a:off x="711199" y="1772805"/>
            <a:ext cx="2256330" cy="1852901"/>
            <a:chOff x="3283233" y="3516542"/>
            <a:chExt cx="2256330" cy="1852901"/>
          </a:xfrm>
        </p:grpSpPr>
        <p:sp>
          <p:nvSpPr>
            <p:cNvPr id="37" name="직사각형 36"/>
            <p:cNvSpPr/>
            <p:nvPr/>
          </p:nvSpPr>
          <p:spPr>
            <a:xfrm>
              <a:off x="3283234" y="3516543"/>
              <a:ext cx="2256329" cy="1852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3233" y="3516542"/>
              <a:ext cx="714376" cy="649585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3997609" y="3666420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3670955" y="4356697"/>
              <a:ext cx="1620578" cy="810726"/>
              <a:chOff x="3766539" y="4356697"/>
              <a:chExt cx="1620578" cy="810726"/>
            </a:xfrm>
          </p:grpSpPr>
          <p:sp>
            <p:nvSpPr>
              <p:cNvPr id="48" name="모서리가 둥근 직사각형 47"/>
              <p:cNvSpPr/>
              <p:nvPr/>
            </p:nvSpPr>
            <p:spPr>
              <a:xfrm>
                <a:off x="3766539" y="4356697"/>
                <a:ext cx="1480886" cy="8107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9" name="그림 48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36" b="96373" l="498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92190" y="4464133"/>
                <a:ext cx="614870" cy="581151"/>
              </a:xfrm>
              <a:prstGeom prst="rect">
                <a:avLst/>
              </a:prstGeom>
            </p:spPr>
          </p:pic>
          <p:sp>
            <p:nvSpPr>
              <p:cNvPr id="50" name="TextBox 49"/>
              <p:cNvSpPr txBox="1"/>
              <p:nvPr/>
            </p:nvSpPr>
            <p:spPr>
              <a:xfrm>
                <a:off x="4404744" y="4607396"/>
                <a:ext cx="9823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err="1" smtClean="0"/>
                  <a:t>myapp</a:t>
                </a:r>
                <a:endParaRPr lang="ko-KR" altLang="en-US" b="1" dirty="0"/>
              </a:p>
            </p:txBody>
          </p:sp>
        </p:grpSp>
      </p:grpSp>
      <p:grpSp>
        <p:nvGrpSpPr>
          <p:cNvPr id="53" name="그룹 52"/>
          <p:cNvGrpSpPr/>
          <p:nvPr/>
        </p:nvGrpSpPr>
        <p:grpSpPr>
          <a:xfrm>
            <a:off x="3172142" y="1772805"/>
            <a:ext cx="2256330" cy="1852901"/>
            <a:chOff x="3283233" y="3516542"/>
            <a:chExt cx="2256330" cy="1852901"/>
          </a:xfrm>
        </p:grpSpPr>
        <p:sp>
          <p:nvSpPr>
            <p:cNvPr id="54" name="직사각형 53"/>
            <p:cNvSpPr/>
            <p:nvPr/>
          </p:nvSpPr>
          <p:spPr>
            <a:xfrm>
              <a:off x="3283234" y="3516543"/>
              <a:ext cx="2256329" cy="1852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3233" y="3516542"/>
              <a:ext cx="714376" cy="649585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3997609" y="3666420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3670955" y="4356697"/>
              <a:ext cx="1480886" cy="810726"/>
              <a:chOff x="3766539" y="4356697"/>
              <a:chExt cx="1480886" cy="810726"/>
            </a:xfrm>
          </p:grpSpPr>
          <p:sp>
            <p:nvSpPr>
              <p:cNvPr id="58" name="모서리가 둥근 직사각형 57"/>
              <p:cNvSpPr/>
              <p:nvPr/>
            </p:nvSpPr>
            <p:spPr>
              <a:xfrm>
                <a:off x="3766539" y="4356697"/>
                <a:ext cx="1480886" cy="8107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9" name="그림 58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36" b="96373" l="498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92190" y="4464133"/>
                <a:ext cx="614870" cy="581151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4404744" y="4607396"/>
                <a:ext cx="6138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smtClean="0"/>
                  <a:t>Pod</a:t>
                </a:r>
                <a:endParaRPr lang="ko-KR" altLang="en-US" b="1" dirty="0"/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6368902" y="1495806"/>
            <a:ext cx="4664150" cy="2954655"/>
            <a:chOff x="6368902" y="1495806"/>
            <a:chExt cx="4664150" cy="2954655"/>
          </a:xfrm>
        </p:grpSpPr>
        <p:sp>
          <p:nvSpPr>
            <p:cNvPr id="61" name="TextBox 3"/>
            <p:cNvSpPr txBox="1"/>
            <p:nvPr/>
          </p:nvSpPr>
          <p:spPr>
            <a:xfrm>
              <a:off x="6368903" y="1772805"/>
              <a:ext cx="4664149" cy="267765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</a:t>
              </a:r>
              <a:r>
                <a:rPr lang="en-US" altLang="ko-KR" sz="1200" dirty="0" smtClean="0"/>
                <a:t>Pod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labels:</a:t>
              </a:r>
            </a:p>
            <a:p>
              <a:pPr algn="l"/>
              <a:r>
                <a:rPr lang="en-US" altLang="ko-KR" sz="1200" dirty="0"/>
                <a:t>    app: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  type: front-end</a:t>
              </a:r>
            </a:p>
            <a:p>
              <a:pPr algn="l"/>
              <a:r>
                <a:rPr lang="en-US" altLang="ko-KR" sz="1200" dirty="0"/>
                <a:t>spec: 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containers</a:t>
              </a:r>
              <a:r>
                <a:rPr lang="en-US" altLang="ko-KR" sz="1200" dirty="0"/>
                <a:t>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ports: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  - </a:t>
              </a:r>
              <a:r>
                <a:rPr lang="en-US" altLang="ko-KR" sz="1200" dirty="0" err="1" smtClean="0"/>
                <a:t>containerPort</a:t>
              </a:r>
              <a:r>
                <a:rPr lang="en-US" altLang="ko-KR" sz="1200" dirty="0" smtClean="0"/>
                <a:t>: 8080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nodeName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 Node01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2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n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ginx-pod.yaml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Labels and Selectors(1/2)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Label</a:t>
            </a:r>
            <a:r>
              <a:rPr lang="ko-KR" altLang="en-US" sz="1400" dirty="0" smtClean="0"/>
              <a:t>은 </a:t>
            </a: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사용되는 </a:t>
            </a:r>
            <a:r>
              <a:rPr lang="en-US" altLang="ko-KR" sz="1400" dirty="0" smtClean="0"/>
              <a:t>Object(pod ,svc, node </a:t>
            </a:r>
            <a:r>
              <a:rPr lang="ko-KR" altLang="en-US" sz="1400" dirty="0" smtClean="0"/>
              <a:t>등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에 붙는 값을 정의하는 것이다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y</a:t>
            </a:r>
            <a:r>
              <a:rPr lang="en-US" altLang="ko-KR" sz="1400" dirty="0" err="1" smtClean="0"/>
              <a:t>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내 </a:t>
            </a:r>
            <a:r>
              <a:rPr lang="en-US" altLang="ko-KR" sz="1400" dirty="0" smtClean="0"/>
              <a:t>metadata section</a:t>
            </a:r>
            <a:r>
              <a:rPr lang="ko-KR" altLang="en-US" sz="1400" dirty="0" smtClean="0"/>
              <a:t>에서 아래와 같이 설정이 가능하다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711199" y="1341262"/>
            <a:ext cx="4664150" cy="2769989"/>
            <a:chOff x="6368902" y="1495806"/>
            <a:chExt cx="4664150" cy="2769989"/>
          </a:xfrm>
        </p:grpSpPr>
        <p:sp>
          <p:nvSpPr>
            <p:cNvPr id="5" name="TextBox 3"/>
            <p:cNvSpPr txBox="1"/>
            <p:nvPr/>
          </p:nvSpPr>
          <p:spPr>
            <a:xfrm>
              <a:off x="6368903" y="1772805"/>
              <a:ext cx="4664149" cy="249299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</a:t>
              </a:r>
              <a:r>
                <a:rPr lang="en-US" altLang="ko-KR" sz="1200" dirty="0" smtClean="0"/>
                <a:t>Pod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metadata: </a:t>
              </a: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labels: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app: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myapp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type: front-end</a:t>
              </a:r>
            </a:p>
            <a:p>
              <a:pPr algn="l"/>
              <a:r>
                <a:rPr lang="en-US" altLang="ko-KR" sz="1200" dirty="0"/>
                <a:t>spec: 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containers</a:t>
              </a:r>
              <a:r>
                <a:rPr lang="en-US" altLang="ko-KR" sz="1200" dirty="0"/>
                <a:t>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ports: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  - </a:t>
              </a:r>
              <a:r>
                <a:rPr lang="en-US" altLang="ko-KR" sz="1200" dirty="0" err="1" smtClean="0"/>
                <a:t>containerPort</a:t>
              </a:r>
              <a:r>
                <a:rPr lang="en-US" altLang="ko-KR" sz="1200" dirty="0" smtClean="0"/>
                <a:t>: 8080</a:t>
              </a:r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n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ginx-pod.yaml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711199" y="4388250"/>
            <a:ext cx="5486399" cy="1135574"/>
            <a:chOff x="694245" y="2440458"/>
            <a:chExt cx="10079772" cy="962143"/>
          </a:xfrm>
        </p:grpSpPr>
        <p:sp>
          <p:nvSpPr>
            <p:cNvPr id="9" name="직사각형 8"/>
            <p:cNvSpPr/>
            <p:nvPr/>
          </p:nvSpPr>
          <p:spPr>
            <a:xfrm>
              <a:off x="694245" y="2440458"/>
              <a:ext cx="10079772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94245" y="2648672"/>
              <a:ext cx="10079772" cy="7539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get pods --selector app=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myapp</a:t>
              </a:r>
              <a:endParaRPr lang="en-US" altLang="ko-KR" sz="1100" b="1" dirty="0" smtClean="0">
                <a:solidFill>
                  <a:schemeClr val="bg1"/>
                </a:solidFill>
              </a:endParaRPr>
            </a:p>
            <a:p>
              <a:endParaRPr lang="en-US" altLang="ko-KR" sz="1100" b="1" dirty="0">
                <a:solidFill>
                  <a:schemeClr val="bg1"/>
                </a:solidFill>
              </a:endParaRPr>
            </a:p>
            <a:p>
              <a:r>
                <a:rPr lang="en-US" altLang="ko-KR" sz="1100" b="1" dirty="0">
                  <a:solidFill>
                    <a:schemeClr val="bg1"/>
                  </a:solidFill>
                </a:rPr>
                <a:t>NAME    READY   STATUS    RESTARTS   AGE</a:t>
              </a:r>
            </a:p>
            <a:p>
              <a:r>
                <a:rPr lang="en-US" altLang="ko-KR" sz="1100" b="1" dirty="0" err="1">
                  <a:solidFill>
                    <a:schemeClr val="bg1"/>
                  </a:solidFill>
                </a:rPr>
                <a:t>nginx</a:t>
              </a:r>
              <a:r>
                <a:rPr lang="en-US" altLang="ko-KR" sz="1100" b="1" dirty="0">
                  <a:solidFill>
                    <a:schemeClr val="bg1"/>
                  </a:solidFill>
                </a:rPr>
                <a:t>   1/1     Running   0          45h</a:t>
              </a:r>
            </a:p>
            <a:p>
              <a:endParaRPr lang="en-US" altLang="ko-KR" sz="1100" b="1" dirty="0" smtClean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Labels and Selectors(2/2)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컨트롤러에서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묶어서 관리할 수 있다</a:t>
            </a:r>
            <a:r>
              <a:rPr lang="en-US" altLang="ko-KR" sz="14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6123171" y="1375173"/>
            <a:ext cx="4753936" cy="4431983"/>
            <a:chOff x="6368902" y="1495806"/>
            <a:chExt cx="4753936" cy="4431983"/>
          </a:xfrm>
        </p:grpSpPr>
        <p:sp>
          <p:nvSpPr>
            <p:cNvPr id="5" name="TextBox 3"/>
            <p:cNvSpPr txBox="1"/>
            <p:nvPr/>
          </p:nvSpPr>
          <p:spPr>
            <a:xfrm>
              <a:off x="6368903" y="1772805"/>
              <a:ext cx="4753935" cy="415498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 # </a:t>
              </a:r>
              <a:r>
                <a:rPr lang="en-US" altLang="ko-KR" sz="1200" dirty="0" err="1"/>
                <a:t>ReplicationController</a:t>
              </a:r>
              <a:r>
                <a:rPr lang="ko-KR" altLang="en-US" sz="1200" dirty="0"/>
                <a:t>와는 다른 </a:t>
              </a:r>
              <a:r>
                <a:rPr lang="en-US" altLang="ko-KR" sz="1200" dirty="0" err="1"/>
                <a:t>api</a:t>
              </a:r>
              <a:r>
                <a:rPr lang="ko-KR" altLang="en-US" sz="1200" dirty="0"/>
                <a:t>이다</a:t>
              </a:r>
              <a:r>
                <a:rPr lang="en-US" altLang="ko-KR" sz="1200" dirty="0"/>
                <a:t>.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ReplicaSet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myapp-rplicaset</a:t>
              </a:r>
              <a:endParaRPr lang="en-US" altLang="ko-KR" sz="1200" dirty="0"/>
            </a:p>
            <a:p>
              <a:r>
                <a:rPr lang="en-US" altLang="ko-KR" sz="1200" dirty="0"/>
                <a:t>  labels: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ReplicaSet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에 </a:t>
              </a:r>
              <a:r>
                <a:rPr lang="en-US" altLang="ko-KR" sz="1200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지정</a:t>
              </a:r>
              <a:endParaRPr lang="en-US" altLang="ko-KR" sz="1200" dirty="0"/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    type: front-end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template</a:t>
              </a:r>
              <a:r>
                <a:rPr lang="en-US" altLang="ko-KR" sz="1200" dirty="0" smtClean="0"/>
                <a:t>: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  metadata: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    </a:t>
              </a:r>
              <a:r>
                <a:rPr lang="en-US" altLang="ko-KR" sz="1200" dirty="0"/>
                <a:t>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labels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 Pod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에 </a:t>
              </a:r>
              <a:r>
                <a:rPr lang="en-US" altLang="ko-KR" sz="1200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지정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  app: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type: front-end</a:t>
              </a:r>
            </a:p>
            <a:p>
              <a:r>
                <a:rPr lang="en-US" altLang="ko-KR" sz="1200" dirty="0"/>
                <a:t>    spec: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r>
                <a:rPr lang="en-US" altLang="ko-KR" sz="1200" dirty="0"/>
                <a:t>  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  <a:p>
              <a:r>
                <a:rPr lang="en-US" altLang="ko-KR" sz="1200" dirty="0"/>
                <a:t>  replicas: 3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복제할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Pod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숫자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selector:</a:t>
              </a:r>
              <a:r>
                <a:rPr lang="en-US" altLang="ko-KR" sz="1200" b="1" dirty="0"/>
                <a:t>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아래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을 가진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Pod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만 연결하여 관리하는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Selector</a:t>
              </a:r>
            </a:p>
            <a:p>
              <a:r>
                <a:rPr lang="en-US" altLang="ko-KR" sz="1200" b="1" dirty="0"/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matchLabels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type: front-end</a:t>
              </a:r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replicaset.yaml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915408" y="1375117"/>
            <a:ext cx="2084467" cy="554110"/>
            <a:chOff x="2030332" y="1317220"/>
            <a:chExt cx="2084467" cy="55411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2030332" y="1317220"/>
              <a:ext cx="2084467" cy="5541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0333" y="1317221"/>
              <a:ext cx="489584" cy="470098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523355" y="1384029"/>
              <a:ext cx="12086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 smtClean="0"/>
                <a:t>ReplicaSet</a:t>
              </a:r>
              <a:endParaRPr lang="ko-KR" altLang="en-US" b="1" dirty="0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636117" y="2922577"/>
            <a:ext cx="1492146" cy="554110"/>
            <a:chOff x="636117" y="2486640"/>
            <a:chExt cx="1492146" cy="554110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636117" y="2486640"/>
              <a:ext cx="1394215" cy="5541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2486640"/>
              <a:ext cx="509773" cy="48181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145890" y="2558271"/>
              <a:ext cx="982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err="1"/>
                <a:t>m</a:t>
              </a:r>
              <a:r>
                <a:rPr lang="en-US" altLang="ko-KR" b="1" dirty="0" err="1" smtClean="0"/>
                <a:t>yapp</a:t>
              </a:r>
              <a:endParaRPr lang="en-US" altLang="ko-KR" b="1" dirty="0" smtClean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260535" y="2911944"/>
            <a:ext cx="1492146" cy="554110"/>
            <a:chOff x="636117" y="2486640"/>
            <a:chExt cx="1492146" cy="554110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636117" y="2486640"/>
              <a:ext cx="1394215" cy="5541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2486640"/>
              <a:ext cx="509773" cy="481817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145890" y="2558271"/>
              <a:ext cx="982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err="1"/>
                <a:t>m</a:t>
              </a:r>
              <a:r>
                <a:rPr lang="en-US" altLang="ko-KR" b="1" dirty="0" err="1" smtClean="0"/>
                <a:t>yapp</a:t>
              </a:r>
              <a:endParaRPr lang="en-US" altLang="ko-KR" b="1" dirty="0" smtClean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884953" y="2901819"/>
            <a:ext cx="1492146" cy="554110"/>
            <a:chOff x="636117" y="2486640"/>
            <a:chExt cx="1492146" cy="554110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636117" y="2486640"/>
              <a:ext cx="1394215" cy="5541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2486640"/>
              <a:ext cx="509773" cy="481817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145890" y="2558271"/>
              <a:ext cx="982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err="1"/>
                <a:t>m</a:t>
              </a:r>
              <a:r>
                <a:rPr lang="en-US" altLang="ko-KR" b="1" dirty="0" err="1" smtClean="0"/>
                <a:t>yapp</a:t>
              </a:r>
              <a:endParaRPr lang="en-US" altLang="ko-KR" b="1" dirty="0" smtClean="0"/>
            </a:p>
          </p:txBody>
        </p:sp>
      </p:grpSp>
      <p:cxnSp>
        <p:nvCxnSpPr>
          <p:cNvPr id="33" name="꺾인 연결선 32"/>
          <p:cNvCxnSpPr>
            <a:stCxn id="13" idx="2"/>
            <a:endCxn id="16" idx="0"/>
          </p:cNvCxnSpPr>
          <p:nvPr/>
        </p:nvCxnSpPr>
        <p:spPr>
          <a:xfrm rot="5400000">
            <a:off x="1648759" y="1613694"/>
            <a:ext cx="993350" cy="162441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endCxn id="18" idx="0"/>
          </p:cNvCxnSpPr>
          <p:nvPr/>
        </p:nvCxnSpPr>
        <p:spPr>
          <a:xfrm rot="16200000" flipH="1">
            <a:off x="2502100" y="2456401"/>
            <a:ext cx="911084" cy="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13" idx="2"/>
            <a:endCxn id="22" idx="0"/>
          </p:cNvCxnSpPr>
          <p:nvPr/>
        </p:nvCxnSpPr>
        <p:spPr>
          <a:xfrm rot="16200000" flipH="1">
            <a:off x="3283555" y="1603313"/>
            <a:ext cx="972592" cy="16244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Taints &amp; Tolerations(1/2)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가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배치 안되게 제외 시킬 수 있는 기능이다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Tolerations </a:t>
            </a:r>
            <a:r>
              <a:rPr lang="ko-KR" altLang="en-US" sz="1400" dirty="0" smtClean="0"/>
              <a:t>설정이 있는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만 </a:t>
            </a:r>
            <a:r>
              <a:rPr lang="en-US" altLang="ko-KR" sz="1400" dirty="0" smtClean="0"/>
              <a:t>Taints</a:t>
            </a:r>
            <a:r>
              <a:rPr lang="ko-KR" altLang="en-US" sz="1400" dirty="0" smtClean="0"/>
              <a:t>가 설정된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배치 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1106556" y="3018712"/>
            <a:ext cx="2256330" cy="3128803"/>
            <a:chOff x="711199" y="2665940"/>
            <a:chExt cx="2256330" cy="3128803"/>
          </a:xfrm>
          <a:solidFill>
            <a:schemeClr val="bg1">
              <a:lumMod val="50000"/>
            </a:schemeClr>
          </a:solidFill>
        </p:grpSpPr>
        <p:sp>
          <p:nvSpPr>
            <p:cNvPr id="12" name="직사각형 11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  <a:grpFill/>
          </p:spPr>
        </p:pic>
        <p:sp>
          <p:nvSpPr>
            <p:cNvPr id="14" name="TextBox 13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511816" y="3018711"/>
            <a:ext cx="2256330" cy="3128803"/>
            <a:chOff x="711199" y="2665940"/>
            <a:chExt cx="2256330" cy="3128803"/>
          </a:xfrm>
        </p:grpSpPr>
        <p:sp>
          <p:nvSpPr>
            <p:cNvPr id="21" name="직사각형 20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917077" y="3018711"/>
            <a:ext cx="2256330" cy="3128803"/>
            <a:chOff x="711199" y="2665940"/>
            <a:chExt cx="2256330" cy="3128803"/>
          </a:xfrm>
        </p:grpSpPr>
        <p:sp>
          <p:nvSpPr>
            <p:cNvPr id="25" name="직사각형 24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3954052" y="1521507"/>
            <a:ext cx="1272140" cy="810726"/>
            <a:chOff x="5203089" y="3315525"/>
            <a:chExt cx="1272140" cy="810726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5203089" y="3315525"/>
              <a:ext cx="1272139" cy="8107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8740" y="3422961"/>
              <a:ext cx="614870" cy="58115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5841295" y="3566224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  <a:endParaRPr lang="ko-KR" altLang="en-US" b="1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6037325" y="1514155"/>
            <a:ext cx="1554322" cy="984496"/>
            <a:chOff x="6037325" y="1514155"/>
            <a:chExt cx="1554322" cy="984496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6037325" y="1514155"/>
              <a:ext cx="1469261" cy="9844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2976" y="1621591"/>
              <a:ext cx="614870" cy="581151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675531" y="1764854"/>
              <a:ext cx="9161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  <a:p>
              <a:r>
                <a:rPr lang="en-US" altLang="ko-KR" sz="1200" dirty="0" smtClean="0"/>
                <a:t>toleration</a:t>
              </a:r>
              <a:endParaRPr lang="ko-KR" altLang="en-US" sz="1400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343413" y="4427220"/>
            <a:ext cx="1729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Taints</a:t>
            </a:r>
            <a:r>
              <a:rPr lang="ko-KR" altLang="en-US" sz="1200" dirty="0" smtClean="0"/>
              <a:t>가 설정된 </a:t>
            </a:r>
            <a:r>
              <a:rPr lang="en-US" altLang="ko-KR" sz="1200" dirty="0" smtClean="0"/>
              <a:t>Node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59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8.33333E-7 1.11111E-6 C -0.00208 0.00254 -0.0039 0.00578 -0.00612 0.00763 C -0.0095 0.01041 -0.01315 0.0118 -0.01667 0.01388 C -0.01745 0.01435 -0.01836 0.01481 -0.01927 0.01527 C -0.02161 0.01689 -0.02383 0.01875 -0.02617 0.02013 C -0.02734 0.0206 -0.02864 0.02083 -0.02969 0.02152 C -0.03216 0.02338 -0.03424 0.02592 -0.03672 0.02777 C -0.0418 0.03171 -0.04739 0.03426 -0.05234 0.03865 C -0.05963 0.04513 -0.0664 0.05162 -0.07422 0.05578 C -0.0845 0.06111 -0.09531 0.06365 -0.1056 0.06967 C -0.10651 0.07013 -0.10742 0.0706 -0.1082 0.07129 C -0.11836 0.07939 -0.11719 0.07939 -0.12734 0.09143 L -0.13008 0.09444 C -0.1306 0.09606 -0.13112 0.09768 -0.13177 0.09907 C -0.13255 0.10069 -0.13372 0.10185 -0.13437 0.1037 C -0.13528 0.10648 -0.13515 0.11041 -0.13607 0.11296 C -0.13828 0.11875 -0.13737 0.11597 -0.13867 0.12083 L 0.08985 0.38287 " pathEditMode="relative" ptsTypes="AAAAAAAAAAAAAAAAA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9259E-6 L -0.37656 0.4780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28" y="2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Taints &amp; Tolerations(2/2)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추가 명령어</a:t>
            </a:r>
            <a:endParaRPr lang="en-US" altLang="ko-KR" sz="1400" dirty="0" smtClean="0"/>
          </a:p>
        </p:txBody>
      </p:sp>
      <p:sp>
        <p:nvSpPr>
          <p:cNvPr id="41" name="TextBox 5"/>
          <p:cNvSpPr txBox="1"/>
          <p:nvPr/>
        </p:nvSpPr>
        <p:spPr>
          <a:xfrm>
            <a:off x="743392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taint nodes node1 key1=value1:NoSchedule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392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확인 명령어</a:t>
            </a:r>
            <a:endParaRPr lang="en-US" altLang="ko-KR" sz="1400" dirty="0" smtClean="0"/>
          </a:p>
        </p:txBody>
      </p:sp>
      <p:sp>
        <p:nvSpPr>
          <p:cNvPr id="48" name="TextBox 5"/>
          <p:cNvSpPr txBox="1"/>
          <p:nvPr/>
        </p:nvSpPr>
        <p:spPr>
          <a:xfrm>
            <a:off x="743392" y="163878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describes node worker1 |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grep</a:t>
            </a:r>
            <a:r>
              <a:rPr lang="en-US" altLang="ko-KR" sz="1200" dirty="0" smtClean="0">
                <a:solidFill>
                  <a:schemeClr val="bg1"/>
                </a:solidFill>
              </a:rPr>
              <a:t> 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</a:t>
            </a:r>
            <a:r>
              <a:rPr lang="en-US" altLang="ko-KR" sz="1200" dirty="0" smtClean="0">
                <a:solidFill>
                  <a:schemeClr val="bg1"/>
                </a:solidFill>
              </a:rPr>
              <a:t> taint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5585" y="19773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삭제 명령어</a:t>
            </a:r>
            <a:endParaRPr lang="en-US" altLang="ko-KR" sz="1400" dirty="0" smtClean="0"/>
          </a:p>
        </p:txBody>
      </p:sp>
      <p:sp>
        <p:nvSpPr>
          <p:cNvPr id="50" name="TextBox 5"/>
          <p:cNvSpPr txBox="1"/>
          <p:nvPr/>
        </p:nvSpPr>
        <p:spPr>
          <a:xfrm>
            <a:off x="743392" y="2285113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taint nodes node1 </a:t>
            </a:r>
            <a:r>
              <a:rPr lang="en-US" altLang="ko-KR" sz="1200" dirty="0" smtClean="0">
                <a:solidFill>
                  <a:schemeClr val="bg1"/>
                </a:solidFill>
              </a:rPr>
              <a:t>key1=value1:NoSchedule-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5585" y="259289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Tolertaion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 예시</a:t>
            </a:r>
            <a:endParaRPr lang="en-US" altLang="ko-KR" sz="1400" dirty="0" smtClean="0"/>
          </a:p>
        </p:txBody>
      </p:sp>
      <p:grpSp>
        <p:nvGrpSpPr>
          <p:cNvPr id="57" name="그룹 56"/>
          <p:cNvGrpSpPr/>
          <p:nvPr/>
        </p:nvGrpSpPr>
        <p:grpSpPr>
          <a:xfrm>
            <a:off x="743392" y="2931445"/>
            <a:ext cx="4753936" cy="3139321"/>
            <a:chOff x="6368902" y="1495806"/>
            <a:chExt cx="4753936" cy="3139321"/>
          </a:xfrm>
        </p:grpSpPr>
        <p:sp>
          <p:nvSpPr>
            <p:cNvPr id="58" name="TextBox 3"/>
            <p:cNvSpPr txBox="1"/>
            <p:nvPr/>
          </p:nvSpPr>
          <p:spPr>
            <a:xfrm>
              <a:off x="6368903" y="1772805"/>
              <a:ext cx="4753935" cy="2862322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  <a:p>
              <a:r>
                <a:rPr lang="en-US" altLang="ko-KR" sz="1200" dirty="0"/>
                <a:t>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tolerations: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- key: “key1”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operator: “Equal”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value: “value1”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effect: “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NoSchedule</a:t>
              </a:r>
              <a:r>
                <a:rPr lang="en-US" altLang="ko-KR" sz="1200" dirty="0">
                  <a:solidFill>
                    <a:srgbClr val="FF0000"/>
                  </a:solidFill>
                </a:rPr>
                <a:t>”</a:t>
              </a:r>
            </a:p>
          </p:txBody>
        </p:sp>
        <p:sp>
          <p:nvSpPr>
            <p:cNvPr id="59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toleration.yaml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598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NodeSelector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 </a:t>
            </a:r>
            <a:r>
              <a:rPr lang="en-US" altLang="ko-KR" sz="1400" dirty="0" err="1" smtClean="0"/>
              <a:t>Lable</a:t>
            </a:r>
            <a:r>
              <a:rPr lang="ko-KR" altLang="en-US" sz="1400" dirty="0" smtClean="0"/>
              <a:t>을 이용하여 지정된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서비스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배치 할 수 있다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1106556" y="3018712"/>
            <a:ext cx="2256330" cy="3128803"/>
            <a:chOff x="711199" y="2665940"/>
            <a:chExt cx="2256330" cy="3128803"/>
          </a:xfrm>
          <a:solidFill>
            <a:schemeClr val="bg1">
              <a:lumMod val="95000"/>
            </a:schemeClr>
          </a:solidFill>
        </p:grpSpPr>
        <p:sp>
          <p:nvSpPr>
            <p:cNvPr id="12" name="직사각형 11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  <a:grpFill/>
          </p:spPr>
        </p:pic>
        <p:sp>
          <p:nvSpPr>
            <p:cNvPr id="14" name="TextBox 13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511816" y="3018711"/>
            <a:ext cx="2256330" cy="3128803"/>
            <a:chOff x="711199" y="2665940"/>
            <a:chExt cx="2256330" cy="3128803"/>
          </a:xfrm>
        </p:grpSpPr>
        <p:sp>
          <p:nvSpPr>
            <p:cNvPr id="21" name="직사각형 20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917077" y="3018711"/>
            <a:ext cx="2256330" cy="3128803"/>
            <a:chOff x="711199" y="2665940"/>
            <a:chExt cx="2256330" cy="3128803"/>
          </a:xfrm>
        </p:grpSpPr>
        <p:sp>
          <p:nvSpPr>
            <p:cNvPr id="25" name="직사각형 24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370075" y="3818175"/>
            <a:ext cx="1729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Role: business</a:t>
            </a:r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75336" y="3818175"/>
            <a:ext cx="1729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Role: infra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8180596" y="3818175"/>
            <a:ext cx="1729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Role: common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4442249" y="1304867"/>
            <a:ext cx="2395464" cy="1023156"/>
            <a:chOff x="2234721" y="1517296"/>
            <a:chExt cx="2395464" cy="1023156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2234721" y="1517296"/>
              <a:ext cx="2277095" cy="1023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372" y="1624733"/>
              <a:ext cx="614870" cy="58115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2872927" y="1767996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900893" y="2078787"/>
              <a:ext cx="17292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 smtClean="0"/>
                <a:t>nodeSelector</a:t>
              </a:r>
              <a:r>
                <a:rPr lang="en-US" altLang="ko-KR" sz="1200" dirty="0" smtClean="0"/>
                <a:t>:</a:t>
              </a:r>
            </a:p>
            <a:p>
              <a:r>
                <a:rPr lang="en-US" altLang="ko-KR" sz="1200" dirty="0" smtClean="0"/>
                <a:t>  Role: business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86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81481E-6 L -0.27409 0.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11" y="2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NodeSelector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 Label </a:t>
            </a:r>
            <a:r>
              <a:rPr lang="ko-KR" altLang="en-US" sz="1400" dirty="0" smtClean="0"/>
              <a:t>추가 명령어</a:t>
            </a:r>
            <a:endParaRPr lang="en-US" altLang="ko-KR" sz="1400" dirty="0" smtClean="0"/>
          </a:p>
        </p:txBody>
      </p:sp>
      <p:sp>
        <p:nvSpPr>
          <p:cNvPr id="28" name="TextBox 5"/>
          <p:cNvSpPr txBox="1"/>
          <p:nvPr/>
        </p:nvSpPr>
        <p:spPr>
          <a:xfrm>
            <a:off x="743392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 nodes node01 role=business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199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NodeSelector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 예시</a:t>
            </a:r>
            <a:endParaRPr lang="en-US" altLang="ko-KR" sz="1400" dirty="0" smtClean="0"/>
          </a:p>
        </p:txBody>
      </p:sp>
      <p:grpSp>
        <p:nvGrpSpPr>
          <p:cNvPr id="31" name="그룹 30"/>
          <p:cNvGrpSpPr/>
          <p:nvPr/>
        </p:nvGrpSpPr>
        <p:grpSpPr>
          <a:xfrm>
            <a:off x="743391" y="1638781"/>
            <a:ext cx="4753937" cy="2585323"/>
            <a:chOff x="6368901" y="1495806"/>
            <a:chExt cx="4753937" cy="2585323"/>
          </a:xfrm>
        </p:grpSpPr>
        <p:sp>
          <p:nvSpPr>
            <p:cNvPr id="32" name="TextBox 3"/>
            <p:cNvSpPr txBox="1"/>
            <p:nvPr/>
          </p:nvSpPr>
          <p:spPr>
            <a:xfrm>
              <a:off x="6368903" y="1772805"/>
              <a:ext cx="4753935" cy="230832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  <a:p>
              <a:r>
                <a:rPr lang="en-US" altLang="ko-KR" sz="1200" dirty="0"/>
                <a:t>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nodeSelector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role: business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6368901" y="1495806"/>
              <a:ext cx="152134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nodeSelector.yaml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94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NodeAffinity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여러 조건을 사용하여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서비스를 배치한다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nodeAffinity</a:t>
            </a:r>
            <a:endParaRPr lang="en-US" altLang="ko-KR" sz="1400" dirty="0" smtClean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76928"/>
              </p:ext>
            </p:extLst>
          </p:nvPr>
        </p:nvGraphicFramePr>
        <p:xfrm>
          <a:off x="828156" y="1302790"/>
          <a:ext cx="10922000" cy="16231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26886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7295114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baseline="0" dirty="0" err="1" smtClean="0"/>
                        <a:t>requiredDuringSchedulingIgnoredDuringExecution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일치하는 라벨이 없는 경우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노드에 스케줄링 하지 않음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실행중인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파드는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노드 라벨이 변경되어도 계속 실행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1" baseline="0" dirty="0" err="1" smtClean="0"/>
                        <a:t>preferrededDuringSchedulingIgnoredDuringExecution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일치하는 라벨이 없어도 다른 노드에 스케줄링 함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실행중인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파드는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노드 라벨이 변경되어도 계속 실행 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r>
                        <a:rPr lang="en-US" altLang="ko-KR" sz="1100" b="1" baseline="0" dirty="0" err="1" smtClean="0"/>
                        <a:t>requiredDuringSchedulingRequiredDuringExecution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라벨이 변경되는 경우 기존 실행중인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파드를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노드에서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쫒아낸다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11199" y="301369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operator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177928"/>
              </p:ext>
            </p:extLst>
          </p:nvPr>
        </p:nvGraphicFramePr>
        <p:xfrm>
          <a:off x="828156" y="3321472"/>
          <a:ext cx="10922000" cy="206361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3537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9368463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operator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baseline="0" dirty="0" smtClean="0"/>
                        <a:t>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값은 문자열 집합체에 존재한다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err="1" smtClean="0"/>
                        <a:t>NotIn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값은 문자열 집합체에 포함되지 않는다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smtClean="0"/>
                        <a:t>Exists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값이 존재한다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err="1" smtClean="0"/>
                        <a:t>DoesNotExist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값이 존재하지 않는다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87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11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NodeAffinity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nodeAffinity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설정 예시</a:t>
            </a:r>
            <a:endParaRPr lang="en-US" altLang="ko-KR" sz="14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966379" y="1061699"/>
            <a:ext cx="4753937" cy="4062651"/>
            <a:chOff x="6368901" y="1495806"/>
            <a:chExt cx="4753937" cy="4062651"/>
          </a:xfrm>
        </p:grpSpPr>
        <p:sp>
          <p:nvSpPr>
            <p:cNvPr id="29" name="TextBox 3"/>
            <p:cNvSpPr txBox="1"/>
            <p:nvPr/>
          </p:nvSpPr>
          <p:spPr>
            <a:xfrm>
              <a:off x="6368903" y="1772805"/>
              <a:ext cx="4753935" cy="3785652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  <a:p>
              <a:r>
                <a:rPr lang="en-US" altLang="ko-KR" sz="1200" dirty="0"/>
                <a:t>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affinity: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nodeAffinity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requiredDuringSchedulingIgnoredDuringExecution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nodeSelectorTerms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matchExpressions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- key: role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operator: In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values: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-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business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  - infra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6368901" y="1495806"/>
              <a:ext cx="159606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nodeAffinity.yaml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12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 Request &amp; Limit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Request</a:t>
            </a:r>
            <a:r>
              <a:rPr lang="ko-KR" altLang="en-US" sz="1400" dirty="0" smtClean="0"/>
              <a:t>를 사용하여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처음 배치 될 때 요구되는 </a:t>
            </a:r>
            <a:r>
              <a:rPr lang="en-US" altLang="ko-KR" sz="1400" dirty="0" smtClean="0"/>
              <a:t>CPU </a:t>
            </a:r>
            <a:r>
              <a:rPr lang="ko-KR" altLang="en-US" sz="1400" dirty="0" smtClean="0"/>
              <a:t>및 </a:t>
            </a:r>
            <a:r>
              <a:rPr lang="en-US" altLang="ko-KR" sz="1400" dirty="0" smtClean="0"/>
              <a:t>Memory</a:t>
            </a:r>
            <a:r>
              <a:rPr lang="ko-KR" altLang="en-US" sz="1400" dirty="0" smtClean="0"/>
              <a:t>를 설정할 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Limit</a:t>
            </a:r>
            <a:r>
              <a:rPr lang="ko-KR" altLang="en-US" sz="1400" dirty="0" smtClean="0"/>
              <a:t>를 사용하여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사용하는 </a:t>
            </a:r>
            <a:r>
              <a:rPr lang="en-US" altLang="ko-KR" sz="1400" dirty="0" smtClean="0"/>
              <a:t>Resource</a:t>
            </a:r>
            <a:r>
              <a:rPr lang="ko-KR" altLang="en-US" sz="1400" dirty="0" smtClean="0"/>
              <a:t>를 제한할 수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5358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Node01</a:t>
            </a:r>
            <a:endParaRPr lang="ko-KR" altLang="en-US" b="1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126075" y="1419482"/>
            <a:ext cx="2395464" cy="1023156"/>
            <a:chOff x="2234721" y="1517296"/>
            <a:chExt cx="2395464" cy="1023156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2234721" y="1517296"/>
              <a:ext cx="2277095" cy="1023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372" y="1624733"/>
              <a:ext cx="614870" cy="581151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2872927" y="1767996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00893" y="2078787"/>
              <a:ext cx="17292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CPU : 2</a:t>
              </a:r>
            </a:p>
            <a:p>
              <a:r>
                <a:rPr lang="en-US" altLang="ko-KR" sz="1200" dirty="0" smtClean="0"/>
                <a:t>Memory : 4Gi </a:t>
              </a:r>
              <a:endParaRPr lang="ko-KR" altLang="en-US" dirty="0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336194"/>
              </p:ext>
            </p:extLst>
          </p:nvPr>
        </p:nvGraphicFramePr>
        <p:xfrm>
          <a:off x="873051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112847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Node02</a:t>
            </a:r>
            <a:endParaRPr lang="ko-KR" altLang="en-US" b="1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22491"/>
              </p:ext>
            </p:extLst>
          </p:nvPr>
        </p:nvGraphicFramePr>
        <p:xfrm>
          <a:off x="4390540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30336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Node03</a:t>
            </a:r>
            <a:endParaRPr lang="ko-KR" altLang="en-US" b="1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29763"/>
              </p:ext>
            </p:extLst>
          </p:nvPr>
        </p:nvGraphicFramePr>
        <p:xfrm>
          <a:off x="7908029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cxnSp>
        <p:nvCxnSpPr>
          <p:cNvPr id="5" name="직선 화살표 연결선 4"/>
          <p:cNvCxnSpPr>
            <a:stCxn id="13" idx="2"/>
            <a:endCxn id="2" idx="0"/>
          </p:cNvCxnSpPr>
          <p:nvPr/>
        </p:nvCxnSpPr>
        <p:spPr>
          <a:xfrm>
            <a:off x="2264623" y="2442637"/>
            <a:ext cx="6019" cy="5796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83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 Request &amp; Limit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Request</a:t>
            </a:r>
            <a:r>
              <a:rPr lang="ko-KR" altLang="en-US" sz="1400" dirty="0" smtClean="0"/>
              <a:t>를 사용하여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처음 배치 될 때 요구되는 </a:t>
            </a:r>
            <a:r>
              <a:rPr lang="en-US" altLang="ko-KR" sz="1400" dirty="0" smtClean="0"/>
              <a:t>CPU </a:t>
            </a:r>
            <a:r>
              <a:rPr lang="ko-KR" altLang="en-US" sz="1400" dirty="0" smtClean="0"/>
              <a:t>및 </a:t>
            </a:r>
            <a:r>
              <a:rPr lang="en-US" altLang="ko-KR" sz="1400" dirty="0" smtClean="0"/>
              <a:t>Memory</a:t>
            </a:r>
            <a:r>
              <a:rPr lang="ko-KR" altLang="en-US" sz="1400" dirty="0" smtClean="0"/>
              <a:t>를 설정할 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Limit</a:t>
            </a:r>
            <a:r>
              <a:rPr lang="ko-KR" altLang="en-US" sz="1400" dirty="0" smtClean="0"/>
              <a:t>를 사용하여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사용하는 </a:t>
            </a:r>
            <a:r>
              <a:rPr lang="en-US" altLang="ko-KR" sz="1400" dirty="0" smtClean="0"/>
              <a:t>Resource</a:t>
            </a:r>
            <a:r>
              <a:rPr lang="ko-KR" altLang="en-US" sz="1400" dirty="0" smtClean="0"/>
              <a:t>를 제한할 수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5358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Node01</a:t>
            </a:r>
            <a:endParaRPr lang="ko-KR" altLang="en-US" b="1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126075" y="1419482"/>
            <a:ext cx="2277095" cy="1023155"/>
          </a:xfrm>
          <a:prstGeom prst="roundRect">
            <a:avLst/>
          </a:prstGeom>
          <a:solidFill>
            <a:schemeClr val="bg1"/>
          </a:solidFill>
          <a:ln>
            <a:solidFill>
              <a:srgbClr val="7D9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6" b="96373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26" y="1526919"/>
            <a:ext cx="614870" cy="5811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64281" y="1670182"/>
            <a:ext cx="633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7896" y="1994854"/>
            <a:ext cx="135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CPU : 2</a:t>
            </a:r>
          </a:p>
          <a:p>
            <a:r>
              <a:rPr lang="en-US" altLang="ko-KR" sz="1200" dirty="0" smtClean="0"/>
              <a:t>Memory : 4Gi 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51175"/>
              </p:ext>
            </p:extLst>
          </p:nvPr>
        </p:nvGraphicFramePr>
        <p:xfrm>
          <a:off x="873051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112847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Node02</a:t>
            </a:r>
            <a:endParaRPr lang="ko-KR" altLang="en-US" b="1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362322"/>
              </p:ext>
            </p:extLst>
          </p:nvPr>
        </p:nvGraphicFramePr>
        <p:xfrm>
          <a:off x="4390540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30336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Node03</a:t>
            </a:r>
            <a:endParaRPr lang="ko-KR" altLang="en-US" b="1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7908029" y="3022314"/>
          <a:ext cx="27951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9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139759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cxnSp>
        <p:nvCxnSpPr>
          <p:cNvPr id="9" name="꺾인 연결선 8"/>
          <p:cNvCxnSpPr>
            <a:stCxn id="13" idx="2"/>
            <a:endCxn id="18" idx="0"/>
          </p:cNvCxnSpPr>
          <p:nvPr/>
        </p:nvCxnSpPr>
        <p:spPr>
          <a:xfrm rot="16200000" flipH="1">
            <a:off x="3736539" y="970721"/>
            <a:ext cx="579677" cy="35235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2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 Request &amp; Limit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828" y="5055546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</a:t>
            </a:r>
            <a:endParaRPr lang="ko-KR" altLang="en-US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49105"/>
              </p:ext>
            </p:extLst>
          </p:nvPr>
        </p:nvGraphicFramePr>
        <p:xfrm>
          <a:off x="873051" y="2830925"/>
          <a:ext cx="18921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06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4606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37619" y="1508985"/>
            <a:ext cx="1562986" cy="3402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NO REQUESTS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1037619" y="1925198"/>
            <a:ext cx="1562986" cy="3402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NO LIMITS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035884" y="5055546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</a:t>
            </a:r>
            <a:endParaRPr lang="ko-KR" altLang="en-US" b="1" dirty="0"/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07072"/>
              </p:ext>
            </p:extLst>
          </p:nvPr>
        </p:nvGraphicFramePr>
        <p:xfrm>
          <a:off x="3765107" y="2830925"/>
          <a:ext cx="18921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06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4606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3929675" y="1508985"/>
            <a:ext cx="1562986" cy="3402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NO REQUESTS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3929675" y="1925198"/>
            <a:ext cx="1562986" cy="3402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LIMITS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927940" y="5055546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</a:t>
            </a:r>
            <a:endParaRPr lang="ko-KR" altLang="en-US" b="1" dirty="0"/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24548"/>
              </p:ext>
            </p:extLst>
          </p:nvPr>
        </p:nvGraphicFramePr>
        <p:xfrm>
          <a:off x="6657163" y="2830925"/>
          <a:ext cx="18921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06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4606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>
          <a:xfrm>
            <a:off x="6821731" y="1508985"/>
            <a:ext cx="1562986" cy="340242"/>
          </a:xfrm>
          <a:prstGeom prst="rect">
            <a:avLst/>
          </a:prstGeom>
          <a:solidFill>
            <a:srgbClr val="5B9BD5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REQUESTS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6821731" y="1925198"/>
            <a:ext cx="1562986" cy="340242"/>
          </a:xfrm>
          <a:prstGeom prst="rect">
            <a:avLst/>
          </a:prstGeom>
          <a:solidFill>
            <a:srgbClr val="5B9BD5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LIMITS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9761637" y="5055546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</a:t>
            </a:r>
            <a:endParaRPr lang="ko-KR" altLang="en-US" b="1" dirty="0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71317"/>
              </p:ext>
            </p:extLst>
          </p:nvPr>
        </p:nvGraphicFramePr>
        <p:xfrm>
          <a:off x="9490860" y="2830925"/>
          <a:ext cx="18921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061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46061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48" name="직사각형 47"/>
          <p:cNvSpPr/>
          <p:nvPr/>
        </p:nvSpPr>
        <p:spPr>
          <a:xfrm>
            <a:off x="9655428" y="1508985"/>
            <a:ext cx="1562986" cy="340242"/>
          </a:xfrm>
          <a:prstGeom prst="rect">
            <a:avLst/>
          </a:prstGeom>
          <a:solidFill>
            <a:srgbClr val="5B9BD5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REQUESTS</a:t>
            </a:r>
            <a:endParaRPr lang="ko-KR" altLang="en-US" dirty="0"/>
          </a:p>
        </p:txBody>
      </p:sp>
      <p:sp>
        <p:nvSpPr>
          <p:cNvPr id="49" name="직사각형 48"/>
          <p:cNvSpPr/>
          <p:nvPr/>
        </p:nvSpPr>
        <p:spPr>
          <a:xfrm>
            <a:off x="9655428" y="1925198"/>
            <a:ext cx="1562986" cy="3402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NO LIMITS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093667"/>
              </p:ext>
            </p:extLst>
          </p:nvPr>
        </p:nvGraphicFramePr>
        <p:xfrm>
          <a:off x="2998383" y="3943445"/>
          <a:ext cx="7402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4">
                  <a:extLst>
                    <a:ext uri="{9D8B030D-6E8A-4147-A177-3AD203B41FA5}">
                      <a16:colId xmlns:a16="http://schemas.microsoft.com/office/drawing/2014/main" val="2943788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rgbClr val="5B9BD5"/>
                          </a:solidFill>
                        </a:rPr>
                        <a:t>3 vCPU</a:t>
                      </a:r>
                      <a:endParaRPr lang="ko-KR" altLang="en-US" sz="1200" b="1" dirty="0">
                        <a:solidFill>
                          <a:srgbClr val="5B9BD5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378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3671" y="5467561"/>
            <a:ext cx="211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</a:t>
            </a:r>
            <a:r>
              <a:rPr lang="en-US" altLang="ko-KR" sz="1400" dirty="0" smtClean="0"/>
              <a:t>equests = limits</a:t>
            </a:r>
            <a:endParaRPr lang="ko-KR" altLang="en-US" sz="1400" dirty="0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512827"/>
              </p:ext>
            </p:extLst>
          </p:nvPr>
        </p:nvGraphicFramePr>
        <p:xfrm>
          <a:off x="5895633" y="3943445"/>
          <a:ext cx="7402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4">
                  <a:extLst>
                    <a:ext uri="{9D8B030D-6E8A-4147-A177-3AD203B41FA5}">
                      <a16:colId xmlns:a16="http://schemas.microsoft.com/office/drawing/2014/main" val="2943788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rgbClr val="5B9BD5"/>
                          </a:solidFill>
                        </a:rPr>
                        <a:t>3 vCPU</a:t>
                      </a:r>
                      <a:endParaRPr lang="ko-KR" altLang="en-US" sz="1200" b="1" dirty="0">
                        <a:solidFill>
                          <a:srgbClr val="5B9BD5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37805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17261"/>
              </p:ext>
            </p:extLst>
          </p:nvPr>
        </p:nvGraphicFramePr>
        <p:xfrm>
          <a:off x="5895633" y="4684706"/>
          <a:ext cx="7402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4">
                  <a:extLst>
                    <a:ext uri="{9D8B030D-6E8A-4147-A177-3AD203B41FA5}">
                      <a16:colId xmlns:a16="http://schemas.microsoft.com/office/drawing/2014/main" val="2943788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rgbClr val="5B9BD5"/>
                          </a:solidFill>
                        </a:rPr>
                        <a:t>1 vCPU</a:t>
                      </a:r>
                      <a:endParaRPr lang="ko-KR" altLang="en-US" sz="1200" b="1" dirty="0">
                        <a:solidFill>
                          <a:srgbClr val="5B9BD5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37805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4343"/>
              </p:ext>
            </p:extLst>
          </p:nvPr>
        </p:nvGraphicFramePr>
        <p:xfrm>
          <a:off x="8729330" y="4684706"/>
          <a:ext cx="7402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4">
                  <a:extLst>
                    <a:ext uri="{9D8B030D-6E8A-4147-A177-3AD203B41FA5}">
                      <a16:colId xmlns:a16="http://schemas.microsoft.com/office/drawing/2014/main" val="2943788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rgbClr val="5B9BD5"/>
                          </a:solidFill>
                        </a:rPr>
                        <a:t>1 vCPU</a:t>
                      </a:r>
                      <a:endParaRPr lang="ko-KR" altLang="en-US" sz="1200" b="1" dirty="0">
                        <a:solidFill>
                          <a:srgbClr val="5B9BD5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37805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</a:t>
            </a:r>
            <a:r>
              <a:rPr lang="ko-KR" altLang="en-US" sz="1400" dirty="0" smtClean="0"/>
              <a:t>동작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30665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Resource Request &amp; Limit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Request &amp; Limit</a:t>
            </a:r>
            <a:r>
              <a:rPr lang="ko-KR" altLang="en-US" sz="1400" dirty="0" smtClean="0"/>
              <a:t>를 적용한 </a:t>
            </a: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400" dirty="0" smtClean="0"/>
          </a:p>
        </p:txBody>
      </p:sp>
      <p:grpSp>
        <p:nvGrpSpPr>
          <p:cNvPr id="3" name="그룹 2"/>
          <p:cNvGrpSpPr/>
          <p:nvPr/>
        </p:nvGrpSpPr>
        <p:grpSpPr>
          <a:xfrm>
            <a:off x="804421" y="1061699"/>
            <a:ext cx="10838341" cy="3508653"/>
            <a:chOff x="676830" y="1536174"/>
            <a:chExt cx="10838341" cy="3508653"/>
          </a:xfrm>
        </p:grpSpPr>
        <p:sp>
          <p:nvSpPr>
            <p:cNvPr id="26" name="TextBox 7"/>
            <p:cNvSpPr txBox="1"/>
            <p:nvPr/>
          </p:nvSpPr>
          <p:spPr>
            <a:xfrm>
              <a:off x="676830" y="1813173"/>
              <a:ext cx="10838341" cy="323165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Pod </a:t>
              </a:r>
            </a:p>
            <a:p>
              <a:pPr algn="l"/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spec: </a:t>
              </a:r>
            </a:p>
            <a:p>
              <a:pPr algn="l"/>
              <a:r>
                <a:rPr lang="en-US" altLang="ko-KR" sz="1200" dirty="0"/>
                <a:t>  containers: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    ports:</a:t>
              </a:r>
            </a:p>
            <a:p>
              <a:pPr algn="l"/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8080</a:t>
              </a:r>
            </a:p>
            <a:p>
              <a:pPr algn="l"/>
              <a:r>
                <a:rPr lang="en-US" altLang="ko-KR" sz="1200" dirty="0"/>
                <a:t>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resources: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requests: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cpu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10m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momory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“500mi”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limits: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cpu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100m</a:t>
              </a: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        memory: “1gi”</a:t>
              </a:r>
            </a:p>
          </p:txBody>
        </p:sp>
        <p:sp>
          <p:nvSpPr>
            <p:cNvPr id="27" name="TextBox 3"/>
            <p:cNvSpPr txBox="1"/>
            <p:nvPr/>
          </p:nvSpPr>
          <p:spPr>
            <a:xfrm>
              <a:off x="676830" y="1536174"/>
              <a:ext cx="159606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Resource_pod.yaml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04421" y="4593435"/>
            <a:ext cx="30940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CPU m </a:t>
            </a:r>
            <a:r>
              <a:rPr lang="ko-KR" altLang="en-US" sz="1000" b="1" dirty="0" smtClean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단위는 </a:t>
            </a:r>
            <a:r>
              <a:rPr lang="en-US" altLang="ko-KR" sz="1000" b="1" dirty="0" smtClean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1/1000 core</a:t>
            </a:r>
            <a:r>
              <a:rPr lang="ko-KR" altLang="en-US" sz="1000" b="1" dirty="0" smtClean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의미</a:t>
            </a:r>
            <a:endParaRPr lang="ko-KR" altLang="en-US" sz="1000" b="1" dirty="0">
              <a:solidFill>
                <a:srgbClr val="00B05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38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DaemonSet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각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개씩 생성한다</a:t>
            </a:r>
            <a:r>
              <a:rPr lang="en-US" altLang="ko-KR" sz="1400" dirty="0" smtClean="0"/>
              <a:t>. Cluster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가 추가 되면 자동으로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추가 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-proxy, </a:t>
            </a:r>
            <a:r>
              <a:rPr lang="en-US" altLang="ko-KR" sz="1400" dirty="0" err="1" smtClean="0"/>
              <a:t>fluentd</a:t>
            </a:r>
            <a:r>
              <a:rPr lang="ko-KR" altLang="en-US" sz="1400" dirty="0" smtClean="0"/>
              <a:t>와 같은 서비스는 </a:t>
            </a:r>
            <a:r>
              <a:rPr lang="en-US" altLang="ko-KR" sz="1400" dirty="0" err="1" smtClean="0"/>
              <a:t>DaemonSet</a:t>
            </a:r>
            <a:r>
              <a:rPr lang="ko-KR" altLang="en-US" sz="1400" dirty="0" smtClean="0"/>
              <a:t>으로 구성 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4504999" y="1552378"/>
            <a:ext cx="2277095" cy="793513"/>
            <a:chOff x="4209517" y="1386161"/>
            <a:chExt cx="2277095" cy="793513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4209517" y="1386161"/>
              <a:ext cx="2277095" cy="79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47722" y="1636861"/>
              <a:ext cx="13786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 smtClean="0"/>
                <a:t>DaemonSet</a:t>
              </a:r>
              <a:endParaRPr lang="en-US" altLang="ko-KR" sz="1600" b="1" dirty="0" smtClean="0"/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6821" y="1476127"/>
              <a:ext cx="519983" cy="499288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/>
        </p:nvGrpSpPr>
        <p:grpSpPr>
          <a:xfrm>
            <a:off x="1106556" y="3018712"/>
            <a:ext cx="2256330" cy="3128803"/>
            <a:chOff x="711199" y="2665940"/>
            <a:chExt cx="2256330" cy="3128803"/>
          </a:xfrm>
          <a:solidFill>
            <a:schemeClr val="bg1">
              <a:lumMod val="95000"/>
            </a:schemeClr>
          </a:solidFill>
        </p:grpSpPr>
        <p:sp>
          <p:nvSpPr>
            <p:cNvPr id="23" name="직사각형 22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  <a:grpFill/>
          </p:spPr>
        </p:pic>
        <p:sp>
          <p:nvSpPr>
            <p:cNvPr id="25" name="TextBox 24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4515381" y="3018711"/>
            <a:ext cx="2256330" cy="3128803"/>
            <a:chOff x="711199" y="2665940"/>
            <a:chExt cx="2256330" cy="3128803"/>
          </a:xfrm>
        </p:grpSpPr>
        <p:sp>
          <p:nvSpPr>
            <p:cNvPr id="27" name="직사각형 26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7917077" y="3018711"/>
            <a:ext cx="2256330" cy="3128803"/>
            <a:chOff x="711199" y="2665940"/>
            <a:chExt cx="2256330" cy="3128803"/>
          </a:xfrm>
        </p:grpSpPr>
        <p:sp>
          <p:nvSpPr>
            <p:cNvPr id="31" name="직사각형 30"/>
            <p:cNvSpPr/>
            <p:nvPr/>
          </p:nvSpPr>
          <p:spPr>
            <a:xfrm>
              <a:off x="711200" y="2665940"/>
              <a:ext cx="2256329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2665940"/>
              <a:ext cx="714376" cy="649585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425575" y="2815818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303884" y="4079810"/>
            <a:ext cx="1861674" cy="893283"/>
            <a:chOff x="1126075" y="1419482"/>
            <a:chExt cx="1861674" cy="893283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1126075" y="1419482"/>
              <a:ext cx="1861674" cy="8932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726" y="1526919"/>
              <a:ext cx="614870" cy="581151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1764281" y="1670182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4709144" y="4136470"/>
            <a:ext cx="1861674" cy="893283"/>
            <a:chOff x="1126075" y="1419482"/>
            <a:chExt cx="1861674" cy="893283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126075" y="1419482"/>
              <a:ext cx="1861674" cy="8932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726" y="1526919"/>
              <a:ext cx="614870" cy="581151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1764281" y="1670182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8114405" y="4136470"/>
            <a:ext cx="1861674" cy="893283"/>
            <a:chOff x="1126075" y="1419482"/>
            <a:chExt cx="1861674" cy="893283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1126075" y="1419482"/>
              <a:ext cx="1861674" cy="8932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726" y="1526919"/>
              <a:ext cx="614870" cy="581151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1764281" y="1670182"/>
              <a:ext cx="633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</a:p>
          </p:txBody>
        </p:sp>
      </p:grpSp>
      <p:cxnSp>
        <p:nvCxnSpPr>
          <p:cNvPr id="10" name="꺾인 연결선 9"/>
          <p:cNvCxnSpPr>
            <a:stCxn id="13" idx="2"/>
            <a:endCxn id="23" idx="0"/>
          </p:cNvCxnSpPr>
          <p:nvPr/>
        </p:nvCxnSpPr>
        <p:spPr>
          <a:xfrm rot="5400000">
            <a:off x="3602725" y="977889"/>
            <a:ext cx="672821" cy="340882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3" idx="2"/>
            <a:endCxn id="31" idx="0"/>
          </p:cNvCxnSpPr>
          <p:nvPr/>
        </p:nvCxnSpPr>
        <p:spPr>
          <a:xfrm rot="16200000" flipH="1">
            <a:off x="7007985" y="981453"/>
            <a:ext cx="672820" cy="34016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/>
          <p:nvPr/>
        </p:nvCxnSpPr>
        <p:spPr>
          <a:xfrm rot="5400000">
            <a:off x="5307136" y="2682301"/>
            <a:ext cx="672820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4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DaemonSet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DaemonSet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 예시</a:t>
            </a:r>
            <a:endParaRPr lang="en-US" altLang="ko-KR" sz="1400" dirty="0" smtClean="0"/>
          </a:p>
        </p:txBody>
      </p:sp>
      <p:grpSp>
        <p:nvGrpSpPr>
          <p:cNvPr id="79" name="그룹 78"/>
          <p:cNvGrpSpPr/>
          <p:nvPr/>
        </p:nvGrpSpPr>
        <p:grpSpPr>
          <a:xfrm>
            <a:off x="804421" y="1061699"/>
            <a:ext cx="10838341" cy="3693319"/>
            <a:chOff x="676830" y="1536174"/>
            <a:chExt cx="10838341" cy="3693319"/>
          </a:xfrm>
        </p:grpSpPr>
        <p:sp>
          <p:nvSpPr>
            <p:cNvPr id="80" name="TextBox 7"/>
            <p:cNvSpPr txBox="1"/>
            <p:nvPr/>
          </p:nvSpPr>
          <p:spPr>
            <a:xfrm>
              <a:off x="676830" y="1813173"/>
              <a:ext cx="10838341" cy="341632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DaemonSet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daemonset-1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type: app</a:t>
              </a:r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type: app</a:t>
              </a:r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container</a:t>
              </a:r>
            </a:p>
            <a:p>
              <a:r>
                <a:rPr lang="en-US" altLang="ko-KR" sz="1200" dirty="0"/>
                <a:t>        image: </a:t>
              </a:r>
              <a:r>
                <a:rPr lang="en-US" altLang="ko-KR" sz="1200" dirty="0" err="1"/>
                <a:t>kubetm</a:t>
              </a:r>
              <a:r>
                <a:rPr lang="en-US" altLang="ko-KR" sz="1200" dirty="0"/>
                <a:t>/app</a:t>
              </a:r>
            </a:p>
            <a:p>
              <a:r>
                <a:rPr lang="en-US" altLang="ko-KR" sz="1200" dirty="0"/>
                <a:t>  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8080</a:t>
              </a:r>
              <a:endParaRPr lang="en-US" altLang="ko-KR" sz="1200" dirty="0"/>
            </a:p>
          </p:txBody>
        </p:sp>
        <p:sp>
          <p:nvSpPr>
            <p:cNvPr id="81" name="TextBox 3"/>
            <p:cNvSpPr txBox="1"/>
            <p:nvPr/>
          </p:nvSpPr>
          <p:spPr>
            <a:xfrm>
              <a:off x="676830" y="1536174"/>
              <a:ext cx="159606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daemonset.yaml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5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Static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636117" y="1014299"/>
            <a:ext cx="7871791" cy="5274520"/>
            <a:chOff x="636117" y="1014299"/>
            <a:chExt cx="7871791" cy="5274520"/>
          </a:xfrm>
        </p:grpSpPr>
        <p:sp>
          <p:nvSpPr>
            <p:cNvPr id="78" name="직사각형 77"/>
            <p:cNvSpPr/>
            <p:nvPr/>
          </p:nvSpPr>
          <p:spPr>
            <a:xfrm>
              <a:off x="636117" y="1620078"/>
              <a:ext cx="7871791" cy="46687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620079"/>
              <a:ext cx="714376" cy="657435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1350493" y="1771768"/>
              <a:ext cx="2425148" cy="354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81" name="모서리가 둥근 직사각형 80"/>
            <p:cNvSpPr/>
            <p:nvPr/>
          </p:nvSpPr>
          <p:spPr>
            <a:xfrm>
              <a:off x="1197989" y="2477603"/>
              <a:ext cx="3031435" cy="36016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133" y="2477759"/>
              <a:ext cx="549380" cy="505590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2050513" y="2568279"/>
              <a:ext cx="1469505" cy="324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4852948" y="2477603"/>
              <a:ext cx="3031435" cy="36016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6092" y="2477759"/>
              <a:ext cx="549380" cy="505590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5705472" y="2568279"/>
              <a:ext cx="1619680" cy="324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Worker Node</a:t>
              </a:r>
              <a:endParaRPr lang="ko-KR" altLang="en-US" b="1" dirty="0"/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1849001" y="3147328"/>
              <a:ext cx="172940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모서리가 둥근 직사각형 87"/>
            <p:cNvSpPr/>
            <p:nvPr/>
          </p:nvSpPr>
          <p:spPr>
            <a:xfrm>
              <a:off x="2608992" y="4103436"/>
              <a:ext cx="150379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1533141" y="4108338"/>
              <a:ext cx="76408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1580797" y="5060167"/>
              <a:ext cx="2265813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모서리가 둥근 직사각형 90"/>
            <p:cNvSpPr/>
            <p:nvPr/>
          </p:nvSpPr>
          <p:spPr>
            <a:xfrm>
              <a:off x="5503960" y="3147328"/>
              <a:ext cx="172940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kubelet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모서리가 둥근 직사각형 91"/>
            <p:cNvSpPr/>
            <p:nvPr/>
          </p:nvSpPr>
          <p:spPr>
            <a:xfrm>
              <a:off x="5503958" y="4103436"/>
              <a:ext cx="172940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-proxy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모서리가 둥근 직사각형 92"/>
            <p:cNvSpPr/>
            <p:nvPr/>
          </p:nvSpPr>
          <p:spPr>
            <a:xfrm>
              <a:off x="5503959" y="5060167"/>
              <a:ext cx="1729409" cy="358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 Runtime Engine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733495" y="1014299"/>
              <a:ext cx="4576014" cy="546144"/>
              <a:chOff x="733495" y="1014299"/>
              <a:chExt cx="4576014" cy="546144"/>
            </a:xfrm>
          </p:grpSpPr>
          <p:pic>
            <p:nvPicPr>
              <p:cNvPr id="103" name="그림 102"/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3495" y="1014299"/>
                <a:ext cx="546144" cy="546144"/>
              </a:xfrm>
              <a:prstGeom prst="rect">
                <a:avLst/>
              </a:prstGeom>
            </p:spPr>
          </p:pic>
          <p:sp>
            <p:nvSpPr>
              <p:cNvPr id="104" name="직사각형 103"/>
              <p:cNvSpPr/>
              <p:nvPr/>
            </p:nvSpPr>
            <p:spPr>
              <a:xfrm>
                <a:off x="1412276" y="1014299"/>
                <a:ext cx="3897233" cy="20821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 smtClean="0">
                    <a:solidFill>
                      <a:sysClr val="windowText" lastClr="000000"/>
                    </a:solidFill>
                  </a:rPr>
                  <a:t>CMD</a:t>
                </a:r>
                <a:endParaRPr lang="ko-KR" altLang="en-US" sz="12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1412276" y="1222513"/>
                <a:ext cx="3897233" cy="33793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100" b="1" dirty="0" smtClean="0">
                    <a:solidFill>
                      <a:schemeClr val="bg1"/>
                    </a:solidFill>
                  </a:rPr>
                  <a:t>$ </a:t>
                </a:r>
                <a:r>
                  <a:rPr lang="en-US" altLang="ko-KR" sz="1100" b="1" dirty="0" err="1" smtClean="0">
                    <a:solidFill>
                      <a:schemeClr val="bg1"/>
                    </a:solidFill>
                  </a:rPr>
                  <a:t>kubectl</a:t>
                </a:r>
                <a:r>
                  <a:rPr lang="en-US" altLang="ko-KR" sz="1100" b="1" dirty="0" smtClean="0">
                    <a:solidFill>
                      <a:schemeClr val="bg1"/>
                    </a:solidFill>
                  </a:rPr>
                  <a:t> run </a:t>
                </a:r>
                <a:r>
                  <a:rPr lang="en-US" altLang="ko-KR" sz="1100" b="1" dirty="0" err="1" smtClean="0">
                    <a:solidFill>
                      <a:schemeClr val="bg1"/>
                    </a:solidFill>
                  </a:rPr>
                  <a:t>nginx</a:t>
                </a:r>
                <a:r>
                  <a:rPr lang="en-US" altLang="ko-KR" sz="1100" b="1" dirty="0" smtClean="0">
                    <a:solidFill>
                      <a:schemeClr val="bg1"/>
                    </a:solidFill>
                  </a:rPr>
                  <a:t> pod --image=</a:t>
                </a:r>
                <a:r>
                  <a:rPr lang="en-US" altLang="ko-KR" sz="1100" b="1" dirty="0" err="1" smtClean="0">
                    <a:solidFill>
                      <a:schemeClr val="bg1"/>
                    </a:solidFill>
                  </a:rPr>
                  <a:t>nginx</a:t>
                </a:r>
                <a:endParaRPr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95" name="꺾인 연결선 94"/>
            <p:cNvCxnSpPr>
              <a:stCxn id="105" idx="2"/>
              <a:endCxn id="87" idx="0"/>
            </p:cNvCxnSpPr>
            <p:nvPr/>
          </p:nvCxnSpPr>
          <p:spPr>
            <a:xfrm rot="5400000">
              <a:off x="2243858" y="2030292"/>
              <a:ext cx="1586885" cy="647187"/>
            </a:xfrm>
            <a:prstGeom prst="bentConnector3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2785265" y="2114574"/>
              <a:ext cx="3041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/>
                <a:t>①</a:t>
              </a:r>
              <a:endParaRPr lang="ko-KR" altLang="en-US" b="1" dirty="0"/>
            </a:p>
          </p:txBody>
        </p:sp>
        <p:cxnSp>
          <p:nvCxnSpPr>
            <p:cNvPr id="97" name="꺾인 연결선 96"/>
            <p:cNvCxnSpPr>
              <a:stCxn id="87" idx="2"/>
              <a:endCxn id="88" idx="0"/>
            </p:cNvCxnSpPr>
            <p:nvPr/>
          </p:nvCxnSpPr>
          <p:spPr>
            <a:xfrm rot="16200000" flipH="1">
              <a:off x="2738742" y="3481285"/>
              <a:ext cx="597115" cy="64718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937330" y="3544893"/>
              <a:ext cx="3041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/>
                <a:t>②</a:t>
              </a:r>
              <a:endParaRPr lang="ko-KR" altLang="en-US" b="1" dirty="0"/>
            </a:p>
          </p:txBody>
        </p:sp>
        <p:cxnSp>
          <p:nvCxnSpPr>
            <p:cNvPr id="99" name="꺾인 연결선 98"/>
            <p:cNvCxnSpPr>
              <a:stCxn id="88" idx="3"/>
              <a:endCxn id="91" idx="1"/>
            </p:cNvCxnSpPr>
            <p:nvPr/>
          </p:nvCxnSpPr>
          <p:spPr>
            <a:xfrm flipV="1">
              <a:off x="4112791" y="3326825"/>
              <a:ext cx="1391169" cy="95610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4493834" y="3689954"/>
              <a:ext cx="3041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/>
                <a:t>③</a:t>
              </a:r>
              <a:endParaRPr lang="ko-KR" altLang="en-US" b="1" dirty="0"/>
            </a:p>
          </p:txBody>
        </p:sp>
        <p:cxnSp>
          <p:nvCxnSpPr>
            <p:cNvPr id="101" name="꺾인 연결선 100"/>
            <p:cNvCxnSpPr>
              <a:stCxn id="87" idx="2"/>
              <a:endCxn id="89" idx="0"/>
            </p:cNvCxnSpPr>
            <p:nvPr/>
          </p:nvCxnSpPr>
          <p:spPr>
            <a:xfrm rot="5400000">
              <a:off x="2013438" y="3408069"/>
              <a:ext cx="602017" cy="79852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1915191" y="3544893"/>
              <a:ext cx="3041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/>
                <a:t>④</a:t>
              </a:r>
              <a:endParaRPr lang="ko-KR" altLang="en-US" b="1" dirty="0"/>
            </a:p>
          </p:txBody>
        </p:sp>
      </p:grpSp>
      <p:sp>
        <p:nvSpPr>
          <p:cNvPr id="2" name="곱셈 기호 1"/>
          <p:cNvSpPr/>
          <p:nvPr/>
        </p:nvSpPr>
        <p:spPr>
          <a:xfrm>
            <a:off x="1272324" y="2914919"/>
            <a:ext cx="2753833" cy="265599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42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Static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711199" y="1223974"/>
            <a:ext cx="6104271" cy="2571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43" y="1224130"/>
            <a:ext cx="549380" cy="5055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63723" y="1314650"/>
            <a:ext cx="1619680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1362211" y="1893699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ubelet</a:t>
            </a:r>
            <a:r>
              <a:rPr lang="ko-KR" altLang="en-US" sz="1400" dirty="0" smtClean="0"/>
              <a:t>이 지정한 경로에 </a:t>
            </a: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이 있을 경우 해당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는 자동으로 기동 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362211" y="2583275"/>
            <a:ext cx="2178431" cy="9254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1000" dirty="0" smtClean="0">
                <a:solidFill>
                  <a:sysClr val="windowText" lastClr="000000"/>
                </a:solidFill>
              </a:rPr>
              <a:t>/</a:t>
            </a:r>
            <a:r>
              <a:rPr lang="en-US" altLang="ko-KR" sz="1000" dirty="0" err="1" smtClean="0">
                <a:solidFill>
                  <a:sysClr val="windowText" lastClr="000000"/>
                </a:solidFill>
              </a:rPr>
              <a:t>etc</a:t>
            </a:r>
            <a:r>
              <a:rPr lang="en-US" altLang="ko-KR" sz="1000" dirty="0" smtClean="0">
                <a:solidFill>
                  <a:sysClr val="windowText" lastClr="000000"/>
                </a:solidFill>
              </a:rPr>
              <a:t>/</a:t>
            </a:r>
            <a:r>
              <a:rPr lang="en-US" altLang="ko-KR" sz="1000" dirty="0" err="1" smtClean="0">
                <a:solidFill>
                  <a:sysClr val="windowText" lastClr="000000"/>
                </a:solidFill>
              </a:rPr>
              <a:t>kubernets</a:t>
            </a:r>
            <a:r>
              <a:rPr lang="en-US" altLang="ko-KR" sz="1000" dirty="0" smtClean="0">
                <a:solidFill>
                  <a:sysClr val="windowText" lastClr="000000"/>
                </a:solidFill>
              </a:rPr>
              <a:t>/manifest</a:t>
            </a:r>
            <a:endParaRPr lang="en-US" altLang="ko-KR" sz="14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295" y="2638278"/>
            <a:ext cx="339505" cy="339505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1955884" y="2663434"/>
            <a:ext cx="861237" cy="533332"/>
            <a:chOff x="9399026" y="3136605"/>
            <a:chExt cx="861237" cy="53333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163" y="3136605"/>
              <a:ext cx="302500" cy="3025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9399026" y="3439105"/>
              <a:ext cx="8612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Pod1.yaml</a:t>
              </a:r>
              <a:endParaRPr lang="ko-KR" altLang="en-US" dirty="0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2679405" y="2663434"/>
            <a:ext cx="861237" cy="533332"/>
            <a:chOff x="9399026" y="3136605"/>
            <a:chExt cx="861237" cy="533332"/>
          </a:xfrm>
        </p:grpSpPr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163" y="3136605"/>
              <a:ext cx="302500" cy="302500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9399026" y="3439105"/>
              <a:ext cx="8612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Pod2.yaml</a:t>
              </a:r>
              <a:endParaRPr lang="ko-KR" altLang="en-US" dirty="0"/>
            </a:p>
          </p:txBody>
        </p:sp>
      </p:grpSp>
      <p:sp>
        <p:nvSpPr>
          <p:cNvPr id="44" name="모서리가 둥근 직사각형 43"/>
          <p:cNvSpPr/>
          <p:nvPr/>
        </p:nvSpPr>
        <p:spPr>
          <a:xfrm>
            <a:off x="4536182" y="1447057"/>
            <a:ext cx="1861674" cy="893283"/>
          </a:xfrm>
          <a:prstGeom prst="roundRect">
            <a:avLst/>
          </a:prstGeom>
          <a:solidFill>
            <a:schemeClr val="bg1"/>
          </a:solidFill>
          <a:ln>
            <a:solidFill>
              <a:srgbClr val="7D9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6" b="96373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33" y="1554494"/>
            <a:ext cx="614870" cy="5811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174388" y="1697757"/>
            <a:ext cx="705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Pod1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536182" y="2531141"/>
            <a:ext cx="1861674" cy="893283"/>
            <a:chOff x="1303884" y="4079810"/>
            <a:chExt cx="1861674" cy="893283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303884" y="4079810"/>
              <a:ext cx="1861674" cy="8932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9535" y="4187247"/>
              <a:ext cx="614870" cy="581151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1942089" y="4330510"/>
              <a:ext cx="7373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Pod2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364850" y="1304513"/>
            <a:ext cx="3478029" cy="1477328"/>
            <a:chOff x="711199" y="4129381"/>
            <a:chExt cx="3478029" cy="1477328"/>
          </a:xfrm>
        </p:grpSpPr>
        <p:sp>
          <p:nvSpPr>
            <p:cNvPr id="52" name="TextBox 7"/>
            <p:cNvSpPr txBox="1"/>
            <p:nvPr/>
          </p:nvSpPr>
          <p:spPr>
            <a:xfrm>
              <a:off x="711199" y="4406380"/>
              <a:ext cx="3478029" cy="1200329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kubelet.config.k8s.io/v1beta1</a:t>
              </a:r>
            </a:p>
            <a:p>
              <a:r>
                <a:rPr lang="en-US" altLang="ko-KR" sz="1200" dirty="0"/>
                <a:t>authentication:</a:t>
              </a:r>
            </a:p>
            <a:p>
              <a:r>
                <a:rPr lang="en-US" altLang="ko-KR" sz="1200" dirty="0"/>
                <a:t>  anonymous</a:t>
              </a:r>
              <a:r>
                <a:rPr lang="en-US" altLang="ko-KR" sz="1200" dirty="0" smtClean="0"/>
                <a:t>: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</a:p>
            <a:p>
              <a:r>
                <a:rPr lang="en-US" altLang="ko-KR" sz="1200" b="1" dirty="0" err="1"/>
                <a:t>staticPodPath</a:t>
              </a:r>
              <a:r>
                <a:rPr lang="en-US" altLang="ko-KR" sz="1200" b="1" dirty="0"/>
                <a:t>: /</a:t>
              </a:r>
              <a:r>
                <a:rPr lang="en-US" altLang="ko-KR" sz="1200" b="1" dirty="0" err="1" smtClean="0"/>
                <a:t>etc</a:t>
              </a:r>
              <a:r>
                <a:rPr lang="en-US" altLang="ko-KR" sz="1200" b="1" dirty="0" smtClean="0"/>
                <a:t>/</a:t>
              </a:r>
              <a:r>
                <a:rPr lang="en-US" altLang="ko-KR" sz="1200" b="1" dirty="0" err="1" smtClean="0"/>
                <a:t>kubernetes</a:t>
              </a:r>
              <a:r>
                <a:rPr lang="en-US" altLang="ko-KR" sz="1200" b="1" dirty="0" smtClean="0"/>
                <a:t>/manifests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53" name="TextBox 3"/>
            <p:cNvSpPr txBox="1"/>
            <p:nvPr/>
          </p:nvSpPr>
          <p:spPr>
            <a:xfrm>
              <a:off x="711199" y="4129381"/>
              <a:ext cx="225034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var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/lib/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kubelet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99" y="4326708"/>
            <a:ext cx="8224246" cy="91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9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17199</TotalTime>
  <Words>2046</Words>
  <Application>Microsoft Office PowerPoint</Application>
  <PresentationFormat>와이드스크린</PresentationFormat>
  <Paragraphs>443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BVOPUE+SpoqaHanSans-Bold</vt:lpstr>
      <vt:lpstr>Pretendard SemiBold</vt:lpstr>
      <vt:lpstr>Univers LT Std 85 XBlk</vt:lpstr>
      <vt:lpstr>WRTDIQ+SpoqaHanSans-Bold</vt:lpstr>
      <vt:lpstr>나눔고딕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377</cp:revision>
  <dcterms:created xsi:type="dcterms:W3CDTF">2022-09-15T01:21:24Z</dcterms:created>
  <dcterms:modified xsi:type="dcterms:W3CDTF">2025-03-05T00:08:41Z</dcterms:modified>
</cp:coreProperties>
</file>